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1262" r:id="rId2"/>
    <p:sldId id="1293" r:id="rId3"/>
    <p:sldId id="1280" r:id="rId4"/>
    <p:sldId id="1292" r:id="rId5"/>
    <p:sldId id="460" r:id="rId6"/>
    <p:sldId id="469" r:id="rId7"/>
    <p:sldId id="467" r:id="rId8"/>
    <p:sldId id="1272" r:id="rId9"/>
    <p:sldId id="1265" r:id="rId10"/>
    <p:sldId id="1263" r:id="rId11"/>
    <p:sldId id="468" r:id="rId12"/>
    <p:sldId id="1281" r:id="rId13"/>
    <p:sldId id="1264" r:id="rId14"/>
    <p:sldId id="1266" r:id="rId15"/>
    <p:sldId id="1191" r:id="rId16"/>
    <p:sldId id="1224" r:id="rId17"/>
    <p:sldId id="1267" r:id="rId18"/>
    <p:sldId id="1274" r:id="rId19"/>
    <p:sldId id="1289" r:id="rId20"/>
    <p:sldId id="1270" r:id="rId21"/>
    <p:sldId id="1242" r:id="rId22"/>
    <p:sldId id="1275" r:id="rId23"/>
    <p:sldId id="1279" r:id="rId24"/>
    <p:sldId id="1283" r:id="rId25"/>
    <p:sldId id="1290" r:id="rId26"/>
    <p:sldId id="1276" r:id="rId27"/>
    <p:sldId id="1291" r:id="rId28"/>
    <p:sldId id="1285" r:id="rId29"/>
    <p:sldId id="1294" r:id="rId30"/>
    <p:sldId id="1284" r:id="rId31"/>
    <p:sldId id="1277" r:id="rId32"/>
    <p:sldId id="1295" r:id="rId3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068"/>
    <p:restoredTop sz="95785"/>
  </p:normalViewPr>
  <p:slideViewPr>
    <p:cSldViewPr snapToGrid="0">
      <p:cViewPr>
        <p:scale>
          <a:sx n="121" d="100"/>
          <a:sy n="121" d="100"/>
        </p:scale>
        <p:origin x="89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013FDF-AD6D-D044-9473-4EF57EA7D013}" type="datetimeFigureOut">
              <a:rPr kumimoji="1" lang="ja-JP" altLang="en-US" smtClean="0"/>
              <a:t>2026/4/1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486D82-5BE7-0F48-9C8D-382CDFB51FA5}" type="slidenum">
              <a:rPr kumimoji="1" lang="ja-JP" altLang="en-US" smtClean="0"/>
              <a:t>‹#›</a:t>
            </a:fld>
            <a:endParaRPr kumimoji="1" lang="ja-JP" altLang="en-US"/>
          </a:p>
        </p:txBody>
      </p:sp>
    </p:spTree>
    <p:extLst>
      <p:ext uri="{BB962C8B-B14F-4D97-AF65-F5344CB8AC3E}">
        <p14:creationId xmlns:p14="http://schemas.microsoft.com/office/powerpoint/2010/main" val="83014032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440B73-CA8B-244F-465D-90B28BB58857}"/>
              </a:ext>
            </a:extLst>
          </p:cNvPr>
          <p:cNvSpPr>
            <a:spLocks noGrp="1"/>
          </p:cNvSpPr>
          <p:nvPr>
            <p:ph type="ctrTitle"/>
          </p:nvPr>
        </p:nvSpPr>
        <p:spPr>
          <a:xfrm>
            <a:off x="1524000" y="1122363"/>
            <a:ext cx="9144000" cy="2387600"/>
          </a:xfrm>
        </p:spPr>
        <p:txBody>
          <a:bodyPr anchor="b">
            <a:normAutofit/>
          </a:bodyPr>
          <a:lstStyle>
            <a:lvl1pPr algn="ctr">
              <a:defRPr sz="4800">
                <a:latin typeface="Noto Sans JP" panose="020B0200000000000000" pitchFamily="34" charset="-128"/>
                <a:ea typeface="Noto Sans JP" panose="020B0200000000000000" pitchFamily="34" charset="-128"/>
                <a:cs typeface="Calibri" panose="020F0502020204030204" pitchFamily="34" charset="0"/>
              </a:defRPr>
            </a:lvl1pPr>
          </a:lstStyle>
          <a:p>
            <a:r>
              <a:rPr kumimoji="1" lang="ja-JP" altLang="en-US"/>
              <a:t>マスター タイトルの書式設定</a:t>
            </a:r>
          </a:p>
        </p:txBody>
      </p:sp>
      <p:sp>
        <p:nvSpPr>
          <p:cNvPr id="3" name="字幕 2">
            <a:extLst>
              <a:ext uri="{FF2B5EF4-FFF2-40B4-BE49-F238E27FC236}">
                <a16:creationId xmlns:a16="http://schemas.microsoft.com/office/drawing/2014/main" id="{58793CBE-9F0A-E8E4-882A-A40100D656DE}"/>
              </a:ext>
            </a:extLst>
          </p:cNvPr>
          <p:cNvSpPr>
            <a:spLocks noGrp="1"/>
          </p:cNvSpPr>
          <p:nvPr>
            <p:ph type="subTitle" idx="1"/>
          </p:nvPr>
        </p:nvSpPr>
        <p:spPr>
          <a:xfrm>
            <a:off x="1524000" y="3602038"/>
            <a:ext cx="9144000" cy="1655762"/>
          </a:xfrm>
        </p:spPr>
        <p:txBody>
          <a:bodyPr/>
          <a:lstStyle>
            <a:lvl1pPr marL="0" indent="0" algn="ctr">
              <a:buNone/>
              <a:defRPr sz="2400">
                <a:latin typeface="Calibri" panose="020F0502020204030204"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Tree>
    <p:extLst>
      <p:ext uri="{BB962C8B-B14F-4D97-AF65-F5344CB8AC3E}">
        <p14:creationId xmlns:p14="http://schemas.microsoft.com/office/powerpoint/2010/main" val="971058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E3B2C6-2794-F355-E00B-B5E1C219EBE5}"/>
              </a:ext>
            </a:extLst>
          </p:cNvPr>
          <p:cNvSpPr>
            <a:spLocks noGrp="1"/>
          </p:cNvSpPr>
          <p:nvPr>
            <p:ph type="title"/>
          </p:nvPr>
        </p:nvSpPr>
        <p:spPr/>
        <p:txBody>
          <a:bodyPr/>
          <a:lstStyle>
            <a:lvl1pPr>
              <a:defRPr>
                <a:latin typeface="Noto Sans JP" panose="020B0200000000000000" pitchFamily="34" charset="-128"/>
                <a:ea typeface="Noto Sans JP" panose="020B0200000000000000" pitchFamily="34" charset="-128"/>
                <a:cs typeface="Calibri" panose="020F0502020204030204" pitchFamily="34" charset="0"/>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47B3163-8C3F-2210-0E9F-DFF0C2D3B285}"/>
              </a:ext>
            </a:extLst>
          </p:cNvPr>
          <p:cNvSpPr>
            <a:spLocks noGrp="1"/>
          </p:cNvSpPr>
          <p:nvPr>
            <p:ph idx="1"/>
          </p:nvPr>
        </p:nvSpPr>
        <p:spPr/>
        <p:txBody>
          <a:bodyPr/>
          <a:lstStyle>
            <a:lvl1pPr marL="288000" indent="-288000">
              <a:lnSpc>
                <a:spcPct val="100000"/>
              </a:lnSpc>
              <a:spcBef>
                <a:spcPts val="0"/>
              </a:spcBef>
              <a:spcAft>
                <a:spcPts val="200"/>
              </a:spcAft>
              <a:defRPr>
                <a:latin typeface="Noto Sans JP" panose="020B0200000000000000" pitchFamily="34" charset="-128"/>
                <a:ea typeface="Noto Sans JP" panose="020B0200000000000000" pitchFamily="34" charset="-128"/>
              </a:defRPr>
            </a:lvl1pPr>
            <a:lvl2pPr indent="-288000">
              <a:lnSpc>
                <a:spcPct val="100000"/>
              </a:lnSpc>
              <a:spcBef>
                <a:spcPts val="0"/>
              </a:spcBef>
              <a:spcAft>
                <a:spcPts val="200"/>
              </a:spcAft>
              <a:defRPr>
                <a:latin typeface="Noto Sans JP" panose="020B0200000000000000" pitchFamily="34" charset="-128"/>
                <a:ea typeface="Noto Sans JP" panose="020B0200000000000000" pitchFamily="34" charset="-128"/>
              </a:defRPr>
            </a:lvl2pPr>
            <a:lvl3pPr indent="-288000">
              <a:lnSpc>
                <a:spcPct val="100000"/>
              </a:lnSpc>
              <a:spcBef>
                <a:spcPts val="0"/>
              </a:spcBef>
              <a:spcAft>
                <a:spcPts val="200"/>
              </a:spcAft>
              <a:defRPr>
                <a:latin typeface="Noto Sans JP" panose="020B0200000000000000" pitchFamily="34" charset="-128"/>
                <a:ea typeface="Noto Sans JP" panose="020B0200000000000000" pitchFamily="34" charset="-128"/>
              </a:defRPr>
            </a:lvl3pPr>
            <a:lvl4pPr indent="-288000">
              <a:lnSpc>
                <a:spcPct val="100000"/>
              </a:lnSpc>
              <a:spcBef>
                <a:spcPts val="0"/>
              </a:spcBef>
              <a:spcAft>
                <a:spcPts val="200"/>
              </a:spcAft>
              <a:defRPr>
                <a:latin typeface="Noto Sans JP" panose="020B0200000000000000" pitchFamily="34" charset="-128"/>
                <a:ea typeface="Noto Sans JP" panose="020B0200000000000000" pitchFamily="34" charset="-128"/>
              </a:defRPr>
            </a:lvl4pPr>
            <a:lvl5pPr indent="-288000">
              <a:lnSpc>
                <a:spcPct val="100000"/>
              </a:lnSpc>
              <a:spcBef>
                <a:spcPts val="0"/>
              </a:spcBef>
              <a:spcAft>
                <a:spcPts val="200"/>
              </a:spcAft>
              <a:defRPr>
                <a:latin typeface="Noto Sans JP" panose="020B0200000000000000" pitchFamily="34" charset="-128"/>
                <a:ea typeface="Noto Sans JP" panose="020B0200000000000000" pitchFamily="34" charset="-128"/>
              </a:defRPr>
            </a:lvl5p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p>
        </p:txBody>
      </p:sp>
    </p:spTree>
    <p:extLst>
      <p:ext uri="{BB962C8B-B14F-4D97-AF65-F5344CB8AC3E}">
        <p14:creationId xmlns:p14="http://schemas.microsoft.com/office/powerpoint/2010/main" val="2563008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FC314-A284-6A7E-968A-A17B51D59E8B}"/>
              </a:ext>
            </a:extLst>
          </p:cNvPr>
          <p:cNvSpPr>
            <a:spLocks noGrp="1"/>
          </p:cNvSpPr>
          <p:nvPr>
            <p:ph type="title"/>
          </p:nvPr>
        </p:nvSpPr>
        <p:spPr>
          <a:xfrm>
            <a:off x="831850" y="1709738"/>
            <a:ext cx="10515600" cy="2852737"/>
          </a:xfrm>
        </p:spPr>
        <p:txBody>
          <a:bodyPr anchor="b">
            <a:normAutofit/>
          </a:bodyPr>
          <a:lstStyle>
            <a:lvl1pPr>
              <a:defRPr sz="3200">
                <a:latin typeface="Noto Sans JP" panose="020B0200000000000000" pitchFamily="34" charset="-128"/>
                <a:ea typeface="Noto Sans JP" panose="020B0200000000000000" pitchFamily="34" charset="-128"/>
                <a:cs typeface="Calibri" panose="020F0502020204030204" pitchFamily="34" charset="0"/>
              </a:defRPr>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2FB42AB-71B3-7AEA-D9B6-7225F46A0F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Calibri" panose="020F0502020204030204" pitchFamily="34" charset="0"/>
                <a:cs typeface="Calibri" panose="020F050202020403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Tree>
    <p:extLst>
      <p:ext uri="{BB962C8B-B14F-4D97-AF65-F5344CB8AC3E}">
        <p14:creationId xmlns:p14="http://schemas.microsoft.com/office/powerpoint/2010/main" val="1856984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03122C-98EE-5E33-3274-052D218673B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5BAEBC0-84BA-6D53-2783-3B25B6F12808}"/>
              </a:ext>
            </a:extLst>
          </p:cNvPr>
          <p:cNvSpPr>
            <a:spLocks noGrp="1"/>
          </p:cNvSpPr>
          <p:nvPr>
            <p:ph sz="half" idx="1"/>
          </p:nvPr>
        </p:nvSpPr>
        <p:spPr>
          <a:xfrm>
            <a:off x="838200" y="1227602"/>
            <a:ext cx="5181600" cy="5265271"/>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DAA4A09E-30C9-A84C-41A8-594B447685A4}"/>
              </a:ext>
            </a:extLst>
          </p:cNvPr>
          <p:cNvSpPr>
            <a:spLocks noGrp="1"/>
          </p:cNvSpPr>
          <p:nvPr>
            <p:ph sz="half" idx="2"/>
          </p:nvPr>
        </p:nvSpPr>
        <p:spPr>
          <a:xfrm>
            <a:off x="6172200" y="1227603"/>
            <a:ext cx="5181600" cy="526527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328064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較">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426C5243-9908-957C-272E-1CACEAACB3C1}"/>
              </a:ext>
            </a:extLst>
          </p:cNvPr>
          <p:cNvSpPr>
            <a:spLocks noGrp="1"/>
          </p:cNvSpPr>
          <p:nvPr>
            <p:ph type="body" idx="1"/>
          </p:nvPr>
        </p:nvSpPr>
        <p:spPr>
          <a:xfrm>
            <a:off x="836612" y="1227602"/>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BD8F1BE-F587-C5AD-CEFD-08124A5D9FE2}"/>
              </a:ext>
            </a:extLst>
          </p:cNvPr>
          <p:cNvSpPr>
            <a:spLocks noGrp="1"/>
          </p:cNvSpPr>
          <p:nvPr>
            <p:ph sz="half" idx="2"/>
          </p:nvPr>
        </p:nvSpPr>
        <p:spPr>
          <a:xfrm>
            <a:off x="839788" y="2187110"/>
            <a:ext cx="5157787" cy="4305763"/>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AA5E6AD-D24B-21D0-AA15-0BDEF42D59CE}"/>
              </a:ext>
            </a:extLst>
          </p:cNvPr>
          <p:cNvSpPr>
            <a:spLocks noGrp="1"/>
          </p:cNvSpPr>
          <p:nvPr>
            <p:ph type="body" sz="quarter" idx="3"/>
          </p:nvPr>
        </p:nvSpPr>
        <p:spPr>
          <a:xfrm>
            <a:off x="6172200" y="1205707"/>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4C61124A-DCBC-E8EE-D22F-F3844F5AC6FE}"/>
              </a:ext>
            </a:extLst>
          </p:cNvPr>
          <p:cNvSpPr>
            <a:spLocks noGrp="1"/>
          </p:cNvSpPr>
          <p:nvPr>
            <p:ph sz="quarter" idx="4"/>
          </p:nvPr>
        </p:nvSpPr>
        <p:spPr>
          <a:xfrm>
            <a:off x="6172200" y="2187110"/>
            <a:ext cx="5183188" cy="4305763"/>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0" name="タイトル 1">
            <a:extLst>
              <a:ext uri="{FF2B5EF4-FFF2-40B4-BE49-F238E27FC236}">
                <a16:creationId xmlns:a16="http://schemas.microsoft.com/office/drawing/2014/main" id="{A5313B0B-D4F3-7917-8839-79443075C2CF}"/>
              </a:ext>
            </a:extLst>
          </p:cNvPr>
          <p:cNvSpPr txBox="1">
            <a:spLocks/>
          </p:cNvSpPr>
          <p:nvPr userDrawn="1"/>
        </p:nvSpPr>
        <p:spPr>
          <a:xfrm>
            <a:off x="838200" y="365126"/>
            <a:ext cx="10515600" cy="68309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a:t>マスター タイトルの書式設定</a:t>
            </a:r>
          </a:p>
        </p:txBody>
      </p:sp>
    </p:spTree>
    <p:extLst>
      <p:ext uri="{BB962C8B-B14F-4D97-AF65-F5344CB8AC3E}">
        <p14:creationId xmlns:p14="http://schemas.microsoft.com/office/powerpoint/2010/main" val="3703310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3EDDE0-1C2D-37D0-FD41-E6B1D5AA8968}"/>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3360401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1459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7EC8DF-579F-DAC2-7B7E-EA0BCD16B39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8364614-4713-4466-2E3B-5941849C36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A88142A6-4F57-09A9-DDCC-567B08E151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Tree>
    <p:extLst>
      <p:ext uri="{BB962C8B-B14F-4D97-AF65-F5344CB8AC3E}">
        <p14:creationId xmlns:p14="http://schemas.microsoft.com/office/powerpoint/2010/main" val="3907423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264ABF-EF5F-E78A-24B1-F79081ABE08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2A33443-FE5E-B9B6-8D15-0D8E0501D0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1C468DBC-7885-2B27-55AC-91B260C3BF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Tree>
    <p:extLst>
      <p:ext uri="{BB962C8B-B14F-4D97-AF65-F5344CB8AC3E}">
        <p14:creationId xmlns:p14="http://schemas.microsoft.com/office/powerpoint/2010/main" val="338504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72C68C-F41D-5CB1-85D8-D03E722B2C19}"/>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82FF0EA-005F-4BF9-D50C-67458878BB0B}"/>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981934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E1A88D21-F1C9-30BB-584E-54C3ACF3CD2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2E824FD-0922-2A56-C26B-DC3D5FBF373C}"/>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619790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A816A7C1-1192-9FFD-14C3-AEAF38CA6C43}"/>
              </a:ext>
            </a:extLst>
          </p:cNvPr>
          <p:cNvSpPr>
            <a:spLocks noGrp="1"/>
          </p:cNvSpPr>
          <p:nvPr>
            <p:ph type="title"/>
          </p:nvPr>
        </p:nvSpPr>
        <p:spPr>
          <a:xfrm>
            <a:off x="838200" y="365126"/>
            <a:ext cx="10515600" cy="683090"/>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BEE530A-2B56-2F03-C8BE-28411AA6AC7D}"/>
              </a:ext>
            </a:extLst>
          </p:cNvPr>
          <p:cNvSpPr>
            <a:spLocks noGrp="1"/>
          </p:cNvSpPr>
          <p:nvPr>
            <p:ph type="body" idx="1"/>
          </p:nvPr>
        </p:nvSpPr>
        <p:spPr>
          <a:xfrm>
            <a:off x="838200" y="1135116"/>
            <a:ext cx="10515600" cy="5357757"/>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p>
        </p:txBody>
      </p:sp>
      <p:sp>
        <p:nvSpPr>
          <p:cNvPr id="5" name="Google Shape;226;p37">
            <a:extLst>
              <a:ext uri="{FF2B5EF4-FFF2-40B4-BE49-F238E27FC236}">
                <a16:creationId xmlns:a16="http://schemas.microsoft.com/office/drawing/2014/main" id="{8EC8FDF8-FA14-8141-7070-09A520BABD93}"/>
              </a:ext>
            </a:extLst>
          </p:cNvPr>
          <p:cNvSpPr txBox="1">
            <a:spLocks/>
          </p:cNvSpPr>
          <p:nvPr userDrawn="1"/>
        </p:nvSpPr>
        <p:spPr>
          <a:xfrm>
            <a:off x="10620216" y="365125"/>
            <a:ext cx="1258824" cy="529431"/>
          </a:xfrm>
          <a:prstGeom prst="rect">
            <a:avLst/>
          </a:prstGeom>
        </p:spPr>
        <p:txBody>
          <a:bodyPr spcFirstLastPara="1" vert="horz" wrap="square" lIns="121900" tIns="121900" rIns="121900" bIns="121900" rtlCol="0" anchor="ctr" anchorCtr="0">
            <a:noAutofit/>
          </a:bodyP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00000000-1234-1234-1234-123412341234}" type="slidenum">
              <a:rPr lang="en-US" altLang="ja" sz="5333" b="1" smtClean="0"/>
              <a:pPr/>
              <a:t>‹#›</a:t>
            </a:fld>
            <a:endParaRPr lang="en-US" sz="5333" b="1" dirty="0"/>
          </a:p>
        </p:txBody>
      </p:sp>
    </p:spTree>
    <p:extLst>
      <p:ext uri="{BB962C8B-B14F-4D97-AF65-F5344CB8AC3E}">
        <p14:creationId xmlns:p14="http://schemas.microsoft.com/office/powerpoint/2010/main" val="7311116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3200" b="1" kern="1200">
          <a:solidFill>
            <a:schemeClr val="accent1">
              <a:lumMod val="50000"/>
            </a:schemeClr>
          </a:solidFill>
          <a:latin typeface="Noto Sans JP" panose="020B0200000000000000" pitchFamily="34" charset="-128"/>
          <a:ea typeface="Noto Sans JP" panose="020B0200000000000000" pitchFamily="34" charset="-128"/>
          <a:cs typeface="Arial" panose="020B0604020202020204" pitchFamily="34" charset="0"/>
        </a:defRPr>
      </a:lvl1pPr>
    </p:titleStyle>
    <p:bodyStyle>
      <a:lvl1pPr marL="228600" indent="-228600" algn="l" defTabSz="914400" rtl="0" eaLnBrk="1" latinLnBrk="0" hangingPunct="1">
        <a:lnSpc>
          <a:spcPct val="100000"/>
        </a:lnSpc>
        <a:spcBef>
          <a:spcPts val="1000"/>
        </a:spcBef>
        <a:spcAft>
          <a:spcPts val="200"/>
        </a:spcAft>
        <a:buClr>
          <a:srgbClr val="FFC000"/>
        </a:buClr>
        <a:buFont typeface="Wingdings" pitchFamily="2" charset="2"/>
        <a:buChar char="n"/>
        <a:defRPr kumimoji="1" sz="1800" kern="1200">
          <a:solidFill>
            <a:schemeClr val="tx1"/>
          </a:solidFill>
          <a:latin typeface="Noto Sans JP" panose="020B0200000000000000" pitchFamily="34" charset="-128"/>
          <a:ea typeface="Noto Sans JP" panose="020B0200000000000000" pitchFamily="34" charset="-128"/>
          <a:cs typeface="Calibri" panose="020F0502020204030204" pitchFamily="34" charset="0"/>
        </a:defRPr>
      </a:lvl1pPr>
      <a:lvl2pPr marL="685800" indent="-228600" algn="l" defTabSz="914400" rtl="0" eaLnBrk="1" latinLnBrk="0" hangingPunct="1">
        <a:lnSpc>
          <a:spcPct val="100000"/>
        </a:lnSpc>
        <a:spcBef>
          <a:spcPts val="500"/>
        </a:spcBef>
        <a:spcAft>
          <a:spcPts val="200"/>
        </a:spcAft>
        <a:buFont typeface="Arial" panose="020B0604020202020204" pitchFamily="34" charset="0"/>
        <a:buChar char="•"/>
        <a:defRPr kumimoji="1" sz="1800" kern="1200">
          <a:solidFill>
            <a:schemeClr val="tx1"/>
          </a:solidFill>
          <a:latin typeface="Noto Sans JP" panose="020B0200000000000000" pitchFamily="34" charset="-128"/>
          <a:ea typeface="Noto Sans JP" panose="020B0200000000000000" pitchFamily="34" charset="-128"/>
          <a:cs typeface="Calibri" panose="020F0502020204030204" pitchFamily="34" charset="0"/>
        </a:defRPr>
      </a:lvl2pPr>
      <a:lvl3pPr marL="1143000" indent="-228600" algn="l" defTabSz="914400" rtl="0" eaLnBrk="1" latinLnBrk="0" hangingPunct="1">
        <a:lnSpc>
          <a:spcPct val="100000"/>
        </a:lnSpc>
        <a:spcBef>
          <a:spcPts val="500"/>
        </a:spcBef>
        <a:spcAft>
          <a:spcPts val="200"/>
        </a:spcAft>
        <a:buFont typeface="Arial" panose="020B0604020202020204" pitchFamily="34" charset="0"/>
        <a:buChar char="•"/>
        <a:defRPr kumimoji="1" sz="1800" kern="1200">
          <a:solidFill>
            <a:schemeClr val="tx1"/>
          </a:solidFill>
          <a:latin typeface="Noto Sans JP" panose="020B0200000000000000" pitchFamily="34" charset="-128"/>
          <a:ea typeface="Noto Sans JP" panose="020B0200000000000000" pitchFamily="34" charset="-128"/>
          <a:cs typeface="Calibri" panose="020F0502020204030204" pitchFamily="34" charset="0"/>
        </a:defRPr>
      </a:lvl3pPr>
      <a:lvl4pPr marL="1600200" indent="-228600" algn="l" defTabSz="914400" rtl="0" eaLnBrk="1" latinLnBrk="0" hangingPunct="1">
        <a:lnSpc>
          <a:spcPct val="100000"/>
        </a:lnSpc>
        <a:spcBef>
          <a:spcPts val="500"/>
        </a:spcBef>
        <a:spcAft>
          <a:spcPts val="200"/>
        </a:spcAft>
        <a:buFont typeface="Arial" panose="020B0604020202020204" pitchFamily="34" charset="0"/>
        <a:buChar char="•"/>
        <a:defRPr kumimoji="1" sz="1800" kern="1200">
          <a:solidFill>
            <a:schemeClr val="tx1"/>
          </a:solidFill>
          <a:latin typeface="Noto Sans JP" panose="020B0200000000000000" pitchFamily="34" charset="-128"/>
          <a:ea typeface="Noto Sans JP" panose="020B0200000000000000" pitchFamily="34" charset="-128"/>
          <a:cs typeface="Calibri" panose="020F0502020204030204" pitchFamily="34" charset="0"/>
        </a:defRPr>
      </a:lvl4pPr>
      <a:lvl5pPr marL="2057400" indent="-228600" algn="l" defTabSz="914400" rtl="0" eaLnBrk="1" latinLnBrk="0" hangingPunct="1">
        <a:lnSpc>
          <a:spcPct val="100000"/>
        </a:lnSpc>
        <a:spcBef>
          <a:spcPts val="500"/>
        </a:spcBef>
        <a:spcAft>
          <a:spcPts val="200"/>
        </a:spcAft>
        <a:buFont typeface="Arial" panose="020B0604020202020204" pitchFamily="34" charset="0"/>
        <a:buChar char="•"/>
        <a:defRPr kumimoji="1" sz="1800" kern="1200">
          <a:solidFill>
            <a:schemeClr val="tx1"/>
          </a:solidFill>
          <a:latin typeface="Noto Sans JP" panose="020B0200000000000000" pitchFamily="34" charset="-128"/>
          <a:ea typeface="Noto Sans JP" panose="020B0200000000000000" pitchFamily="34" charset="-128"/>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10.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6082B-E28B-6DF3-E2E9-F1582EB41A1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B544FCF-191B-128E-AD55-EB02DD4998D8}"/>
              </a:ext>
            </a:extLst>
          </p:cNvPr>
          <p:cNvSpPr>
            <a:spLocks noGrp="1"/>
          </p:cNvSpPr>
          <p:nvPr>
            <p:ph type="ctrTitle"/>
          </p:nvPr>
        </p:nvSpPr>
        <p:spPr>
          <a:xfrm>
            <a:off x="798195" y="1139985"/>
            <a:ext cx="10595610" cy="2387600"/>
          </a:xfrm>
        </p:spPr>
        <p:txBody>
          <a:bodyPr>
            <a:normAutofit/>
          </a:bodyPr>
          <a:lstStyle/>
          <a:p>
            <a:r>
              <a:rPr lang="ja-JP" altLang="en-US" sz="3600"/>
              <a:t>「機械学習と因果推論」入門</a:t>
            </a:r>
            <a:br>
              <a:rPr kumimoji="1" lang="en-US" altLang="ja-JP" sz="3600" b="1" dirty="0">
                <a:solidFill>
                  <a:srgbClr val="002060"/>
                </a:solidFill>
                <a:latin typeface="Calibri" panose="020F0502020204030204" pitchFamily="34" charset="0"/>
                <a:cs typeface="Calibri" panose="020F0502020204030204" pitchFamily="34" charset="0"/>
              </a:rPr>
            </a:br>
            <a:br>
              <a:rPr kumimoji="1" lang="en-US" altLang="ja-JP" sz="1400" b="1" dirty="0">
                <a:solidFill>
                  <a:srgbClr val="002060"/>
                </a:solidFill>
                <a:latin typeface="Calibri" panose="020F0502020204030204" pitchFamily="34" charset="0"/>
                <a:cs typeface="Calibri" panose="020F0502020204030204" pitchFamily="34" charset="0"/>
              </a:rPr>
            </a:br>
            <a:r>
              <a:rPr kumimoji="1" lang="en-US" altLang="ja-JP" sz="3600" b="1" dirty="0">
                <a:solidFill>
                  <a:srgbClr val="002060"/>
                </a:solidFill>
                <a:latin typeface="Calibri" panose="020F0502020204030204" pitchFamily="34" charset="0"/>
                <a:cs typeface="Calibri" panose="020F0502020204030204" pitchFamily="34" charset="0"/>
              </a:rPr>
              <a:t>① </a:t>
            </a:r>
            <a:r>
              <a:rPr kumimoji="1" lang="ja-JP" altLang="en-US" sz="3600" b="1">
                <a:solidFill>
                  <a:srgbClr val="002060"/>
                </a:solidFill>
                <a:latin typeface="Calibri" panose="020F0502020204030204" pitchFamily="34" charset="0"/>
                <a:cs typeface="Calibri" panose="020F0502020204030204" pitchFamily="34" charset="0"/>
              </a:rPr>
              <a:t>因果効果とは</a:t>
            </a:r>
          </a:p>
        </p:txBody>
      </p:sp>
      <p:sp>
        <p:nvSpPr>
          <p:cNvPr id="3" name="字幕 2">
            <a:extLst>
              <a:ext uri="{FF2B5EF4-FFF2-40B4-BE49-F238E27FC236}">
                <a16:creationId xmlns:a16="http://schemas.microsoft.com/office/drawing/2014/main" id="{74716797-EF17-64DA-FA89-10FEA2F64C8A}"/>
              </a:ext>
            </a:extLst>
          </p:cNvPr>
          <p:cNvSpPr>
            <a:spLocks noGrp="1"/>
          </p:cNvSpPr>
          <p:nvPr>
            <p:ph type="subTitle" idx="1"/>
          </p:nvPr>
        </p:nvSpPr>
        <p:spPr>
          <a:xfrm>
            <a:off x="1524000" y="3657600"/>
            <a:ext cx="9144000" cy="1970570"/>
          </a:xfrm>
        </p:spPr>
        <p:txBody>
          <a:bodyPr>
            <a:normAutofit/>
          </a:bodyPr>
          <a:lstStyle/>
          <a:p>
            <a:pPr>
              <a:lnSpc>
                <a:spcPct val="120000"/>
              </a:lnSpc>
            </a:pPr>
            <a:r>
              <a:rPr lang="ja-JP" altLang="en-US" sz="2800"/>
              <a:t>加藤真大</a:t>
            </a:r>
            <a:br>
              <a:rPr lang="en-US" altLang="ja-JP" dirty="0"/>
            </a:br>
            <a:br>
              <a:rPr lang="en-US" altLang="ja-JP" sz="1000" dirty="0"/>
            </a:br>
            <a:r>
              <a:rPr lang="ja-JP" altLang="en-US"/>
              <a:t>大阪公立大学</a:t>
            </a:r>
            <a:br>
              <a:rPr lang="en-US" altLang="ja-JP" dirty="0"/>
            </a:br>
            <a:r>
              <a:rPr lang="en-US" altLang="ja-JP" dirty="0"/>
              <a:t>RIKEN AIP</a:t>
            </a:r>
          </a:p>
        </p:txBody>
      </p:sp>
    </p:spTree>
    <p:extLst>
      <p:ext uri="{BB962C8B-B14F-4D97-AF65-F5344CB8AC3E}">
        <p14:creationId xmlns:p14="http://schemas.microsoft.com/office/powerpoint/2010/main" val="3710258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3E0D4-B4A5-BBEC-6AB9-F477539B79E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14D55F3-5F2F-C902-F47B-4CA4092D7C94}"/>
              </a:ext>
            </a:extLst>
          </p:cNvPr>
          <p:cNvSpPr>
            <a:spLocks noGrp="1"/>
          </p:cNvSpPr>
          <p:nvPr>
            <p:ph type="title"/>
          </p:nvPr>
        </p:nvSpPr>
        <p:spPr/>
        <p:txBody>
          <a:bodyPr/>
          <a:lstStyle/>
          <a:p>
            <a:r>
              <a:rPr kumimoji="1" lang="ja-JP" altLang="en-US"/>
              <a:t>「機械学習と因果推論」入門</a:t>
            </a:r>
          </a:p>
        </p:txBody>
      </p:sp>
      <p:sp>
        <p:nvSpPr>
          <p:cNvPr id="3" name="コンテンツ プレースホルダー 2">
            <a:extLst>
              <a:ext uri="{FF2B5EF4-FFF2-40B4-BE49-F238E27FC236}">
                <a16:creationId xmlns:a16="http://schemas.microsoft.com/office/drawing/2014/main" id="{0D729C64-8514-9669-4EA0-938B868A147C}"/>
              </a:ext>
            </a:extLst>
          </p:cNvPr>
          <p:cNvSpPr>
            <a:spLocks noGrp="1"/>
          </p:cNvSpPr>
          <p:nvPr>
            <p:ph idx="1"/>
          </p:nvPr>
        </p:nvSpPr>
        <p:spPr/>
        <p:txBody>
          <a:bodyPr>
            <a:normAutofit/>
          </a:bodyPr>
          <a:lstStyle/>
          <a:p>
            <a:r>
              <a:rPr lang="ja-JP" altLang="en-US" sz="2000"/>
              <a:t>全</a:t>
            </a:r>
            <a:r>
              <a:rPr lang="en-US" altLang="ja-JP" sz="2000" dirty="0"/>
              <a:t>5</a:t>
            </a:r>
            <a:r>
              <a:rPr lang="ja-JP" altLang="en-US" sz="2000"/>
              <a:t>回</a:t>
            </a:r>
            <a:endParaRPr lang="en-US" altLang="ja-JP" sz="2000" dirty="0"/>
          </a:p>
          <a:p>
            <a:pPr marL="740700" lvl="1" indent="-342900">
              <a:buFont typeface="+mj-ea"/>
              <a:buAutoNum type="circleNumDbPlain"/>
            </a:pPr>
            <a:r>
              <a:rPr lang="ja-JP" altLang="en-US" sz="2000">
                <a:latin typeface="Noto Sans JP" panose="020B0200000000000000" pitchFamily="34" charset="-128"/>
                <a:ea typeface="Noto Sans JP" panose="020B0200000000000000" pitchFamily="34" charset="-128"/>
              </a:rPr>
              <a:t>因果推論とは</a:t>
            </a:r>
            <a:endParaRPr lang="en-US" altLang="ja-JP" sz="2000" dirty="0">
              <a:latin typeface="Noto Sans JP" panose="020B0200000000000000" pitchFamily="34" charset="-128"/>
              <a:ea typeface="Noto Sans JP" panose="020B0200000000000000" pitchFamily="34" charset="-128"/>
            </a:endParaRPr>
          </a:p>
          <a:p>
            <a:pPr marL="740700" lvl="1" indent="-342900">
              <a:buFont typeface="+mj-ea"/>
              <a:buAutoNum type="circleNumDbPlain"/>
            </a:pPr>
            <a:r>
              <a:rPr lang="ja-JP" altLang="en-US" sz="2000">
                <a:latin typeface="Noto Sans JP" panose="020B0200000000000000" pitchFamily="34" charset="-128"/>
                <a:ea typeface="Noto Sans JP" panose="020B0200000000000000" pitchFamily="34" charset="-128"/>
              </a:rPr>
              <a:t>回帰分析から因果分析へ</a:t>
            </a:r>
            <a:endParaRPr lang="en-US" altLang="ja-JP" sz="2000" dirty="0">
              <a:latin typeface="Noto Sans JP" panose="020B0200000000000000" pitchFamily="34" charset="-128"/>
              <a:ea typeface="Noto Sans JP" panose="020B0200000000000000" pitchFamily="34" charset="-128"/>
            </a:endParaRPr>
          </a:p>
          <a:p>
            <a:pPr marL="740700" lvl="1" indent="-342900">
              <a:buFont typeface="+mj-ea"/>
              <a:buAutoNum type="circleNumDbPlain"/>
            </a:pPr>
            <a:r>
              <a:rPr lang="ja-JP" altLang="en-US" sz="2000">
                <a:latin typeface="Noto Sans JP" panose="020B0200000000000000" pitchFamily="34" charset="-128"/>
                <a:ea typeface="Noto Sans JP" panose="020B0200000000000000" pitchFamily="34" charset="-128"/>
              </a:rPr>
              <a:t>漸近効率な推定量と二重機械学習</a:t>
            </a:r>
            <a:endParaRPr lang="en-US" altLang="ja-JP" sz="2000" dirty="0">
              <a:latin typeface="Noto Sans JP" panose="020B0200000000000000" pitchFamily="34" charset="-128"/>
              <a:ea typeface="Noto Sans JP" panose="020B0200000000000000" pitchFamily="34" charset="-128"/>
            </a:endParaRPr>
          </a:p>
          <a:p>
            <a:pPr marL="740700" lvl="1" indent="-342900">
              <a:buFont typeface="+mj-ea"/>
              <a:buAutoNum type="circleNumDbPlain"/>
            </a:pPr>
            <a:r>
              <a:rPr lang="ja-JP" altLang="en-US" sz="2000"/>
              <a:t>さまざまな処置効果の推定方法</a:t>
            </a:r>
            <a:endParaRPr lang="en-US" altLang="ja-JP" sz="2000" dirty="0"/>
          </a:p>
          <a:p>
            <a:pPr marL="740700" lvl="1" indent="-342900">
              <a:buFont typeface="+mj-ea"/>
              <a:buAutoNum type="circleNumDbPlain"/>
            </a:pPr>
            <a:r>
              <a:rPr lang="ja-JP" altLang="en-US" sz="2000"/>
              <a:t>因果</a:t>
            </a:r>
            <a:r>
              <a:rPr lang="ja-JP" altLang="en-US" sz="2000">
                <a:latin typeface="Noto Sans JP" panose="020B0200000000000000" pitchFamily="34" charset="-128"/>
                <a:ea typeface="Noto Sans JP" panose="020B0200000000000000" pitchFamily="34" charset="-128"/>
              </a:rPr>
              <a:t>効果推定の一般化</a:t>
            </a:r>
            <a:r>
              <a:rPr lang="ja-JP" altLang="en-US" sz="2000"/>
              <a:t>　</a:t>
            </a:r>
            <a:endParaRPr lang="en-US" altLang="ja-JP" sz="2000" dirty="0"/>
          </a:p>
          <a:p>
            <a:pPr marL="740700" lvl="1" indent="-342900">
              <a:buFont typeface="+mj-ea"/>
              <a:buAutoNum type="circleNumDbPlain"/>
            </a:pPr>
            <a:endParaRPr lang="en-US" altLang="ja-JP" sz="2000" dirty="0"/>
          </a:p>
          <a:p>
            <a:r>
              <a:rPr lang="ja-JP" altLang="en-US" sz="2000"/>
              <a:t>これらの発表を通じて伝えたいこと</a:t>
            </a:r>
            <a:r>
              <a:rPr lang="en-US" altLang="ja-JP" sz="2000" dirty="0"/>
              <a:t> / </a:t>
            </a:r>
            <a:r>
              <a:rPr lang="ja-JP" altLang="en-US" sz="2000"/>
              <a:t>主張</a:t>
            </a:r>
            <a:endParaRPr lang="en-US" altLang="ja-JP" sz="2000" dirty="0"/>
          </a:p>
          <a:p>
            <a:pPr lvl="1"/>
            <a:r>
              <a:rPr lang="ja-JP" altLang="en-US" sz="2000"/>
              <a:t>因果分析を回帰分析と同じ枠組みで考えること</a:t>
            </a:r>
            <a:endParaRPr lang="en-US" altLang="ja-JP" sz="2000" dirty="0"/>
          </a:p>
          <a:p>
            <a:pPr lvl="1"/>
            <a:r>
              <a:rPr lang="ja-JP" altLang="en-US" sz="2000"/>
              <a:t>因果推論の目的の多くは、</a:t>
            </a:r>
            <a:r>
              <a:rPr lang="ja-JP" altLang="en-US" sz="2000" u="sng"/>
              <a:t>少ない仮定</a:t>
            </a:r>
            <a:r>
              <a:rPr lang="ja-JP" altLang="en-US" sz="2000"/>
              <a:t>で</a:t>
            </a:r>
            <a:r>
              <a:rPr lang="ja-JP" altLang="en-US" sz="2000" u="sng"/>
              <a:t>効率的に</a:t>
            </a:r>
            <a:r>
              <a:rPr lang="ja-JP" altLang="en-US" sz="2000"/>
              <a:t>因果効果を推定・推論すること</a:t>
            </a:r>
            <a:endParaRPr lang="en-US" altLang="ja-JP" sz="2000" dirty="0"/>
          </a:p>
          <a:p>
            <a:pPr lvl="1"/>
            <a:r>
              <a:rPr lang="ja-JP" altLang="en-US" sz="2000"/>
              <a:t>少ない仮定</a:t>
            </a:r>
            <a:r>
              <a:rPr lang="en-US" altLang="ja-JP" sz="2000" dirty="0"/>
              <a:t> = </a:t>
            </a:r>
            <a:r>
              <a:rPr lang="ja-JP" altLang="en-US" sz="2000"/>
              <a:t>ノンパラメトリック・セミパラメトリック分析</a:t>
            </a:r>
            <a:endParaRPr lang="en-US" altLang="ja-JP" sz="2000" dirty="0"/>
          </a:p>
          <a:p>
            <a:pPr marL="397800" lvl="1" indent="0">
              <a:buNone/>
            </a:pPr>
            <a:r>
              <a:rPr lang="ja-JP" altLang="en-US" sz="2000"/>
              <a:t>→</a:t>
            </a:r>
            <a:r>
              <a:rPr lang="en-US" altLang="ja-JP" sz="2000" dirty="0"/>
              <a:t> </a:t>
            </a:r>
            <a:r>
              <a:rPr lang="ja-JP" altLang="en-US" sz="2000" b="1"/>
              <a:t>二重機械学習</a:t>
            </a:r>
            <a:endParaRPr lang="en-US" altLang="ja-JP" sz="2000" b="1" dirty="0"/>
          </a:p>
          <a:p>
            <a:pPr lvl="1"/>
            <a:r>
              <a:rPr lang="ja-JP" altLang="en-US" sz="2000"/>
              <a:t>平均処置効果推定で用いる手法は一般化して多くの問題に応用できる</a:t>
            </a:r>
            <a:endParaRPr lang="en-US" altLang="ja-JP" sz="2000" dirty="0"/>
          </a:p>
          <a:p>
            <a:pPr marL="397800" lvl="1" indent="0">
              <a:buNone/>
            </a:pPr>
            <a:r>
              <a:rPr lang="ja-JP" altLang="en-US" sz="2000"/>
              <a:t>→</a:t>
            </a:r>
            <a:r>
              <a:rPr lang="en-US" altLang="ja-JP" sz="2000" dirty="0"/>
              <a:t> </a:t>
            </a:r>
            <a:r>
              <a:rPr lang="ja-JP" altLang="en-US" sz="2000" b="1"/>
              <a:t>自動バイアス除去学習</a:t>
            </a:r>
            <a:endParaRPr lang="en-US" altLang="ja-JP" sz="2000" b="1" dirty="0"/>
          </a:p>
          <a:p>
            <a:pPr lvl="2"/>
            <a:r>
              <a:rPr lang="ja-JP" altLang="en-US" sz="2000"/>
              <a:t>リースの表現定理による記述</a:t>
            </a:r>
            <a:endParaRPr lang="en-US" altLang="ja-JP" sz="2000" dirty="0"/>
          </a:p>
          <a:p>
            <a:pPr marL="740700" lvl="1" indent="-342900">
              <a:buFont typeface="+mj-lt"/>
              <a:buAutoNum type="circleNumDbPlain"/>
            </a:pPr>
            <a:endParaRPr lang="en-US" altLang="ja-JP" sz="2000" dirty="0">
              <a:latin typeface="Noto Sans JP" panose="020B0200000000000000" pitchFamily="34" charset="-128"/>
              <a:ea typeface="Noto Sans JP" panose="020B0200000000000000" pitchFamily="34" charset="-128"/>
            </a:endParaRPr>
          </a:p>
          <a:p>
            <a:pPr marL="740700" lvl="1" indent="-342900">
              <a:buFont typeface="+mj-lt"/>
              <a:buAutoNum type="circleNumDbPlain"/>
            </a:pPr>
            <a:endParaRPr lang="en-US" altLang="ja-JP" sz="2000" dirty="0"/>
          </a:p>
          <a:p>
            <a:pPr marL="342900" indent="-342900">
              <a:buFont typeface="+mj-lt"/>
              <a:buAutoNum type="arabicPeriod"/>
            </a:pPr>
            <a:endParaRPr lang="en-US" altLang="ja-JP" sz="2000" dirty="0">
              <a:latin typeface="Noto Sans JP" panose="020B0200000000000000" pitchFamily="34" charset="-128"/>
              <a:ea typeface="Noto Sans JP" panose="020B0200000000000000" pitchFamily="34" charset="-128"/>
            </a:endParaRPr>
          </a:p>
          <a:p>
            <a:endParaRPr lang="en-US" altLang="ja-JP" sz="2000" dirty="0">
              <a:latin typeface="Noto Sans JP" panose="020B0200000000000000" pitchFamily="34" charset="-128"/>
              <a:ea typeface="Noto Sans JP" panose="020B0200000000000000" pitchFamily="34" charset="-128"/>
            </a:endParaRPr>
          </a:p>
        </p:txBody>
      </p:sp>
      <p:sp>
        <p:nvSpPr>
          <p:cNvPr id="4" name="角丸四角形 3">
            <a:extLst>
              <a:ext uri="{FF2B5EF4-FFF2-40B4-BE49-F238E27FC236}">
                <a16:creationId xmlns:a16="http://schemas.microsoft.com/office/drawing/2014/main" id="{F5B04F6F-32BB-A725-1F73-46AFA648C122}"/>
              </a:ext>
            </a:extLst>
          </p:cNvPr>
          <p:cNvSpPr/>
          <p:nvPr/>
        </p:nvSpPr>
        <p:spPr>
          <a:xfrm>
            <a:off x="7002518" y="1303283"/>
            <a:ext cx="4351282" cy="1629104"/>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Noto Sans JP" panose="020B0200000000000000" pitchFamily="34" charset="-128"/>
                <a:ea typeface="Noto Sans JP" panose="020B0200000000000000" pitchFamily="34" charset="-128"/>
              </a:rPr>
              <a:t>本スライドの一部の図表や説明は、</a:t>
            </a:r>
            <a:br>
              <a:rPr kumimoji="1" lang="en-US" altLang="ja-JP" dirty="0">
                <a:solidFill>
                  <a:schemeClr val="tx1"/>
                </a:solidFill>
                <a:latin typeface="Noto Sans JP" panose="020B0200000000000000" pitchFamily="34" charset="-128"/>
                <a:ea typeface="Noto Sans JP" panose="020B0200000000000000" pitchFamily="34" charset="-128"/>
              </a:rPr>
            </a:br>
            <a:r>
              <a:rPr kumimoji="1" lang="ja-JP" altLang="en-US">
                <a:solidFill>
                  <a:schemeClr val="tx1"/>
                </a:solidFill>
                <a:latin typeface="Noto Sans JP" panose="020B0200000000000000" pitchFamily="34" charset="-128"/>
                <a:ea typeface="Noto Sans JP" panose="020B0200000000000000" pitchFamily="34" charset="-128"/>
              </a:rPr>
              <a:t>今後出版予定の拙著「機械学習による因果推論」で使用予定のものを、</a:t>
            </a:r>
            <a:br>
              <a:rPr lang="en-US" altLang="ja-JP" dirty="0">
                <a:solidFill>
                  <a:schemeClr val="tx1"/>
                </a:solidFill>
                <a:latin typeface="Noto Sans JP" panose="020B0200000000000000" pitchFamily="34" charset="-128"/>
                <a:ea typeface="Noto Sans JP" panose="020B0200000000000000" pitchFamily="34" charset="-128"/>
              </a:rPr>
            </a:br>
            <a:r>
              <a:rPr kumimoji="1" lang="ja-JP" altLang="en-US">
                <a:solidFill>
                  <a:schemeClr val="tx1"/>
                </a:solidFill>
                <a:latin typeface="Noto Sans JP" panose="020B0200000000000000" pitchFamily="34" charset="-128"/>
                <a:ea typeface="Noto Sans JP" panose="020B0200000000000000" pitchFamily="34" charset="-128"/>
              </a:rPr>
              <a:t>校正も兼ねて試験的に用いています</a:t>
            </a:r>
          </a:p>
        </p:txBody>
      </p:sp>
    </p:spTree>
    <p:extLst>
      <p:ext uri="{BB962C8B-B14F-4D97-AF65-F5344CB8AC3E}">
        <p14:creationId xmlns:p14="http://schemas.microsoft.com/office/powerpoint/2010/main" val="2519007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5B734-876D-46E8-0D5B-3903693F5B1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19792D2-D4D0-6557-F5F3-96739FD77A5C}"/>
              </a:ext>
            </a:extLst>
          </p:cNvPr>
          <p:cNvSpPr>
            <a:spLocks noGrp="1"/>
          </p:cNvSpPr>
          <p:nvPr>
            <p:ph type="title"/>
          </p:nvPr>
        </p:nvSpPr>
        <p:spPr/>
        <p:txBody>
          <a:bodyPr/>
          <a:lstStyle/>
          <a:p>
            <a:r>
              <a:rPr lang="ja-JP" altLang="en-US"/>
              <a:t>本講義のポイント</a:t>
            </a:r>
            <a:endParaRPr kumimoji="1" lang="ja-JP" altLang="en-US"/>
          </a:p>
        </p:txBody>
      </p:sp>
      <p:sp>
        <p:nvSpPr>
          <p:cNvPr id="3" name="コンテンツ プレースホルダー 2">
            <a:extLst>
              <a:ext uri="{FF2B5EF4-FFF2-40B4-BE49-F238E27FC236}">
                <a16:creationId xmlns:a16="http://schemas.microsoft.com/office/drawing/2014/main" id="{6765DE37-CA52-2DEC-F67A-5B6FB9DB7C04}"/>
              </a:ext>
            </a:extLst>
          </p:cNvPr>
          <p:cNvSpPr>
            <a:spLocks noGrp="1"/>
          </p:cNvSpPr>
          <p:nvPr>
            <p:ph idx="1"/>
          </p:nvPr>
        </p:nvSpPr>
        <p:spPr/>
        <p:txBody>
          <a:bodyPr>
            <a:normAutofit/>
          </a:bodyPr>
          <a:lstStyle/>
          <a:p>
            <a:r>
              <a:rPr lang="ja-JP" altLang="en-US" sz="2000"/>
              <a:t>本スライドの</a:t>
            </a:r>
            <a:r>
              <a:rPr lang="ja-JP" altLang="en-US" sz="2000">
                <a:latin typeface="Noto Sans JP" panose="020B0200000000000000" pitchFamily="34" charset="-128"/>
                <a:ea typeface="Noto Sans JP" panose="020B0200000000000000" pitchFamily="34" charset="-128"/>
              </a:rPr>
              <a:t>内容</a:t>
            </a:r>
            <a:endParaRPr lang="en-US" altLang="ja-JP" sz="2000" dirty="0">
              <a:latin typeface="Noto Sans JP" panose="020B0200000000000000" pitchFamily="34" charset="-128"/>
              <a:ea typeface="Noto Sans JP" panose="020B0200000000000000" pitchFamily="34" charset="-128"/>
            </a:endParaRPr>
          </a:p>
          <a:p>
            <a:pPr lvl="1"/>
            <a:r>
              <a:rPr lang="ja-JP" altLang="en-US" sz="2000">
                <a:latin typeface="Noto Sans JP" panose="020B0200000000000000" pitchFamily="34" charset="-128"/>
                <a:ea typeface="Noto Sans JP" panose="020B0200000000000000" pitchFamily="34" charset="-128"/>
              </a:rPr>
              <a:t>因果推論・効果検証に関する用語の整理</a:t>
            </a:r>
            <a:endParaRPr lang="en-US" altLang="ja-JP" sz="2000" dirty="0">
              <a:latin typeface="Noto Sans JP" panose="020B0200000000000000" pitchFamily="34" charset="-128"/>
              <a:ea typeface="Noto Sans JP" panose="020B0200000000000000" pitchFamily="34" charset="-128"/>
            </a:endParaRPr>
          </a:p>
          <a:p>
            <a:pPr lvl="1"/>
            <a:r>
              <a:rPr lang="ja-JP" altLang="en-US" sz="2000">
                <a:latin typeface="Noto Sans JP" panose="020B0200000000000000" pitchFamily="34" charset="-128"/>
                <a:ea typeface="Noto Sans JP" panose="020B0200000000000000" pitchFamily="34" charset="-128"/>
              </a:rPr>
              <a:t>代表例としての平均処置効果</a:t>
            </a:r>
            <a:endParaRPr lang="en-US" altLang="ja-JP" sz="2000" dirty="0">
              <a:latin typeface="Noto Sans JP" panose="020B0200000000000000" pitchFamily="34" charset="-128"/>
              <a:ea typeface="Noto Sans JP" panose="020B0200000000000000" pitchFamily="34" charset="-128"/>
            </a:endParaRPr>
          </a:p>
          <a:p>
            <a:pPr lvl="1"/>
            <a:r>
              <a:rPr lang="ja-JP" altLang="en-US" sz="2000">
                <a:latin typeface="Noto Sans JP" panose="020B0200000000000000" pitchFamily="34" charset="-128"/>
                <a:ea typeface="Noto Sans JP" panose="020B0200000000000000" pitchFamily="34" charset="-128"/>
              </a:rPr>
              <a:t>処置効果推定における課題</a:t>
            </a:r>
            <a:endParaRPr lang="en-US" altLang="ja-JP" sz="2000" dirty="0">
              <a:latin typeface="Noto Sans JP" panose="020B0200000000000000" pitchFamily="34" charset="-128"/>
              <a:ea typeface="Noto Sans JP" panose="020B0200000000000000" pitchFamily="34" charset="-128"/>
            </a:endParaRPr>
          </a:p>
          <a:p>
            <a:pPr lvl="1"/>
            <a:r>
              <a:rPr lang="ja-JP" altLang="en-US" sz="2000">
                <a:latin typeface="Noto Sans JP" panose="020B0200000000000000" pitchFamily="34" charset="-128"/>
                <a:ea typeface="Noto Sans JP" panose="020B0200000000000000" pitchFamily="34" charset="-128"/>
              </a:rPr>
              <a:t>線形回帰（</a:t>
            </a:r>
            <a:r>
              <a:rPr lang="en-US" altLang="ja-JP" sz="2000" dirty="0">
                <a:latin typeface="Noto Sans JP" panose="020B0200000000000000" pitchFamily="34" charset="-128"/>
                <a:ea typeface="Noto Sans JP" panose="020B0200000000000000" pitchFamily="34" charset="-128"/>
              </a:rPr>
              <a:t>OLS</a:t>
            </a:r>
            <a:r>
              <a:rPr lang="ja-JP" altLang="en-US" sz="2000">
                <a:latin typeface="Noto Sans JP" panose="020B0200000000000000" pitchFamily="34" charset="-128"/>
                <a:ea typeface="Noto Sans JP" panose="020B0200000000000000" pitchFamily="34" charset="-128"/>
              </a:rPr>
              <a:t>）による処置効果推定</a:t>
            </a:r>
            <a:endParaRPr lang="en-US" altLang="ja-JP" sz="2000" dirty="0">
              <a:latin typeface="Noto Sans JP" panose="020B0200000000000000" pitchFamily="34" charset="-128"/>
              <a:ea typeface="Noto Sans JP" panose="020B0200000000000000" pitchFamily="34" charset="-128"/>
            </a:endParaRPr>
          </a:p>
          <a:p>
            <a:pPr lvl="1"/>
            <a:endParaRPr lang="en-US" altLang="ja-JP" sz="2000" dirty="0"/>
          </a:p>
          <a:p>
            <a:pPr lvl="1"/>
            <a:endParaRPr lang="en-US" altLang="ja-JP" sz="2000" dirty="0">
              <a:latin typeface="Noto Sans JP" panose="020B0200000000000000" pitchFamily="34" charset="-128"/>
              <a:ea typeface="Noto Sans JP" panose="020B0200000000000000" pitchFamily="34" charset="-128"/>
            </a:endParaRPr>
          </a:p>
          <a:p>
            <a:pPr lvl="1"/>
            <a:endParaRPr lang="en-US" altLang="ja-JP" sz="2000" dirty="0"/>
          </a:p>
          <a:p>
            <a:pPr lvl="1"/>
            <a:endParaRPr lang="en-US" altLang="ja-JP" sz="2000" dirty="0">
              <a:latin typeface="Noto Sans JP" panose="020B0200000000000000" pitchFamily="34" charset="-128"/>
              <a:ea typeface="Noto Sans JP" panose="020B0200000000000000" pitchFamily="34" charset="-128"/>
            </a:endParaRPr>
          </a:p>
        </p:txBody>
      </p:sp>
    </p:spTree>
    <p:extLst>
      <p:ext uri="{BB962C8B-B14F-4D97-AF65-F5344CB8AC3E}">
        <p14:creationId xmlns:p14="http://schemas.microsoft.com/office/powerpoint/2010/main" val="858669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F4195-2325-1C8A-39B1-FE733851432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895835C-5A05-3CAC-3684-24B224DBF611}"/>
              </a:ext>
            </a:extLst>
          </p:cNvPr>
          <p:cNvSpPr>
            <a:spLocks noGrp="1"/>
          </p:cNvSpPr>
          <p:nvPr>
            <p:ph type="title"/>
          </p:nvPr>
        </p:nvSpPr>
        <p:spPr/>
        <p:txBody>
          <a:bodyPr/>
          <a:lstStyle/>
          <a:p>
            <a:r>
              <a:rPr lang="ja-JP" altLang="en-US"/>
              <a:t>データ分析とは</a:t>
            </a:r>
            <a:endParaRPr kumimoji="1" lang="ja-JP" altLang="en-US"/>
          </a:p>
        </p:txBody>
      </p:sp>
      <p:sp>
        <p:nvSpPr>
          <p:cNvPr id="3" name="テキスト プレースホルダー 2">
            <a:extLst>
              <a:ext uri="{FF2B5EF4-FFF2-40B4-BE49-F238E27FC236}">
                <a16:creationId xmlns:a16="http://schemas.microsoft.com/office/drawing/2014/main" id="{9E8F6C2B-56EF-5674-5D16-5F8611EF4075}"/>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3438057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C123C-1799-0BCC-4052-9429622B8E94}"/>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F469289D-250B-2055-CA69-55064A36BEEE}"/>
              </a:ext>
            </a:extLst>
          </p:cNvPr>
          <p:cNvSpPr>
            <a:spLocks noGrp="1"/>
          </p:cNvSpPr>
          <p:nvPr>
            <p:ph type="title"/>
          </p:nvPr>
        </p:nvSpPr>
        <p:spPr/>
        <p:txBody>
          <a:bodyPr>
            <a:normAutofit/>
          </a:bodyPr>
          <a:lstStyle/>
          <a:p>
            <a:r>
              <a:rPr lang="ja-JP" altLang="en-US"/>
              <a:t>データ分析</a:t>
            </a:r>
          </a:p>
        </p:txBody>
      </p:sp>
      <p:sp>
        <p:nvSpPr>
          <p:cNvPr id="7" name="コンテンツ プレースホルダー 6">
            <a:extLst>
              <a:ext uri="{FF2B5EF4-FFF2-40B4-BE49-F238E27FC236}">
                <a16:creationId xmlns:a16="http://schemas.microsoft.com/office/drawing/2014/main" id="{786FE7FF-DB51-0910-4098-B86D10DD1F1B}"/>
              </a:ext>
            </a:extLst>
          </p:cNvPr>
          <p:cNvSpPr>
            <a:spLocks noGrp="1"/>
          </p:cNvSpPr>
          <p:nvPr>
            <p:ph idx="1"/>
          </p:nvPr>
        </p:nvSpPr>
        <p:spPr>
          <a:xfrm>
            <a:off x="360935" y="4191000"/>
            <a:ext cx="11444164" cy="2667000"/>
          </a:xfrm>
        </p:spPr>
        <p:txBody>
          <a:bodyPr>
            <a:normAutofit/>
          </a:bodyPr>
          <a:lstStyle/>
          <a:p>
            <a:r>
              <a:rPr lang="ja-JP" altLang="en-US" sz="2000" b="1" u="sng">
                <a:latin typeface="Noto Sans JP" panose="020B0200000000000000" pitchFamily="34" charset="-128"/>
                <a:ea typeface="Noto Sans JP" panose="020B0200000000000000" pitchFamily="34" charset="-128"/>
              </a:rPr>
              <a:t>母集団</a:t>
            </a:r>
            <a:r>
              <a:rPr lang="ja-JP" altLang="en-US" sz="2000" u="sng">
                <a:latin typeface="Noto Sans JP" panose="020B0200000000000000" pitchFamily="34" charset="-128"/>
                <a:ea typeface="Noto Sans JP" panose="020B0200000000000000" pitchFamily="34" charset="-128"/>
              </a:rPr>
              <a:t>（</a:t>
            </a:r>
            <a:r>
              <a:rPr lang="ja-JP" altLang="en-US" sz="2000" b="1" u="sng">
                <a:latin typeface="Noto Sans JP" panose="020B0200000000000000" pitchFamily="34" charset="-128"/>
                <a:ea typeface="Noto Sans JP" panose="020B0200000000000000" pitchFamily="34" charset="-128"/>
              </a:rPr>
              <a:t>世界</a:t>
            </a:r>
            <a:r>
              <a:rPr lang="ja-JP" altLang="en-US" sz="2000" u="sng">
                <a:latin typeface="Noto Sans JP" panose="020B0200000000000000" pitchFamily="34" charset="-128"/>
                <a:ea typeface="Noto Sans JP" panose="020B0200000000000000" pitchFamily="34" charset="-128"/>
              </a:rPr>
              <a:t>）について</a:t>
            </a:r>
            <a:r>
              <a:rPr lang="ja-JP" altLang="en-US" sz="2000" b="1" u="sng">
                <a:latin typeface="Noto Sans JP" panose="020B0200000000000000" pitchFamily="34" charset="-128"/>
                <a:ea typeface="Noto Sans JP" panose="020B0200000000000000" pitchFamily="34" charset="-128"/>
              </a:rPr>
              <a:t>サンプル</a:t>
            </a:r>
            <a:r>
              <a:rPr lang="ja-JP" altLang="en-US" sz="2000" u="sng">
                <a:latin typeface="Noto Sans JP" panose="020B0200000000000000" pitchFamily="34" charset="-128"/>
                <a:ea typeface="Noto Sans JP" panose="020B0200000000000000" pitchFamily="34" charset="-128"/>
              </a:rPr>
              <a:t>（観測可能なデータ）と</a:t>
            </a:r>
            <a:r>
              <a:rPr lang="ja-JP" altLang="en-US" sz="2000" b="1" u="sng">
                <a:latin typeface="Noto Sans JP" panose="020B0200000000000000" pitchFamily="34" charset="-128"/>
                <a:ea typeface="Noto Sans JP" panose="020B0200000000000000" pitchFamily="34" charset="-128"/>
              </a:rPr>
              <a:t>モデル</a:t>
            </a:r>
            <a:r>
              <a:rPr lang="ja-JP" altLang="en-US" sz="2000" u="sng">
                <a:latin typeface="Noto Sans JP" panose="020B0200000000000000" pitchFamily="34" charset="-128"/>
                <a:ea typeface="Noto Sans JP" panose="020B0200000000000000" pitchFamily="34" charset="-128"/>
              </a:rPr>
              <a:t>を用いて意思決定</a:t>
            </a:r>
            <a:r>
              <a:rPr lang="ja-JP" altLang="en-US" sz="2000" u="sng"/>
              <a:t>したい</a:t>
            </a:r>
            <a:endParaRPr lang="en-US" altLang="ja-JP" sz="2000" u="sng" dirty="0">
              <a:latin typeface="Noto Sans JP" panose="020B0200000000000000" pitchFamily="34" charset="-128"/>
              <a:ea typeface="Noto Sans JP" panose="020B0200000000000000" pitchFamily="34" charset="-128"/>
            </a:endParaRPr>
          </a:p>
          <a:p>
            <a:pPr lvl="1"/>
            <a:r>
              <a:rPr lang="ja-JP" altLang="en-US" sz="2000">
                <a:latin typeface="Noto Sans JP" panose="020B0200000000000000" pitchFamily="34" charset="-128"/>
                <a:ea typeface="Noto Sans JP" panose="020B0200000000000000" pitchFamily="34" charset="-128"/>
              </a:rPr>
              <a:t>母集団（世界）を表すモデルを母集団（世界）に合わせる</a:t>
            </a:r>
            <a:endParaRPr lang="en-US" altLang="ja-JP" sz="2000" dirty="0">
              <a:latin typeface="Noto Sans JP" panose="020B0200000000000000" pitchFamily="34" charset="-128"/>
              <a:ea typeface="Noto Sans JP" panose="020B0200000000000000" pitchFamily="34" charset="-128"/>
            </a:endParaRPr>
          </a:p>
          <a:p>
            <a:pPr lvl="1"/>
            <a:r>
              <a:rPr lang="ja-JP" altLang="en-US" sz="2000">
                <a:latin typeface="Noto Sans JP" panose="020B0200000000000000" pitchFamily="34" charset="-128"/>
                <a:ea typeface="Noto Sans JP" panose="020B0200000000000000" pitchFamily="34" charset="-128"/>
              </a:rPr>
              <a:t>モデルを通じて意思決定を行う</a:t>
            </a:r>
            <a:endParaRPr lang="en-US" altLang="ja-JP" sz="2000" dirty="0">
              <a:latin typeface="Noto Sans JP" panose="020B0200000000000000" pitchFamily="34" charset="-128"/>
              <a:ea typeface="Noto Sans JP" panose="020B0200000000000000" pitchFamily="34" charset="-128"/>
            </a:endParaRPr>
          </a:p>
          <a:p>
            <a:pPr lvl="2"/>
            <a:r>
              <a:rPr lang="ja-JP" altLang="en-US" sz="2000">
                <a:latin typeface="Noto Sans JP" panose="020B0200000000000000" pitchFamily="34" charset="-128"/>
                <a:ea typeface="Noto Sans JP" panose="020B0200000000000000" pitchFamily="34" charset="-128"/>
              </a:rPr>
              <a:t>推論・仮説検定：　モデルを通じて母集団に関する仮説を検証</a:t>
            </a:r>
            <a:endParaRPr lang="en-US" altLang="ja-JP" sz="2000" dirty="0">
              <a:latin typeface="Noto Sans JP" panose="020B0200000000000000" pitchFamily="34" charset="-128"/>
              <a:ea typeface="Noto Sans JP" panose="020B0200000000000000" pitchFamily="34" charset="-128"/>
            </a:endParaRPr>
          </a:p>
          <a:p>
            <a:pPr lvl="2"/>
            <a:r>
              <a:rPr lang="ja-JP" altLang="en-US" sz="2000">
                <a:latin typeface="Noto Sans JP" panose="020B0200000000000000" pitchFamily="34" charset="-128"/>
                <a:ea typeface="Noto Sans JP" panose="020B0200000000000000" pitchFamily="34" charset="-128"/>
              </a:rPr>
              <a:t>因果推論：</a:t>
            </a:r>
            <a:r>
              <a:rPr lang="en-US" altLang="ja-JP" sz="2000" dirty="0">
                <a:latin typeface="Noto Sans JP" panose="020B0200000000000000" pitchFamily="34" charset="-128"/>
                <a:ea typeface="Noto Sans JP" panose="020B0200000000000000" pitchFamily="34" charset="-128"/>
              </a:rPr>
              <a:t> </a:t>
            </a:r>
            <a:r>
              <a:rPr lang="ja-JP" altLang="en-US" sz="2000">
                <a:latin typeface="Noto Sans JP" panose="020B0200000000000000" pitchFamily="34" charset="-128"/>
                <a:ea typeface="Noto Sans JP" panose="020B0200000000000000" pitchFamily="34" charset="-128"/>
              </a:rPr>
              <a:t>モデルが母集団の因果関係を表しており、その因果関係について推論</a:t>
            </a:r>
            <a:br>
              <a:rPr lang="en-US" altLang="ja-JP" sz="2000" dirty="0">
                <a:latin typeface="Noto Sans JP" panose="020B0200000000000000" pitchFamily="34" charset="-128"/>
                <a:ea typeface="Noto Sans JP" panose="020B0200000000000000" pitchFamily="34" charset="-128"/>
              </a:rPr>
            </a:br>
            <a:endParaRPr lang="en-US" altLang="ja-JP" sz="800" dirty="0">
              <a:latin typeface="Noto Sans JP" panose="020B0200000000000000" pitchFamily="34" charset="-128"/>
              <a:ea typeface="Noto Sans JP" panose="020B0200000000000000" pitchFamily="34" charset="-128"/>
            </a:endParaRPr>
          </a:p>
          <a:p>
            <a:r>
              <a:rPr lang="ja-JP" altLang="en-US" sz="2000" b="1">
                <a:latin typeface="Noto Sans JP" panose="020B0200000000000000" pitchFamily="34" charset="-128"/>
                <a:ea typeface="Noto Sans JP" panose="020B0200000000000000" pitchFamily="34" charset="-128"/>
              </a:rPr>
              <a:t>データ分析技術はこの枠組みにおける各種の工夫</a:t>
            </a:r>
            <a:endParaRPr lang="en-US" altLang="ja-JP" sz="2000" b="1" dirty="0">
              <a:latin typeface="Noto Sans JP" panose="020B0200000000000000" pitchFamily="34" charset="-128"/>
              <a:ea typeface="Noto Sans JP" panose="020B0200000000000000" pitchFamily="34" charset="-128"/>
            </a:endParaRPr>
          </a:p>
        </p:txBody>
      </p:sp>
      <p:sp>
        <p:nvSpPr>
          <p:cNvPr id="4" name="角丸四角形 3">
            <a:extLst>
              <a:ext uri="{FF2B5EF4-FFF2-40B4-BE49-F238E27FC236}">
                <a16:creationId xmlns:a16="http://schemas.microsoft.com/office/drawing/2014/main" id="{5648D6DE-CA90-0C67-4D2B-324A86194CEA}"/>
              </a:ext>
            </a:extLst>
          </p:cNvPr>
          <p:cNvSpPr/>
          <p:nvPr/>
        </p:nvSpPr>
        <p:spPr>
          <a:xfrm>
            <a:off x="7239002" y="1311373"/>
            <a:ext cx="4343400" cy="2667000"/>
          </a:xfrm>
          <a:prstGeom prst="roundRect">
            <a:avLst/>
          </a:prstGeom>
          <a:no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tx1"/>
                </a:solidFill>
                <a:latin typeface="Noto Sans JP" panose="020B0200000000000000" pitchFamily="34" charset="-128"/>
                <a:ea typeface="Noto Sans JP" panose="020B0200000000000000" pitchFamily="34" charset="-128"/>
              </a:rPr>
              <a:t>母集団（真の世界）</a:t>
            </a:r>
            <a:endParaRPr kumimoji="1" lang="en-US" altLang="ja-JP" b="1" dirty="0">
              <a:solidFill>
                <a:schemeClr val="tx1"/>
              </a:solidFill>
              <a:latin typeface="Noto Sans JP" panose="020B0200000000000000" pitchFamily="34" charset="-128"/>
              <a:ea typeface="Noto Sans JP" panose="020B0200000000000000" pitchFamily="34" charset="-128"/>
            </a:endParaRPr>
          </a:p>
          <a:p>
            <a:pPr algn="ctr"/>
            <a:r>
              <a:rPr kumimoji="1" lang="en-US" altLang="ja-JP" sz="800" b="1" dirty="0">
                <a:solidFill>
                  <a:schemeClr val="tx1"/>
                </a:solidFill>
                <a:latin typeface="Noto Sans JP" panose="020B0200000000000000" pitchFamily="34" charset="-128"/>
                <a:ea typeface="Noto Sans JP" panose="020B0200000000000000" pitchFamily="34" charset="-128"/>
              </a:rPr>
              <a:t> </a:t>
            </a:r>
          </a:p>
          <a:p>
            <a:pPr algn="ctr"/>
            <a:r>
              <a:rPr kumimoji="1" lang="ja-JP" altLang="en-US">
                <a:solidFill>
                  <a:schemeClr val="tx1"/>
                </a:solidFill>
                <a:latin typeface="Noto Sans JP" panose="020B0200000000000000" pitchFamily="34" charset="-128"/>
                <a:ea typeface="Noto Sans JP" panose="020B0200000000000000" pitchFamily="34" charset="-128"/>
              </a:rPr>
              <a:t>例：ある商品に対する日本人の選好</a:t>
            </a:r>
            <a:endParaRPr kumimoji="1" lang="en-US" altLang="ja-JP" dirty="0">
              <a:solidFill>
                <a:schemeClr val="tx1"/>
              </a:solidFill>
              <a:latin typeface="Noto Sans JP" panose="020B0200000000000000" pitchFamily="34" charset="-128"/>
              <a:ea typeface="Noto Sans JP" panose="020B0200000000000000" pitchFamily="34" charset="-128"/>
            </a:endParaRPr>
          </a:p>
          <a:p>
            <a:pPr algn="ctr"/>
            <a:r>
              <a:rPr kumimoji="1" lang="ja-JP" altLang="en-US">
                <a:solidFill>
                  <a:schemeClr val="tx1"/>
                </a:solidFill>
                <a:latin typeface="Noto Sans JP" panose="020B0200000000000000" pitchFamily="34" charset="-128"/>
                <a:ea typeface="Noto Sans JP" panose="020B0200000000000000" pitchFamily="34" charset="-128"/>
              </a:rPr>
              <a:t>株価を決める企業価値</a:t>
            </a:r>
          </a:p>
          <a:p>
            <a:pPr algn="ctr"/>
            <a:r>
              <a:rPr kumimoji="1" lang="ja-JP" altLang="en-US">
                <a:solidFill>
                  <a:schemeClr val="tx1"/>
                </a:solidFill>
                <a:latin typeface="Noto Sans JP" panose="020B0200000000000000" pitchFamily="34" charset="-128"/>
                <a:ea typeface="Noto Sans JP" panose="020B0200000000000000" pitchFamily="34" charset="-128"/>
              </a:rPr>
              <a:t>需要曲線と供給曲線</a:t>
            </a:r>
          </a:p>
        </p:txBody>
      </p:sp>
      <p:sp>
        <p:nvSpPr>
          <p:cNvPr id="9" name="角丸四角形 8">
            <a:extLst>
              <a:ext uri="{FF2B5EF4-FFF2-40B4-BE49-F238E27FC236}">
                <a16:creationId xmlns:a16="http://schemas.microsoft.com/office/drawing/2014/main" id="{D3242A80-4BE7-2E8A-A56C-8F472D696988}"/>
              </a:ext>
            </a:extLst>
          </p:cNvPr>
          <p:cNvSpPr/>
          <p:nvPr/>
        </p:nvSpPr>
        <p:spPr>
          <a:xfrm>
            <a:off x="609600" y="1311374"/>
            <a:ext cx="4343400" cy="1295400"/>
          </a:xfrm>
          <a:prstGeom prst="roundRect">
            <a:avLst/>
          </a:prstGeom>
          <a:noFill/>
          <a:ln w="381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tx1"/>
                </a:solidFill>
                <a:latin typeface="Noto Sans JP" panose="020B0200000000000000" pitchFamily="34" charset="-128"/>
                <a:ea typeface="Noto Sans JP" panose="020B0200000000000000" pitchFamily="34" charset="-128"/>
              </a:rPr>
              <a:t>サンプル（観測できる世界）</a:t>
            </a:r>
            <a:endParaRPr kumimoji="1" lang="en-US" altLang="ja-JP" b="1" dirty="0">
              <a:solidFill>
                <a:schemeClr val="tx1"/>
              </a:solidFill>
              <a:latin typeface="Noto Sans JP" panose="020B0200000000000000" pitchFamily="34" charset="-128"/>
              <a:ea typeface="Noto Sans JP" panose="020B0200000000000000" pitchFamily="34" charset="-128"/>
            </a:endParaRPr>
          </a:p>
          <a:p>
            <a:pPr algn="ctr"/>
            <a:r>
              <a:rPr kumimoji="1" lang="en-US" altLang="ja-JP" sz="800" b="1" dirty="0">
                <a:solidFill>
                  <a:schemeClr val="tx1"/>
                </a:solidFill>
                <a:latin typeface="Noto Sans JP" panose="020B0200000000000000" pitchFamily="34" charset="-128"/>
                <a:ea typeface="Noto Sans JP" panose="020B0200000000000000" pitchFamily="34" charset="-128"/>
              </a:rPr>
              <a:t> </a:t>
            </a:r>
          </a:p>
          <a:p>
            <a:pPr algn="ctr"/>
            <a:r>
              <a:rPr kumimoji="1" lang="ja-JP" altLang="en-US">
                <a:solidFill>
                  <a:schemeClr val="tx1"/>
                </a:solidFill>
                <a:latin typeface="Noto Sans JP" panose="020B0200000000000000" pitchFamily="34" charset="-128"/>
                <a:ea typeface="Noto Sans JP" panose="020B0200000000000000" pitchFamily="34" charset="-128"/>
              </a:rPr>
              <a:t>例：ある商品の東京都での売上</a:t>
            </a:r>
            <a:endParaRPr kumimoji="1" lang="en-US" altLang="ja-JP" dirty="0">
              <a:solidFill>
                <a:schemeClr val="tx1"/>
              </a:solidFill>
              <a:latin typeface="Noto Sans JP" panose="020B0200000000000000" pitchFamily="34" charset="-128"/>
              <a:ea typeface="Noto Sans JP" panose="020B0200000000000000" pitchFamily="34" charset="-128"/>
            </a:endParaRPr>
          </a:p>
          <a:p>
            <a:pPr algn="ctr"/>
            <a:r>
              <a:rPr kumimoji="1" lang="ja-JP" altLang="en-US">
                <a:solidFill>
                  <a:schemeClr val="tx1"/>
                </a:solidFill>
                <a:latin typeface="Noto Sans JP" panose="020B0200000000000000" pitchFamily="34" charset="-128"/>
                <a:ea typeface="Noto Sans JP" panose="020B0200000000000000" pitchFamily="34" charset="-128"/>
              </a:rPr>
              <a:t>株価の時系列データ</a:t>
            </a:r>
            <a:endParaRPr kumimoji="1" lang="en-US" altLang="ja-JP" dirty="0">
              <a:solidFill>
                <a:schemeClr val="tx1"/>
              </a:solidFill>
              <a:latin typeface="Noto Sans JP" panose="020B0200000000000000" pitchFamily="34" charset="-128"/>
              <a:ea typeface="Noto Sans JP" panose="020B0200000000000000" pitchFamily="34" charset="-128"/>
            </a:endParaRPr>
          </a:p>
          <a:p>
            <a:pPr algn="ctr"/>
            <a:r>
              <a:rPr kumimoji="1" lang="ja-JP" altLang="en-US">
                <a:solidFill>
                  <a:schemeClr val="tx1"/>
                </a:solidFill>
                <a:latin typeface="Noto Sans JP" panose="020B0200000000000000" pitchFamily="34" charset="-128"/>
                <a:ea typeface="Noto Sans JP" panose="020B0200000000000000" pitchFamily="34" charset="-128"/>
              </a:rPr>
              <a:t>商品の価格と取引量</a:t>
            </a:r>
          </a:p>
        </p:txBody>
      </p:sp>
      <p:sp>
        <p:nvSpPr>
          <p:cNvPr id="13" name="上矢印 12">
            <a:extLst>
              <a:ext uri="{FF2B5EF4-FFF2-40B4-BE49-F238E27FC236}">
                <a16:creationId xmlns:a16="http://schemas.microsoft.com/office/drawing/2014/main" id="{1EA6CD78-7F58-3954-00D1-6A9DDB0EF1EB}"/>
              </a:ext>
            </a:extLst>
          </p:cNvPr>
          <p:cNvSpPr/>
          <p:nvPr/>
        </p:nvSpPr>
        <p:spPr>
          <a:xfrm rot="16200000">
            <a:off x="5818301" y="1054199"/>
            <a:ext cx="529431" cy="1809750"/>
          </a:xfrm>
          <a:prstGeom prst="upArrow">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6F0602B7-1990-B8F5-6243-F90F3696CD33}"/>
              </a:ext>
            </a:extLst>
          </p:cNvPr>
          <p:cNvSpPr txBox="1"/>
          <p:nvPr/>
        </p:nvSpPr>
        <p:spPr>
          <a:xfrm>
            <a:off x="5774139" y="1311374"/>
            <a:ext cx="646331" cy="369332"/>
          </a:xfrm>
          <a:prstGeom prst="rect">
            <a:avLst/>
          </a:prstGeom>
          <a:noFill/>
          <a:ln>
            <a:solidFill>
              <a:schemeClr val="accent1">
                <a:shade val="15000"/>
              </a:schemeClr>
            </a:solidFill>
          </a:ln>
        </p:spPr>
        <p:txBody>
          <a:bodyPr wrap="none" rtlCol="0">
            <a:spAutoFit/>
          </a:bodyPr>
          <a:lstStyle/>
          <a:p>
            <a:r>
              <a:rPr kumimoji="1" lang="ja-JP" altLang="en-US">
                <a:latin typeface="Noto Sans JP" panose="020B0200000000000000" pitchFamily="34" charset="-128"/>
                <a:ea typeface="Noto Sans JP" panose="020B0200000000000000" pitchFamily="34" charset="-128"/>
              </a:rPr>
              <a:t>観測</a:t>
            </a:r>
          </a:p>
        </p:txBody>
      </p:sp>
      <p:sp>
        <p:nvSpPr>
          <p:cNvPr id="16" name="正方形/長方形 15">
            <a:extLst>
              <a:ext uri="{FF2B5EF4-FFF2-40B4-BE49-F238E27FC236}">
                <a16:creationId xmlns:a16="http://schemas.microsoft.com/office/drawing/2014/main" id="{62FFBCC9-D103-B888-E959-B9AB65F940FB}"/>
              </a:ext>
            </a:extLst>
          </p:cNvPr>
          <p:cNvSpPr/>
          <p:nvPr/>
        </p:nvSpPr>
        <p:spPr>
          <a:xfrm>
            <a:off x="609598" y="3183036"/>
            <a:ext cx="4343399" cy="8011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tx1"/>
                </a:solidFill>
                <a:latin typeface="Noto Sans JP" panose="020B0200000000000000" pitchFamily="34" charset="-128"/>
                <a:ea typeface="Noto Sans JP" panose="020B0200000000000000" pitchFamily="34" charset="-128"/>
              </a:rPr>
              <a:t>母集団を表すモデル</a:t>
            </a:r>
            <a:endParaRPr kumimoji="1" lang="en-US" altLang="ja-JP" b="1" dirty="0">
              <a:solidFill>
                <a:schemeClr val="tx1"/>
              </a:solidFill>
              <a:latin typeface="Noto Sans JP" panose="020B0200000000000000" pitchFamily="34" charset="-128"/>
              <a:ea typeface="Noto Sans JP" panose="020B0200000000000000" pitchFamily="34" charset="-128"/>
            </a:endParaRPr>
          </a:p>
          <a:p>
            <a:pPr algn="ctr"/>
            <a:endParaRPr kumimoji="1" lang="en-US" altLang="ja-JP" sz="800" b="1" dirty="0">
              <a:solidFill>
                <a:schemeClr val="tx1"/>
              </a:solidFill>
              <a:latin typeface="Noto Sans JP" panose="020B0200000000000000" pitchFamily="34" charset="-128"/>
              <a:ea typeface="Noto Sans JP" panose="020B0200000000000000" pitchFamily="34" charset="-128"/>
            </a:endParaRPr>
          </a:p>
          <a:p>
            <a:pPr algn="ctr"/>
            <a:r>
              <a:rPr kumimoji="1" lang="ja-JP" altLang="en-US">
                <a:solidFill>
                  <a:schemeClr val="tx1"/>
                </a:solidFill>
                <a:latin typeface="Noto Sans JP" panose="020B0200000000000000" pitchFamily="34" charset="-128"/>
                <a:ea typeface="Noto Sans JP" panose="020B0200000000000000" pitchFamily="34" charset="-128"/>
              </a:rPr>
              <a:t>例：線形回帰・ニューラルネットワーク</a:t>
            </a:r>
          </a:p>
        </p:txBody>
      </p:sp>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F6F10F63-A26C-6123-662F-123D48001E9A}"/>
                  </a:ext>
                </a:extLst>
              </p:cNvPr>
              <p:cNvSpPr txBox="1"/>
              <p:nvPr/>
            </p:nvSpPr>
            <p:spPr>
              <a:xfrm>
                <a:off x="2439697" y="2531308"/>
                <a:ext cx="683200" cy="707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ja-JP" sz="4000" b="0" i="1" smtClean="0">
                          <a:latin typeface="Cambria Math" panose="02040503050406030204" pitchFamily="18" charset="0"/>
                        </a:rPr>
                        <m:t>+</m:t>
                      </m:r>
                    </m:oMath>
                  </m:oMathPara>
                </a14:m>
                <a:endParaRPr kumimoji="1" lang="en-US" altLang="ja-JP" sz="4000" dirty="0">
                  <a:latin typeface="Calibri" panose="020F0502020204030204" pitchFamily="34" charset="0"/>
                  <a:cs typeface="Calibri" panose="020F0502020204030204" pitchFamily="34" charset="0"/>
                </a:endParaRPr>
              </a:p>
            </p:txBody>
          </p:sp>
        </mc:Choice>
        <mc:Fallback xmlns="">
          <p:sp>
            <p:nvSpPr>
              <p:cNvPr id="20" name="テキスト ボックス 19">
                <a:extLst>
                  <a:ext uri="{FF2B5EF4-FFF2-40B4-BE49-F238E27FC236}">
                    <a16:creationId xmlns:a16="http://schemas.microsoft.com/office/drawing/2014/main" id="{F6F10F63-A26C-6123-662F-123D48001E9A}"/>
                  </a:ext>
                </a:extLst>
              </p:cNvPr>
              <p:cNvSpPr txBox="1">
                <a:spLocks noRot="1" noChangeAspect="1" noMove="1" noResize="1" noEditPoints="1" noAdjustHandles="1" noChangeArrowheads="1" noChangeShapeType="1" noTextEdit="1"/>
              </p:cNvSpPr>
              <p:nvPr/>
            </p:nvSpPr>
            <p:spPr>
              <a:xfrm>
                <a:off x="2439697" y="2531308"/>
                <a:ext cx="683200" cy="707886"/>
              </a:xfrm>
              <a:prstGeom prst="rect">
                <a:avLst/>
              </a:prstGeom>
              <a:blipFill>
                <a:blip r:embed="rId2"/>
                <a:stretch>
                  <a:fillRect l="-1852" r="-1852"/>
                </a:stretch>
              </a:blipFill>
            </p:spPr>
            <p:txBody>
              <a:bodyPr/>
              <a:lstStyle/>
              <a:p>
                <a:r>
                  <a:rPr lang="ja-JP" altLang="en-US">
                    <a:noFill/>
                  </a:rPr>
                  <a:t> </a:t>
                </a:r>
              </a:p>
            </p:txBody>
          </p:sp>
        </mc:Fallback>
      </mc:AlternateContent>
      <p:sp>
        <p:nvSpPr>
          <p:cNvPr id="21" name="上矢印 20">
            <a:extLst>
              <a:ext uri="{FF2B5EF4-FFF2-40B4-BE49-F238E27FC236}">
                <a16:creationId xmlns:a16="http://schemas.microsoft.com/office/drawing/2014/main" id="{6EFD11D2-ADD3-4DEE-8A34-89F3A98A85BB}"/>
              </a:ext>
            </a:extLst>
          </p:cNvPr>
          <p:cNvSpPr/>
          <p:nvPr/>
        </p:nvSpPr>
        <p:spPr>
          <a:xfrm rot="5400000">
            <a:off x="5831284" y="2069603"/>
            <a:ext cx="529431" cy="1809750"/>
          </a:xfrm>
          <a:prstGeom prst="upArrow">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FACB137F-DA2A-E510-5F97-9A52F3DCEF21}"/>
              </a:ext>
            </a:extLst>
          </p:cNvPr>
          <p:cNvSpPr txBox="1"/>
          <p:nvPr/>
        </p:nvSpPr>
        <p:spPr>
          <a:xfrm>
            <a:off x="5529018" y="3263762"/>
            <a:ext cx="1107996" cy="369332"/>
          </a:xfrm>
          <a:prstGeom prst="rect">
            <a:avLst/>
          </a:prstGeom>
          <a:noFill/>
          <a:ln>
            <a:solidFill>
              <a:schemeClr val="accent1">
                <a:shade val="15000"/>
              </a:schemeClr>
            </a:solidFill>
          </a:ln>
        </p:spPr>
        <p:txBody>
          <a:bodyPr wrap="none" rtlCol="0">
            <a:spAutoFit/>
          </a:bodyPr>
          <a:lstStyle/>
          <a:p>
            <a:r>
              <a:rPr kumimoji="1" lang="ja-JP" altLang="en-US">
                <a:latin typeface="Noto Sans JP" panose="020B0200000000000000" pitchFamily="34" charset="-128"/>
                <a:ea typeface="Noto Sans JP" panose="020B0200000000000000" pitchFamily="34" charset="-128"/>
              </a:rPr>
              <a:t>意思決定</a:t>
            </a:r>
          </a:p>
        </p:txBody>
      </p:sp>
      <p:sp>
        <p:nvSpPr>
          <p:cNvPr id="24" name="テキスト ボックス 23">
            <a:extLst>
              <a:ext uri="{FF2B5EF4-FFF2-40B4-BE49-F238E27FC236}">
                <a16:creationId xmlns:a16="http://schemas.microsoft.com/office/drawing/2014/main" id="{D1DABA14-C2A8-6A5D-3EAB-8B5C913E598A}"/>
              </a:ext>
            </a:extLst>
          </p:cNvPr>
          <p:cNvSpPr txBox="1"/>
          <p:nvPr/>
        </p:nvSpPr>
        <p:spPr>
          <a:xfrm>
            <a:off x="9036803" y="4876071"/>
            <a:ext cx="2737299" cy="215444"/>
          </a:xfrm>
          <a:prstGeom prst="rect">
            <a:avLst/>
          </a:prstGeom>
          <a:noFill/>
        </p:spPr>
        <p:txBody>
          <a:bodyPr wrap="square">
            <a:spAutoFit/>
          </a:bodyPr>
          <a:lstStyle/>
          <a:p>
            <a:r>
              <a:rPr lang="ja-JP" altLang="en-US" sz="800">
                <a:latin typeface="+mn-ea"/>
                <a:ea typeface="+mn-ea"/>
              </a:rPr>
              <a:t>推定・学習・キャリブレーションなどと呼ばれる作業</a:t>
            </a:r>
          </a:p>
        </p:txBody>
      </p:sp>
    </p:spTree>
    <p:extLst>
      <p:ext uri="{BB962C8B-B14F-4D97-AF65-F5344CB8AC3E}">
        <p14:creationId xmlns:p14="http://schemas.microsoft.com/office/powerpoint/2010/main" val="404003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D5301-3FD6-666E-6528-A453491FCDD1}"/>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3192480F-A91C-C8F0-9F66-BD1622627DF5}"/>
              </a:ext>
            </a:extLst>
          </p:cNvPr>
          <p:cNvSpPr>
            <a:spLocks noGrp="1"/>
          </p:cNvSpPr>
          <p:nvPr>
            <p:ph type="title"/>
          </p:nvPr>
        </p:nvSpPr>
        <p:spPr/>
        <p:txBody>
          <a:bodyPr>
            <a:normAutofit/>
          </a:bodyPr>
          <a:lstStyle/>
          <a:p>
            <a:r>
              <a:rPr lang="ja-JP" altLang="en-US"/>
              <a:t>仮説検定</a:t>
            </a:r>
          </a:p>
        </p:txBody>
      </p:sp>
      <p:sp>
        <p:nvSpPr>
          <p:cNvPr id="7" name="コンテンツ プレースホルダー 6">
            <a:extLst>
              <a:ext uri="{FF2B5EF4-FFF2-40B4-BE49-F238E27FC236}">
                <a16:creationId xmlns:a16="http://schemas.microsoft.com/office/drawing/2014/main" id="{957DD920-04C0-26F1-AF5E-24DDFFCED5F1}"/>
              </a:ext>
            </a:extLst>
          </p:cNvPr>
          <p:cNvSpPr>
            <a:spLocks noGrp="1"/>
          </p:cNvSpPr>
          <p:nvPr>
            <p:ph idx="1"/>
          </p:nvPr>
        </p:nvSpPr>
        <p:spPr>
          <a:xfrm>
            <a:off x="360935" y="4191000"/>
            <a:ext cx="11444164" cy="2667000"/>
          </a:xfrm>
        </p:spPr>
        <p:txBody>
          <a:bodyPr>
            <a:normAutofit/>
          </a:bodyPr>
          <a:lstStyle/>
          <a:p>
            <a:r>
              <a:rPr lang="ja-JP" altLang="en-US" sz="2000" b="1">
                <a:latin typeface="Noto Sans JP" panose="020B0200000000000000" pitchFamily="34" charset="-128"/>
                <a:ea typeface="Noto Sans JP" panose="020B0200000000000000" pitchFamily="34" charset="-128"/>
              </a:rPr>
              <a:t>仮説検定</a:t>
            </a:r>
            <a:endParaRPr lang="en-US" altLang="ja-JP" sz="2000" b="1" dirty="0">
              <a:latin typeface="Noto Sans JP" panose="020B0200000000000000" pitchFamily="34" charset="-128"/>
              <a:ea typeface="Noto Sans JP" panose="020B0200000000000000" pitchFamily="34" charset="-128"/>
            </a:endParaRPr>
          </a:p>
          <a:p>
            <a:pPr lvl="1"/>
            <a:r>
              <a:rPr lang="ja-JP" altLang="en-US" sz="2000">
                <a:latin typeface="Noto Sans JP" panose="020B0200000000000000" pitchFamily="34" charset="-128"/>
                <a:ea typeface="Noto Sans JP" panose="020B0200000000000000" pitchFamily="34" charset="-128"/>
              </a:rPr>
              <a:t>母集団に対する仮説</a:t>
            </a:r>
            <a:endParaRPr lang="en-US" altLang="ja-JP" sz="2000" dirty="0">
              <a:latin typeface="Noto Sans JP" panose="020B0200000000000000" pitchFamily="34" charset="-128"/>
              <a:ea typeface="Noto Sans JP" panose="020B0200000000000000" pitchFamily="34" charset="-128"/>
            </a:endParaRPr>
          </a:p>
          <a:p>
            <a:pPr marL="914400" lvl="2" indent="0">
              <a:buNone/>
            </a:pPr>
            <a:r>
              <a:rPr lang="ja-JP" altLang="en-US" sz="2000">
                <a:latin typeface="Noto Sans JP" panose="020B0200000000000000" pitchFamily="34" charset="-128"/>
                <a:ea typeface="Noto Sans JP" panose="020B0200000000000000" pitchFamily="34" charset="-128"/>
              </a:rPr>
              <a:t>（例）マーケティングの効果はゼロであったかどうか</a:t>
            </a:r>
            <a:endParaRPr lang="en-US" altLang="ja-JP" sz="2000" dirty="0">
              <a:latin typeface="Noto Sans JP" panose="020B0200000000000000" pitchFamily="34" charset="-128"/>
              <a:ea typeface="Noto Sans JP" panose="020B0200000000000000" pitchFamily="34" charset="-128"/>
            </a:endParaRPr>
          </a:p>
          <a:p>
            <a:pPr marL="914400" lvl="2" indent="0">
              <a:buNone/>
            </a:pPr>
            <a:r>
              <a:rPr lang="ja-JP" altLang="en-US" sz="2000">
                <a:latin typeface="Noto Sans JP" panose="020B0200000000000000" pitchFamily="34" charset="-128"/>
                <a:ea typeface="Noto Sans JP" panose="020B0200000000000000" pitchFamily="34" charset="-128"/>
              </a:rPr>
              <a:t>（例）ファクターは有意に株価を説明するか</a:t>
            </a:r>
            <a:endParaRPr lang="en-US" altLang="ja-JP" sz="2000" dirty="0">
              <a:latin typeface="Noto Sans JP" panose="020B0200000000000000" pitchFamily="34" charset="-128"/>
              <a:ea typeface="Noto Sans JP" panose="020B0200000000000000" pitchFamily="34" charset="-128"/>
            </a:endParaRPr>
          </a:p>
          <a:p>
            <a:pPr lvl="1"/>
            <a:r>
              <a:rPr lang="ja-JP" altLang="en-US" sz="2000">
                <a:latin typeface="Noto Sans JP" panose="020B0200000000000000" pitchFamily="34" charset="-128"/>
                <a:ea typeface="Noto Sans JP" panose="020B0200000000000000" pitchFamily="34" charset="-128"/>
              </a:rPr>
              <a:t>データを用いて検証</a:t>
            </a:r>
            <a:endParaRPr lang="en-US" altLang="ja-JP" sz="2000" dirty="0">
              <a:latin typeface="Noto Sans JP" panose="020B0200000000000000" pitchFamily="34" charset="-128"/>
              <a:ea typeface="Noto Sans JP" panose="020B0200000000000000" pitchFamily="34" charset="-128"/>
            </a:endParaRPr>
          </a:p>
          <a:p>
            <a:pPr marL="914400" lvl="2" indent="0">
              <a:buNone/>
            </a:pPr>
            <a:r>
              <a:rPr lang="ja-JP" altLang="en-US" sz="2000">
                <a:latin typeface="Noto Sans JP" panose="020B0200000000000000" pitchFamily="34" charset="-128"/>
                <a:ea typeface="Noto Sans JP" panose="020B0200000000000000" pitchFamily="34" charset="-128"/>
              </a:rPr>
              <a:t>有意水準</a:t>
            </a:r>
            <a:r>
              <a:rPr lang="en-US" altLang="ja-JP" sz="2000" dirty="0">
                <a:latin typeface="Noto Sans JP" panose="020B0200000000000000" pitchFamily="34" charset="-128"/>
                <a:ea typeface="Noto Sans JP" panose="020B0200000000000000" pitchFamily="34" charset="-128"/>
              </a:rPr>
              <a:t>5%</a:t>
            </a:r>
            <a:r>
              <a:rPr lang="ja-JP" altLang="en-US" sz="2000">
                <a:latin typeface="Noto Sans JP" panose="020B0200000000000000" pitchFamily="34" charset="-128"/>
                <a:ea typeface="Noto Sans JP" panose="020B0200000000000000" pitchFamily="34" charset="-128"/>
              </a:rPr>
              <a:t>で棄却</a:t>
            </a:r>
            <a:endParaRPr lang="en-US" altLang="ja-JP" sz="2000" dirty="0">
              <a:latin typeface="Noto Sans JP" panose="020B0200000000000000" pitchFamily="34" charset="-128"/>
              <a:ea typeface="Noto Sans JP" panose="020B0200000000000000" pitchFamily="34" charset="-128"/>
            </a:endParaRPr>
          </a:p>
        </p:txBody>
      </p:sp>
      <p:sp>
        <p:nvSpPr>
          <p:cNvPr id="4" name="角丸四角形 3">
            <a:extLst>
              <a:ext uri="{FF2B5EF4-FFF2-40B4-BE49-F238E27FC236}">
                <a16:creationId xmlns:a16="http://schemas.microsoft.com/office/drawing/2014/main" id="{3EC1FA93-8580-17A9-2D22-088DCCC8A2C0}"/>
              </a:ext>
            </a:extLst>
          </p:cNvPr>
          <p:cNvSpPr/>
          <p:nvPr/>
        </p:nvSpPr>
        <p:spPr>
          <a:xfrm>
            <a:off x="7239002" y="1311373"/>
            <a:ext cx="4343400" cy="2667000"/>
          </a:xfrm>
          <a:prstGeom prst="roundRect">
            <a:avLst/>
          </a:prstGeom>
          <a:no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tx1"/>
                </a:solidFill>
                <a:latin typeface="Noto Sans JP" panose="020B0200000000000000" pitchFamily="34" charset="-128"/>
                <a:ea typeface="Noto Sans JP" panose="020B0200000000000000" pitchFamily="34" charset="-128"/>
              </a:rPr>
              <a:t>母集団（真の世界）</a:t>
            </a:r>
            <a:endParaRPr kumimoji="1" lang="en-US" altLang="ja-JP" b="1" dirty="0">
              <a:solidFill>
                <a:schemeClr val="tx1"/>
              </a:solidFill>
              <a:latin typeface="Noto Sans JP" panose="020B0200000000000000" pitchFamily="34" charset="-128"/>
              <a:ea typeface="Noto Sans JP" panose="020B0200000000000000" pitchFamily="34" charset="-128"/>
            </a:endParaRPr>
          </a:p>
          <a:p>
            <a:pPr algn="ctr"/>
            <a:r>
              <a:rPr kumimoji="1" lang="en-US" altLang="ja-JP" sz="800" b="1" dirty="0">
                <a:solidFill>
                  <a:schemeClr val="tx1"/>
                </a:solidFill>
                <a:latin typeface="Noto Sans JP" panose="020B0200000000000000" pitchFamily="34" charset="-128"/>
                <a:ea typeface="Noto Sans JP" panose="020B0200000000000000" pitchFamily="34" charset="-128"/>
              </a:rPr>
              <a:t> </a:t>
            </a:r>
          </a:p>
          <a:p>
            <a:pPr algn="ctr"/>
            <a:r>
              <a:rPr kumimoji="1" lang="ja-JP" altLang="en-US">
                <a:solidFill>
                  <a:schemeClr val="tx1"/>
                </a:solidFill>
                <a:latin typeface="Noto Sans JP" panose="020B0200000000000000" pitchFamily="34" charset="-128"/>
                <a:ea typeface="Noto Sans JP" panose="020B0200000000000000" pitchFamily="34" charset="-128"/>
              </a:rPr>
              <a:t>例：ある商品に対する日本人の選好</a:t>
            </a:r>
            <a:endParaRPr kumimoji="1" lang="en-US" altLang="ja-JP" dirty="0">
              <a:solidFill>
                <a:schemeClr val="tx1"/>
              </a:solidFill>
              <a:latin typeface="Noto Sans JP" panose="020B0200000000000000" pitchFamily="34" charset="-128"/>
              <a:ea typeface="Noto Sans JP" panose="020B0200000000000000" pitchFamily="34" charset="-128"/>
            </a:endParaRPr>
          </a:p>
          <a:p>
            <a:pPr algn="ctr"/>
            <a:r>
              <a:rPr kumimoji="1" lang="ja-JP" altLang="en-US">
                <a:solidFill>
                  <a:schemeClr val="tx1"/>
                </a:solidFill>
                <a:latin typeface="Noto Sans JP" panose="020B0200000000000000" pitchFamily="34" charset="-128"/>
                <a:ea typeface="Noto Sans JP" panose="020B0200000000000000" pitchFamily="34" charset="-128"/>
              </a:rPr>
              <a:t>株価を決める企業価値</a:t>
            </a:r>
          </a:p>
          <a:p>
            <a:pPr algn="ctr"/>
            <a:r>
              <a:rPr kumimoji="1" lang="ja-JP" altLang="en-US">
                <a:solidFill>
                  <a:schemeClr val="tx1"/>
                </a:solidFill>
                <a:latin typeface="Noto Sans JP" panose="020B0200000000000000" pitchFamily="34" charset="-128"/>
                <a:ea typeface="Noto Sans JP" panose="020B0200000000000000" pitchFamily="34" charset="-128"/>
              </a:rPr>
              <a:t>需要曲線と供給曲線</a:t>
            </a:r>
          </a:p>
        </p:txBody>
      </p:sp>
      <p:sp>
        <p:nvSpPr>
          <p:cNvPr id="9" name="角丸四角形 8">
            <a:extLst>
              <a:ext uri="{FF2B5EF4-FFF2-40B4-BE49-F238E27FC236}">
                <a16:creationId xmlns:a16="http://schemas.microsoft.com/office/drawing/2014/main" id="{CB96A3FA-04F2-EB72-B9AA-3216B02B9085}"/>
              </a:ext>
            </a:extLst>
          </p:cNvPr>
          <p:cNvSpPr/>
          <p:nvPr/>
        </p:nvSpPr>
        <p:spPr>
          <a:xfrm>
            <a:off x="609600" y="1311374"/>
            <a:ext cx="4343400" cy="1295400"/>
          </a:xfrm>
          <a:prstGeom prst="roundRect">
            <a:avLst/>
          </a:prstGeom>
          <a:noFill/>
          <a:ln w="381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tx1"/>
                </a:solidFill>
                <a:latin typeface="Noto Sans JP" panose="020B0200000000000000" pitchFamily="34" charset="-128"/>
                <a:ea typeface="Noto Sans JP" panose="020B0200000000000000" pitchFamily="34" charset="-128"/>
              </a:rPr>
              <a:t>サンプル（観測できる世界）</a:t>
            </a:r>
            <a:endParaRPr kumimoji="1" lang="en-US" altLang="ja-JP" b="1" dirty="0">
              <a:solidFill>
                <a:schemeClr val="tx1"/>
              </a:solidFill>
              <a:latin typeface="Noto Sans JP" panose="020B0200000000000000" pitchFamily="34" charset="-128"/>
              <a:ea typeface="Noto Sans JP" panose="020B0200000000000000" pitchFamily="34" charset="-128"/>
            </a:endParaRPr>
          </a:p>
          <a:p>
            <a:pPr algn="ctr"/>
            <a:r>
              <a:rPr kumimoji="1" lang="en-US" altLang="ja-JP" sz="800" b="1" dirty="0">
                <a:solidFill>
                  <a:schemeClr val="tx1"/>
                </a:solidFill>
                <a:latin typeface="Noto Sans JP" panose="020B0200000000000000" pitchFamily="34" charset="-128"/>
                <a:ea typeface="Noto Sans JP" panose="020B0200000000000000" pitchFamily="34" charset="-128"/>
              </a:rPr>
              <a:t> </a:t>
            </a:r>
          </a:p>
          <a:p>
            <a:pPr algn="ctr"/>
            <a:r>
              <a:rPr kumimoji="1" lang="ja-JP" altLang="en-US">
                <a:solidFill>
                  <a:schemeClr val="tx1"/>
                </a:solidFill>
                <a:latin typeface="Noto Sans JP" panose="020B0200000000000000" pitchFamily="34" charset="-128"/>
                <a:ea typeface="Noto Sans JP" panose="020B0200000000000000" pitchFamily="34" charset="-128"/>
              </a:rPr>
              <a:t>例：ある商品の東京都での売上</a:t>
            </a:r>
            <a:endParaRPr kumimoji="1" lang="en-US" altLang="ja-JP" dirty="0">
              <a:solidFill>
                <a:schemeClr val="tx1"/>
              </a:solidFill>
              <a:latin typeface="Noto Sans JP" panose="020B0200000000000000" pitchFamily="34" charset="-128"/>
              <a:ea typeface="Noto Sans JP" panose="020B0200000000000000" pitchFamily="34" charset="-128"/>
            </a:endParaRPr>
          </a:p>
          <a:p>
            <a:pPr algn="ctr"/>
            <a:r>
              <a:rPr kumimoji="1" lang="ja-JP" altLang="en-US">
                <a:solidFill>
                  <a:schemeClr val="tx1"/>
                </a:solidFill>
                <a:latin typeface="Noto Sans JP" panose="020B0200000000000000" pitchFamily="34" charset="-128"/>
                <a:ea typeface="Noto Sans JP" panose="020B0200000000000000" pitchFamily="34" charset="-128"/>
              </a:rPr>
              <a:t>株価の時系列データ</a:t>
            </a:r>
            <a:endParaRPr kumimoji="1" lang="en-US" altLang="ja-JP" dirty="0">
              <a:solidFill>
                <a:schemeClr val="tx1"/>
              </a:solidFill>
              <a:latin typeface="Noto Sans JP" panose="020B0200000000000000" pitchFamily="34" charset="-128"/>
              <a:ea typeface="Noto Sans JP" panose="020B0200000000000000" pitchFamily="34" charset="-128"/>
            </a:endParaRPr>
          </a:p>
          <a:p>
            <a:pPr algn="ctr"/>
            <a:r>
              <a:rPr kumimoji="1" lang="ja-JP" altLang="en-US">
                <a:solidFill>
                  <a:schemeClr val="tx1"/>
                </a:solidFill>
                <a:latin typeface="Noto Sans JP" panose="020B0200000000000000" pitchFamily="34" charset="-128"/>
                <a:ea typeface="Noto Sans JP" panose="020B0200000000000000" pitchFamily="34" charset="-128"/>
              </a:rPr>
              <a:t>商品の価格と取引量</a:t>
            </a:r>
          </a:p>
        </p:txBody>
      </p:sp>
      <p:sp>
        <p:nvSpPr>
          <p:cNvPr id="13" name="上矢印 12">
            <a:extLst>
              <a:ext uri="{FF2B5EF4-FFF2-40B4-BE49-F238E27FC236}">
                <a16:creationId xmlns:a16="http://schemas.microsoft.com/office/drawing/2014/main" id="{62BB4B79-BFFA-986D-6D37-721159298F36}"/>
              </a:ext>
            </a:extLst>
          </p:cNvPr>
          <p:cNvSpPr/>
          <p:nvPr/>
        </p:nvSpPr>
        <p:spPr>
          <a:xfrm rot="16200000">
            <a:off x="5818301" y="1054199"/>
            <a:ext cx="529431" cy="1809750"/>
          </a:xfrm>
          <a:prstGeom prst="upArrow">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65C3D82D-1823-33FA-11B6-C0F60FB890F4}"/>
              </a:ext>
            </a:extLst>
          </p:cNvPr>
          <p:cNvSpPr txBox="1"/>
          <p:nvPr/>
        </p:nvSpPr>
        <p:spPr>
          <a:xfrm>
            <a:off x="5774139" y="1311374"/>
            <a:ext cx="646331" cy="369332"/>
          </a:xfrm>
          <a:prstGeom prst="rect">
            <a:avLst/>
          </a:prstGeom>
          <a:noFill/>
          <a:ln>
            <a:solidFill>
              <a:schemeClr val="accent1">
                <a:shade val="15000"/>
              </a:schemeClr>
            </a:solidFill>
          </a:ln>
        </p:spPr>
        <p:txBody>
          <a:bodyPr wrap="none" rtlCol="0">
            <a:spAutoFit/>
          </a:bodyPr>
          <a:lstStyle/>
          <a:p>
            <a:r>
              <a:rPr kumimoji="1" lang="ja-JP" altLang="en-US">
                <a:latin typeface="Noto Sans JP" panose="020B0200000000000000" pitchFamily="34" charset="-128"/>
                <a:ea typeface="Noto Sans JP" panose="020B0200000000000000" pitchFamily="34" charset="-128"/>
              </a:rPr>
              <a:t>観測</a:t>
            </a:r>
          </a:p>
        </p:txBody>
      </p:sp>
      <p:sp>
        <p:nvSpPr>
          <p:cNvPr id="16" name="正方形/長方形 15">
            <a:extLst>
              <a:ext uri="{FF2B5EF4-FFF2-40B4-BE49-F238E27FC236}">
                <a16:creationId xmlns:a16="http://schemas.microsoft.com/office/drawing/2014/main" id="{600DE9AC-09F5-4F64-E855-74E728C18F85}"/>
              </a:ext>
            </a:extLst>
          </p:cNvPr>
          <p:cNvSpPr/>
          <p:nvPr/>
        </p:nvSpPr>
        <p:spPr>
          <a:xfrm>
            <a:off x="609598" y="3183036"/>
            <a:ext cx="4343399" cy="8011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tx1"/>
                </a:solidFill>
                <a:latin typeface="Noto Sans JP" panose="020B0200000000000000" pitchFamily="34" charset="-128"/>
                <a:ea typeface="Noto Sans JP" panose="020B0200000000000000" pitchFamily="34" charset="-128"/>
              </a:rPr>
              <a:t>母集団を表すモデル</a:t>
            </a:r>
            <a:endParaRPr kumimoji="1" lang="en-US" altLang="ja-JP" b="1" dirty="0">
              <a:solidFill>
                <a:schemeClr val="tx1"/>
              </a:solidFill>
              <a:latin typeface="Noto Sans JP" panose="020B0200000000000000" pitchFamily="34" charset="-128"/>
              <a:ea typeface="Noto Sans JP" panose="020B0200000000000000" pitchFamily="34" charset="-128"/>
            </a:endParaRPr>
          </a:p>
          <a:p>
            <a:pPr algn="ctr"/>
            <a:endParaRPr kumimoji="1" lang="en-US" altLang="ja-JP" sz="800" b="1" dirty="0">
              <a:solidFill>
                <a:schemeClr val="tx1"/>
              </a:solidFill>
              <a:latin typeface="Noto Sans JP" panose="020B0200000000000000" pitchFamily="34" charset="-128"/>
              <a:ea typeface="Noto Sans JP" panose="020B0200000000000000" pitchFamily="34" charset="-128"/>
            </a:endParaRPr>
          </a:p>
          <a:p>
            <a:pPr algn="ctr"/>
            <a:r>
              <a:rPr kumimoji="1" lang="ja-JP" altLang="en-US">
                <a:solidFill>
                  <a:schemeClr val="tx1"/>
                </a:solidFill>
                <a:latin typeface="Noto Sans JP" panose="020B0200000000000000" pitchFamily="34" charset="-128"/>
                <a:ea typeface="Noto Sans JP" panose="020B0200000000000000" pitchFamily="34" charset="-128"/>
              </a:rPr>
              <a:t>例：線形回帰・ニューラルネットワーク</a:t>
            </a:r>
          </a:p>
        </p:txBody>
      </p:sp>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0122A53C-51AA-0910-9DAF-0FE7A3877F8E}"/>
                  </a:ext>
                </a:extLst>
              </p:cNvPr>
              <p:cNvSpPr txBox="1"/>
              <p:nvPr/>
            </p:nvSpPr>
            <p:spPr>
              <a:xfrm>
                <a:off x="2439697" y="2531308"/>
                <a:ext cx="683200" cy="707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ja-JP" sz="4000" b="0" i="1" smtClean="0">
                          <a:latin typeface="Cambria Math" panose="02040503050406030204" pitchFamily="18" charset="0"/>
                        </a:rPr>
                        <m:t>+</m:t>
                      </m:r>
                    </m:oMath>
                  </m:oMathPara>
                </a14:m>
                <a:endParaRPr kumimoji="1" lang="en-US" altLang="ja-JP" sz="4000" dirty="0">
                  <a:latin typeface="Calibri" panose="020F0502020204030204" pitchFamily="34" charset="0"/>
                  <a:cs typeface="Calibri" panose="020F0502020204030204" pitchFamily="34" charset="0"/>
                </a:endParaRPr>
              </a:p>
            </p:txBody>
          </p:sp>
        </mc:Choice>
        <mc:Fallback xmlns="">
          <p:sp>
            <p:nvSpPr>
              <p:cNvPr id="20" name="テキスト ボックス 19">
                <a:extLst>
                  <a:ext uri="{FF2B5EF4-FFF2-40B4-BE49-F238E27FC236}">
                    <a16:creationId xmlns:a16="http://schemas.microsoft.com/office/drawing/2014/main" id="{0122A53C-51AA-0910-9DAF-0FE7A3877F8E}"/>
                  </a:ext>
                </a:extLst>
              </p:cNvPr>
              <p:cNvSpPr txBox="1">
                <a:spLocks noRot="1" noChangeAspect="1" noMove="1" noResize="1" noEditPoints="1" noAdjustHandles="1" noChangeArrowheads="1" noChangeShapeType="1" noTextEdit="1"/>
              </p:cNvSpPr>
              <p:nvPr/>
            </p:nvSpPr>
            <p:spPr>
              <a:xfrm>
                <a:off x="2439697" y="2531308"/>
                <a:ext cx="683200" cy="707886"/>
              </a:xfrm>
              <a:prstGeom prst="rect">
                <a:avLst/>
              </a:prstGeom>
              <a:blipFill>
                <a:blip r:embed="rId2"/>
                <a:stretch>
                  <a:fillRect l="-1852" r="-1852"/>
                </a:stretch>
              </a:blipFill>
            </p:spPr>
            <p:txBody>
              <a:bodyPr/>
              <a:lstStyle/>
              <a:p>
                <a:r>
                  <a:rPr lang="ja-JP" altLang="en-US">
                    <a:noFill/>
                  </a:rPr>
                  <a:t> </a:t>
                </a:r>
              </a:p>
            </p:txBody>
          </p:sp>
        </mc:Fallback>
      </mc:AlternateContent>
      <p:sp>
        <p:nvSpPr>
          <p:cNvPr id="21" name="上矢印 20">
            <a:extLst>
              <a:ext uri="{FF2B5EF4-FFF2-40B4-BE49-F238E27FC236}">
                <a16:creationId xmlns:a16="http://schemas.microsoft.com/office/drawing/2014/main" id="{E49281FD-279A-B49C-3D0D-D22635DA1E73}"/>
              </a:ext>
            </a:extLst>
          </p:cNvPr>
          <p:cNvSpPr/>
          <p:nvPr/>
        </p:nvSpPr>
        <p:spPr>
          <a:xfrm rot="5400000">
            <a:off x="5831284" y="2069603"/>
            <a:ext cx="529431" cy="1809750"/>
          </a:xfrm>
          <a:prstGeom prst="upArrow">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9ACCFE00-AAA1-A151-280A-3E7B231D3478}"/>
              </a:ext>
            </a:extLst>
          </p:cNvPr>
          <p:cNvSpPr txBox="1"/>
          <p:nvPr/>
        </p:nvSpPr>
        <p:spPr>
          <a:xfrm>
            <a:off x="5519400" y="3278584"/>
            <a:ext cx="1127232" cy="369332"/>
          </a:xfrm>
          <a:prstGeom prst="rect">
            <a:avLst/>
          </a:prstGeom>
          <a:noFill/>
          <a:ln>
            <a:solidFill>
              <a:schemeClr val="accent1">
                <a:shade val="15000"/>
              </a:schemeClr>
            </a:solidFill>
          </a:ln>
        </p:spPr>
        <p:txBody>
          <a:bodyPr wrap="none" rtlCol="0">
            <a:spAutoFit/>
          </a:bodyPr>
          <a:lstStyle/>
          <a:p>
            <a:r>
              <a:rPr kumimoji="1" lang="ja-JP" altLang="en-US" b="1">
                <a:solidFill>
                  <a:srgbClr val="FF0000"/>
                </a:solidFill>
                <a:latin typeface="Noto Sans JP" panose="020B0200000000000000" pitchFamily="34" charset="-128"/>
                <a:ea typeface="Noto Sans JP" panose="020B0200000000000000" pitchFamily="34" charset="-128"/>
              </a:rPr>
              <a:t>仮説検定</a:t>
            </a:r>
          </a:p>
        </p:txBody>
      </p:sp>
    </p:spTree>
    <p:extLst>
      <p:ext uri="{BB962C8B-B14F-4D97-AF65-F5344CB8AC3E}">
        <p14:creationId xmlns:p14="http://schemas.microsoft.com/office/powerpoint/2010/main" val="4289700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873F6-3705-21E0-83C6-5B198AAF651B}"/>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F148F6A8-5C45-E9B3-5405-06DAD2855FB6}"/>
              </a:ext>
            </a:extLst>
          </p:cNvPr>
          <p:cNvSpPr>
            <a:spLocks noGrp="1"/>
          </p:cNvSpPr>
          <p:nvPr>
            <p:ph type="title"/>
          </p:nvPr>
        </p:nvSpPr>
        <p:spPr/>
        <p:txBody>
          <a:bodyPr>
            <a:normAutofit/>
          </a:bodyPr>
          <a:lstStyle/>
          <a:p>
            <a:r>
              <a:rPr lang="ja-JP" altLang="en-US"/>
              <a:t>機械学習</a:t>
            </a:r>
          </a:p>
        </p:txBody>
      </p:sp>
      <p:sp>
        <p:nvSpPr>
          <p:cNvPr id="7" name="コンテンツ プレースホルダー 6">
            <a:extLst>
              <a:ext uri="{FF2B5EF4-FFF2-40B4-BE49-F238E27FC236}">
                <a16:creationId xmlns:a16="http://schemas.microsoft.com/office/drawing/2014/main" id="{49143ADA-0A82-AC47-C2EC-59DC9DC78881}"/>
              </a:ext>
            </a:extLst>
          </p:cNvPr>
          <p:cNvSpPr>
            <a:spLocks noGrp="1"/>
          </p:cNvSpPr>
          <p:nvPr>
            <p:ph idx="1"/>
          </p:nvPr>
        </p:nvSpPr>
        <p:spPr>
          <a:xfrm>
            <a:off x="609597" y="4191000"/>
            <a:ext cx="11195501" cy="2667000"/>
          </a:xfrm>
        </p:spPr>
        <p:txBody>
          <a:bodyPr>
            <a:normAutofit/>
          </a:bodyPr>
          <a:lstStyle/>
          <a:p>
            <a:r>
              <a:rPr lang="ja-JP" altLang="en-US" sz="2000" b="1">
                <a:latin typeface="Noto Sans JP" panose="020B0200000000000000" pitchFamily="34" charset="-128"/>
                <a:ea typeface="Noto Sans JP" panose="020B0200000000000000" pitchFamily="34" charset="-128"/>
              </a:rPr>
              <a:t>機械学習</a:t>
            </a:r>
            <a:endParaRPr lang="en-US" altLang="ja-JP" sz="2000" b="1" dirty="0">
              <a:latin typeface="Noto Sans JP" panose="020B0200000000000000" pitchFamily="34" charset="-128"/>
              <a:ea typeface="Noto Sans JP" panose="020B0200000000000000" pitchFamily="34" charset="-128"/>
            </a:endParaRPr>
          </a:p>
          <a:p>
            <a:pPr lvl="1"/>
            <a:r>
              <a:rPr lang="ja-JP" altLang="en-US" sz="2000">
                <a:latin typeface="Noto Sans JP" panose="020B0200000000000000" pitchFamily="34" charset="-128"/>
                <a:ea typeface="Noto Sans JP" panose="020B0200000000000000" pitchFamily="34" charset="-128"/>
              </a:rPr>
              <a:t>意思決定が予測や分類になる</a:t>
            </a:r>
            <a:endParaRPr lang="en-US" altLang="ja-JP" sz="2000" dirty="0">
              <a:latin typeface="Noto Sans JP" panose="020B0200000000000000" pitchFamily="34" charset="-128"/>
              <a:ea typeface="Noto Sans JP" panose="020B0200000000000000" pitchFamily="34" charset="-128"/>
            </a:endParaRPr>
          </a:p>
          <a:p>
            <a:pPr lvl="1"/>
            <a:r>
              <a:rPr lang="ja-JP" altLang="en-US" sz="2000">
                <a:latin typeface="Noto Sans JP" panose="020B0200000000000000" pitchFamily="34" charset="-128"/>
                <a:ea typeface="Noto Sans JP" panose="020B0200000000000000" pitchFamily="34" charset="-128"/>
              </a:rPr>
              <a:t>ニューラルネットワークやランダムフォレストなどの複雑なモデルを用いることが多い</a:t>
            </a:r>
            <a:endParaRPr lang="en-US" altLang="ja-JP" sz="2000" dirty="0">
              <a:latin typeface="Noto Sans JP" panose="020B0200000000000000" pitchFamily="34" charset="-128"/>
              <a:ea typeface="Noto Sans JP" panose="020B0200000000000000" pitchFamily="34" charset="-128"/>
            </a:endParaRPr>
          </a:p>
        </p:txBody>
      </p:sp>
      <p:sp>
        <p:nvSpPr>
          <p:cNvPr id="4" name="角丸四角形 3">
            <a:extLst>
              <a:ext uri="{FF2B5EF4-FFF2-40B4-BE49-F238E27FC236}">
                <a16:creationId xmlns:a16="http://schemas.microsoft.com/office/drawing/2014/main" id="{ECB27331-C7A2-C63B-4A09-749480187F32}"/>
              </a:ext>
            </a:extLst>
          </p:cNvPr>
          <p:cNvSpPr/>
          <p:nvPr/>
        </p:nvSpPr>
        <p:spPr>
          <a:xfrm>
            <a:off x="7239002" y="1311373"/>
            <a:ext cx="4343400" cy="2667000"/>
          </a:xfrm>
          <a:prstGeom prst="roundRect">
            <a:avLst/>
          </a:prstGeom>
          <a:no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tx1"/>
                </a:solidFill>
                <a:latin typeface="Noto Sans JP" panose="020B0200000000000000" pitchFamily="34" charset="-128"/>
                <a:ea typeface="Noto Sans JP" panose="020B0200000000000000" pitchFamily="34" charset="-128"/>
              </a:rPr>
              <a:t>母集団（真の世界）</a:t>
            </a:r>
            <a:endParaRPr kumimoji="1" lang="en-US" altLang="ja-JP" b="1" dirty="0">
              <a:solidFill>
                <a:schemeClr val="tx1"/>
              </a:solidFill>
              <a:latin typeface="Noto Sans JP" panose="020B0200000000000000" pitchFamily="34" charset="-128"/>
              <a:ea typeface="Noto Sans JP" panose="020B0200000000000000" pitchFamily="34" charset="-128"/>
            </a:endParaRPr>
          </a:p>
          <a:p>
            <a:pPr algn="ctr"/>
            <a:r>
              <a:rPr kumimoji="1" lang="en-US" altLang="ja-JP" sz="800" b="1" dirty="0">
                <a:solidFill>
                  <a:schemeClr val="tx1"/>
                </a:solidFill>
                <a:latin typeface="Noto Sans JP" panose="020B0200000000000000" pitchFamily="34" charset="-128"/>
                <a:ea typeface="Noto Sans JP" panose="020B0200000000000000" pitchFamily="34" charset="-128"/>
              </a:rPr>
              <a:t> </a:t>
            </a:r>
          </a:p>
          <a:p>
            <a:pPr algn="ctr"/>
            <a:r>
              <a:rPr kumimoji="1" lang="ja-JP" altLang="en-US">
                <a:solidFill>
                  <a:schemeClr val="tx1"/>
                </a:solidFill>
                <a:latin typeface="Noto Sans JP" panose="020B0200000000000000" pitchFamily="34" charset="-128"/>
                <a:ea typeface="Noto Sans JP" panose="020B0200000000000000" pitchFamily="34" charset="-128"/>
              </a:rPr>
              <a:t>例：ある商品に対する日本人の選好</a:t>
            </a:r>
            <a:endParaRPr kumimoji="1" lang="en-US" altLang="ja-JP" dirty="0">
              <a:solidFill>
                <a:schemeClr val="tx1"/>
              </a:solidFill>
              <a:latin typeface="Noto Sans JP" panose="020B0200000000000000" pitchFamily="34" charset="-128"/>
              <a:ea typeface="Noto Sans JP" panose="020B0200000000000000" pitchFamily="34" charset="-128"/>
            </a:endParaRPr>
          </a:p>
          <a:p>
            <a:pPr algn="ctr"/>
            <a:r>
              <a:rPr kumimoji="1" lang="ja-JP" altLang="en-US">
                <a:solidFill>
                  <a:schemeClr val="tx1"/>
                </a:solidFill>
                <a:latin typeface="Noto Sans JP" panose="020B0200000000000000" pitchFamily="34" charset="-128"/>
                <a:ea typeface="Noto Sans JP" panose="020B0200000000000000" pitchFamily="34" charset="-128"/>
              </a:rPr>
              <a:t>株価を決める企業価値</a:t>
            </a:r>
          </a:p>
          <a:p>
            <a:pPr algn="ctr"/>
            <a:r>
              <a:rPr kumimoji="1" lang="ja-JP" altLang="en-US">
                <a:solidFill>
                  <a:schemeClr val="tx1"/>
                </a:solidFill>
                <a:latin typeface="Noto Sans JP" panose="020B0200000000000000" pitchFamily="34" charset="-128"/>
                <a:ea typeface="Noto Sans JP" panose="020B0200000000000000" pitchFamily="34" charset="-128"/>
              </a:rPr>
              <a:t>需要曲線と供給曲線</a:t>
            </a:r>
          </a:p>
        </p:txBody>
      </p:sp>
      <p:sp>
        <p:nvSpPr>
          <p:cNvPr id="9" name="角丸四角形 8">
            <a:extLst>
              <a:ext uri="{FF2B5EF4-FFF2-40B4-BE49-F238E27FC236}">
                <a16:creationId xmlns:a16="http://schemas.microsoft.com/office/drawing/2014/main" id="{456067D4-B7FB-EC05-745A-57CBB3BC0273}"/>
              </a:ext>
            </a:extLst>
          </p:cNvPr>
          <p:cNvSpPr/>
          <p:nvPr/>
        </p:nvSpPr>
        <p:spPr>
          <a:xfrm>
            <a:off x="609600" y="1311374"/>
            <a:ext cx="4343400" cy="1295400"/>
          </a:xfrm>
          <a:prstGeom prst="roundRect">
            <a:avLst/>
          </a:prstGeom>
          <a:noFill/>
          <a:ln w="381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tx1"/>
                </a:solidFill>
                <a:latin typeface="Noto Sans JP" panose="020B0200000000000000" pitchFamily="34" charset="-128"/>
                <a:ea typeface="Noto Sans JP" panose="020B0200000000000000" pitchFamily="34" charset="-128"/>
              </a:rPr>
              <a:t>サンプル（観測できる世界）</a:t>
            </a:r>
            <a:endParaRPr kumimoji="1" lang="en-US" altLang="ja-JP" b="1" dirty="0">
              <a:solidFill>
                <a:schemeClr val="tx1"/>
              </a:solidFill>
              <a:latin typeface="Noto Sans JP" panose="020B0200000000000000" pitchFamily="34" charset="-128"/>
              <a:ea typeface="Noto Sans JP" panose="020B0200000000000000" pitchFamily="34" charset="-128"/>
            </a:endParaRPr>
          </a:p>
          <a:p>
            <a:pPr algn="ctr"/>
            <a:r>
              <a:rPr kumimoji="1" lang="en-US" altLang="ja-JP" sz="800" b="1" dirty="0">
                <a:solidFill>
                  <a:schemeClr val="tx1"/>
                </a:solidFill>
                <a:latin typeface="Noto Sans JP" panose="020B0200000000000000" pitchFamily="34" charset="-128"/>
                <a:ea typeface="Noto Sans JP" panose="020B0200000000000000" pitchFamily="34" charset="-128"/>
              </a:rPr>
              <a:t> </a:t>
            </a:r>
          </a:p>
          <a:p>
            <a:pPr algn="ctr"/>
            <a:r>
              <a:rPr kumimoji="1" lang="ja-JP" altLang="en-US">
                <a:solidFill>
                  <a:schemeClr val="tx1"/>
                </a:solidFill>
                <a:latin typeface="Noto Sans JP" panose="020B0200000000000000" pitchFamily="34" charset="-128"/>
                <a:ea typeface="Noto Sans JP" panose="020B0200000000000000" pitchFamily="34" charset="-128"/>
              </a:rPr>
              <a:t>例：ある商品の東京都での売上</a:t>
            </a:r>
            <a:endParaRPr kumimoji="1" lang="en-US" altLang="ja-JP" dirty="0">
              <a:solidFill>
                <a:schemeClr val="tx1"/>
              </a:solidFill>
              <a:latin typeface="Noto Sans JP" panose="020B0200000000000000" pitchFamily="34" charset="-128"/>
              <a:ea typeface="Noto Sans JP" panose="020B0200000000000000" pitchFamily="34" charset="-128"/>
            </a:endParaRPr>
          </a:p>
          <a:p>
            <a:pPr algn="ctr"/>
            <a:r>
              <a:rPr kumimoji="1" lang="ja-JP" altLang="en-US">
                <a:solidFill>
                  <a:schemeClr val="tx1"/>
                </a:solidFill>
                <a:latin typeface="Noto Sans JP" panose="020B0200000000000000" pitchFamily="34" charset="-128"/>
                <a:ea typeface="Noto Sans JP" panose="020B0200000000000000" pitchFamily="34" charset="-128"/>
              </a:rPr>
              <a:t>株価の時系列データ</a:t>
            </a:r>
            <a:endParaRPr kumimoji="1" lang="en-US" altLang="ja-JP" dirty="0">
              <a:solidFill>
                <a:schemeClr val="tx1"/>
              </a:solidFill>
              <a:latin typeface="Noto Sans JP" panose="020B0200000000000000" pitchFamily="34" charset="-128"/>
              <a:ea typeface="Noto Sans JP" panose="020B0200000000000000" pitchFamily="34" charset="-128"/>
            </a:endParaRPr>
          </a:p>
          <a:p>
            <a:pPr algn="ctr"/>
            <a:r>
              <a:rPr kumimoji="1" lang="ja-JP" altLang="en-US">
                <a:solidFill>
                  <a:schemeClr val="tx1"/>
                </a:solidFill>
                <a:latin typeface="Noto Sans JP" panose="020B0200000000000000" pitchFamily="34" charset="-128"/>
                <a:ea typeface="Noto Sans JP" panose="020B0200000000000000" pitchFamily="34" charset="-128"/>
              </a:rPr>
              <a:t>商品の価格と取引量</a:t>
            </a:r>
          </a:p>
        </p:txBody>
      </p:sp>
      <p:sp>
        <p:nvSpPr>
          <p:cNvPr id="13" name="上矢印 12">
            <a:extLst>
              <a:ext uri="{FF2B5EF4-FFF2-40B4-BE49-F238E27FC236}">
                <a16:creationId xmlns:a16="http://schemas.microsoft.com/office/drawing/2014/main" id="{7DE3E641-C5EB-E752-B590-152067DA9302}"/>
              </a:ext>
            </a:extLst>
          </p:cNvPr>
          <p:cNvSpPr/>
          <p:nvPr/>
        </p:nvSpPr>
        <p:spPr>
          <a:xfrm rot="16200000">
            <a:off x="5818301" y="1054199"/>
            <a:ext cx="529431" cy="1809750"/>
          </a:xfrm>
          <a:prstGeom prst="upArrow">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B55AC300-1F34-07CE-0949-842F4241FDEE}"/>
              </a:ext>
            </a:extLst>
          </p:cNvPr>
          <p:cNvSpPr txBox="1"/>
          <p:nvPr/>
        </p:nvSpPr>
        <p:spPr>
          <a:xfrm>
            <a:off x="5774139" y="1311374"/>
            <a:ext cx="646331" cy="369332"/>
          </a:xfrm>
          <a:prstGeom prst="rect">
            <a:avLst/>
          </a:prstGeom>
          <a:noFill/>
          <a:ln>
            <a:solidFill>
              <a:schemeClr val="accent1">
                <a:shade val="15000"/>
              </a:schemeClr>
            </a:solidFill>
          </a:ln>
        </p:spPr>
        <p:txBody>
          <a:bodyPr wrap="none" rtlCol="0">
            <a:spAutoFit/>
          </a:bodyPr>
          <a:lstStyle/>
          <a:p>
            <a:r>
              <a:rPr kumimoji="1" lang="ja-JP" altLang="en-US">
                <a:latin typeface="Noto Sans JP" panose="020B0200000000000000" pitchFamily="34" charset="-128"/>
                <a:ea typeface="Noto Sans JP" panose="020B0200000000000000" pitchFamily="34" charset="-128"/>
              </a:rPr>
              <a:t>観測</a:t>
            </a:r>
          </a:p>
        </p:txBody>
      </p:sp>
      <p:sp>
        <p:nvSpPr>
          <p:cNvPr id="16" name="正方形/長方形 15">
            <a:extLst>
              <a:ext uri="{FF2B5EF4-FFF2-40B4-BE49-F238E27FC236}">
                <a16:creationId xmlns:a16="http://schemas.microsoft.com/office/drawing/2014/main" id="{453B54AA-450E-0F9D-D136-2EE7A48F5AC3}"/>
              </a:ext>
            </a:extLst>
          </p:cNvPr>
          <p:cNvSpPr/>
          <p:nvPr/>
        </p:nvSpPr>
        <p:spPr>
          <a:xfrm>
            <a:off x="609598" y="3183036"/>
            <a:ext cx="4343399" cy="8011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tx1"/>
                </a:solidFill>
                <a:latin typeface="Noto Sans JP" panose="020B0200000000000000" pitchFamily="34" charset="-128"/>
                <a:ea typeface="Noto Sans JP" panose="020B0200000000000000" pitchFamily="34" charset="-128"/>
              </a:rPr>
              <a:t>母集団を表すモデル</a:t>
            </a:r>
            <a:endParaRPr kumimoji="1" lang="en-US" altLang="ja-JP" b="1" dirty="0">
              <a:solidFill>
                <a:schemeClr val="tx1"/>
              </a:solidFill>
              <a:latin typeface="Noto Sans JP" panose="020B0200000000000000" pitchFamily="34" charset="-128"/>
              <a:ea typeface="Noto Sans JP" panose="020B0200000000000000" pitchFamily="34" charset="-128"/>
            </a:endParaRPr>
          </a:p>
          <a:p>
            <a:pPr algn="ctr"/>
            <a:endParaRPr kumimoji="1" lang="en-US" altLang="ja-JP" sz="800" b="1" dirty="0">
              <a:solidFill>
                <a:schemeClr val="tx1"/>
              </a:solidFill>
              <a:latin typeface="Noto Sans JP" panose="020B0200000000000000" pitchFamily="34" charset="-128"/>
              <a:ea typeface="Noto Sans JP" panose="020B0200000000000000" pitchFamily="34" charset="-128"/>
            </a:endParaRPr>
          </a:p>
          <a:p>
            <a:pPr algn="ctr"/>
            <a:r>
              <a:rPr kumimoji="1" lang="ja-JP" altLang="en-US">
                <a:solidFill>
                  <a:schemeClr val="tx1"/>
                </a:solidFill>
                <a:latin typeface="Noto Sans JP" panose="020B0200000000000000" pitchFamily="34" charset="-128"/>
                <a:ea typeface="Noto Sans JP" panose="020B0200000000000000" pitchFamily="34" charset="-128"/>
              </a:rPr>
              <a:t>例：線形回帰・ニューラルネットワーク</a:t>
            </a:r>
          </a:p>
        </p:txBody>
      </p:sp>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B24145E3-103F-7BAF-F4A9-46C3E7AA5BB2}"/>
                  </a:ext>
                </a:extLst>
              </p:cNvPr>
              <p:cNvSpPr txBox="1"/>
              <p:nvPr/>
            </p:nvSpPr>
            <p:spPr>
              <a:xfrm>
                <a:off x="2439697" y="2531308"/>
                <a:ext cx="683200" cy="707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ja-JP" sz="4000" b="0" i="1" smtClean="0">
                          <a:latin typeface="Cambria Math" panose="02040503050406030204" pitchFamily="18" charset="0"/>
                        </a:rPr>
                        <m:t>+</m:t>
                      </m:r>
                    </m:oMath>
                  </m:oMathPara>
                </a14:m>
                <a:endParaRPr kumimoji="1" lang="en-US" altLang="ja-JP" sz="4000" dirty="0">
                  <a:latin typeface="Calibri" panose="020F0502020204030204" pitchFamily="34" charset="0"/>
                  <a:cs typeface="Calibri" panose="020F0502020204030204" pitchFamily="34" charset="0"/>
                </a:endParaRPr>
              </a:p>
            </p:txBody>
          </p:sp>
        </mc:Choice>
        <mc:Fallback xmlns="">
          <p:sp>
            <p:nvSpPr>
              <p:cNvPr id="20" name="テキスト ボックス 19">
                <a:extLst>
                  <a:ext uri="{FF2B5EF4-FFF2-40B4-BE49-F238E27FC236}">
                    <a16:creationId xmlns:a16="http://schemas.microsoft.com/office/drawing/2014/main" id="{B24145E3-103F-7BAF-F4A9-46C3E7AA5BB2}"/>
                  </a:ext>
                </a:extLst>
              </p:cNvPr>
              <p:cNvSpPr txBox="1">
                <a:spLocks noRot="1" noChangeAspect="1" noMove="1" noResize="1" noEditPoints="1" noAdjustHandles="1" noChangeArrowheads="1" noChangeShapeType="1" noTextEdit="1"/>
              </p:cNvSpPr>
              <p:nvPr/>
            </p:nvSpPr>
            <p:spPr>
              <a:xfrm>
                <a:off x="2439697" y="2531308"/>
                <a:ext cx="683200" cy="707886"/>
              </a:xfrm>
              <a:prstGeom prst="rect">
                <a:avLst/>
              </a:prstGeom>
              <a:blipFill>
                <a:blip r:embed="rId2"/>
                <a:stretch>
                  <a:fillRect l="-1852" r="-1852"/>
                </a:stretch>
              </a:blipFill>
            </p:spPr>
            <p:txBody>
              <a:bodyPr/>
              <a:lstStyle/>
              <a:p>
                <a:r>
                  <a:rPr lang="ja-JP" altLang="en-US">
                    <a:noFill/>
                  </a:rPr>
                  <a:t> </a:t>
                </a:r>
              </a:p>
            </p:txBody>
          </p:sp>
        </mc:Fallback>
      </mc:AlternateContent>
      <p:sp>
        <p:nvSpPr>
          <p:cNvPr id="21" name="上矢印 20">
            <a:extLst>
              <a:ext uri="{FF2B5EF4-FFF2-40B4-BE49-F238E27FC236}">
                <a16:creationId xmlns:a16="http://schemas.microsoft.com/office/drawing/2014/main" id="{0DE0160C-D97F-5541-4850-92EC042C5BCF}"/>
              </a:ext>
            </a:extLst>
          </p:cNvPr>
          <p:cNvSpPr/>
          <p:nvPr/>
        </p:nvSpPr>
        <p:spPr>
          <a:xfrm rot="5400000">
            <a:off x="5831284" y="2069603"/>
            <a:ext cx="529431" cy="1809750"/>
          </a:xfrm>
          <a:prstGeom prst="upArrow">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6B9893F6-7D94-9FC7-2C22-9E6A5541A7BF}"/>
              </a:ext>
            </a:extLst>
          </p:cNvPr>
          <p:cNvSpPr txBox="1"/>
          <p:nvPr/>
        </p:nvSpPr>
        <p:spPr>
          <a:xfrm>
            <a:off x="5401579" y="3230215"/>
            <a:ext cx="1362874" cy="369332"/>
          </a:xfrm>
          <a:prstGeom prst="rect">
            <a:avLst/>
          </a:prstGeom>
          <a:noFill/>
          <a:ln>
            <a:solidFill>
              <a:schemeClr val="accent1">
                <a:shade val="15000"/>
              </a:schemeClr>
            </a:solidFill>
          </a:ln>
        </p:spPr>
        <p:txBody>
          <a:bodyPr wrap="none" rtlCol="0">
            <a:spAutoFit/>
          </a:bodyPr>
          <a:lstStyle/>
          <a:p>
            <a:r>
              <a:rPr kumimoji="1" lang="ja-JP" altLang="en-US" b="1">
                <a:solidFill>
                  <a:srgbClr val="FF0000"/>
                </a:solidFill>
                <a:latin typeface="Noto Sans JP" panose="020B0200000000000000" pitchFamily="34" charset="-128"/>
                <a:ea typeface="Noto Sans JP" panose="020B0200000000000000" pitchFamily="34" charset="-128"/>
              </a:rPr>
              <a:t>予測・分類</a:t>
            </a:r>
          </a:p>
        </p:txBody>
      </p:sp>
    </p:spTree>
    <p:extLst>
      <p:ext uri="{BB962C8B-B14F-4D97-AF65-F5344CB8AC3E}">
        <p14:creationId xmlns:p14="http://schemas.microsoft.com/office/powerpoint/2010/main" val="2294654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DDE7E5-04CE-11C1-AE98-9DF73AFD9CEA}"/>
              </a:ext>
            </a:extLst>
          </p:cNvPr>
          <p:cNvSpPr>
            <a:spLocks noGrp="1"/>
          </p:cNvSpPr>
          <p:nvPr>
            <p:ph type="title"/>
          </p:nvPr>
        </p:nvSpPr>
        <p:spPr/>
        <p:txBody>
          <a:bodyPr/>
          <a:lstStyle/>
          <a:p>
            <a:r>
              <a:rPr lang="ja-JP" altLang="en-US"/>
              <a:t>因果推論に関する基礎的な用語や概念の整理</a:t>
            </a:r>
            <a:endParaRPr kumimoji="1" lang="ja-JP" altLang="en-US"/>
          </a:p>
        </p:txBody>
      </p:sp>
      <p:sp>
        <p:nvSpPr>
          <p:cNvPr id="3" name="テキスト プレースホルダー 2">
            <a:extLst>
              <a:ext uri="{FF2B5EF4-FFF2-40B4-BE49-F238E27FC236}">
                <a16:creationId xmlns:a16="http://schemas.microsoft.com/office/drawing/2014/main" id="{5F6A5FBD-1621-7E58-E6DE-1A6067045F68}"/>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2456829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03594-0AFB-AF70-91CF-1D8BF469DE0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C55F296-1EE3-8832-3768-F485CBA965CF}"/>
              </a:ext>
            </a:extLst>
          </p:cNvPr>
          <p:cNvSpPr>
            <a:spLocks noGrp="1"/>
          </p:cNvSpPr>
          <p:nvPr>
            <p:ph type="title"/>
          </p:nvPr>
        </p:nvSpPr>
        <p:spPr/>
        <p:txBody>
          <a:bodyPr/>
          <a:lstStyle/>
          <a:p>
            <a:r>
              <a:rPr kumimoji="1" lang="ja-JP" altLang="en-US"/>
              <a:t>因果推論</a:t>
            </a:r>
          </a:p>
        </p:txBody>
      </p:sp>
      <p:sp>
        <p:nvSpPr>
          <p:cNvPr id="3" name="コンテンツ プレースホルダー 2">
            <a:extLst>
              <a:ext uri="{FF2B5EF4-FFF2-40B4-BE49-F238E27FC236}">
                <a16:creationId xmlns:a16="http://schemas.microsoft.com/office/drawing/2014/main" id="{C570C84B-D455-7E8C-BA0E-62F16B1435CF}"/>
              </a:ext>
            </a:extLst>
          </p:cNvPr>
          <p:cNvSpPr>
            <a:spLocks noGrp="1"/>
          </p:cNvSpPr>
          <p:nvPr>
            <p:ph idx="1"/>
          </p:nvPr>
        </p:nvSpPr>
        <p:spPr/>
        <p:txBody>
          <a:bodyPr>
            <a:normAutofit/>
          </a:bodyPr>
          <a:lstStyle/>
          <a:p>
            <a:r>
              <a:rPr kumimoji="1" lang="ja-JP" altLang="en-US" sz="2000">
                <a:latin typeface="Noto Sans JP" panose="020B0200000000000000" pitchFamily="34" charset="-128"/>
                <a:ea typeface="Noto Sans JP" panose="020B0200000000000000" pitchFamily="34" charset="-128"/>
              </a:rPr>
              <a:t>効果検証などを目的とするデータ分析はしばしば因果推論と呼ばれる</a:t>
            </a:r>
            <a:endParaRPr kumimoji="1" lang="en-US" altLang="ja-JP" sz="2000" dirty="0">
              <a:latin typeface="Noto Sans JP" panose="020B0200000000000000" pitchFamily="34" charset="-128"/>
              <a:ea typeface="Noto Sans JP" panose="020B0200000000000000" pitchFamily="34" charset="-128"/>
            </a:endParaRPr>
          </a:p>
          <a:p>
            <a:pPr lvl="1"/>
            <a:r>
              <a:rPr lang="ja-JP" altLang="en-US" sz="2000">
                <a:latin typeface="Noto Sans JP" panose="020B0200000000000000" pitchFamily="34" charset="-128"/>
                <a:ea typeface="Noto Sans JP" panose="020B0200000000000000" pitchFamily="34" charset="-128"/>
              </a:rPr>
              <a:t>どのような分析を</a:t>
            </a:r>
            <a:r>
              <a:rPr kumimoji="1" lang="ja-JP" altLang="en-US" sz="2000">
                <a:latin typeface="Noto Sans JP" panose="020B0200000000000000" pitchFamily="34" charset="-128"/>
                <a:ea typeface="Noto Sans JP" panose="020B0200000000000000" pitchFamily="34" charset="-128"/>
              </a:rPr>
              <a:t>因果推論と呼ぶかの明確な定義はない</a:t>
            </a:r>
            <a:endParaRPr kumimoji="1" lang="en-US" altLang="ja-JP" sz="2000" dirty="0">
              <a:latin typeface="Noto Sans JP" panose="020B0200000000000000" pitchFamily="34" charset="-128"/>
              <a:ea typeface="Noto Sans JP" panose="020B0200000000000000" pitchFamily="34" charset="-128"/>
            </a:endParaRPr>
          </a:p>
          <a:p>
            <a:pPr lvl="2"/>
            <a:r>
              <a:rPr kumimoji="1" lang="ja-JP" altLang="en-US" sz="2000">
                <a:latin typeface="Noto Sans JP" panose="020B0200000000000000" pitchFamily="34" charset="-128"/>
                <a:ea typeface="Noto Sans JP" panose="020B0200000000000000" pitchFamily="34" charset="-128"/>
              </a:rPr>
              <a:t>因果推論的な分析とそうでない分析の区別は曖昧</a:t>
            </a:r>
            <a:endParaRPr kumimoji="1" lang="en-US" altLang="ja-JP" sz="2000" dirty="0">
              <a:latin typeface="Noto Sans JP" panose="020B0200000000000000" pitchFamily="34" charset="-128"/>
              <a:ea typeface="Noto Sans JP" panose="020B0200000000000000" pitchFamily="34" charset="-128"/>
            </a:endParaRPr>
          </a:p>
          <a:p>
            <a:pPr lvl="2"/>
            <a:r>
              <a:rPr lang="ja-JP" altLang="en-US" sz="2000">
                <a:latin typeface="Noto Sans JP" panose="020B0200000000000000" pitchFamily="34" charset="-128"/>
                <a:ea typeface="Noto Sans JP" panose="020B0200000000000000" pitchFamily="34" charset="-128"/>
              </a:rPr>
              <a:t>何を因果推論と呼ぶかは割と気分（？）</a:t>
            </a:r>
            <a:endParaRPr lang="en-US" altLang="ja-JP" sz="2000" dirty="0">
              <a:latin typeface="Noto Sans JP" panose="020B0200000000000000" pitchFamily="34" charset="-128"/>
              <a:ea typeface="Noto Sans JP" panose="020B0200000000000000" pitchFamily="34" charset="-128"/>
            </a:endParaRPr>
          </a:p>
          <a:p>
            <a:pPr lvl="2"/>
            <a:endParaRPr kumimoji="1" lang="en-US" altLang="ja-JP" sz="800" dirty="0">
              <a:latin typeface="Noto Sans JP" panose="020B0200000000000000" pitchFamily="34" charset="-128"/>
              <a:ea typeface="Noto Sans JP" panose="020B0200000000000000" pitchFamily="34" charset="-128"/>
            </a:endParaRPr>
          </a:p>
          <a:p>
            <a:r>
              <a:rPr lang="ja-JP" altLang="en-US" sz="2000">
                <a:latin typeface="Noto Sans JP" panose="020B0200000000000000" pitchFamily="34" charset="-128"/>
                <a:ea typeface="Noto Sans JP" panose="020B0200000000000000" pitchFamily="34" charset="-128"/>
              </a:rPr>
              <a:t>因果推論と呼ばれるデータ分析の代表例</a:t>
            </a:r>
            <a:endParaRPr lang="en-US" altLang="ja-JP" sz="2000" dirty="0">
              <a:latin typeface="Noto Sans JP" panose="020B0200000000000000" pitchFamily="34" charset="-128"/>
              <a:ea typeface="Noto Sans JP" panose="020B0200000000000000" pitchFamily="34" charset="-128"/>
            </a:endParaRPr>
          </a:p>
          <a:p>
            <a:pPr lvl="1"/>
            <a:r>
              <a:rPr kumimoji="1" lang="ja-JP" altLang="en-US" sz="2000">
                <a:latin typeface="Noto Sans JP" panose="020B0200000000000000" pitchFamily="34" charset="-128"/>
                <a:ea typeface="Noto Sans JP" panose="020B0200000000000000" pitchFamily="34" charset="-128"/>
              </a:rPr>
              <a:t>経済学・疫学などの古典的な実証分析全般</a:t>
            </a:r>
            <a:endParaRPr kumimoji="1" lang="en-US" altLang="ja-JP" sz="2000" dirty="0">
              <a:latin typeface="Noto Sans JP" panose="020B0200000000000000" pitchFamily="34" charset="-128"/>
              <a:ea typeface="Noto Sans JP" panose="020B0200000000000000" pitchFamily="34" charset="-128"/>
            </a:endParaRPr>
          </a:p>
          <a:p>
            <a:pPr lvl="1"/>
            <a:r>
              <a:rPr kumimoji="1" lang="ja-JP" altLang="en-US" sz="2000">
                <a:latin typeface="Noto Sans JP" panose="020B0200000000000000" pitchFamily="34" charset="-128"/>
                <a:ea typeface="Noto Sans JP" panose="020B0200000000000000" pitchFamily="34" charset="-128"/>
              </a:rPr>
              <a:t>因果探索</a:t>
            </a:r>
            <a:endParaRPr kumimoji="1" lang="en-US" altLang="ja-JP" sz="2000" dirty="0">
              <a:latin typeface="Noto Sans JP" panose="020B0200000000000000" pitchFamily="34" charset="-128"/>
              <a:ea typeface="Noto Sans JP" panose="020B0200000000000000" pitchFamily="34" charset="-128"/>
            </a:endParaRPr>
          </a:p>
          <a:p>
            <a:pPr lvl="1"/>
            <a:r>
              <a:rPr lang="ja-JP" altLang="en-US" sz="2000">
                <a:latin typeface="Noto Sans JP" panose="020B0200000000000000" pitchFamily="34" charset="-128"/>
                <a:ea typeface="Noto Sans JP" panose="020B0200000000000000" pitchFamily="34" charset="-128"/>
              </a:rPr>
              <a:t>因果効果の推定</a:t>
            </a:r>
            <a:endParaRPr lang="en-US" altLang="ja-JP" sz="2000" dirty="0">
              <a:latin typeface="Noto Sans JP" panose="020B0200000000000000" pitchFamily="34" charset="-128"/>
              <a:ea typeface="Noto Sans JP" panose="020B0200000000000000" pitchFamily="34" charset="-128"/>
            </a:endParaRPr>
          </a:p>
          <a:p>
            <a:pPr lvl="1"/>
            <a:r>
              <a:rPr kumimoji="1" lang="ja-JP" altLang="en-US" sz="2000">
                <a:latin typeface="Noto Sans JP" panose="020B0200000000000000" pitchFamily="34" charset="-128"/>
                <a:ea typeface="Noto Sans JP" panose="020B0200000000000000" pitchFamily="34" charset="-128"/>
              </a:rPr>
              <a:t>方策学習</a:t>
            </a:r>
            <a:endParaRPr kumimoji="1" lang="en-US" altLang="ja-JP" sz="2000" dirty="0">
              <a:latin typeface="Noto Sans JP" panose="020B0200000000000000" pitchFamily="34" charset="-128"/>
              <a:ea typeface="Noto Sans JP" panose="020B0200000000000000" pitchFamily="34" charset="-128"/>
            </a:endParaRPr>
          </a:p>
          <a:p>
            <a:pPr lvl="1"/>
            <a:endParaRPr lang="en-US" altLang="ja-JP" sz="800" dirty="0">
              <a:latin typeface="Noto Sans JP" panose="020B0200000000000000" pitchFamily="34" charset="-128"/>
              <a:ea typeface="Noto Sans JP" panose="020B0200000000000000" pitchFamily="34" charset="-128"/>
            </a:endParaRPr>
          </a:p>
          <a:p>
            <a:r>
              <a:rPr lang="ja-JP" altLang="en-US" sz="2000">
                <a:latin typeface="Noto Sans JP" panose="020B0200000000000000" pitchFamily="34" charset="-128"/>
                <a:ea typeface="Noto Sans JP" panose="020B0200000000000000" pitchFamily="34" charset="-128"/>
              </a:rPr>
              <a:t>一連の発表</a:t>
            </a:r>
            <a:r>
              <a:rPr kumimoji="1" lang="ja-JP" altLang="en-US" sz="2000">
                <a:latin typeface="Noto Sans JP" panose="020B0200000000000000" pitchFamily="34" charset="-128"/>
                <a:ea typeface="Noto Sans JP" panose="020B0200000000000000" pitchFamily="34" charset="-128"/>
              </a:rPr>
              <a:t>では、因果推論のなかでも、</a:t>
            </a:r>
            <a:r>
              <a:rPr lang="ja-JP" altLang="en-US" sz="2000">
                <a:latin typeface="Noto Sans JP" panose="020B0200000000000000" pitchFamily="34" charset="-128"/>
                <a:ea typeface="Noto Sans JP" panose="020B0200000000000000" pitchFamily="34" charset="-128"/>
              </a:rPr>
              <a:t>因果効果の推定を扱う</a:t>
            </a:r>
            <a:endParaRPr kumimoji="1" lang="en-US" altLang="ja-JP" sz="2000" dirty="0">
              <a:latin typeface="Noto Sans JP" panose="020B0200000000000000" pitchFamily="34" charset="-128"/>
              <a:ea typeface="Noto Sans JP" panose="020B0200000000000000" pitchFamily="34" charset="-128"/>
            </a:endParaRPr>
          </a:p>
        </p:txBody>
      </p:sp>
      <p:sp>
        <p:nvSpPr>
          <p:cNvPr id="5" name="角丸四角形 4">
            <a:extLst>
              <a:ext uri="{FF2B5EF4-FFF2-40B4-BE49-F238E27FC236}">
                <a16:creationId xmlns:a16="http://schemas.microsoft.com/office/drawing/2014/main" id="{3A73F54B-AA1B-4885-1BFC-610F0EF6222A}"/>
              </a:ext>
            </a:extLst>
          </p:cNvPr>
          <p:cNvSpPr/>
          <p:nvPr/>
        </p:nvSpPr>
        <p:spPr>
          <a:xfrm>
            <a:off x="1862865" y="5117449"/>
            <a:ext cx="8466269" cy="1210869"/>
          </a:xfrm>
          <a:prstGeom prst="round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dirty="0"/>
          </a:p>
          <a:p>
            <a:pPr algn="ctr"/>
            <a:r>
              <a:rPr lang="ja-JP" altLang="en-US" sz="2000">
                <a:solidFill>
                  <a:schemeClr val="tx1"/>
                </a:solidFill>
                <a:latin typeface="Noto Sans JP" panose="020B0200000000000000" pitchFamily="34" charset="-128"/>
                <a:ea typeface="Noto Sans JP" panose="020B0200000000000000" pitchFamily="34" charset="-128"/>
              </a:rPr>
              <a:t>そもそもちゃんとしたデータ分析</a:t>
            </a:r>
            <a:r>
              <a:rPr lang="en-US" altLang="ja-JP" sz="2000" dirty="0">
                <a:solidFill>
                  <a:schemeClr val="tx1"/>
                </a:solidFill>
                <a:latin typeface="Noto Sans JP" panose="020B0200000000000000" pitchFamily="34" charset="-128"/>
                <a:ea typeface="Noto Sans JP" panose="020B0200000000000000" pitchFamily="34" charset="-128"/>
              </a:rPr>
              <a:t> = </a:t>
            </a:r>
            <a:r>
              <a:rPr lang="ja-JP" altLang="en-US" sz="2000">
                <a:solidFill>
                  <a:schemeClr val="tx1"/>
                </a:solidFill>
                <a:latin typeface="Noto Sans JP" panose="020B0200000000000000" pitchFamily="34" charset="-128"/>
                <a:ea typeface="Noto Sans JP" panose="020B0200000000000000" pitchFamily="34" charset="-128"/>
              </a:rPr>
              <a:t>因果推論と呼べるのでは？</a:t>
            </a:r>
            <a:endParaRPr lang="en-US" altLang="ja-JP" sz="2000" dirty="0">
              <a:solidFill>
                <a:schemeClr val="tx1"/>
              </a:solidFill>
              <a:latin typeface="Noto Sans JP" panose="020B0200000000000000" pitchFamily="34" charset="-128"/>
              <a:ea typeface="Noto Sans JP" panose="020B0200000000000000" pitchFamily="34" charset="-128"/>
            </a:endParaRPr>
          </a:p>
          <a:p>
            <a:pPr algn="ctr"/>
            <a:endParaRPr kumimoji="1" lang="ja-JP" altLang="en-US"/>
          </a:p>
        </p:txBody>
      </p:sp>
    </p:spTree>
    <p:extLst>
      <p:ext uri="{BB962C8B-B14F-4D97-AF65-F5344CB8AC3E}">
        <p14:creationId xmlns:p14="http://schemas.microsoft.com/office/powerpoint/2010/main" val="3280966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347DFF6-39C3-1456-9E58-CA38C208A7A3}"/>
              </a:ext>
            </a:extLst>
          </p:cNvPr>
          <p:cNvSpPr>
            <a:spLocks noGrp="1"/>
          </p:cNvSpPr>
          <p:nvPr>
            <p:ph type="title"/>
          </p:nvPr>
        </p:nvSpPr>
        <p:spPr/>
        <p:txBody>
          <a:bodyPr/>
          <a:lstStyle/>
          <a:p>
            <a:r>
              <a:rPr lang="ja-JP" altLang="en-US"/>
              <a:t>因果推論の目的</a:t>
            </a:r>
            <a:endParaRPr kumimoji="1" lang="ja-JP" altLang="en-US"/>
          </a:p>
        </p:txBody>
      </p:sp>
      <p:sp>
        <p:nvSpPr>
          <p:cNvPr id="3" name="コンテンツ プレースホルダー 2">
            <a:extLst>
              <a:ext uri="{FF2B5EF4-FFF2-40B4-BE49-F238E27FC236}">
                <a16:creationId xmlns:a16="http://schemas.microsoft.com/office/drawing/2014/main" id="{C1901B40-E616-54FB-2336-F17D48C9A79F}"/>
              </a:ext>
            </a:extLst>
          </p:cNvPr>
          <p:cNvSpPr>
            <a:spLocks noGrp="1"/>
          </p:cNvSpPr>
          <p:nvPr>
            <p:ph idx="1"/>
          </p:nvPr>
        </p:nvSpPr>
        <p:spPr/>
        <p:txBody>
          <a:bodyPr>
            <a:normAutofit/>
          </a:bodyPr>
          <a:lstStyle/>
          <a:p>
            <a:r>
              <a:rPr lang="ja-JP" altLang="en-US" sz="2000">
                <a:latin typeface="Noto Sans JP" panose="020B0200000000000000" pitchFamily="34" charset="-128"/>
                <a:ea typeface="Noto Sans JP" panose="020B0200000000000000" pitchFamily="34" charset="-128"/>
              </a:rPr>
              <a:t>因果推論や効果検証の目的・モチベーション</a:t>
            </a:r>
            <a:endParaRPr lang="en-US" altLang="ja-JP" sz="2000" dirty="0">
              <a:latin typeface="Noto Sans JP" panose="020B0200000000000000" pitchFamily="34" charset="-128"/>
              <a:ea typeface="Noto Sans JP" panose="020B0200000000000000" pitchFamily="34" charset="-128"/>
            </a:endParaRPr>
          </a:p>
          <a:p>
            <a:endParaRPr lang="en-US" altLang="ja-JP" sz="2000" dirty="0">
              <a:latin typeface="Noto Sans JP" panose="020B0200000000000000" pitchFamily="34" charset="-128"/>
              <a:ea typeface="Noto Sans JP" panose="020B0200000000000000" pitchFamily="34" charset="-128"/>
            </a:endParaRPr>
          </a:p>
          <a:p>
            <a:pPr marL="0" indent="0" algn="ctr">
              <a:buNone/>
            </a:pPr>
            <a:r>
              <a:rPr lang="ja-JP" altLang="en-US" sz="2000">
                <a:latin typeface="Noto Sans JP" panose="020B0200000000000000" pitchFamily="34" charset="-128"/>
                <a:ea typeface="Noto Sans JP" panose="020B0200000000000000" pitchFamily="34" charset="-128"/>
              </a:rPr>
              <a:t>ある行動を起こすことで得られる結果を調べたい</a:t>
            </a:r>
            <a:endParaRPr kumimoji="1" lang="en-US" altLang="ja-JP" sz="2000" dirty="0">
              <a:latin typeface="Noto Sans JP" panose="020B0200000000000000" pitchFamily="34" charset="-128"/>
              <a:ea typeface="Noto Sans JP" panose="020B0200000000000000" pitchFamily="34" charset="-128"/>
            </a:endParaRPr>
          </a:p>
          <a:p>
            <a:endParaRPr lang="en-US" altLang="ja-JP" sz="2000" dirty="0">
              <a:latin typeface="Noto Sans JP" panose="020B0200000000000000" pitchFamily="34" charset="-128"/>
              <a:ea typeface="Noto Sans JP" panose="020B0200000000000000" pitchFamily="34" charset="-128"/>
            </a:endParaRPr>
          </a:p>
          <a:p>
            <a:pPr lvl="1"/>
            <a:r>
              <a:rPr lang="ja-JP" altLang="en-US" sz="2000">
                <a:latin typeface="Noto Sans JP" panose="020B0200000000000000" pitchFamily="34" charset="-128"/>
                <a:ea typeface="Noto Sans JP" panose="020B0200000000000000" pitchFamily="34" charset="-128"/>
              </a:rPr>
              <a:t>（例</a:t>
            </a:r>
            <a:r>
              <a:rPr lang="en-US" altLang="ja-JP" sz="2000" dirty="0">
                <a:latin typeface="Noto Sans JP" panose="020B0200000000000000" pitchFamily="34" charset="-128"/>
                <a:ea typeface="Noto Sans JP" panose="020B0200000000000000" pitchFamily="34" charset="-128"/>
              </a:rPr>
              <a:t>1</a:t>
            </a:r>
            <a:r>
              <a:rPr lang="ja-JP" altLang="en-US" sz="2000">
                <a:latin typeface="Noto Sans JP" panose="020B0200000000000000" pitchFamily="34" charset="-128"/>
                <a:ea typeface="Noto Sans JP" panose="020B0200000000000000" pitchFamily="34" charset="-128"/>
              </a:rPr>
              <a:t>）</a:t>
            </a:r>
            <a:br>
              <a:rPr lang="en-US" altLang="ja-JP" sz="2000" dirty="0">
                <a:latin typeface="Noto Sans JP" panose="020B0200000000000000" pitchFamily="34" charset="-128"/>
                <a:ea typeface="Noto Sans JP" panose="020B0200000000000000" pitchFamily="34" charset="-128"/>
              </a:rPr>
            </a:br>
            <a:r>
              <a:rPr lang="ja-JP" altLang="en-US" sz="2000">
                <a:latin typeface="Noto Sans JP" panose="020B0200000000000000" pitchFamily="34" charset="-128"/>
                <a:ea typeface="Noto Sans JP" panose="020B0200000000000000" pitchFamily="34" charset="-128"/>
              </a:rPr>
              <a:t>クーポン配信を行うことで、配信を行わない場合と比べて、どの程度売り上げが増加するか</a:t>
            </a:r>
            <a:endParaRPr lang="en-US" altLang="ja-JP" sz="2000" dirty="0">
              <a:latin typeface="Noto Sans JP" panose="020B0200000000000000" pitchFamily="34" charset="-128"/>
              <a:ea typeface="Noto Sans JP" panose="020B0200000000000000" pitchFamily="34" charset="-128"/>
            </a:endParaRPr>
          </a:p>
          <a:p>
            <a:pPr lvl="1"/>
            <a:endParaRPr lang="en-US" altLang="ja-JP" sz="800" dirty="0">
              <a:latin typeface="Noto Sans JP" panose="020B0200000000000000" pitchFamily="34" charset="-128"/>
              <a:ea typeface="Noto Sans JP" panose="020B0200000000000000" pitchFamily="34" charset="-128"/>
            </a:endParaRPr>
          </a:p>
          <a:p>
            <a:pPr lvl="1"/>
            <a:r>
              <a:rPr lang="ja-JP" altLang="en-US" sz="2000">
                <a:latin typeface="Noto Sans JP" panose="020B0200000000000000" pitchFamily="34" charset="-128"/>
                <a:ea typeface="Noto Sans JP" panose="020B0200000000000000" pitchFamily="34" charset="-128"/>
              </a:rPr>
              <a:t>（例２）　</a:t>
            </a:r>
            <a:br>
              <a:rPr lang="en-US" altLang="ja-JP" sz="2000" dirty="0">
                <a:latin typeface="Noto Sans JP" panose="020B0200000000000000" pitchFamily="34" charset="-128"/>
                <a:ea typeface="Noto Sans JP" panose="020B0200000000000000" pitchFamily="34" charset="-128"/>
              </a:rPr>
            </a:br>
            <a:r>
              <a:rPr lang="ja-JP" altLang="en-US" sz="2000">
                <a:latin typeface="Noto Sans JP" panose="020B0200000000000000" pitchFamily="34" charset="-128"/>
                <a:ea typeface="Noto Sans JP" panose="020B0200000000000000" pitchFamily="34" charset="-128"/>
              </a:rPr>
              <a:t>新薬とプラシーボ（偽薬）をそれぞれ投与した場合の治療効果の差</a:t>
            </a:r>
            <a:br>
              <a:rPr lang="en-US" altLang="ja-JP" sz="2000" dirty="0">
                <a:latin typeface="Noto Sans JP" panose="020B0200000000000000" pitchFamily="34" charset="-128"/>
                <a:ea typeface="Noto Sans JP" panose="020B0200000000000000" pitchFamily="34" charset="-128"/>
              </a:rPr>
            </a:br>
            <a:r>
              <a:rPr lang="ja-JP" altLang="en-US" sz="2000">
                <a:latin typeface="Noto Sans JP" panose="020B0200000000000000" pitchFamily="34" charset="-128"/>
                <a:ea typeface="Noto Sans JP" panose="020B0200000000000000" pitchFamily="34" charset="-128"/>
              </a:rPr>
              <a:t>（発熱や血圧の減少）</a:t>
            </a:r>
            <a:endParaRPr lang="en-US" altLang="ja-JP" sz="2000" dirty="0">
              <a:latin typeface="Noto Sans JP" panose="020B0200000000000000" pitchFamily="34" charset="-128"/>
              <a:ea typeface="Noto Sans JP" panose="020B0200000000000000" pitchFamily="34" charset="-128"/>
            </a:endParaRPr>
          </a:p>
          <a:p>
            <a:pPr lvl="1"/>
            <a:endParaRPr lang="en-US" altLang="ja-JP" sz="2000" dirty="0"/>
          </a:p>
          <a:p>
            <a:r>
              <a:rPr lang="ja-JP" altLang="en-US" sz="2000">
                <a:latin typeface="Noto Sans JP" panose="020B0200000000000000" pitchFamily="34" charset="-128"/>
                <a:ea typeface="Noto Sans JP" panose="020B0200000000000000" pitchFamily="34" charset="-128"/>
              </a:rPr>
              <a:t>このような目的をもつデータ分析は広く因果推論と呼ばれる</a:t>
            </a:r>
            <a:endParaRPr lang="en-US" altLang="ja-JP" sz="2000" dirty="0">
              <a:latin typeface="Noto Sans JP" panose="020B0200000000000000" pitchFamily="34" charset="-128"/>
              <a:ea typeface="Noto Sans JP" panose="020B0200000000000000" pitchFamily="34" charset="-128"/>
            </a:endParaRPr>
          </a:p>
          <a:p>
            <a:endParaRPr lang="en-US" altLang="ja-JP" sz="2000" dirty="0">
              <a:latin typeface="Noto Sans JP" panose="020B0200000000000000" pitchFamily="34" charset="-128"/>
              <a:ea typeface="Noto Sans JP" panose="020B0200000000000000" pitchFamily="34" charset="-128"/>
            </a:endParaRPr>
          </a:p>
          <a:p>
            <a:endParaRPr lang="ja-JP" altLang="en-US" sz="2000">
              <a:latin typeface="Noto Sans JP" panose="020B0200000000000000" pitchFamily="34" charset="-128"/>
              <a:ea typeface="Noto Sans JP" panose="020B0200000000000000" pitchFamily="34" charset="-128"/>
            </a:endParaRPr>
          </a:p>
          <a:p>
            <a:endParaRPr kumimoji="1" lang="en-US" altLang="ja-JP" sz="2000" dirty="0">
              <a:latin typeface="Noto Sans JP" panose="020B0200000000000000" pitchFamily="34" charset="-128"/>
              <a:ea typeface="Noto Sans JP" panose="020B0200000000000000" pitchFamily="34" charset="-128"/>
            </a:endParaRPr>
          </a:p>
        </p:txBody>
      </p:sp>
      <p:sp>
        <p:nvSpPr>
          <p:cNvPr id="4" name="正方形/長方形 3">
            <a:extLst>
              <a:ext uri="{FF2B5EF4-FFF2-40B4-BE49-F238E27FC236}">
                <a16:creationId xmlns:a16="http://schemas.microsoft.com/office/drawing/2014/main" id="{9D7C0007-5AE3-BA61-5031-736F26313152}"/>
              </a:ext>
            </a:extLst>
          </p:cNvPr>
          <p:cNvSpPr/>
          <p:nvPr/>
        </p:nvSpPr>
        <p:spPr>
          <a:xfrm>
            <a:off x="3247697" y="1694986"/>
            <a:ext cx="5696606" cy="59626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68442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984FF-C0BA-EB76-FBB7-789FED334BE0}"/>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8A922FD3-8CFF-2653-7D1E-C9613CABC1D4}"/>
              </a:ext>
            </a:extLst>
          </p:cNvPr>
          <p:cNvSpPr>
            <a:spLocks noGrp="1"/>
          </p:cNvSpPr>
          <p:nvPr>
            <p:ph type="title"/>
          </p:nvPr>
        </p:nvSpPr>
        <p:spPr/>
        <p:txBody>
          <a:bodyPr>
            <a:normAutofit/>
          </a:bodyPr>
          <a:lstStyle/>
          <a:p>
            <a:r>
              <a:rPr lang="ja-JP" altLang="en-US"/>
              <a:t>因果推論の目的</a:t>
            </a:r>
          </a:p>
        </p:txBody>
      </p:sp>
      <p:sp>
        <p:nvSpPr>
          <p:cNvPr id="7" name="コンテンツ プレースホルダー 6">
            <a:extLst>
              <a:ext uri="{FF2B5EF4-FFF2-40B4-BE49-F238E27FC236}">
                <a16:creationId xmlns:a16="http://schemas.microsoft.com/office/drawing/2014/main" id="{8A254BFD-E40D-9736-404C-5FB7C5D5DDCA}"/>
              </a:ext>
            </a:extLst>
          </p:cNvPr>
          <p:cNvSpPr>
            <a:spLocks noGrp="1"/>
          </p:cNvSpPr>
          <p:nvPr>
            <p:ph idx="1"/>
          </p:nvPr>
        </p:nvSpPr>
        <p:spPr>
          <a:xfrm>
            <a:off x="360935" y="4191000"/>
            <a:ext cx="11444164" cy="2667000"/>
          </a:xfrm>
        </p:spPr>
        <p:txBody>
          <a:bodyPr>
            <a:normAutofit/>
          </a:bodyPr>
          <a:lstStyle/>
          <a:p>
            <a:r>
              <a:rPr lang="ja-JP" altLang="en-US" sz="2000" b="1">
                <a:latin typeface="Noto Sans JP" panose="020B0200000000000000" pitchFamily="34" charset="-128"/>
                <a:ea typeface="Noto Sans JP" panose="020B0200000000000000" pitchFamily="34" charset="-128"/>
              </a:rPr>
              <a:t>因果推論</a:t>
            </a:r>
            <a:endParaRPr lang="en-US" altLang="ja-JP" sz="2000" b="1" dirty="0">
              <a:latin typeface="Noto Sans JP" panose="020B0200000000000000" pitchFamily="34" charset="-128"/>
              <a:ea typeface="Noto Sans JP" panose="020B0200000000000000" pitchFamily="34" charset="-128"/>
            </a:endParaRPr>
          </a:p>
          <a:p>
            <a:pPr lvl="1"/>
            <a:r>
              <a:rPr lang="ja-JP" altLang="en-US" sz="2000">
                <a:latin typeface="Noto Sans JP" panose="020B0200000000000000" pitchFamily="34" charset="-128"/>
                <a:ea typeface="Noto Sans JP" panose="020B0200000000000000" pitchFamily="34" charset="-128"/>
              </a:rPr>
              <a:t>母集団の因果関係を表すモデルを用いて意思決定を行う</a:t>
            </a:r>
            <a:endParaRPr lang="en-US" altLang="ja-JP" sz="2000" dirty="0">
              <a:latin typeface="Noto Sans JP" panose="020B0200000000000000" pitchFamily="34" charset="-128"/>
              <a:ea typeface="Noto Sans JP" panose="020B0200000000000000" pitchFamily="34" charset="-128"/>
            </a:endParaRPr>
          </a:p>
          <a:p>
            <a:pPr lvl="1"/>
            <a:r>
              <a:rPr lang="ja-JP" altLang="en-US" sz="2000">
                <a:latin typeface="Noto Sans JP" panose="020B0200000000000000" pitchFamily="34" charset="-128"/>
                <a:ea typeface="Noto Sans JP" panose="020B0200000000000000" pitchFamily="34" charset="-128"/>
              </a:rPr>
              <a:t>因果モデルを探す因果探索</a:t>
            </a:r>
            <a:r>
              <a:rPr lang="ja-JP" altLang="en-US" sz="2000"/>
              <a:t>や</a:t>
            </a:r>
            <a:r>
              <a:rPr lang="ja-JP" altLang="en-US" sz="2000">
                <a:latin typeface="Noto Sans JP" panose="020B0200000000000000" pitchFamily="34" charset="-128"/>
                <a:ea typeface="Noto Sans JP" panose="020B0200000000000000" pitchFamily="34" charset="-128"/>
              </a:rPr>
              <a:t>因果効果の推定などの定式化がある</a:t>
            </a:r>
            <a:endParaRPr lang="en-US" altLang="ja-JP" sz="2000" dirty="0">
              <a:latin typeface="Noto Sans JP" panose="020B0200000000000000" pitchFamily="34" charset="-128"/>
              <a:ea typeface="Noto Sans JP" panose="020B0200000000000000" pitchFamily="34" charset="-128"/>
            </a:endParaRPr>
          </a:p>
          <a:p>
            <a:pPr lvl="1"/>
            <a:endParaRPr lang="en-US" altLang="ja-JP" sz="800" dirty="0">
              <a:latin typeface="Noto Sans JP" panose="020B0200000000000000" pitchFamily="34" charset="-128"/>
              <a:ea typeface="Noto Sans JP" panose="020B0200000000000000" pitchFamily="34" charset="-128"/>
            </a:endParaRPr>
          </a:p>
          <a:p>
            <a:r>
              <a:rPr lang="ja-JP" altLang="en-US" sz="2000" b="1">
                <a:latin typeface="Noto Sans JP" panose="020B0200000000000000" pitchFamily="34" charset="-128"/>
                <a:ea typeface="Noto Sans JP" panose="020B0200000000000000" pitchFamily="34" charset="-128"/>
              </a:rPr>
              <a:t>因果とは何か</a:t>
            </a:r>
            <a:endParaRPr lang="en-US" altLang="ja-JP" sz="2000" b="1" dirty="0">
              <a:latin typeface="Noto Sans JP" panose="020B0200000000000000" pitchFamily="34" charset="-128"/>
              <a:ea typeface="Noto Sans JP" panose="020B0200000000000000" pitchFamily="34" charset="-128"/>
            </a:endParaRPr>
          </a:p>
          <a:p>
            <a:pPr lvl="1"/>
            <a:r>
              <a:rPr lang="ja-JP" altLang="en-US" sz="2000">
                <a:latin typeface="Noto Sans JP" panose="020B0200000000000000" pitchFamily="34" charset="-128"/>
                <a:ea typeface="Noto Sans JP" panose="020B0200000000000000" pitchFamily="34" charset="-128"/>
              </a:rPr>
              <a:t>業務に従事する人が決めて良い</a:t>
            </a:r>
            <a:endParaRPr lang="en-US" altLang="ja-JP" sz="2000" dirty="0">
              <a:latin typeface="Noto Sans JP" panose="020B0200000000000000" pitchFamily="34" charset="-128"/>
              <a:ea typeface="Noto Sans JP" panose="020B0200000000000000" pitchFamily="34" charset="-128"/>
            </a:endParaRPr>
          </a:p>
          <a:p>
            <a:pPr lvl="1"/>
            <a:r>
              <a:rPr lang="ja-JP" altLang="en-US" sz="2000"/>
              <a:t>数学的な定義はあるものの定性的な概念でもある</a:t>
            </a:r>
            <a:endParaRPr lang="en-US" altLang="ja-JP" sz="2000" dirty="0"/>
          </a:p>
        </p:txBody>
      </p:sp>
      <p:sp>
        <p:nvSpPr>
          <p:cNvPr id="4" name="角丸四角形 3">
            <a:extLst>
              <a:ext uri="{FF2B5EF4-FFF2-40B4-BE49-F238E27FC236}">
                <a16:creationId xmlns:a16="http://schemas.microsoft.com/office/drawing/2014/main" id="{4CD9556B-9FE5-74C6-ED2A-DFAB3A82032E}"/>
              </a:ext>
            </a:extLst>
          </p:cNvPr>
          <p:cNvSpPr/>
          <p:nvPr/>
        </p:nvSpPr>
        <p:spPr>
          <a:xfrm>
            <a:off x="7239002" y="1311373"/>
            <a:ext cx="4343400" cy="2667000"/>
          </a:xfrm>
          <a:prstGeom prst="roundRect">
            <a:avLst/>
          </a:prstGeom>
          <a:no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tx1"/>
                </a:solidFill>
                <a:latin typeface="Noto Sans JP" panose="020B0200000000000000" pitchFamily="34" charset="-128"/>
                <a:ea typeface="Noto Sans JP" panose="020B0200000000000000" pitchFamily="34" charset="-128"/>
              </a:rPr>
              <a:t>母集団（真の世界）</a:t>
            </a:r>
            <a:endParaRPr kumimoji="1" lang="en-US" altLang="ja-JP" b="1" dirty="0">
              <a:solidFill>
                <a:schemeClr val="tx1"/>
              </a:solidFill>
              <a:latin typeface="Noto Sans JP" panose="020B0200000000000000" pitchFamily="34" charset="-128"/>
              <a:ea typeface="Noto Sans JP" panose="020B0200000000000000" pitchFamily="34" charset="-128"/>
            </a:endParaRPr>
          </a:p>
          <a:p>
            <a:pPr algn="ctr"/>
            <a:r>
              <a:rPr kumimoji="1" lang="en-US" altLang="ja-JP" sz="800" b="1" dirty="0">
                <a:solidFill>
                  <a:schemeClr val="tx1"/>
                </a:solidFill>
                <a:latin typeface="Noto Sans JP" panose="020B0200000000000000" pitchFamily="34" charset="-128"/>
                <a:ea typeface="Noto Sans JP" panose="020B0200000000000000" pitchFamily="34" charset="-128"/>
              </a:rPr>
              <a:t> </a:t>
            </a:r>
          </a:p>
          <a:p>
            <a:pPr algn="ctr"/>
            <a:r>
              <a:rPr kumimoji="1" lang="ja-JP" altLang="en-US">
                <a:solidFill>
                  <a:schemeClr val="tx1"/>
                </a:solidFill>
                <a:latin typeface="Noto Sans JP" panose="020B0200000000000000" pitchFamily="34" charset="-128"/>
                <a:ea typeface="Noto Sans JP" panose="020B0200000000000000" pitchFamily="34" charset="-128"/>
              </a:rPr>
              <a:t>例：ある商品に対する日本人の選好</a:t>
            </a:r>
            <a:endParaRPr kumimoji="1" lang="en-US" altLang="ja-JP" dirty="0">
              <a:solidFill>
                <a:schemeClr val="tx1"/>
              </a:solidFill>
              <a:latin typeface="Noto Sans JP" panose="020B0200000000000000" pitchFamily="34" charset="-128"/>
              <a:ea typeface="Noto Sans JP" panose="020B0200000000000000" pitchFamily="34" charset="-128"/>
            </a:endParaRPr>
          </a:p>
          <a:p>
            <a:pPr algn="ctr"/>
            <a:r>
              <a:rPr kumimoji="1" lang="ja-JP" altLang="en-US">
                <a:solidFill>
                  <a:schemeClr val="tx1"/>
                </a:solidFill>
                <a:latin typeface="Noto Sans JP" panose="020B0200000000000000" pitchFamily="34" charset="-128"/>
                <a:ea typeface="Noto Sans JP" panose="020B0200000000000000" pitchFamily="34" charset="-128"/>
              </a:rPr>
              <a:t>株価を決める企業価値</a:t>
            </a:r>
          </a:p>
          <a:p>
            <a:pPr algn="ctr"/>
            <a:r>
              <a:rPr kumimoji="1" lang="ja-JP" altLang="en-US">
                <a:solidFill>
                  <a:schemeClr val="tx1"/>
                </a:solidFill>
                <a:latin typeface="Noto Sans JP" panose="020B0200000000000000" pitchFamily="34" charset="-128"/>
                <a:ea typeface="Noto Sans JP" panose="020B0200000000000000" pitchFamily="34" charset="-128"/>
              </a:rPr>
              <a:t>需要曲線と供給曲線</a:t>
            </a:r>
          </a:p>
        </p:txBody>
      </p:sp>
      <p:sp>
        <p:nvSpPr>
          <p:cNvPr id="9" name="角丸四角形 8">
            <a:extLst>
              <a:ext uri="{FF2B5EF4-FFF2-40B4-BE49-F238E27FC236}">
                <a16:creationId xmlns:a16="http://schemas.microsoft.com/office/drawing/2014/main" id="{B457A08B-2A41-03EA-BBC7-5F0EF8C4B655}"/>
              </a:ext>
            </a:extLst>
          </p:cNvPr>
          <p:cNvSpPr/>
          <p:nvPr/>
        </p:nvSpPr>
        <p:spPr>
          <a:xfrm>
            <a:off x="609600" y="1311374"/>
            <a:ext cx="4343400" cy="1295400"/>
          </a:xfrm>
          <a:prstGeom prst="roundRect">
            <a:avLst/>
          </a:prstGeom>
          <a:noFill/>
          <a:ln w="381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tx1"/>
                </a:solidFill>
                <a:latin typeface="Noto Sans JP" panose="020B0200000000000000" pitchFamily="34" charset="-128"/>
                <a:ea typeface="Noto Sans JP" panose="020B0200000000000000" pitchFamily="34" charset="-128"/>
              </a:rPr>
              <a:t>サンプル（観測できる世界）</a:t>
            </a:r>
            <a:endParaRPr kumimoji="1" lang="en-US" altLang="ja-JP" b="1" dirty="0">
              <a:solidFill>
                <a:schemeClr val="tx1"/>
              </a:solidFill>
              <a:latin typeface="Noto Sans JP" panose="020B0200000000000000" pitchFamily="34" charset="-128"/>
              <a:ea typeface="Noto Sans JP" panose="020B0200000000000000" pitchFamily="34" charset="-128"/>
            </a:endParaRPr>
          </a:p>
          <a:p>
            <a:pPr algn="ctr"/>
            <a:r>
              <a:rPr kumimoji="1" lang="en-US" altLang="ja-JP" sz="800" b="1" dirty="0">
                <a:solidFill>
                  <a:schemeClr val="tx1"/>
                </a:solidFill>
                <a:latin typeface="Noto Sans JP" panose="020B0200000000000000" pitchFamily="34" charset="-128"/>
                <a:ea typeface="Noto Sans JP" panose="020B0200000000000000" pitchFamily="34" charset="-128"/>
              </a:rPr>
              <a:t> </a:t>
            </a:r>
          </a:p>
          <a:p>
            <a:pPr algn="ctr"/>
            <a:r>
              <a:rPr kumimoji="1" lang="ja-JP" altLang="en-US">
                <a:solidFill>
                  <a:schemeClr val="tx1"/>
                </a:solidFill>
                <a:latin typeface="Noto Sans JP" panose="020B0200000000000000" pitchFamily="34" charset="-128"/>
                <a:ea typeface="Noto Sans JP" panose="020B0200000000000000" pitchFamily="34" charset="-128"/>
              </a:rPr>
              <a:t>例：ある商品の東京都での売上</a:t>
            </a:r>
            <a:endParaRPr kumimoji="1" lang="en-US" altLang="ja-JP" dirty="0">
              <a:solidFill>
                <a:schemeClr val="tx1"/>
              </a:solidFill>
              <a:latin typeface="Noto Sans JP" panose="020B0200000000000000" pitchFamily="34" charset="-128"/>
              <a:ea typeface="Noto Sans JP" panose="020B0200000000000000" pitchFamily="34" charset="-128"/>
            </a:endParaRPr>
          </a:p>
          <a:p>
            <a:pPr algn="ctr"/>
            <a:r>
              <a:rPr kumimoji="1" lang="ja-JP" altLang="en-US">
                <a:solidFill>
                  <a:schemeClr val="tx1"/>
                </a:solidFill>
                <a:latin typeface="Noto Sans JP" panose="020B0200000000000000" pitchFamily="34" charset="-128"/>
                <a:ea typeface="Noto Sans JP" panose="020B0200000000000000" pitchFamily="34" charset="-128"/>
              </a:rPr>
              <a:t>株価の時系列データ</a:t>
            </a:r>
            <a:endParaRPr kumimoji="1" lang="en-US" altLang="ja-JP" dirty="0">
              <a:solidFill>
                <a:schemeClr val="tx1"/>
              </a:solidFill>
              <a:latin typeface="Noto Sans JP" panose="020B0200000000000000" pitchFamily="34" charset="-128"/>
              <a:ea typeface="Noto Sans JP" panose="020B0200000000000000" pitchFamily="34" charset="-128"/>
            </a:endParaRPr>
          </a:p>
          <a:p>
            <a:pPr algn="ctr"/>
            <a:r>
              <a:rPr kumimoji="1" lang="ja-JP" altLang="en-US">
                <a:solidFill>
                  <a:schemeClr val="tx1"/>
                </a:solidFill>
                <a:latin typeface="Noto Sans JP" panose="020B0200000000000000" pitchFamily="34" charset="-128"/>
                <a:ea typeface="Noto Sans JP" panose="020B0200000000000000" pitchFamily="34" charset="-128"/>
              </a:rPr>
              <a:t>商品の価格と取引量</a:t>
            </a:r>
          </a:p>
        </p:txBody>
      </p:sp>
      <p:sp>
        <p:nvSpPr>
          <p:cNvPr id="13" name="上矢印 12">
            <a:extLst>
              <a:ext uri="{FF2B5EF4-FFF2-40B4-BE49-F238E27FC236}">
                <a16:creationId xmlns:a16="http://schemas.microsoft.com/office/drawing/2014/main" id="{D531BD28-76A1-4C39-861C-1153108C0AA2}"/>
              </a:ext>
            </a:extLst>
          </p:cNvPr>
          <p:cNvSpPr/>
          <p:nvPr/>
        </p:nvSpPr>
        <p:spPr>
          <a:xfrm rot="16200000">
            <a:off x="5818301" y="1054199"/>
            <a:ext cx="529431" cy="1809750"/>
          </a:xfrm>
          <a:prstGeom prst="upArrow">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53DC5D7C-4A89-2771-A797-EC99CA0948AD}"/>
              </a:ext>
            </a:extLst>
          </p:cNvPr>
          <p:cNvSpPr txBox="1"/>
          <p:nvPr/>
        </p:nvSpPr>
        <p:spPr>
          <a:xfrm>
            <a:off x="5774139" y="1311374"/>
            <a:ext cx="646331" cy="369332"/>
          </a:xfrm>
          <a:prstGeom prst="rect">
            <a:avLst/>
          </a:prstGeom>
          <a:noFill/>
          <a:ln>
            <a:solidFill>
              <a:schemeClr val="accent1">
                <a:shade val="15000"/>
              </a:schemeClr>
            </a:solidFill>
          </a:ln>
        </p:spPr>
        <p:txBody>
          <a:bodyPr wrap="none" rtlCol="0">
            <a:spAutoFit/>
          </a:bodyPr>
          <a:lstStyle/>
          <a:p>
            <a:r>
              <a:rPr kumimoji="1" lang="ja-JP" altLang="en-US">
                <a:latin typeface="Noto Sans JP" panose="020B0200000000000000" pitchFamily="34" charset="-128"/>
                <a:ea typeface="Noto Sans JP" panose="020B0200000000000000" pitchFamily="34" charset="-128"/>
              </a:rPr>
              <a:t>観測</a:t>
            </a:r>
          </a:p>
        </p:txBody>
      </p:sp>
      <p:sp>
        <p:nvSpPr>
          <p:cNvPr id="16" name="正方形/長方形 15">
            <a:extLst>
              <a:ext uri="{FF2B5EF4-FFF2-40B4-BE49-F238E27FC236}">
                <a16:creationId xmlns:a16="http://schemas.microsoft.com/office/drawing/2014/main" id="{9B85C056-42E8-F0A3-1527-97D301D4E0C4}"/>
              </a:ext>
            </a:extLst>
          </p:cNvPr>
          <p:cNvSpPr/>
          <p:nvPr/>
        </p:nvSpPr>
        <p:spPr>
          <a:xfrm>
            <a:off x="609598" y="3183036"/>
            <a:ext cx="4343399" cy="8011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tx1"/>
                </a:solidFill>
                <a:latin typeface="Noto Sans JP" panose="020B0200000000000000" pitchFamily="34" charset="-128"/>
                <a:ea typeface="Noto Sans JP" panose="020B0200000000000000" pitchFamily="34" charset="-128"/>
              </a:rPr>
              <a:t>母集団の</a:t>
            </a:r>
            <a:r>
              <a:rPr kumimoji="1" lang="ja-JP" altLang="en-US" b="1" u="sng">
                <a:solidFill>
                  <a:srgbClr val="FF0000"/>
                </a:solidFill>
                <a:latin typeface="Noto Sans JP" panose="020B0200000000000000" pitchFamily="34" charset="-128"/>
                <a:ea typeface="Noto Sans JP" panose="020B0200000000000000" pitchFamily="34" charset="-128"/>
              </a:rPr>
              <a:t>因果関係</a:t>
            </a:r>
            <a:r>
              <a:rPr kumimoji="1" lang="ja-JP" altLang="en-US" b="1">
                <a:solidFill>
                  <a:schemeClr val="tx1"/>
                </a:solidFill>
                <a:latin typeface="Noto Sans JP" panose="020B0200000000000000" pitchFamily="34" charset="-128"/>
                <a:ea typeface="Noto Sans JP" panose="020B0200000000000000" pitchFamily="34" charset="-128"/>
              </a:rPr>
              <a:t>を表すモデル</a:t>
            </a:r>
            <a:endParaRPr kumimoji="1" lang="en-US" altLang="ja-JP" b="1" dirty="0">
              <a:solidFill>
                <a:schemeClr val="tx1"/>
              </a:solidFill>
              <a:latin typeface="Noto Sans JP" panose="020B0200000000000000" pitchFamily="34" charset="-128"/>
              <a:ea typeface="Noto Sans JP" panose="020B0200000000000000" pitchFamily="34" charset="-128"/>
            </a:endParaRPr>
          </a:p>
          <a:p>
            <a:pPr algn="ctr"/>
            <a:endParaRPr kumimoji="1" lang="en-US" altLang="ja-JP" sz="800" b="1" dirty="0">
              <a:solidFill>
                <a:schemeClr val="tx1"/>
              </a:solidFill>
              <a:latin typeface="Noto Sans JP" panose="020B0200000000000000" pitchFamily="34" charset="-128"/>
              <a:ea typeface="Noto Sans JP" panose="020B0200000000000000" pitchFamily="34" charset="-128"/>
            </a:endParaRPr>
          </a:p>
          <a:p>
            <a:pPr algn="ctr"/>
            <a:r>
              <a:rPr kumimoji="1" lang="ja-JP" altLang="en-US">
                <a:solidFill>
                  <a:schemeClr val="tx1"/>
                </a:solidFill>
                <a:latin typeface="Noto Sans JP" panose="020B0200000000000000" pitchFamily="34" charset="-128"/>
                <a:ea typeface="Noto Sans JP" panose="020B0200000000000000" pitchFamily="34" charset="-128"/>
              </a:rPr>
              <a:t>例：線形回帰・ニューラルネットワーク</a:t>
            </a:r>
          </a:p>
        </p:txBody>
      </p:sp>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B0DC59A0-B1F3-8F63-67D0-5E76DBC7D6C4}"/>
                  </a:ext>
                </a:extLst>
              </p:cNvPr>
              <p:cNvSpPr txBox="1"/>
              <p:nvPr/>
            </p:nvSpPr>
            <p:spPr>
              <a:xfrm>
                <a:off x="2439697" y="2531308"/>
                <a:ext cx="683200" cy="707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ja-JP" sz="4000" b="0" i="1" smtClean="0">
                          <a:latin typeface="Cambria Math" panose="02040503050406030204" pitchFamily="18" charset="0"/>
                        </a:rPr>
                        <m:t>+</m:t>
                      </m:r>
                    </m:oMath>
                  </m:oMathPara>
                </a14:m>
                <a:endParaRPr kumimoji="1" lang="en-US" altLang="ja-JP" sz="4000" dirty="0">
                  <a:latin typeface="Calibri" panose="020F0502020204030204" pitchFamily="34" charset="0"/>
                  <a:cs typeface="Calibri" panose="020F0502020204030204" pitchFamily="34" charset="0"/>
                </a:endParaRPr>
              </a:p>
            </p:txBody>
          </p:sp>
        </mc:Choice>
        <mc:Fallback xmlns="">
          <p:sp>
            <p:nvSpPr>
              <p:cNvPr id="20" name="テキスト ボックス 19">
                <a:extLst>
                  <a:ext uri="{FF2B5EF4-FFF2-40B4-BE49-F238E27FC236}">
                    <a16:creationId xmlns:a16="http://schemas.microsoft.com/office/drawing/2014/main" id="{B0DC59A0-B1F3-8F63-67D0-5E76DBC7D6C4}"/>
                  </a:ext>
                </a:extLst>
              </p:cNvPr>
              <p:cNvSpPr txBox="1">
                <a:spLocks noRot="1" noChangeAspect="1" noMove="1" noResize="1" noEditPoints="1" noAdjustHandles="1" noChangeArrowheads="1" noChangeShapeType="1" noTextEdit="1"/>
              </p:cNvSpPr>
              <p:nvPr/>
            </p:nvSpPr>
            <p:spPr>
              <a:xfrm>
                <a:off x="2439697" y="2531308"/>
                <a:ext cx="683200" cy="707886"/>
              </a:xfrm>
              <a:prstGeom prst="rect">
                <a:avLst/>
              </a:prstGeom>
              <a:blipFill>
                <a:blip r:embed="rId2"/>
                <a:stretch>
                  <a:fillRect l="-1852" r="-1852"/>
                </a:stretch>
              </a:blipFill>
            </p:spPr>
            <p:txBody>
              <a:bodyPr/>
              <a:lstStyle/>
              <a:p>
                <a:r>
                  <a:rPr lang="ja-JP" altLang="en-US">
                    <a:noFill/>
                  </a:rPr>
                  <a:t> </a:t>
                </a:r>
              </a:p>
            </p:txBody>
          </p:sp>
        </mc:Fallback>
      </mc:AlternateContent>
      <p:sp>
        <p:nvSpPr>
          <p:cNvPr id="21" name="上矢印 20">
            <a:extLst>
              <a:ext uri="{FF2B5EF4-FFF2-40B4-BE49-F238E27FC236}">
                <a16:creationId xmlns:a16="http://schemas.microsoft.com/office/drawing/2014/main" id="{C995FDC5-9D2E-8F5B-8422-6A1E754C3D8A}"/>
              </a:ext>
            </a:extLst>
          </p:cNvPr>
          <p:cNvSpPr/>
          <p:nvPr/>
        </p:nvSpPr>
        <p:spPr>
          <a:xfrm rot="5400000">
            <a:off x="5831284" y="2069603"/>
            <a:ext cx="529431" cy="1809750"/>
          </a:xfrm>
          <a:prstGeom prst="upArrow">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A8D67E78-1FA3-0FD0-3851-D382E5E2C76F}"/>
              </a:ext>
            </a:extLst>
          </p:cNvPr>
          <p:cNvSpPr txBox="1"/>
          <p:nvPr/>
        </p:nvSpPr>
        <p:spPr>
          <a:xfrm>
            <a:off x="5529018" y="3263762"/>
            <a:ext cx="1107996" cy="369332"/>
          </a:xfrm>
          <a:prstGeom prst="rect">
            <a:avLst/>
          </a:prstGeom>
          <a:noFill/>
          <a:ln>
            <a:solidFill>
              <a:schemeClr val="accent1">
                <a:shade val="15000"/>
              </a:schemeClr>
            </a:solidFill>
          </a:ln>
        </p:spPr>
        <p:txBody>
          <a:bodyPr wrap="none" rtlCol="0">
            <a:spAutoFit/>
          </a:bodyPr>
          <a:lstStyle/>
          <a:p>
            <a:r>
              <a:rPr kumimoji="1" lang="ja-JP" altLang="en-US">
                <a:latin typeface="Noto Sans JP" panose="020B0200000000000000" pitchFamily="34" charset="-128"/>
                <a:ea typeface="Noto Sans JP" panose="020B0200000000000000" pitchFamily="34" charset="-128"/>
              </a:rPr>
              <a:t>意思決定</a:t>
            </a:r>
          </a:p>
        </p:txBody>
      </p:sp>
    </p:spTree>
    <p:extLst>
      <p:ext uri="{BB962C8B-B14F-4D97-AF65-F5344CB8AC3E}">
        <p14:creationId xmlns:p14="http://schemas.microsoft.com/office/powerpoint/2010/main" val="8665332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B731E-D1AA-E75A-D16A-4E0D7732C27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3D155A-02B5-90A3-AF8B-9AF74A77F9EB}"/>
              </a:ext>
            </a:extLst>
          </p:cNvPr>
          <p:cNvSpPr>
            <a:spLocks noGrp="1"/>
          </p:cNvSpPr>
          <p:nvPr>
            <p:ph type="title"/>
          </p:nvPr>
        </p:nvSpPr>
        <p:spPr/>
        <p:txBody>
          <a:bodyPr/>
          <a:lstStyle/>
          <a:p>
            <a:r>
              <a:rPr kumimoji="1" lang="ja-JP" altLang="en-US"/>
              <a:t>因果効果</a:t>
            </a:r>
          </a:p>
        </p:txBody>
      </p:sp>
      <p:sp>
        <p:nvSpPr>
          <p:cNvPr id="3" name="コンテンツ プレースホルダー 2">
            <a:extLst>
              <a:ext uri="{FF2B5EF4-FFF2-40B4-BE49-F238E27FC236}">
                <a16:creationId xmlns:a16="http://schemas.microsoft.com/office/drawing/2014/main" id="{B9011F5A-C73B-FA07-ADE2-5CBE362D91F2}"/>
              </a:ext>
            </a:extLst>
          </p:cNvPr>
          <p:cNvSpPr>
            <a:spLocks noGrp="1"/>
          </p:cNvSpPr>
          <p:nvPr>
            <p:ph idx="1"/>
          </p:nvPr>
        </p:nvSpPr>
        <p:spPr/>
        <p:txBody>
          <a:bodyPr>
            <a:normAutofit/>
          </a:bodyPr>
          <a:lstStyle/>
          <a:p>
            <a:r>
              <a:rPr lang="ja-JP" altLang="en-US" sz="2000">
                <a:latin typeface="Noto Sans JP" panose="020B0200000000000000" pitchFamily="34" charset="-128"/>
                <a:ea typeface="Noto Sans JP" panose="020B0200000000000000" pitchFamily="34" charset="-128"/>
              </a:rPr>
              <a:t>因果効果（</a:t>
            </a:r>
            <a:r>
              <a:rPr lang="en-US" altLang="ja-JP" sz="2000" dirty="0">
                <a:latin typeface="Noto Sans JP" panose="020B0200000000000000" pitchFamily="34" charset="-128"/>
                <a:ea typeface="Noto Sans JP" panose="020B0200000000000000" pitchFamily="34" charset="-128"/>
              </a:rPr>
              <a:t>causal effect</a:t>
            </a:r>
            <a:r>
              <a:rPr lang="ja-JP" altLang="en-US" sz="2000">
                <a:latin typeface="Noto Sans JP" panose="020B0200000000000000" pitchFamily="34" charset="-128"/>
                <a:ea typeface="Noto Sans JP" panose="020B0200000000000000" pitchFamily="34" charset="-128"/>
              </a:rPr>
              <a:t>）</a:t>
            </a:r>
            <a:endParaRPr lang="en-US" altLang="ja-JP" sz="2000" dirty="0">
              <a:latin typeface="Noto Sans JP" panose="020B0200000000000000" pitchFamily="34" charset="-128"/>
              <a:ea typeface="Noto Sans JP" panose="020B0200000000000000" pitchFamily="34" charset="-128"/>
            </a:endParaRPr>
          </a:p>
          <a:p>
            <a:pPr lvl="1"/>
            <a:r>
              <a:rPr lang="ja-JP" altLang="en-US" sz="2000"/>
              <a:t>ある行動を起こした場合の結果（アウトカム）の変化量は因果効果と呼ばれる</a:t>
            </a:r>
            <a:endParaRPr lang="en-US" altLang="ja-JP" sz="2000" dirty="0"/>
          </a:p>
          <a:p>
            <a:pPr lvl="1"/>
            <a:endParaRPr kumimoji="1" lang="en-US" altLang="ja-JP" sz="800" dirty="0">
              <a:latin typeface="Noto Sans JP" panose="020B0200000000000000" pitchFamily="34" charset="-128"/>
              <a:ea typeface="Noto Sans JP" panose="020B0200000000000000" pitchFamily="34" charset="-128"/>
            </a:endParaRPr>
          </a:p>
          <a:p>
            <a:r>
              <a:rPr kumimoji="1" lang="ja-JP" altLang="en-US" sz="2000">
                <a:latin typeface="Noto Sans JP" panose="020B0200000000000000" pitchFamily="34" charset="-128"/>
                <a:ea typeface="Noto Sans JP" panose="020B0200000000000000" pitchFamily="34" charset="-128"/>
              </a:rPr>
              <a:t>さまざまな指標が提案されている</a:t>
            </a:r>
            <a:endParaRPr kumimoji="1" lang="en-US" altLang="ja-JP" sz="2000" dirty="0">
              <a:latin typeface="Noto Sans JP" panose="020B0200000000000000" pitchFamily="34" charset="-128"/>
              <a:ea typeface="Noto Sans JP" panose="020B0200000000000000" pitchFamily="34" charset="-128"/>
            </a:endParaRPr>
          </a:p>
          <a:p>
            <a:pPr lvl="1"/>
            <a:r>
              <a:rPr lang="ja-JP" altLang="en-US" sz="2000">
                <a:latin typeface="Noto Sans JP" panose="020B0200000000000000" pitchFamily="34" charset="-128"/>
                <a:ea typeface="Noto Sans JP" panose="020B0200000000000000" pitchFamily="34" charset="-128"/>
              </a:rPr>
              <a:t>代表例</a:t>
            </a:r>
            <a:endParaRPr lang="en-US" altLang="ja-JP" sz="2000" dirty="0">
              <a:latin typeface="Noto Sans JP" panose="020B0200000000000000" pitchFamily="34" charset="-128"/>
              <a:ea typeface="Noto Sans JP" panose="020B0200000000000000" pitchFamily="34" charset="-128"/>
            </a:endParaRPr>
          </a:p>
          <a:p>
            <a:pPr lvl="2"/>
            <a:r>
              <a:rPr kumimoji="1" lang="ja-JP" altLang="en-US" sz="2000">
                <a:latin typeface="Noto Sans JP" panose="020B0200000000000000" pitchFamily="34" charset="-128"/>
                <a:ea typeface="Noto Sans JP" panose="020B0200000000000000" pitchFamily="34" charset="-128"/>
              </a:rPr>
              <a:t>平均処置効果</a:t>
            </a:r>
            <a:r>
              <a:rPr lang="ja-JP" altLang="en-US" sz="2000"/>
              <a:t>（</a:t>
            </a:r>
            <a:r>
              <a:rPr lang="en-US" altLang="ja-JP" sz="2000" dirty="0"/>
              <a:t>Average Treatment Effect</a:t>
            </a:r>
            <a:r>
              <a:rPr lang="ja-JP" altLang="en-US" sz="2000"/>
              <a:t>；</a:t>
            </a:r>
            <a:r>
              <a:rPr lang="en-US" altLang="ja-JP" sz="2000" dirty="0"/>
              <a:t>ATE</a:t>
            </a:r>
            <a:r>
              <a:rPr lang="ja-JP" altLang="en-US" sz="2000"/>
              <a:t>）</a:t>
            </a:r>
            <a:endParaRPr kumimoji="1" lang="en-US" altLang="ja-JP" sz="2000" dirty="0">
              <a:latin typeface="Noto Sans JP" panose="020B0200000000000000" pitchFamily="34" charset="-128"/>
              <a:ea typeface="Noto Sans JP" panose="020B0200000000000000" pitchFamily="34" charset="-128"/>
            </a:endParaRPr>
          </a:p>
          <a:p>
            <a:pPr lvl="2"/>
            <a:r>
              <a:rPr lang="ja-JP" altLang="en-US" sz="2000">
                <a:latin typeface="Noto Sans JP" panose="020B0200000000000000" pitchFamily="34" charset="-128"/>
                <a:ea typeface="Noto Sans JP" panose="020B0200000000000000" pitchFamily="34" charset="-128"/>
              </a:rPr>
              <a:t>処置群上の平均処置効果（</a:t>
            </a:r>
            <a:r>
              <a:rPr lang="en-US" altLang="ja-JP" sz="2000" dirty="0">
                <a:latin typeface="Noto Sans JP" panose="020B0200000000000000" pitchFamily="34" charset="-128"/>
                <a:ea typeface="Noto Sans JP" panose="020B0200000000000000" pitchFamily="34" charset="-128"/>
              </a:rPr>
              <a:t>ATE on Treated</a:t>
            </a:r>
            <a:r>
              <a:rPr lang="ja-JP" altLang="en-US" sz="2000">
                <a:latin typeface="Noto Sans JP" panose="020B0200000000000000" pitchFamily="34" charset="-128"/>
                <a:ea typeface="Noto Sans JP" panose="020B0200000000000000" pitchFamily="34" charset="-128"/>
              </a:rPr>
              <a:t>；</a:t>
            </a:r>
            <a:r>
              <a:rPr lang="en-US" altLang="ja-JP" sz="2000" dirty="0">
                <a:latin typeface="Noto Sans JP" panose="020B0200000000000000" pitchFamily="34" charset="-128"/>
                <a:ea typeface="Noto Sans JP" panose="020B0200000000000000" pitchFamily="34" charset="-128"/>
              </a:rPr>
              <a:t>ATT</a:t>
            </a:r>
            <a:r>
              <a:rPr lang="ja-JP" altLang="en-US" sz="2000">
                <a:latin typeface="Noto Sans JP" panose="020B0200000000000000" pitchFamily="34" charset="-128"/>
                <a:ea typeface="Noto Sans JP" panose="020B0200000000000000" pitchFamily="34" charset="-128"/>
              </a:rPr>
              <a:t>）</a:t>
            </a:r>
            <a:endParaRPr lang="en-US" altLang="ja-JP" sz="2000" dirty="0">
              <a:latin typeface="Noto Sans JP" panose="020B0200000000000000" pitchFamily="34" charset="-128"/>
              <a:ea typeface="Noto Sans JP" panose="020B0200000000000000" pitchFamily="34" charset="-128"/>
            </a:endParaRPr>
          </a:p>
          <a:p>
            <a:pPr lvl="2"/>
            <a:r>
              <a:rPr kumimoji="1" lang="ja-JP" altLang="en-US" sz="2000">
                <a:latin typeface="Noto Sans JP" panose="020B0200000000000000" pitchFamily="34" charset="-128"/>
                <a:ea typeface="Noto Sans JP" panose="020B0200000000000000" pitchFamily="34" charset="-128"/>
              </a:rPr>
              <a:t>分位点処置効果（</a:t>
            </a:r>
            <a:r>
              <a:rPr kumimoji="1" lang="en-US" altLang="ja-JP" sz="2000" dirty="0">
                <a:latin typeface="Noto Sans JP" panose="020B0200000000000000" pitchFamily="34" charset="-128"/>
                <a:ea typeface="Noto Sans JP" panose="020B0200000000000000" pitchFamily="34" charset="-128"/>
              </a:rPr>
              <a:t>Quantile Treatment Effect</a:t>
            </a:r>
            <a:r>
              <a:rPr kumimoji="1" lang="ja-JP" altLang="en-US" sz="2000">
                <a:latin typeface="Noto Sans JP" panose="020B0200000000000000" pitchFamily="34" charset="-128"/>
                <a:ea typeface="Noto Sans JP" panose="020B0200000000000000" pitchFamily="34" charset="-128"/>
              </a:rPr>
              <a:t>）</a:t>
            </a:r>
            <a:endParaRPr kumimoji="1" lang="en-US" altLang="ja-JP" sz="2000" dirty="0">
              <a:latin typeface="Noto Sans JP" panose="020B0200000000000000" pitchFamily="34" charset="-128"/>
              <a:ea typeface="Noto Sans JP" panose="020B0200000000000000" pitchFamily="34" charset="-128"/>
            </a:endParaRPr>
          </a:p>
          <a:p>
            <a:pPr lvl="2"/>
            <a:r>
              <a:rPr lang="ja-JP" altLang="en-US" sz="2000">
                <a:latin typeface="Noto Sans JP" panose="020B0200000000000000" pitchFamily="34" charset="-128"/>
                <a:ea typeface="Noto Sans JP" panose="020B0200000000000000" pitchFamily="34" charset="-128"/>
              </a:rPr>
              <a:t>限界効果（</a:t>
            </a:r>
            <a:r>
              <a:rPr lang="en-US" altLang="ja-JP" sz="2000" dirty="0">
                <a:latin typeface="Noto Sans JP" panose="020B0200000000000000" pitchFamily="34" charset="-128"/>
                <a:ea typeface="Noto Sans JP" panose="020B0200000000000000" pitchFamily="34" charset="-128"/>
              </a:rPr>
              <a:t>Average Marginal Effect</a:t>
            </a:r>
            <a:r>
              <a:rPr lang="ja-JP" altLang="en-US" sz="2000">
                <a:latin typeface="Noto Sans JP" panose="020B0200000000000000" pitchFamily="34" charset="-128"/>
                <a:ea typeface="Noto Sans JP" panose="020B0200000000000000" pitchFamily="34" charset="-128"/>
              </a:rPr>
              <a:t>；</a:t>
            </a:r>
            <a:r>
              <a:rPr lang="en-US" altLang="ja-JP" sz="2000" dirty="0">
                <a:latin typeface="Noto Sans JP" panose="020B0200000000000000" pitchFamily="34" charset="-128"/>
                <a:ea typeface="Noto Sans JP" panose="020B0200000000000000" pitchFamily="34" charset="-128"/>
              </a:rPr>
              <a:t>AME</a:t>
            </a:r>
            <a:r>
              <a:rPr lang="ja-JP" altLang="en-US" sz="2000">
                <a:latin typeface="Noto Sans JP" panose="020B0200000000000000" pitchFamily="34" charset="-128"/>
                <a:ea typeface="Noto Sans JP" panose="020B0200000000000000" pitchFamily="34" charset="-128"/>
              </a:rPr>
              <a:t>）</a:t>
            </a:r>
            <a:endParaRPr lang="en-US" altLang="ja-JP" sz="2000" dirty="0">
              <a:latin typeface="Noto Sans JP" panose="020B0200000000000000" pitchFamily="34" charset="-128"/>
              <a:ea typeface="Noto Sans JP" panose="020B0200000000000000" pitchFamily="34" charset="-128"/>
            </a:endParaRPr>
          </a:p>
          <a:p>
            <a:pPr lvl="2"/>
            <a:r>
              <a:rPr kumimoji="1" lang="ja-JP" altLang="en-US" sz="2000">
                <a:latin typeface="Noto Sans JP" panose="020B0200000000000000" pitchFamily="34" charset="-128"/>
                <a:ea typeface="Noto Sans JP" panose="020B0200000000000000" pitchFamily="34" charset="-128"/>
              </a:rPr>
              <a:t>方策効果（</a:t>
            </a:r>
            <a:r>
              <a:rPr kumimoji="1" lang="en-US" altLang="ja-JP" sz="2000" dirty="0">
                <a:latin typeface="Noto Sans JP" panose="020B0200000000000000" pitchFamily="34" charset="-128"/>
                <a:ea typeface="Noto Sans JP" panose="020B0200000000000000" pitchFamily="34" charset="-128"/>
              </a:rPr>
              <a:t>Average Policy Effect</a:t>
            </a:r>
            <a:r>
              <a:rPr kumimoji="1" lang="ja-JP" altLang="en-US" sz="2000">
                <a:latin typeface="Noto Sans JP" panose="020B0200000000000000" pitchFamily="34" charset="-128"/>
                <a:ea typeface="Noto Sans JP" panose="020B0200000000000000" pitchFamily="34" charset="-128"/>
              </a:rPr>
              <a:t>；</a:t>
            </a:r>
            <a:r>
              <a:rPr kumimoji="1" lang="en-US" altLang="ja-JP" sz="2000" dirty="0">
                <a:latin typeface="Noto Sans JP" panose="020B0200000000000000" pitchFamily="34" charset="-128"/>
                <a:ea typeface="Noto Sans JP" panose="020B0200000000000000" pitchFamily="34" charset="-128"/>
              </a:rPr>
              <a:t>APE</a:t>
            </a:r>
            <a:r>
              <a:rPr kumimoji="1" lang="ja-JP" altLang="en-US" sz="2000">
                <a:latin typeface="Noto Sans JP" panose="020B0200000000000000" pitchFamily="34" charset="-128"/>
                <a:ea typeface="Noto Sans JP" panose="020B0200000000000000" pitchFamily="34" charset="-128"/>
              </a:rPr>
              <a:t>）</a:t>
            </a:r>
            <a:endParaRPr kumimoji="1" lang="en-US" altLang="ja-JP" sz="2000" dirty="0">
              <a:latin typeface="Noto Sans JP" panose="020B0200000000000000" pitchFamily="34" charset="-128"/>
              <a:ea typeface="Noto Sans JP" panose="020B0200000000000000" pitchFamily="34" charset="-128"/>
            </a:endParaRPr>
          </a:p>
          <a:p>
            <a:pPr lvl="1"/>
            <a:r>
              <a:rPr kumimoji="1" lang="ja-JP" altLang="en-US" sz="2000">
                <a:latin typeface="Noto Sans JP" panose="020B0200000000000000" pitchFamily="34" charset="-128"/>
                <a:ea typeface="Noto Sans JP" panose="020B0200000000000000" pitchFamily="34" charset="-128"/>
              </a:rPr>
              <a:t>本スライドでは平均処置効果の推定に焦点をあてる</a:t>
            </a:r>
            <a:endParaRPr kumimoji="1" lang="en-US" altLang="ja-JP" sz="2000" dirty="0">
              <a:latin typeface="Noto Sans JP" panose="020B0200000000000000" pitchFamily="34" charset="-128"/>
              <a:ea typeface="Noto Sans JP" panose="020B0200000000000000" pitchFamily="34" charset="-128"/>
            </a:endParaRPr>
          </a:p>
          <a:p>
            <a:pPr lvl="1"/>
            <a:endParaRPr kumimoji="1" lang="en-US" altLang="ja-JP" sz="2000" dirty="0">
              <a:latin typeface="Noto Sans JP" panose="020B0200000000000000" pitchFamily="34" charset="-128"/>
              <a:ea typeface="Noto Sans JP" panose="020B0200000000000000" pitchFamily="34" charset="-128"/>
            </a:endParaRPr>
          </a:p>
          <a:p>
            <a:endParaRPr kumimoji="1" lang="ja-JP" altLang="en-US" sz="2000">
              <a:latin typeface="Noto Sans JP" panose="020B0200000000000000" pitchFamily="34" charset="-128"/>
              <a:ea typeface="Noto Sans JP" panose="020B0200000000000000" pitchFamily="34" charset="-128"/>
            </a:endParaRPr>
          </a:p>
        </p:txBody>
      </p:sp>
    </p:spTree>
    <p:extLst>
      <p:ext uri="{BB962C8B-B14F-4D97-AF65-F5344CB8AC3E}">
        <p14:creationId xmlns:p14="http://schemas.microsoft.com/office/powerpoint/2010/main" val="3305379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CC0C9-8C97-C8F7-061E-0D32609141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364E664-D93F-6863-0B9F-488C2D63E8F1}"/>
              </a:ext>
            </a:extLst>
          </p:cNvPr>
          <p:cNvSpPr>
            <a:spLocks noGrp="1"/>
          </p:cNvSpPr>
          <p:nvPr>
            <p:ph type="title"/>
          </p:nvPr>
        </p:nvSpPr>
        <p:spPr/>
        <p:txBody>
          <a:bodyPr>
            <a:normAutofit/>
          </a:bodyPr>
          <a:lstStyle/>
          <a:p>
            <a:r>
              <a:rPr lang="ja-JP" altLang="en-US"/>
              <a:t>行動</a:t>
            </a:r>
            <a:endParaRPr kumimoji="1" lang="ja-JP" altLang="en-US"/>
          </a:p>
        </p:txBody>
      </p:sp>
      <p:sp>
        <p:nvSpPr>
          <p:cNvPr id="3" name="コンテンツ プレースホルダー 2">
            <a:extLst>
              <a:ext uri="{FF2B5EF4-FFF2-40B4-BE49-F238E27FC236}">
                <a16:creationId xmlns:a16="http://schemas.microsoft.com/office/drawing/2014/main" id="{6F0720EE-0FBB-8AC1-3D8F-C1F45602ECDA}"/>
              </a:ext>
            </a:extLst>
          </p:cNvPr>
          <p:cNvSpPr>
            <a:spLocks noGrp="1"/>
          </p:cNvSpPr>
          <p:nvPr>
            <p:ph idx="1"/>
          </p:nvPr>
        </p:nvSpPr>
        <p:spPr/>
        <p:txBody>
          <a:bodyPr>
            <a:normAutofit/>
          </a:bodyPr>
          <a:lstStyle/>
          <a:p>
            <a:r>
              <a:rPr lang="ja-JP" altLang="en-US" sz="2000">
                <a:latin typeface="Noto Sans JP" panose="020B0200000000000000" pitchFamily="34" charset="-128"/>
                <a:ea typeface="Noto Sans JP" panose="020B0200000000000000" pitchFamily="34" charset="-128"/>
              </a:rPr>
              <a:t>行動の例</a:t>
            </a:r>
            <a:endParaRPr lang="en-US" altLang="ja-JP" sz="2000" dirty="0">
              <a:latin typeface="Noto Sans JP" panose="020B0200000000000000" pitchFamily="34" charset="-128"/>
              <a:ea typeface="Noto Sans JP" panose="020B0200000000000000" pitchFamily="34" charset="-128"/>
            </a:endParaRPr>
          </a:p>
          <a:p>
            <a:pPr lvl="1"/>
            <a:r>
              <a:rPr lang="ja-JP" altLang="en-US" sz="2000">
                <a:latin typeface="Noto Sans JP" panose="020B0200000000000000" pitchFamily="34" charset="-128"/>
                <a:ea typeface="Noto Sans JP" panose="020B0200000000000000" pitchFamily="34" charset="-128"/>
              </a:rPr>
              <a:t>医薬品・マーケティング（クーポンの配布やダイレクトメールの配信）・財政政策や金融政策・奨学金・学校や塾への通学など</a:t>
            </a:r>
            <a:endParaRPr lang="en-US" altLang="ja-JP" sz="2000" dirty="0">
              <a:latin typeface="Noto Sans JP" panose="020B0200000000000000" pitchFamily="34" charset="-128"/>
              <a:ea typeface="Noto Sans JP" panose="020B0200000000000000" pitchFamily="34" charset="-128"/>
            </a:endParaRPr>
          </a:p>
          <a:p>
            <a:pPr lvl="1"/>
            <a:endParaRPr lang="en-US" altLang="ja-JP" sz="800" dirty="0">
              <a:latin typeface="Noto Sans JP" panose="020B0200000000000000" pitchFamily="34" charset="-128"/>
              <a:ea typeface="Noto Sans JP" panose="020B0200000000000000" pitchFamily="34" charset="-128"/>
            </a:endParaRPr>
          </a:p>
          <a:p>
            <a:r>
              <a:rPr lang="ja-JP" altLang="en-US" sz="2000">
                <a:latin typeface="Noto Sans JP" panose="020B0200000000000000" pitchFamily="34" charset="-128"/>
                <a:ea typeface="Noto Sans JP" panose="020B0200000000000000" pitchFamily="34" charset="-128"/>
              </a:rPr>
              <a:t>行動の（学術的・分野的な）呼び方</a:t>
            </a:r>
            <a:endParaRPr lang="en-US" altLang="ja-JP" sz="2000" dirty="0">
              <a:latin typeface="Noto Sans JP" panose="020B0200000000000000" pitchFamily="34" charset="-128"/>
              <a:ea typeface="Noto Sans JP" panose="020B0200000000000000" pitchFamily="34" charset="-128"/>
            </a:endParaRPr>
          </a:p>
          <a:p>
            <a:pPr lvl="1"/>
            <a:r>
              <a:rPr lang="ja-JP" altLang="en-US" sz="2000" b="1">
                <a:latin typeface="Noto Sans JP" panose="020B0200000000000000" pitchFamily="34" charset="-128"/>
                <a:ea typeface="Noto Sans JP" panose="020B0200000000000000" pitchFamily="34" charset="-128"/>
              </a:rPr>
              <a:t>トリートメント</a:t>
            </a:r>
            <a:r>
              <a:rPr lang="ja-JP" altLang="en-US" sz="2000">
                <a:latin typeface="Noto Sans JP" panose="020B0200000000000000" pitchFamily="34" charset="-128"/>
                <a:ea typeface="Noto Sans JP" panose="020B0200000000000000" pitchFamily="34" charset="-128"/>
              </a:rPr>
              <a:t>（</a:t>
            </a:r>
            <a:r>
              <a:rPr lang="en-US" altLang="ja-JP" sz="2000" dirty="0">
                <a:latin typeface="Noto Sans JP" panose="020B0200000000000000" pitchFamily="34" charset="-128"/>
                <a:ea typeface="Noto Sans JP" panose="020B0200000000000000" pitchFamily="34" charset="-128"/>
              </a:rPr>
              <a:t>Treatment</a:t>
            </a:r>
            <a:r>
              <a:rPr lang="ja-JP" altLang="en-US" sz="2000">
                <a:latin typeface="Noto Sans JP" panose="020B0200000000000000" pitchFamily="34" charset="-128"/>
                <a:ea typeface="Noto Sans JP" panose="020B0200000000000000" pitchFamily="34" charset="-128"/>
              </a:rPr>
              <a:t>）</a:t>
            </a:r>
            <a:endParaRPr lang="en-US" altLang="ja-JP" sz="2000" dirty="0">
              <a:latin typeface="Noto Sans JP" panose="020B0200000000000000" pitchFamily="34" charset="-128"/>
              <a:ea typeface="Noto Sans JP" panose="020B0200000000000000" pitchFamily="34" charset="-128"/>
            </a:endParaRPr>
          </a:p>
          <a:p>
            <a:pPr lvl="2"/>
            <a:r>
              <a:rPr lang="ja-JP" altLang="en-US" sz="2000">
                <a:latin typeface="Noto Sans JP" panose="020B0200000000000000" pitchFamily="34" charset="-128"/>
                <a:ea typeface="Noto Sans JP" panose="020B0200000000000000" pitchFamily="34" charset="-128"/>
              </a:rPr>
              <a:t>施策・処置などと訳される</a:t>
            </a:r>
            <a:endParaRPr lang="en-US" altLang="ja-JP" sz="2000" dirty="0">
              <a:latin typeface="Noto Sans JP" panose="020B0200000000000000" pitchFamily="34" charset="-128"/>
              <a:ea typeface="Noto Sans JP" panose="020B0200000000000000" pitchFamily="34" charset="-128"/>
            </a:endParaRPr>
          </a:p>
          <a:p>
            <a:pPr lvl="2"/>
            <a:r>
              <a:rPr lang="ja-JP" altLang="en-US" sz="2000">
                <a:latin typeface="Noto Sans JP" panose="020B0200000000000000" pitchFamily="34" charset="-128"/>
                <a:ea typeface="Noto Sans JP" panose="020B0200000000000000" pitchFamily="34" charset="-128"/>
              </a:rPr>
              <a:t>因果推論ではもっとも一般的</a:t>
            </a:r>
            <a:endParaRPr lang="en-US" altLang="ja-JP" sz="2000" dirty="0">
              <a:latin typeface="Noto Sans JP" panose="020B0200000000000000" pitchFamily="34" charset="-128"/>
              <a:ea typeface="Noto Sans JP" panose="020B0200000000000000" pitchFamily="34" charset="-128"/>
            </a:endParaRPr>
          </a:p>
          <a:p>
            <a:pPr lvl="1"/>
            <a:r>
              <a:rPr lang="ja-JP" altLang="en-US" sz="2000" b="1">
                <a:latin typeface="Noto Sans JP" panose="020B0200000000000000" pitchFamily="34" charset="-128"/>
                <a:ea typeface="Noto Sans JP" panose="020B0200000000000000" pitchFamily="34" charset="-128"/>
              </a:rPr>
              <a:t>ポリシー</a:t>
            </a:r>
            <a:r>
              <a:rPr lang="ja-JP" altLang="en-US" sz="2000">
                <a:latin typeface="Noto Sans JP" panose="020B0200000000000000" pitchFamily="34" charset="-128"/>
                <a:ea typeface="Noto Sans JP" panose="020B0200000000000000" pitchFamily="34" charset="-128"/>
              </a:rPr>
              <a:t>（</a:t>
            </a:r>
            <a:r>
              <a:rPr lang="en-US" altLang="ja-JP" sz="2000" dirty="0">
                <a:latin typeface="Noto Sans JP" panose="020B0200000000000000" pitchFamily="34" charset="-128"/>
                <a:ea typeface="Noto Sans JP" panose="020B0200000000000000" pitchFamily="34" charset="-128"/>
              </a:rPr>
              <a:t>Policy</a:t>
            </a:r>
            <a:r>
              <a:rPr lang="ja-JP" altLang="en-US" sz="2000">
                <a:latin typeface="Noto Sans JP" panose="020B0200000000000000" pitchFamily="34" charset="-128"/>
                <a:ea typeface="Noto Sans JP" panose="020B0200000000000000" pitchFamily="34" charset="-128"/>
              </a:rPr>
              <a:t>）</a:t>
            </a:r>
            <a:endParaRPr lang="en-US" altLang="ja-JP" sz="2000" dirty="0">
              <a:latin typeface="Noto Sans JP" panose="020B0200000000000000" pitchFamily="34" charset="-128"/>
              <a:ea typeface="Noto Sans JP" panose="020B0200000000000000" pitchFamily="34" charset="-128"/>
            </a:endParaRPr>
          </a:p>
          <a:p>
            <a:pPr lvl="2"/>
            <a:r>
              <a:rPr lang="ja-JP" altLang="en-US" sz="2000">
                <a:latin typeface="Noto Sans JP" panose="020B0200000000000000" pitchFamily="34" charset="-128"/>
                <a:ea typeface="Noto Sans JP" panose="020B0200000000000000" pitchFamily="34" charset="-128"/>
              </a:rPr>
              <a:t>方策・政策などと訳される</a:t>
            </a:r>
            <a:endParaRPr lang="en-US" altLang="ja-JP" sz="2000" dirty="0">
              <a:latin typeface="Noto Sans JP" panose="020B0200000000000000" pitchFamily="34" charset="-128"/>
              <a:ea typeface="Noto Sans JP" panose="020B0200000000000000" pitchFamily="34" charset="-128"/>
            </a:endParaRPr>
          </a:p>
          <a:p>
            <a:pPr lvl="2"/>
            <a:r>
              <a:rPr lang="ja-JP" altLang="en-US" sz="2000">
                <a:latin typeface="Noto Sans JP" panose="020B0200000000000000" pitchFamily="34" charset="-128"/>
                <a:ea typeface="Noto Sans JP" panose="020B0200000000000000" pitchFamily="34" charset="-128"/>
              </a:rPr>
              <a:t>機械学習系の因果推論や強化学習系の文脈でよく用いられる</a:t>
            </a:r>
            <a:endParaRPr lang="en-US" altLang="ja-JP" sz="2000" dirty="0">
              <a:latin typeface="Noto Sans JP" panose="020B0200000000000000" pitchFamily="34" charset="-128"/>
              <a:ea typeface="Noto Sans JP" panose="020B0200000000000000" pitchFamily="34" charset="-128"/>
            </a:endParaRPr>
          </a:p>
          <a:p>
            <a:pPr lvl="1"/>
            <a:r>
              <a:rPr lang="ja-JP" altLang="en-US" sz="2000">
                <a:latin typeface="Noto Sans JP" panose="020B0200000000000000" pitchFamily="34" charset="-128"/>
                <a:ea typeface="Noto Sans JP" panose="020B0200000000000000" pitchFamily="34" charset="-128"/>
              </a:rPr>
              <a:t>アーム（</a:t>
            </a:r>
            <a:r>
              <a:rPr lang="en-US" altLang="ja-JP" sz="2000" dirty="0">
                <a:latin typeface="Noto Sans JP" panose="020B0200000000000000" pitchFamily="34" charset="-128"/>
                <a:ea typeface="Noto Sans JP" panose="020B0200000000000000" pitchFamily="34" charset="-128"/>
              </a:rPr>
              <a:t>Arm</a:t>
            </a:r>
            <a:r>
              <a:rPr lang="ja-JP" altLang="en-US" sz="2000">
                <a:latin typeface="Noto Sans JP" panose="020B0200000000000000" pitchFamily="34" charset="-128"/>
                <a:ea typeface="Noto Sans JP" panose="020B0200000000000000" pitchFamily="34" charset="-128"/>
              </a:rPr>
              <a:t>）</a:t>
            </a:r>
            <a:endParaRPr lang="en-US" altLang="ja-JP" sz="2000" dirty="0">
              <a:latin typeface="Noto Sans JP" panose="020B0200000000000000" pitchFamily="34" charset="-128"/>
              <a:ea typeface="Noto Sans JP" panose="020B0200000000000000" pitchFamily="34" charset="-128"/>
            </a:endParaRPr>
          </a:p>
          <a:p>
            <a:pPr lvl="2"/>
            <a:r>
              <a:rPr lang="ja-JP" altLang="en-US" sz="2000">
                <a:latin typeface="Noto Sans JP" panose="020B0200000000000000" pitchFamily="34" charset="-128"/>
                <a:ea typeface="Noto Sans JP" panose="020B0200000000000000" pitchFamily="34" charset="-128"/>
              </a:rPr>
              <a:t>腕と訳される</a:t>
            </a:r>
            <a:endParaRPr lang="en-US" altLang="ja-JP" sz="2000" dirty="0">
              <a:latin typeface="Noto Sans JP" panose="020B0200000000000000" pitchFamily="34" charset="-128"/>
              <a:ea typeface="Noto Sans JP" panose="020B0200000000000000" pitchFamily="34" charset="-128"/>
            </a:endParaRPr>
          </a:p>
          <a:p>
            <a:pPr lvl="2"/>
            <a:r>
              <a:rPr lang="ja-JP" altLang="en-US" sz="2000">
                <a:latin typeface="Noto Sans JP" panose="020B0200000000000000" pitchFamily="34" charset="-128"/>
                <a:ea typeface="Noto Sans JP" panose="020B0200000000000000" pitchFamily="34" charset="-128"/>
              </a:rPr>
              <a:t>バンディット問題や広告最適化で用いられる</a:t>
            </a:r>
            <a:endParaRPr lang="en-US" altLang="ja-JP" sz="2000" dirty="0">
              <a:latin typeface="Noto Sans JP" panose="020B0200000000000000" pitchFamily="34" charset="-128"/>
              <a:ea typeface="Noto Sans JP" panose="020B0200000000000000" pitchFamily="34" charset="-128"/>
            </a:endParaRPr>
          </a:p>
          <a:p>
            <a:endParaRPr lang="en-US" altLang="ja-JP" sz="800" dirty="0">
              <a:latin typeface="Noto Sans JP" panose="020B0200000000000000" pitchFamily="34" charset="-128"/>
              <a:ea typeface="Noto Sans JP" panose="020B0200000000000000" pitchFamily="34" charset="-128"/>
            </a:endParaRPr>
          </a:p>
          <a:p>
            <a:r>
              <a:rPr lang="ja-JP" altLang="en-US" sz="2000"/>
              <a:t>本スライド</a:t>
            </a:r>
            <a:r>
              <a:rPr lang="ja-JP" altLang="en-US" sz="2000">
                <a:latin typeface="Noto Sans JP" panose="020B0200000000000000" pitchFamily="34" charset="-128"/>
                <a:ea typeface="Noto Sans JP" panose="020B0200000000000000" pitchFamily="34" charset="-128"/>
              </a:rPr>
              <a:t>では行動を</a:t>
            </a:r>
            <a:r>
              <a:rPr lang="ja-JP" altLang="en-US" sz="2000" b="1">
                <a:solidFill>
                  <a:srgbClr val="FF0000"/>
                </a:solidFill>
                <a:latin typeface="Noto Sans JP" panose="020B0200000000000000" pitchFamily="34" charset="-128"/>
                <a:ea typeface="Noto Sans JP" panose="020B0200000000000000" pitchFamily="34" charset="-128"/>
              </a:rPr>
              <a:t>処置</a:t>
            </a:r>
            <a:r>
              <a:rPr lang="ja-JP" altLang="en-US" sz="2000">
                <a:latin typeface="Noto Sans JP" panose="020B0200000000000000" pitchFamily="34" charset="-128"/>
                <a:ea typeface="Noto Sans JP" panose="020B0200000000000000" pitchFamily="34" charset="-128"/>
              </a:rPr>
              <a:t>と呼ぶことにする</a:t>
            </a:r>
          </a:p>
          <a:p>
            <a:endParaRPr kumimoji="1" lang="en-US" altLang="ja-JP" sz="2000" dirty="0">
              <a:latin typeface="Noto Sans JP" panose="020B0200000000000000" pitchFamily="34" charset="-128"/>
              <a:ea typeface="Noto Sans JP" panose="020B0200000000000000" pitchFamily="34" charset="-128"/>
            </a:endParaRPr>
          </a:p>
          <a:p>
            <a:endParaRPr kumimoji="1" lang="ja-JP" altLang="en-US" sz="2000">
              <a:latin typeface="Noto Sans JP" panose="020B0200000000000000" pitchFamily="34" charset="-128"/>
              <a:ea typeface="Noto Sans JP" panose="020B0200000000000000" pitchFamily="34" charset="-128"/>
            </a:endParaRPr>
          </a:p>
        </p:txBody>
      </p:sp>
    </p:spTree>
    <p:extLst>
      <p:ext uri="{BB962C8B-B14F-4D97-AF65-F5344CB8AC3E}">
        <p14:creationId xmlns:p14="http://schemas.microsoft.com/office/powerpoint/2010/main" val="17615532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A8D0C-1B16-C181-D3FC-67BE9C9FF69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CB313B8-0EBC-7523-AD68-BFE9DB938977}"/>
              </a:ext>
            </a:extLst>
          </p:cNvPr>
          <p:cNvSpPr>
            <a:spLocks noGrp="1"/>
          </p:cNvSpPr>
          <p:nvPr>
            <p:ph type="title"/>
          </p:nvPr>
        </p:nvSpPr>
        <p:spPr/>
        <p:txBody>
          <a:bodyPr/>
          <a:lstStyle/>
          <a:p>
            <a:r>
              <a:rPr lang="ja-JP" altLang="en-US"/>
              <a:t>平均処置効果</a:t>
            </a:r>
            <a:endParaRPr kumimoji="1" lang="ja-JP" altLang="en-US"/>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31D66874-CFA8-9E49-91DC-B43D8C9DA766}"/>
                  </a:ext>
                </a:extLst>
              </p:cNvPr>
              <p:cNvSpPr>
                <a:spLocks noGrp="1"/>
              </p:cNvSpPr>
              <p:nvPr>
                <p:ph idx="1"/>
              </p:nvPr>
            </p:nvSpPr>
            <p:spPr/>
            <p:txBody>
              <a:bodyPr>
                <a:normAutofit/>
              </a:bodyPr>
              <a:lstStyle/>
              <a:p>
                <a:r>
                  <a:rPr lang="ja-JP" altLang="en-US" sz="2000"/>
                  <a:t>二つの処置</a:t>
                </a:r>
                <a14:m>
                  <m:oMath xmlns:m="http://schemas.openxmlformats.org/officeDocument/2006/math">
                    <m:r>
                      <a:rPr lang="en-US" altLang="ja-JP" sz="2000" i="1">
                        <a:latin typeface="Cambria Math" panose="02040503050406030204" pitchFamily="18" charset="0"/>
                      </a:rPr>
                      <m:t>1</m:t>
                    </m:r>
                  </m:oMath>
                </a14:m>
                <a:r>
                  <a:rPr lang="ja-JP" altLang="en-US" sz="2000"/>
                  <a:t>と</a:t>
                </a:r>
                <a14:m>
                  <m:oMath xmlns:m="http://schemas.openxmlformats.org/officeDocument/2006/math">
                    <m:r>
                      <a:rPr lang="en-US" altLang="ja-JP" sz="2000" i="1">
                        <a:latin typeface="Cambria Math" panose="02040503050406030204" pitchFamily="18" charset="0"/>
                      </a:rPr>
                      <m:t>0</m:t>
                    </m:r>
                  </m:oMath>
                </a14:m>
                <a:r>
                  <a:rPr lang="ja-JP" altLang="en-US" sz="2000"/>
                  <a:t>を考える</a:t>
                </a:r>
                <a:endParaRPr lang="en-US" altLang="ja-JP" sz="2000" dirty="0"/>
              </a:p>
              <a:p>
                <a:pPr lvl="1"/>
                <a:r>
                  <a:rPr lang="ja-JP" altLang="en-US" sz="2000"/>
                  <a:t>処置</a:t>
                </a:r>
                <a14:m>
                  <m:oMath xmlns:m="http://schemas.openxmlformats.org/officeDocument/2006/math">
                    <m:r>
                      <a:rPr lang="en-US" altLang="ja-JP" sz="2000" i="1">
                        <a:latin typeface="Cambria Math" panose="02040503050406030204" pitchFamily="18" charset="0"/>
                      </a:rPr>
                      <m:t>1 </m:t>
                    </m:r>
                  </m:oMath>
                </a14:m>
                <a:r>
                  <a:rPr lang="ja-JP" altLang="en-US" sz="2000" dirty="0"/>
                  <a:t>：</a:t>
                </a:r>
                <a:r>
                  <a:rPr lang="en-US" altLang="ja-JP" sz="2000" dirty="0"/>
                  <a:t> </a:t>
                </a:r>
                <a:r>
                  <a:rPr lang="ja-JP" altLang="en-US" sz="2000"/>
                  <a:t>しばしば処置群と呼ばれる</a:t>
                </a:r>
                <a:endParaRPr lang="en-US" altLang="ja-JP" sz="2000" dirty="0"/>
              </a:p>
              <a:p>
                <a:pPr lvl="1"/>
                <a:r>
                  <a:rPr lang="ja-JP" altLang="en-US" sz="2000"/>
                  <a:t>処置</a:t>
                </a:r>
                <a14:m>
                  <m:oMath xmlns:m="http://schemas.openxmlformats.org/officeDocument/2006/math">
                    <m:r>
                      <a:rPr lang="en-US" altLang="ja-JP" sz="2000" i="1">
                        <a:latin typeface="Cambria Math" panose="02040503050406030204" pitchFamily="18" charset="0"/>
                      </a:rPr>
                      <m:t>0</m:t>
                    </m:r>
                  </m:oMath>
                </a14:m>
                <a:r>
                  <a:rPr lang="ja-JP" altLang="en-US" sz="2000"/>
                  <a:t> ：</a:t>
                </a:r>
                <a:r>
                  <a:rPr lang="en-US" altLang="ja-JP" sz="2000" dirty="0"/>
                  <a:t> </a:t>
                </a:r>
                <a:r>
                  <a:rPr lang="ja-JP" altLang="en-US" sz="2000"/>
                  <a:t>しばしば対照群と呼ばれる</a:t>
                </a:r>
                <a:endParaRPr lang="en-US" altLang="ja-JP" dirty="0">
                  <a:latin typeface="Noto Sans JP" panose="020B0200000000000000" pitchFamily="34" charset="-128"/>
                  <a:ea typeface="Noto Sans JP" panose="020B0200000000000000" pitchFamily="34" charset="-128"/>
                </a:endParaRPr>
              </a:p>
              <a:p>
                <a:pPr marL="0" indent="0">
                  <a:buNone/>
                </a:pPr>
                <a:endParaRPr lang="en-US" altLang="ja-JP" sz="800" dirty="0"/>
              </a:p>
              <a:p>
                <a:r>
                  <a:rPr lang="ja-JP" altLang="en-US" sz="2000" b="1"/>
                  <a:t>関心：</a:t>
                </a:r>
                <a:endParaRPr lang="en-US" altLang="ja-JP" sz="2000" b="1" dirty="0">
                  <a:latin typeface="Noto Sans JP" panose="020B0200000000000000" pitchFamily="34" charset="-128"/>
                  <a:ea typeface="Noto Sans JP" panose="020B0200000000000000" pitchFamily="34" charset="-128"/>
                </a:endParaRPr>
              </a:p>
              <a:p>
                <a:pPr marL="0" indent="0" algn="ctr">
                  <a:buNone/>
                </a:pPr>
                <a:r>
                  <a:rPr lang="ja-JP" altLang="en-US" sz="2000">
                    <a:latin typeface="Noto Sans JP" panose="020B0200000000000000" pitchFamily="34" charset="-128"/>
                    <a:ea typeface="Noto Sans JP" panose="020B0200000000000000" pitchFamily="34" charset="-128"/>
                  </a:rPr>
                  <a:t>新しい薬は以前の薬と比べてどのぐらい効果があるか</a:t>
                </a:r>
                <a:endParaRPr lang="en-US" altLang="ja-JP" sz="2000" dirty="0">
                  <a:latin typeface="Noto Sans JP" panose="020B0200000000000000" pitchFamily="34" charset="-128"/>
                  <a:ea typeface="Noto Sans JP" panose="020B0200000000000000" pitchFamily="34" charset="-128"/>
                </a:endParaRPr>
              </a:p>
              <a:p>
                <a:pPr marL="457200" lvl="1" indent="0">
                  <a:buNone/>
                </a:pPr>
                <a:endParaRPr lang="en-US" altLang="ja-JP" sz="800" dirty="0">
                  <a:latin typeface="Noto Sans JP" panose="020B0200000000000000" pitchFamily="34" charset="-128"/>
                  <a:ea typeface="Noto Sans JP" panose="020B0200000000000000" pitchFamily="34" charset="-128"/>
                </a:endParaRPr>
              </a:p>
              <a:p>
                <a:pPr marL="457200" lvl="1" indent="0">
                  <a:buNone/>
                </a:pPr>
                <a:r>
                  <a:rPr lang="ja-JP" altLang="en-US" sz="2000">
                    <a:latin typeface="Noto Sans JP" panose="020B0200000000000000" pitchFamily="34" charset="-128"/>
                    <a:ea typeface="Noto Sans JP" panose="020B0200000000000000" pitchFamily="34" charset="-128"/>
                  </a:rPr>
                  <a:t>のように</a:t>
                </a:r>
                <a:r>
                  <a:rPr lang="ja-JP" altLang="en-US" sz="2000" b="1">
                    <a:latin typeface="Noto Sans JP" panose="020B0200000000000000" pitchFamily="34" charset="-128"/>
                    <a:ea typeface="Noto Sans JP" panose="020B0200000000000000" pitchFamily="34" charset="-128"/>
                  </a:rPr>
                  <a:t>２種類の</a:t>
                </a:r>
                <a:r>
                  <a:rPr lang="ja-JP" altLang="en-US" sz="2000" b="1"/>
                  <a:t>処置</a:t>
                </a:r>
                <a:r>
                  <a:rPr lang="ja-JP" altLang="en-US" sz="2000" b="1">
                    <a:latin typeface="Noto Sans JP" panose="020B0200000000000000" pitchFamily="34" charset="-128"/>
                    <a:ea typeface="Noto Sans JP" panose="020B0200000000000000" pitchFamily="34" charset="-128"/>
                  </a:rPr>
                  <a:t>の効果の違い</a:t>
                </a:r>
                <a:r>
                  <a:rPr lang="ja-JP" altLang="en-US" sz="2000">
                    <a:latin typeface="Noto Sans JP" panose="020B0200000000000000" pitchFamily="34" charset="-128"/>
                    <a:ea typeface="Noto Sans JP" panose="020B0200000000000000" pitchFamily="34" charset="-128"/>
                  </a:rPr>
                  <a:t>に関心がある</a:t>
                </a:r>
                <a:endParaRPr lang="en-US" altLang="ja-JP" sz="2000" dirty="0">
                  <a:latin typeface="Noto Sans JP" panose="020B0200000000000000" pitchFamily="34" charset="-128"/>
                  <a:ea typeface="Noto Sans JP" panose="020B0200000000000000" pitchFamily="34" charset="-128"/>
                </a:endParaRPr>
              </a:p>
              <a:p>
                <a:pPr marL="457200" lvl="1" indent="0">
                  <a:buNone/>
                </a:pPr>
                <a:endParaRPr lang="en-US" altLang="ja-JP" sz="800" dirty="0">
                  <a:latin typeface="Noto Sans JP" panose="020B0200000000000000" pitchFamily="34" charset="-128"/>
                  <a:ea typeface="Noto Sans JP" panose="020B0200000000000000" pitchFamily="34" charset="-128"/>
                </a:endParaRPr>
              </a:p>
              <a:p>
                <a:r>
                  <a:rPr lang="ja-JP" altLang="en-US" sz="2000" b="1">
                    <a:latin typeface="Noto Sans JP" panose="020B0200000000000000" pitchFamily="34" charset="-128"/>
                    <a:ea typeface="Noto Sans JP" panose="020B0200000000000000" pitchFamily="34" charset="-128"/>
                  </a:rPr>
                  <a:t>目標：</a:t>
                </a:r>
                <a:endParaRPr lang="en-US" altLang="ja-JP" sz="2000" b="1" dirty="0">
                  <a:latin typeface="Noto Sans JP" panose="020B0200000000000000" pitchFamily="34" charset="-128"/>
                  <a:ea typeface="Noto Sans JP" panose="020B0200000000000000" pitchFamily="34" charset="-128"/>
                </a:endParaRPr>
              </a:p>
              <a:p>
                <a:pPr lvl="1"/>
                <a:r>
                  <a:rPr lang="ja-JP" altLang="en-US" sz="2000">
                    <a:latin typeface="Noto Sans JP" panose="020B0200000000000000" pitchFamily="34" charset="-128"/>
                    <a:ea typeface="Noto Sans JP" panose="020B0200000000000000" pitchFamily="34" charset="-128"/>
                  </a:rPr>
                  <a:t>二つの処置のそれぞれによって得られる結果（アウトカム）の比較</a:t>
                </a:r>
                <a:br>
                  <a:rPr lang="en-US" altLang="ja-JP" sz="2000" dirty="0">
                    <a:latin typeface="Noto Sans JP" panose="020B0200000000000000" pitchFamily="34" charset="-128"/>
                    <a:ea typeface="Noto Sans JP" panose="020B0200000000000000" pitchFamily="34" charset="-128"/>
                  </a:rPr>
                </a:br>
                <a:r>
                  <a:rPr lang="ja-JP" altLang="en-US" sz="2000">
                    <a:latin typeface="Noto Sans JP" panose="020B0200000000000000" pitchFamily="34" charset="-128"/>
                    <a:ea typeface="Noto Sans JP" panose="020B0200000000000000" pitchFamily="34" charset="-128"/>
                  </a:rPr>
                  <a:t>＝</a:t>
                </a:r>
                <a:r>
                  <a:rPr lang="en-US" altLang="ja-JP" sz="2000" dirty="0">
                    <a:latin typeface="Noto Sans JP" panose="020B0200000000000000" pitchFamily="34" charset="-128"/>
                    <a:ea typeface="Noto Sans JP" panose="020B0200000000000000" pitchFamily="34" charset="-128"/>
                  </a:rPr>
                  <a:t> </a:t>
                </a:r>
                <a:r>
                  <a:rPr lang="ja-JP" altLang="en-US" sz="2000">
                    <a:solidFill>
                      <a:srgbClr val="FF0000"/>
                    </a:solidFill>
                    <a:latin typeface="Noto Sans JP" panose="020B0200000000000000" pitchFamily="34" charset="-128"/>
                    <a:ea typeface="Noto Sans JP" panose="020B0200000000000000" pitchFamily="34" charset="-128"/>
                  </a:rPr>
                  <a:t>処置効果の推定</a:t>
                </a:r>
                <a:endParaRPr lang="en-US" altLang="ja-JP" sz="2000" dirty="0">
                  <a:solidFill>
                    <a:srgbClr val="FF0000"/>
                  </a:solidFill>
                  <a:latin typeface="Noto Sans JP" panose="020B0200000000000000" pitchFamily="34" charset="-128"/>
                  <a:ea typeface="Noto Sans JP" panose="020B0200000000000000" pitchFamily="34" charset="-128"/>
                </a:endParaRPr>
              </a:p>
              <a:p>
                <a:pPr lvl="1"/>
                <a:endParaRPr lang="en-US" altLang="ja-JP" sz="900" dirty="0">
                  <a:solidFill>
                    <a:srgbClr val="FF0000"/>
                  </a:solidFill>
                </a:endParaRPr>
              </a:p>
              <a:p>
                <a:pPr marL="397800" lvl="1" indent="0">
                  <a:buNone/>
                </a:pPr>
                <a:r>
                  <a:rPr lang="ja-JP" altLang="en-US" sz="2000">
                    <a:latin typeface="Noto Sans JP" panose="020B0200000000000000" pitchFamily="34" charset="-128"/>
                    <a:ea typeface="Noto Sans JP" panose="020B0200000000000000" pitchFamily="34" charset="-128"/>
                  </a:rPr>
                  <a:t>（例</a:t>
                </a:r>
                <a:r>
                  <a:rPr lang="en-US" altLang="ja-JP" sz="2000" dirty="0">
                    <a:latin typeface="Noto Sans JP" panose="020B0200000000000000" pitchFamily="34" charset="-128"/>
                    <a:ea typeface="Noto Sans JP" panose="020B0200000000000000" pitchFamily="34" charset="-128"/>
                  </a:rPr>
                  <a:t>1</a:t>
                </a:r>
                <a:r>
                  <a:rPr lang="ja-JP" altLang="en-US" sz="2000">
                    <a:latin typeface="Noto Sans JP" panose="020B0200000000000000" pitchFamily="34" charset="-128"/>
                    <a:ea typeface="Noto Sans JP" panose="020B0200000000000000" pitchFamily="34" charset="-128"/>
                  </a:rPr>
                  <a:t>）</a:t>
                </a:r>
                <a:br>
                  <a:rPr lang="en-US" altLang="ja-JP" sz="2000" dirty="0">
                    <a:latin typeface="Noto Sans JP" panose="020B0200000000000000" pitchFamily="34" charset="-128"/>
                    <a:ea typeface="Noto Sans JP" panose="020B0200000000000000" pitchFamily="34" charset="-128"/>
                  </a:rPr>
                </a:br>
                <a:r>
                  <a:rPr lang="ja-JP" altLang="en-US" sz="2000">
                    <a:latin typeface="Noto Sans JP" panose="020B0200000000000000" pitchFamily="34" charset="-128"/>
                    <a:ea typeface="Noto Sans JP" panose="020B0200000000000000" pitchFamily="34" charset="-128"/>
                  </a:rPr>
                  <a:t>クーポン配信</a:t>
                </a:r>
                <a:r>
                  <a:rPr lang="ja-JP" altLang="en-US" sz="2000"/>
                  <a:t>の有無で、</a:t>
                </a:r>
                <a:r>
                  <a:rPr lang="ja-JP" altLang="en-US" sz="2000">
                    <a:latin typeface="Noto Sans JP" panose="020B0200000000000000" pitchFamily="34" charset="-128"/>
                    <a:ea typeface="Noto Sans JP" panose="020B0200000000000000" pitchFamily="34" charset="-128"/>
                  </a:rPr>
                  <a:t>どの程度売り上げが増加するか</a:t>
                </a:r>
                <a:br>
                  <a:rPr lang="en-US" altLang="ja-JP" sz="2000" dirty="0"/>
                </a:br>
                <a:r>
                  <a:rPr lang="ja-JP" altLang="en-US" sz="2000">
                    <a:latin typeface="Noto Sans JP" panose="020B0200000000000000" pitchFamily="34" charset="-128"/>
                    <a:ea typeface="Noto Sans JP" panose="020B0200000000000000" pitchFamily="34" charset="-128"/>
                  </a:rPr>
                  <a:t>（例２）</a:t>
                </a:r>
                <a:br>
                  <a:rPr lang="en-US" altLang="ja-JP" sz="2000" dirty="0">
                    <a:latin typeface="Noto Sans JP" panose="020B0200000000000000" pitchFamily="34" charset="-128"/>
                    <a:ea typeface="Noto Sans JP" panose="020B0200000000000000" pitchFamily="34" charset="-128"/>
                  </a:rPr>
                </a:br>
                <a:r>
                  <a:rPr lang="ja-JP" altLang="en-US" sz="2000">
                    <a:latin typeface="Noto Sans JP" panose="020B0200000000000000" pitchFamily="34" charset="-128"/>
                    <a:ea typeface="Noto Sans JP" panose="020B0200000000000000" pitchFamily="34" charset="-128"/>
                  </a:rPr>
                  <a:t>新薬とプラシーボ（偽薬）をそれぞれ投与した場合の治療効果の差</a:t>
                </a:r>
                <a:endParaRPr lang="en-US" altLang="ja-JP" sz="2000" dirty="0">
                  <a:latin typeface="Noto Sans JP" panose="020B0200000000000000" pitchFamily="34" charset="-128"/>
                  <a:ea typeface="Noto Sans JP" panose="020B0200000000000000" pitchFamily="34" charset="-128"/>
                </a:endParaRPr>
              </a:p>
              <a:p>
                <a:endParaRPr lang="en-US" altLang="ja-JP" sz="800" dirty="0"/>
              </a:p>
            </p:txBody>
          </p:sp>
        </mc:Choice>
        <mc:Fallback>
          <p:sp>
            <p:nvSpPr>
              <p:cNvPr id="3" name="コンテンツ プレースホルダー 2">
                <a:extLst>
                  <a:ext uri="{FF2B5EF4-FFF2-40B4-BE49-F238E27FC236}">
                    <a16:creationId xmlns:a16="http://schemas.microsoft.com/office/drawing/2014/main" id="{31D66874-CFA8-9E49-91DC-B43D8C9DA766}"/>
                  </a:ext>
                </a:extLst>
              </p:cNvPr>
              <p:cNvSpPr>
                <a:spLocks noGrp="1" noRot="1" noChangeAspect="1" noMove="1" noResize="1" noEditPoints="1" noAdjustHandles="1" noChangeArrowheads="1" noChangeShapeType="1" noTextEdit="1"/>
              </p:cNvSpPr>
              <p:nvPr>
                <p:ph idx="1"/>
              </p:nvPr>
            </p:nvSpPr>
            <p:spPr>
              <a:blipFill>
                <a:blip r:embed="rId2"/>
                <a:stretch>
                  <a:fillRect l="-603" t="-709"/>
                </a:stretch>
              </a:blipFill>
            </p:spPr>
            <p:txBody>
              <a:bodyPr/>
              <a:lstStyle/>
              <a:p>
                <a:r>
                  <a:rPr lang="ja-JP" altLang="en-US">
                    <a:noFill/>
                  </a:rPr>
                  <a:t> </a:t>
                </a:r>
              </a:p>
            </p:txBody>
          </p:sp>
        </mc:Fallback>
      </mc:AlternateContent>
      <p:sp>
        <p:nvSpPr>
          <p:cNvPr id="4" name="正方形/長方形 3">
            <a:extLst>
              <a:ext uri="{FF2B5EF4-FFF2-40B4-BE49-F238E27FC236}">
                <a16:creationId xmlns:a16="http://schemas.microsoft.com/office/drawing/2014/main" id="{835B2AB8-077D-FE38-9806-1428E3290DFA}"/>
              </a:ext>
            </a:extLst>
          </p:cNvPr>
          <p:cNvSpPr/>
          <p:nvPr/>
        </p:nvSpPr>
        <p:spPr>
          <a:xfrm>
            <a:off x="2932386" y="2601054"/>
            <a:ext cx="6253655" cy="4125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428676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D85FA-5F6E-D8F8-DA0A-3E734EF4986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98CFDD4-75B5-8464-CC08-AFD1F2EFE7BE}"/>
              </a:ext>
            </a:extLst>
          </p:cNvPr>
          <p:cNvSpPr>
            <a:spLocks noGrp="1"/>
          </p:cNvSpPr>
          <p:nvPr>
            <p:ph type="title"/>
          </p:nvPr>
        </p:nvSpPr>
        <p:spPr/>
        <p:txBody>
          <a:bodyPr>
            <a:normAutofit/>
          </a:bodyPr>
          <a:lstStyle/>
          <a:p>
            <a:r>
              <a:rPr kumimoji="1" lang="ja-JP" altLang="en-US"/>
              <a:t>個別的処置効果</a:t>
            </a:r>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6D074396-829D-1463-C7B5-2D1C8DA3C6C9}"/>
                  </a:ext>
                </a:extLst>
              </p:cNvPr>
              <p:cNvSpPr>
                <a:spLocks noGrp="1"/>
              </p:cNvSpPr>
              <p:nvPr>
                <p:ph idx="1"/>
              </p:nvPr>
            </p:nvSpPr>
            <p:spPr/>
            <p:txBody>
              <a:bodyPr>
                <a:normAutofit/>
              </a:bodyPr>
              <a:lstStyle/>
              <a:p>
                <a:r>
                  <a:rPr lang="ja-JP" altLang="en-US" sz="2000"/>
                  <a:t>潜在アウトカム</a:t>
                </a:r>
                <a:endParaRPr lang="en-US" altLang="ja-JP" sz="2000" dirty="0"/>
              </a:p>
              <a:p>
                <a:pPr lvl="1"/>
                <a:r>
                  <a:rPr lang="ja-JP" altLang="en-US" sz="2000"/>
                  <a:t>処置</a:t>
                </a:r>
                <a14:m>
                  <m:oMath xmlns:m="http://schemas.openxmlformats.org/officeDocument/2006/math">
                    <m:r>
                      <a:rPr lang="en-US" altLang="ja-JP" sz="2000" i="1">
                        <a:latin typeface="Cambria Math" panose="02040503050406030204" pitchFamily="18" charset="0"/>
                      </a:rPr>
                      <m:t>1</m:t>
                    </m:r>
                  </m:oMath>
                </a14:m>
                <a:r>
                  <a:rPr lang="ja-JP" altLang="en-US" sz="2000"/>
                  <a:t>を与えられたときのアウトカム（結果）を</a:t>
                </a:r>
                <a14:m>
                  <m:oMath xmlns:m="http://schemas.openxmlformats.org/officeDocument/2006/math">
                    <m:r>
                      <a:rPr lang="en-US" altLang="ja-JP" sz="2000" i="1">
                        <a:latin typeface="Cambria Math" panose="02040503050406030204" pitchFamily="18" charset="0"/>
                      </a:rPr>
                      <m:t>𝑌</m:t>
                    </m:r>
                    <m:r>
                      <a:rPr lang="en-US" altLang="ja-JP" sz="2000" i="1">
                        <a:latin typeface="Cambria Math" panose="02040503050406030204" pitchFamily="18" charset="0"/>
                      </a:rPr>
                      <m:t>(1)</m:t>
                    </m:r>
                  </m:oMath>
                </a14:m>
                <a:r>
                  <a:rPr lang="ja-JP" altLang="en-US" sz="2000"/>
                  <a:t>とする</a:t>
                </a:r>
                <a:endParaRPr lang="en-US" altLang="ja-JP" sz="2000" dirty="0"/>
              </a:p>
              <a:p>
                <a:pPr lvl="1"/>
                <a:r>
                  <a:rPr lang="ja-JP" altLang="en-US" sz="2000"/>
                  <a:t>処置</a:t>
                </a:r>
                <a14:m>
                  <m:oMath xmlns:m="http://schemas.openxmlformats.org/officeDocument/2006/math">
                    <m:r>
                      <a:rPr lang="en-US" altLang="ja-JP" sz="2000" i="1">
                        <a:latin typeface="Cambria Math" panose="02040503050406030204" pitchFamily="18" charset="0"/>
                      </a:rPr>
                      <m:t>0</m:t>
                    </m:r>
                  </m:oMath>
                </a14:m>
                <a:r>
                  <a:rPr lang="ja-JP" altLang="en-US" sz="2000"/>
                  <a:t>を与えられたときのアウトカム（結果）を</a:t>
                </a:r>
                <a14:m>
                  <m:oMath xmlns:m="http://schemas.openxmlformats.org/officeDocument/2006/math">
                    <m:r>
                      <a:rPr lang="en-US" altLang="ja-JP" sz="2000" i="1">
                        <a:latin typeface="Cambria Math" panose="02040503050406030204" pitchFamily="18" charset="0"/>
                      </a:rPr>
                      <m:t>𝑌</m:t>
                    </m:r>
                    <m:r>
                      <a:rPr lang="en-US" altLang="ja-JP" sz="2000" i="1">
                        <a:latin typeface="Cambria Math" panose="02040503050406030204" pitchFamily="18" charset="0"/>
                      </a:rPr>
                      <m:t>(0)</m:t>
                    </m:r>
                  </m:oMath>
                </a14:m>
                <a:r>
                  <a:rPr lang="ja-JP" altLang="en-US" sz="2000"/>
                  <a:t>とする</a:t>
                </a:r>
                <a:endParaRPr lang="en-US" altLang="ja-JP" sz="2000" dirty="0"/>
              </a:p>
              <a:p>
                <a:pPr lvl="1"/>
                <a:endParaRPr lang="en-US" altLang="ja-JP" sz="800" dirty="0"/>
              </a:p>
              <a:p>
                <a:r>
                  <a:rPr lang="ja-JP" altLang="en-US" sz="2000">
                    <a:latin typeface="Noto Sans JP" panose="020B0200000000000000" pitchFamily="34" charset="-128"/>
                    <a:ea typeface="Noto Sans JP" panose="020B0200000000000000" pitchFamily="34" charset="-128"/>
                  </a:rPr>
                  <a:t>同じ人は同時に２人存在しない</a:t>
                </a:r>
                <a:endParaRPr lang="en-US" altLang="ja-JP" sz="2000" dirty="0">
                  <a:latin typeface="Noto Sans JP" panose="020B0200000000000000" pitchFamily="34" charset="-128"/>
                  <a:ea typeface="Noto Sans JP" panose="020B0200000000000000" pitchFamily="34" charset="-128"/>
                </a:endParaRPr>
              </a:p>
              <a:p>
                <a:pPr marL="457200" lvl="1" indent="0">
                  <a:buNone/>
                </a:pPr>
                <a:r>
                  <a:rPr lang="ja-JP" altLang="en-US" sz="2000">
                    <a:latin typeface="Noto Sans JP" panose="020B0200000000000000" pitchFamily="34" charset="-128"/>
                    <a:ea typeface="Noto Sans JP" panose="020B0200000000000000" pitchFamily="34" charset="-128"/>
                  </a:rPr>
                  <a:t>＝個人ごとの処置効果（</a:t>
                </a:r>
                <a:r>
                  <a:rPr lang="en-US" altLang="ja-JP" sz="2000" dirty="0">
                    <a:latin typeface="Noto Sans JP" panose="020B0200000000000000" pitchFamily="34" charset="-128"/>
                    <a:ea typeface="Noto Sans JP" panose="020B0200000000000000" pitchFamily="34" charset="-128"/>
                  </a:rPr>
                  <a:t>individual treatment effect</a:t>
                </a:r>
                <a:r>
                  <a:rPr lang="ja-JP" altLang="en-US" sz="2000">
                    <a:latin typeface="Noto Sans JP" panose="020B0200000000000000" pitchFamily="34" charset="-128"/>
                    <a:ea typeface="Noto Sans JP" panose="020B0200000000000000" pitchFamily="34" charset="-128"/>
                  </a:rPr>
                  <a:t>）は観測できない</a:t>
                </a:r>
                <a:endParaRPr lang="en-US" altLang="ja-JP" sz="2000" dirty="0">
                  <a:latin typeface="Noto Sans JP" panose="020B0200000000000000" pitchFamily="34" charset="-128"/>
                  <a:ea typeface="Noto Sans JP" panose="020B0200000000000000" pitchFamily="34" charset="-128"/>
                </a:endParaRPr>
              </a:p>
              <a:p>
                <a:pPr marL="457200" lvl="1" indent="0">
                  <a:buNone/>
                </a:pPr>
                <a:endParaRPr lang="en-US" altLang="ja-JP" sz="2000" dirty="0">
                  <a:latin typeface="Noto Sans JP" panose="020B0200000000000000" pitchFamily="34" charset="-128"/>
                  <a:ea typeface="Noto Sans JP" panose="020B0200000000000000" pitchFamily="34" charset="-128"/>
                </a:endParaRPr>
              </a:p>
              <a:p>
                <a:pPr marL="457200" lvl="1" indent="0">
                  <a:buNone/>
                </a:pPr>
                <a:endParaRPr lang="en-US" altLang="ja-JP" sz="2000" dirty="0">
                  <a:latin typeface="Noto Sans JP" panose="020B0200000000000000" pitchFamily="34" charset="-128"/>
                  <a:ea typeface="Noto Sans JP" panose="020B0200000000000000" pitchFamily="34" charset="-128"/>
                </a:endParaRPr>
              </a:p>
              <a:p>
                <a:pPr marL="457200" lvl="1" indent="0">
                  <a:buNone/>
                </a:pPr>
                <a:endParaRPr lang="en-US" altLang="ja-JP" sz="2000" dirty="0">
                  <a:latin typeface="Noto Sans JP" panose="020B0200000000000000" pitchFamily="34" charset="-128"/>
                  <a:ea typeface="Noto Sans JP" panose="020B0200000000000000" pitchFamily="34" charset="-128"/>
                </a:endParaRPr>
              </a:p>
              <a:p>
                <a:pPr marL="457200" lvl="1" indent="0">
                  <a:buNone/>
                </a:pPr>
                <a:endParaRPr kumimoji="1" lang="ja-JP" altLang="en-US" sz="2000">
                  <a:latin typeface="Noto Sans JP" panose="020B0200000000000000" pitchFamily="34" charset="-128"/>
                  <a:ea typeface="Noto Sans JP" panose="020B0200000000000000" pitchFamily="34" charset="-128"/>
                </a:endParaRPr>
              </a:p>
            </p:txBody>
          </p:sp>
        </mc:Choice>
        <mc:Fallback>
          <p:sp>
            <p:nvSpPr>
              <p:cNvPr id="3" name="コンテンツ プレースホルダー 2">
                <a:extLst>
                  <a:ext uri="{FF2B5EF4-FFF2-40B4-BE49-F238E27FC236}">
                    <a16:creationId xmlns:a16="http://schemas.microsoft.com/office/drawing/2014/main" id="{6D074396-829D-1463-C7B5-2D1C8DA3C6C9}"/>
                  </a:ext>
                </a:extLst>
              </p:cNvPr>
              <p:cNvSpPr>
                <a:spLocks noGrp="1" noRot="1" noChangeAspect="1" noMove="1" noResize="1" noEditPoints="1" noAdjustHandles="1" noChangeArrowheads="1" noChangeShapeType="1" noTextEdit="1"/>
              </p:cNvSpPr>
              <p:nvPr>
                <p:ph idx="1"/>
              </p:nvPr>
            </p:nvSpPr>
            <p:spPr>
              <a:blipFill>
                <a:blip r:embed="rId2"/>
                <a:stretch>
                  <a:fillRect l="-603" t="-709"/>
                </a:stretch>
              </a:blipFill>
            </p:spPr>
            <p:txBody>
              <a:bodyPr/>
              <a:lstStyle/>
              <a:p>
                <a:r>
                  <a:rPr lang="ja-JP" altLang="en-US">
                    <a:noFill/>
                  </a:rPr>
                  <a:t> </a:t>
                </a:r>
              </a:p>
            </p:txBody>
          </p:sp>
        </mc:Fallback>
      </mc:AlternateContent>
      <p:cxnSp>
        <p:nvCxnSpPr>
          <p:cNvPr id="5" name="直線矢印コネクタ 4">
            <a:extLst>
              <a:ext uri="{FF2B5EF4-FFF2-40B4-BE49-F238E27FC236}">
                <a16:creationId xmlns:a16="http://schemas.microsoft.com/office/drawing/2014/main" id="{B1646035-DF8E-7CDF-78CE-2BC6D5C6C3DC}"/>
              </a:ext>
            </a:extLst>
          </p:cNvPr>
          <p:cNvCxnSpPr/>
          <p:nvPr/>
        </p:nvCxnSpPr>
        <p:spPr>
          <a:xfrm flipV="1">
            <a:off x="3972010" y="3558323"/>
            <a:ext cx="2717075" cy="1528354"/>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6" name="直線矢印コネクタ 5">
            <a:extLst>
              <a:ext uri="{FF2B5EF4-FFF2-40B4-BE49-F238E27FC236}">
                <a16:creationId xmlns:a16="http://schemas.microsoft.com/office/drawing/2014/main" id="{E7141556-E700-A0FB-1F5D-46E4DE40AC2B}"/>
              </a:ext>
            </a:extLst>
          </p:cNvPr>
          <p:cNvCxnSpPr>
            <a:cxnSpLocks/>
          </p:cNvCxnSpPr>
          <p:nvPr/>
        </p:nvCxnSpPr>
        <p:spPr>
          <a:xfrm>
            <a:off x="3972009" y="5060551"/>
            <a:ext cx="2717075" cy="1451252"/>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 name="テキスト ボックス 3">
                <a:extLst>
                  <a:ext uri="{FF2B5EF4-FFF2-40B4-BE49-F238E27FC236}">
                    <a16:creationId xmlns:a16="http://schemas.microsoft.com/office/drawing/2014/main" id="{59F64D50-89A2-BF06-6DE5-70D2EDE803E8}"/>
                  </a:ext>
                </a:extLst>
              </p:cNvPr>
              <p:cNvSpPr txBox="1"/>
              <p:nvPr/>
            </p:nvSpPr>
            <p:spPr>
              <a:xfrm>
                <a:off x="4257977" y="3117480"/>
                <a:ext cx="1210589" cy="707886"/>
              </a:xfrm>
              <a:prstGeom prst="rect">
                <a:avLst/>
              </a:prstGeom>
              <a:noFill/>
            </p:spPr>
            <p:txBody>
              <a:bodyPr wrap="none" rtlCol="0">
                <a:spAutoFit/>
              </a:bodyPr>
              <a:lstStyle/>
              <a:p>
                <a:pPr algn="ctr"/>
                <a:r>
                  <a:rPr lang="ja-JP" altLang="en-US" sz="2000">
                    <a:latin typeface="Noto Sans JP" panose="020B0200000000000000" pitchFamily="34" charset="-128"/>
                    <a:ea typeface="Noto Sans JP" panose="020B0200000000000000" pitchFamily="34" charset="-128"/>
                    <a:cs typeface="Calibri" panose="020F0502020204030204" pitchFamily="34" charset="0"/>
                  </a:rPr>
                  <a:t>処置</a:t>
                </a:r>
                <a14:m>
                  <m:oMath xmlns:m="http://schemas.openxmlformats.org/officeDocument/2006/math">
                    <m:r>
                      <a:rPr kumimoji="1" lang="en-US" altLang="ja-JP" sz="2000" b="0" i="1" smtClean="0">
                        <a:latin typeface="Cambria Math" panose="02040503050406030204" pitchFamily="18" charset="0"/>
                      </a:rPr>
                      <m:t>1</m:t>
                    </m:r>
                  </m:oMath>
                </a14:m>
                <a:endParaRPr lang="en-US" altLang="ja-JP" sz="2000" dirty="0">
                  <a:latin typeface="Noto Sans JP" panose="020B0200000000000000" pitchFamily="34" charset="-128"/>
                  <a:ea typeface="Noto Sans JP" panose="020B0200000000000000" pitchFamily="34" charset="-128"/>
                  <a:cs typeface="Calibri" panose="020F0502020204030204" pitchFamily="34" charset="0"/>
                </a:endParaRPr>
              </a:p>
              <a:p>
                <a:pPr algn="ctr"/>
                <a:r>
                  <a:rPr kumimoji="1" lang="ja-JP" altLang="en-US" sz="2000">
                    <a:latin typeface="Noto Sans JP" panose="020B0200000000000000" pitchFamily="34" charset="-128"/>
                    <a:ea typeface="Noto Sans JP" panose="020B0200000000000000" pitchFamily="34" charset="-128"/>
                    <a:cs typeface="Calibri" panose="020F0502020204030204" pitchFamily="34" charset="0"/>
                  </a:rPr>
                  <a:t>塾に通う</a:t>
                </a:r>
                <a:endParaRPr kumimoji="1" lang="en-US" altLang="ja-JP" sz="2000" dirty="0">
                  <a:latin typeface="Noto Sans JP" panose="020B0200000000000000" pitchFamily="34" charset="-128"/>
                  <a:ea typeface="Noto Sans JP" panose="020B0200000000000000" pitchFamily="34" charset="-128"/>
                  <a:cs typeface="Calibri" panose="020F0502020204030204" pitchFamily="34" charset="0"/>
                </a:endParaRPr>
              </a:p>
            </p:txBody>
          </p:sp>
        </mc:Choice>
        <mc:Fallback>
          <p:sp>
            <p:nvSpPr>
              <p:cNvPr id="4" name="テキスト ボックス 3">
                <a:extLst>
                  <a:ext uri="{FF2B5EF4-FFF2-40B4-BE49-F238E27FC236}">
                    <a16:creationId xmlns:a16="http://schemas.microsoft.com/office/drawing/2014/main" id="{59F64D50-89A2-BF06-6DE5-70D2EDE803E8}"/>
                  </a:ext>
                </a:extLst>
              </p:cNvPr>
              <p:cNvSpPr txBox="1">
                <a:spLocks noRot="1" noChangeAspect="1" noMove="1" noResize="1" noEditPoints="1" noAdjustHandles="1" noChangeArrowheads="1" noChangeShapeType="1" noTextEdit="1"/>
              </p:cNvSpPr>
              <p:nvPr/>
            </p:nvSpPr>
            <p:spPr>
              <a:xfrm>
                <a:off x="4257977" y="3117480"/>
                <a:ext cx="1210589" cy="707886"/>
              </a:xfrm>
              <a:prstGeom prst="rect">
                <a:avLst/>
              </a:prstGeom>
              <a:blipFill>
                <a:blip r:embed="rId3"/>
                <a:stretch>
                  <a:fillRect l="-5208" t="-5263" r="-5208" b="-14035"/>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8" name="テキスト ボックス 7">
                <a:extLst>
                  <a:ext uri="{FF2B5EF4-FFF2-40B4-BE49-F238E27FC236}">
                    <a16:creationId xmlns:a16="http://schemas.microsoft.com/office/drawing/2014/main" id="{3FE1AFD5-6844-0671-D503-A8A83CC6FF35}"/>
                  </a:ext>
                </a:extLst>
              </p:cNvPr>
              <p:cNvSpPr txBox="1"/>
              <p:nvPr/>
            </p:nvSpPr>
            <p:spPr>
              <a:xfrm>
                <a:off x="4001499" y="6150114"/>
                <a:ext cx="1723549" cy="707886"/>
              </a:xfrm>
              <a:prstGeom prst="rect">
                <a:avLst/>
              </a:prstGeom>
              <a:noFill/>
            </p:spPr>
            <p:txBody>
              <a:bodyPr wrap="none" rtlCol="0">
                <a:spAutoFit/>
              </a:bodyPr>
              <a:lstStyle/>
              <a:p>
                <a:pPr algn="ctr"/>
                <a:r>
                  <a:rPr lang="ja-JP" altLang="en-US" sz="2000">
                    <a:latin typeface="Noto Sans JP" panose="020B0200000000000000" pitchFamily="34" charset="-128"/>
                    <a:ea typeface="Noto Sans JP" panose="020B0200000000000000" pitchFamily="34" charset="-128"/>
                    <a:cs typeface="Calibri" panose="020F0502020204030204" pitchFamily="34" charset="0"/>
                  </a:rPr>
                  <a:t>処置</a:t>
                </a:r>
                <a14:m>
                  <m:oMath xmlns:m="http://schemas.openxmlformats.org/officeDocument/2006/math">
                    <m:r>
                      <a:rPr lang="en-US" altLang="ja-JP" sz="2000" b="0" i="1" smtClean="0">
                        <a:latin typeface="Cambria Math" panose="02040503050406030204" pitchFamily="18" charset="0"/>
                        <a:ea typeface="MS PGothic" panose="020B0600070205080204" pitchFamily="34" charset="-128"/>
                        <a:cs typeface="Calibri" panose="020F0502020204030204" pitchFamily="34" charset="0"/>
                      </a:rPr>
                      <m:t>0</m:t>
                    </m:r>
                  </m:oMath>
                </a14:m>
                <a:endParaRPr kumimoji="1" lang="en-US" altLang="ja-JP" sz="2000" dirty="0">
                  <a:latin typeface="Noto Sans JP" panose="020B0200000000000000" pitchFamily="34" charset="-128"/>
                  <a:ea typeface="Noto Sans JP" panose="020B0200000000000000" pitchFamily="34" charset="-128"/>
                  <a:cs typeface="Calibri" panose="020F0502020204030204" pitchFamily="34" charset="0"/>
                </a:endParaRPr>
              </a:p>
              <a:p>
                <a:pPr algn="ctr"/>
                <a:r>
                  <a:rPr lang="ja-JP" altLang="en-US" sz="2000">
                    <a:latin typeface="Noto Sans JP" panose="020B0200000000000000" pitchFamily="34" charset="-128"/>
                    <a:ea typeface="Noto Sans JP" panose="020B0200000000000000" pitchFamily="34" charset="-128"/>
                    <a:cs typeface="Calibri" panose="020F0502020204030204" pitchFamily="34" charset="0"/>
                  </a:rPr>
                  <a:t>塾に通わない</a:t>
                </a:r>
                <a:endParaRPr lang="en-US" altLang="ja-JP" sz="2000" dirty="0">
                  <a:latin typeface="Noto Sans JP" panose="020B0200000000000000" pitchFamily="34" charset="-128"/>
                  <a:ea typeface="Noto Sans JP" panose="020B0200000000000000" pitchFamily="34" charset="-128"/>
                  <a:cs typeface="Calibri" panose="020F0502020204030204" pitchFamily="34" charset="0"/>
                </a:endParaRPr>
              </a:p>
            </p:txBody>
          </p:sp>
        </mc:Choice>
        <mc:Fallback>
          <p:sp>
            <p:nvSpPr>
              <p:cNvPr id="8" name="テキスト ボックス 7">
                <a:extLst>
                  <a:ext uri="{FF2B5EF4-FFF2-40B4-BE49-F238E27FC236}">
                    <a16:creationId xmlns:a16="http://schemas.microsoft.com/office/drawing/2014/main" id="{3FE1AFD5-6844-0671-D503-A8A83CC6FF35}"/>
                  </a:ext>
                </a:extLst>
              </p:cNvPr>
              <p:cNvSpPr txBox="1">
                <a:spLocks noRot="1" noChangeAspect="1" noMove="1" noResize="1" noEditPoints="1" noAdjustHandles="1" noChangeArrowheads="1" noChangeShapeType="1" noTextEdit="1"/>
              </p:cNvSpPr>
              <p:nvPr/>
            </p:nvSpPr>
            <p:spPr>
              <a:xfrm>
                <a:off x="4001499" y="6150114"/>
                <a:ext cx="1723549" cy="707886"/>
              </a:xfrm>
              <a:prstGeom prst="rect">
                <a:avLst/>
              </a:prstGeom>
              <a:blipFill>
                <a:blip r:embed="rId4"/>
                <a:stretch>
                  <a:fillRect l="-2920" t="-5357" r="-3650" b="-16071"/>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9" name="テキスト ボックス 8">
                <a:extLst>
                  <a:ext uri="{FF2B5EF4-FFF2-40B4-BE49-F238E27FC236}">
                    <a16:creationId xmlns:a16="http://schemas.microsoft.com/office/drawing/2014/main" id="{FBEBA9C3-65D7-C732-698D-051C0EA8672E}"/>
                  </a:ext>
                </a:extLst>
              </p:cNvPr>
              <p:cNvSpPr txBox="1"/>
              <p:nvPr/>
            </p:nvSpPr>
            <p:spPr>
              <a:xfrm>
                <a:off x="6975051" y="3358268"/>
                <a:ext cx="3549241" cy="400110"/>
              </a:xfrm>
              <a:prstGeom prst="rect">
                <a:avLst/>
              </a:prstGeom>
              <a:noFill/>
            </p:spPr>
            <p:txBody>
              <a:bodyPr wrap="none" rtlCol="0">
                <a:spAutoFit/>
              </a:bodyPr>
              <a:lstStyle/>
              <a:p>
                <a:pPr algn="ctr"/>
                <a:r>
                  <a:rPr kumimoji="1" lang="ja-JP" altLang="en-US" sz="2000">
                    <a:latin typeface="Noto Sans JP" panose="020B0200000000000000" pitchFamily="34" charset="-128"/>
                    <a:ea typeface="Noto Sans JP" panose="020B0200000000000000" pitchFamily="34" charset="-128"/>
                    <a:cs typeface="Calibri" panose="020F0502020204030204" pitchFamily="34" charset="0"/>
                  </a:rPr>
                  <a:t>数学のテストで</a:t>
                </a:r>
                <a:r>
                  <a:rPr lang="en-US" altLang="ja-JP" sz="2000" dirty="0">
                    <a:latin typeface="Noto Sans JP" panose="020B0200000000000000" pitchFamily="34" charset="-128"/>
                    <a:ea typeface="Noto Sans JP" panose="020B0200000000000000" pitchFamily="34" charset="-128"/>
                    <a:cs typeface="Calibri" panose="020F0502020204030204" pitchFamily="34" charset="0"/>
                  </a:rPr>
                  <a:t>90</a:t>
                </a:r>
                <a:r>
                  <a:rPr lang="ja-JP" altLang="en-US" sz="2000">
                    <a:latin typeface="Noto Sans JP" panose="020B0200000000000000" pitchFamily="34" charset="-128"/>
                    <a:ea typeface="Noto Sans JP" panose="020B0200000000000000" pitchFamily="34" charset="-128"/>
                    <a:cs typeface="Calibri" panose="020F0502020204030204" pitchFamily="34" charset="0"/>
                  </a:rPr>
                  <a:t>点（</a:t>
                </a:r>
                <a14:m>
                  <m:oMath xmlns:m="http://schemas.openxmlformats.org/officeDocument/2006/math">
                    <m:r>
                      <a:rPr lang="en-US" altLang="ja-JP" sz="2000" b="0" i="1" smtClean="0">
                        <a:latin typeface="Cambria Math" panose="02040503050406030204" pitchFamily="18" charset="0"/>
                        <a:ea typeface="Noto Sans JP" panose="020B0200000000000000" pitchFamily="34" charset="-128"/>
                        <a:cs typeface="Calibri" panose="020F0502020204030204" pitchFamily="34" charset="0"/>
                      </a:rPr>
                      <m:t>𝑌</m:t>
                    </m:r>
                    <m:r>
                      <a:rPr lang="en-US" altLang="ja-JP" sz="2000" b="0" i="1" smtClean="0">
                        <a:latin typeface="Cambria Math" panose="02040503050406030204" pitchFamily="18" charset="0"/>
                        <a:ea typeface="Noto Sans JP" panose="020B0200000000000000" pitchFamily="34" charset="-128"/>
                        <a:cs typeface="Calibri" panose="020F0502020204030204" pitchFamily="34" charset="0"/>
                      </a:rPr>
                      <m:t>(1)</m:t>
                    </m:r>
                  </m:oMath>
                </a14:m>
                <a:r>
                  <a:rPr lang="ja-JP" altLang="en-US" sz="2000">
                    <a:latin typeface="Noto Sans JP" panose="020B0200000000000000" pitchFamily="34" charset="-128"/>
                    <a:ea typeface="Noto Sans JP" panose="020B0200000000000000" pitchFamily="34" charset="-128"/>
                    <a:cs typeface="Calibri" panose="020F0502020204030204" pitchFamily="34" charset="0"/>
                  </a:rPr>
                  <a:t>）</a:t>
                </a:r>
                <a:endParaRPr kumimoji="1" lang="ja-JP" altLang="en-US" sz="2000">
                  <a:latin typeface="Noto Sans JP" panose="020B0200000000000000" pitchFamily="34" charset="-128"/>
                  <a:ea typeface="Noto Sans JP" panose="020B0200000000000000" pitchFamily="34" charset="-128"/>
                  <a:cs typeface="Calibri" panose="020F0502020204030204" pitchFamily="34" charset="0"/>
                </a:endParaRPr>
              </a:p>
            </p:txBody>
          </p:sp>
        </mc:Choice>
        <mc:Fallback>
          <p:sp>
            <p:nvSpPr>
              <p:cNvPr id="9" name="テキスト ボックス 8">
                <a:extLst>
                  <a:ext uri="{FF2B5EF4-FFF2-40B4-BE49-F238E27FC236}">
                    <a16:creationId xmlns:a16="http://schemas.microsoft.com/office/drawing/2014/main" id="{FBEBA9C3-65D7-C732-698D-051C0EA8672E}"/>
                  </a:ext>
                </a:extLst>
              </p:cNvPr>
              <p:cNvSpPr txBox="1">
                <a:spLocks noRot="1" noChangeAspect="1" noMove="1" noResize="1" noEditPoints="1" noAdjustHandles="1" noChangeArrowheads="1" noChangeShapeType="1" noTextEdit="1"/>
              </p:cNvSpPr>
              <p:nvPr/>
            </p:nvSpPr>
            <p:spPr>
              <a:xfrm>
                <a:off x="6975051" y="3358268"/>
                <a:ext cx="3549241" cy="400110"/>
              </a:xfrm>
              <a:prstGeom prst="rect">
                <a:avLst/>
              </a:prstGeom>
              <a:blipFill>
                <a:blip r:embed="rId5"/>
                <a:stretch>
                  <a:fillRect l="-1429" t="-9091" r="-1429" b="-24242"/>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1" name="テキスト ボックス 10">
                <a:extLst>
                  <a:ext uri="{FF2B5EF4-FFF2-40B4-BE49-F238E27FC236}">
                    <a16:creationId xmlns:a16="http://schemas.microsoft.com/office/drawing/2014/main" id="{A980AEA2-3F0A-E580-738F-9F848FE526B5}"/>
                  </a:ext>
                </a:extLst>
              </p:cNvPr>
              <p:cNvSpPr txBox="1"/>
              <p:nvPr/>
            </p:nvSpPr>
            <p:spPr>
              <a:xfrm>
                <a:off x="6975042" y="6311748"/>
                <a:ext cx="3549241" cy="400110"/>
              </a:xfrm>
              <a:prstGeom prst="rect">
                <a:avLst/>
              </a:prstGeom>
              <a:noFill/>
            </p:spPr>
            <p:txBody>
              <a:bodyPr wrap="none" rtlCol="0">
                <a:spAutoFit/>
              </a:bodyPr>
              <a:lstStyle/>
              <a:p>
                <a:pPr algn="ctr"/>
                <a:r>
                  <a:rPr lang="ja-JP" altLang="en-US" sz="2000">
                    <a:latin typeface="Noto Sans JP" panose="020B0200000000000000" pitchFamily="34" charset="-128"/>
                    <a:ea typeface="Noto Sans JP" panose="020B0200000000000000" pitchFamily="34" charset="-128"/>
                    <a:cs typeface="Calibri" panose="020F0502020204030204" pitchFamily="34" charset="0"/>
                  </a:rPr>
                  <a:t>数学のテストで</a:t>
                </a:r>
                <a:r>
                  <a:rPr lang="en-US" altLang="ja-JP" sz="2000" dirty="0">
                    <a:latin typeface="Noto Sans JP" panose="020B0200000000000000" pitchFamily="34" charset="-128"/>
                    <a:ea typeface="Noto Sans JP" panose="020B0200000000000000" pitchFamily="34" charset="-128"/>
                    <a:cs typeface="Calibri" panose="020F0502020204030204" pitchFamily="34" charset="0"/>
                  </a:rPr>
                  <a:t>60</a:t>
                </a:r>
                <a:r>
                  <a:rPr lang="ja-JP" altLang="en-US" sz="2000">
                    <a:latin typeface="Noto Sans JP" panose="020B0200000000000000" pitchFamily="34" charset="-128"/>
                    <a:ea typeface="Noto Sans JP" panose="020B0200000000000000" pitchFamily="34" charset="-128"/>
                    <a:cs typeface="Calibri" panose="020F0502020204030204" pitchFamily="34" charset="0"/>
                  </a:rPr>
                  <a:t>点（</a:t>
                </a:r>
                <a14:m>
                  <m:oMath xmlns:m="http://schemas.openxmlformats.org/officeDocument/2006/math">
                    <m:r>
                      <a:rPr lang="en-US" altLang="ja-JP" sz="2000" b="0" i="1" smtClean="0">
                        <a:latin typeface="Cambria Math" panose="02040503050406030204" pitchFamily="18" charset="0"/>
                        <a:ea typeface="Noto Sans JP" panose="020B0200000000000000" pitchFamily="34" charset="-128"/>
                        <a:cs typeface="Calibri" panose="020F0502020204030204" pitchFamily="34" charset="0"/>
                      </a:rPr>
                      <m:t>𝑌</m:t>
                    </m:r>
                    <m:r>
                      <a:rPr lang="en-US" altLang="ja-JP" sz="2000" b="0" i="1" smtClean="0">
                        <a:latin typeface="Cambria Math" panose="02040503050406030204" pitchFamily="18" charset="0"/>
                        <a:ea typeface="Noto Sans JP" panose="020B0200000000000000" pitchFamily="34" charset="-128"/>
                        <a:cs typeface="Calibri" panose="020F0502020204030204" pitchFamily="34" charset="0"/>
                      </a:rPr>
                      <m:t>(1)</m:t>
                    </m:r>
                  </m:oMath>
                </a14:m>
                <a:r>
                  <a:rPr lang="ja-JP" altLang="en-US" sz="2000">
                    <a:latin typeface="Noto Sans JP" panose="020B0200000000000000" pitchFamily="34" charset="-128"/>
                    <a:ea typeface="Noto Sans JP" panose="020B0200000000000000" pitchFamily="34" charset="-128"/>
                    <a:cs typeface="Calibri" panose="020F0502020204030204" pitchFamily="34" charset="0"/>
                  </a:rPr>
                  <a:t>）</a:t>
                </a:r>
              </a:p>
            </p:txBody>
          </p:sp>
        </mc:Choice>
        <mc:Fallback>
          <p:sp>
            <p:nvSpPr>
              <p:cNvPr id="11" name="テキスト ボックス 10">
                <a:extLst>
                  <a:ext uri="{FF2B5EF4-FFF2-40B4-BE49-F238E27FC236}">
                    <a16:creationId xmlns:a16="http://schemas.microsoft.com/office/drawing/2014/main" id="{A980AEA2-3F0A-E580-738F-9F848FE526B5}"/>
                  </a:ext>
                </a:extLst>
              </p:cNvPr>
              <p:cNvSpPr txBox="1">
                <a:spLocks noRot="1" noChangeAspect="1" noMove="1" noResize="1" noEditPoints="1" noAdjustHandles="1" noChangeArrowheads="1" noChangeShapeType="1" noTextEdit="1"/>
              </p:cNvSpPr>
              <p:nvPr/>
            </p:nvSpPr>
            <p:spPr>
              <a:xfrm>
                <a:off x="6975042" y="6311748"/>
                <a:ext cx="3549241" cy="400110"/>
              </a:xfrm>
              <a:prstGeom prst="rect">
                <a:avLst/>
              </a:prstGeom>
              <a:blipFill>
                <a:blip r:embed="rId6"/>
                <a:stretch>
                  <a:fillRect l="-1429" t="-6061" r="-1429" b="-24242"/>
                </a:stretch>
              </a:blipFill>
            </p:spPr>
            <p:txBody>
              <a:bodyPr/>
              <a:lstStyle/>
              <a:p>
                <a:r>
                  <a:rPr lang="ja-JP" altLang="en-US">
                    <a:noFill/>
                  </a:rPr>
                  <a:t> </a:t>
                </a:r>
              </a:p>
            </p:txBody>
          </p:sp>
        </mc:Fallback>
      </mc:AlternateContent>
      <p:cxnSp>
        <p:nvCxnSpPr>
          <p:cNvPr id="12" name="直線矢印コネクタ 11">
            <a:extLst>
              <a:ext uri="{FF2B5EF4-FFF2-40B4-BE49-F238E27FC236}">
                <a16:creationId xmlns:a16="http://schemas.microsoft.com/office/drawing/2014/main" id="{4AB507E0-D026-EAA9-FF5E-47A8C00B377D}"/>
              </a:ext>
            </a:extLst>
          </p:cNvPr>
          <p:cNvCxnSpPr>
            <a:cxnSpLocks/>
          </p:cNvCxnSpPr>
          <p:nvPr/>
        </p:nvCxnSpPr>
        <p:spPr>
          <a:xfrm>
            <a:off x="8264038" y="3970988"/>
            <a:ext cx="0" cy="2179126"/>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5" name="テキスト ボックス 14">
                <a:extLst>
                  <a:ext uri="{FF2B5EF4-FFF2-40B4-BE49-F238E27FC236}">
                    <a16:creationId xmlns:a16="http://schemas.microsoft.com/office/drawing/2014/main" id="{DF52B7A5-41F3-403C-FFED-09334B3609E3}"/>
                  </a:ext>
                </a:extLst>
              </p:cNvPr>
              <p:cNvSpPr txBox="1"/>
              <p:nvPr/>
            </p:nvSpPr>
            <p:spPr>
              <a:xfrm>
                <a:off x="7470450" y="4788079"/>
                <a:ext cx="3859967" cy="400110"/>
              </a:xfrm>
              <a:prstGeom prst="rect">
                <a:avLst/>
              </a:prstGeom>
              <a:noFill/>
              <a:ln>
                <a:solidFill>
                  <a:schemeClr val="tx1"/>
                </a:solidFill>
                <a:prstDash val="sysDash"/>
              </a:ln>
            </p:spPr>
            <p:txBody>
              <a:bodyPr wrap="none" rtlCol="0">
                <a:spAutoFit/>
              </a:bodyPr>
              <a:lstStyle/>
              <a:p>
                <a:pPr algn="ctr"/>
                <a:r>
                  <a:rPr lang="ja-JP" altLang="en-US" sz="2000">
                    <a:latin typeface="Noto Sans JP" panose="020B0200000000000000" pitchFamily="34" charset="-128"/>
                    <a:ea typeface="Noto Sans JP" panose="020B0200000000000000" pitchFamily="34" charset="-128"/>
                    <a:cs typeface="Calibri" panose="020F0502020204030204" pitchFamily="34" charset="0"/>
                  </a:rPr>
                  <a:t>処置効果</a:t>
                </a:r>
                <a:r>
                  <a:rPr lang="en-US" altLang="ja-JP" sz="2000" dirty="0">
                    <a:latin typeface="Noto Sans JP" panose="020B0200000000000000" pitchFamily="34" charset="-128"/>
                    <a:ea typeface="Noto Sans JP" panose="020B0200000000000000" pitchFamily="34" charset="-128"/>
                    <a:cs typeface="Calibri" panose="020F0502020204030204" pitchFamily="34" charset="0"/>
                  </a:rPr>
                  <a:t> = 30</a:t>
                </a:r>
                <a:r>
                  <a:rPr lang="ja-JP" altLang="en-US" sz="2000">
                    <a:latin typeface="Noto Sans JP" panose="020B0200000000000000" pitchFamily="34" charset="-128"/>
                    <a:ea typeface="Noto Sans JP" panose="020B0200000000000000" pitchFamily="34" charset="-128"/>
                    <a:cs typeface="Calibri" panose="020F0502020204030204" pitchFamily="34" charset="0"/>
                  </a:rPr>
                  <a:t>点（</a:t>
                </a:r>
                <a14:m>
                  <m:oMath xmlns:m="http://schemas.openxmlformats.org/officeDocument/2006/math">
                    <m:r>
                      <a:rPr lang="en-US" altLang="ja-JP" sz="2000" b="0" i="1" smtClean="0">
                        <a:latin typeface="Cambria Math" panose="02040503050406030204" pitchFamily="18" charset="0"/>
                        <a:ea typeface="Noto Sans JP" panose="020B0200000000000000" pitchFamily="34" charset="-128"/>
                        <a:cs typeface="Calibri" panose="020F0502020204030204" pitchFamily="34" charset="0"/>
                      </a:rPr>
                      <m:t>𝑌</m:t>
                    </m:r>
                    <m:d>
                      <m:dPr>
                        <m:ctrlPr>
                          <a:rPr lang="en-US" altLang="ja-JP" sz="2000" b="0" i="1" smtClean="0">
                            <a:latin typeface="Cambria Math" panose="02040503050406030204" pitchFamily="18" charset="0"/>
                            <a:ea typeface="Noto Sans JP" panose="020B0200000000000000" pitchFamily="34" charset="-128"/>
                            <a:cs typeface="Calibri" panose="020F0502020204030204" pitchFamily="34" charset="0"/>
                          </a:rPr>
                        </m:ctrlPr>
                      </m:dPr>
                      <m:e>
                        <m:r>
                          <a:rPr lang="en-US" altLang="ja-JP" sz="2000" b="0" i="1" smtClean="0">
                            <a:latin typeface="Cambria Math" panose="02040503050406030204" pitchFamily="18" charset="0"/>
                            <a:ea typeface="Noto Sans JP" panose="020B0200000000000000" pitchFamily="34" charset="-128"/>
                            <a:cs typeface="Calibri" panose="020F0502020204030204" pitchFamily="34" charset="0"/>
                          </a:rPr>
                          <m:t>1</m:t>
                        </m:r>
                      </m:e>
                    </m:d>
                    <m:r>
                      <a:rPr lang="en-US" altLang="ja-JP" sz="2000" b="0" i="1" smtClean="0">
                        <a:latin typeface="Cambria Math" panose="02040503050406030204" pitchFamily="18" charset="0"/>
                        <a:ea typeface="Noto Sans JP" panose="020B0200000000000000" pitchFamily="34" charset="-128"/>
                        <a:cs typeface="Calibri" panose="020F0502020204030204" pitchFamily="34" charset="0"/>
                      </a:rPr>
                      <m:t>−</m:t>
                    </m:r>
                    <m:r>
                      <a:rPr lang="en-US" altLang="ja-JP" sz="2000" b="0" i="1" smtClean="0">
                        <a:latin typeface="Cambria Math" panose="02040503050406030204" pitchFamily="18" charset="0"/>
                        <a:ea typeface="Noto Sans JP" panose="020B0200000000000000" pitchFamily="34" charset="-128"/>
                        <a:cs typeface="Calibri" panose="020F0502020204030204" pitchFamily="34" charset="0"/>
                      </a:rPr>
                      <m:t>𝑌</m:t>
                    </m:r>
                    <m:r>
                      <a:rPr lang="en-US" altLang="ja-JP" sz="2000" b="0" i="1" smtClean="0">
                        <a:latin typeface="Cambria Math" panose="02040503050406030204" pitchFamily="18" charset="0"/>
                        <a:ea typeface="Noto Sans JP" panose="020B0200000000000000" pitchFamily="34" charset="-128"/>
                        <a:cs typeface="Calibri" panose="020F0502020204030204" pitchFamily="34" charset="0"/>
                      </a:rPr>
                      <m:t>(0)</m:t>
                    </m:r>
                  </m:oMath>
                </a14:m>
                <a:r>
                  <a:rPr lang="ja-JP" altLang="en-US" sz="2000">
                    <a:latin typeface="Noto Sans JP" panose="020B0200000000000000" pitchFamily="34" charset="-128"/>
                    <a:ea typeface="Noto Sans JP" panose="020B0200000000000000" pitchFamily="34" charset="-128"/>
                    <a:cs typeface="Calibri" panose="020F0502020204030204" pitchFamily="34" charset="0"/>
                  </a:rPr>
                  <a:t>）</a:t>
                </a:r>
                <a:endParaRPr kumimoji="1" lang="ja-JP" altLang="en-US" sz="2000">
                  <a:latin typeface="Noto Sans JP" panose="020B0200000000000000" pitchFamily="34" charset="-128"/>
                  <a:ea typeface="Noto Sans JP" panose="020B0200000000000000" pitchFamily="34" charset="-128"/>
                  <a:cs typeface="Calibri" panose="020F0502020204030204" pitchFamily="34" charset="0"/>
                </a:endParaRPr>
              </a:p>
            </p:txBody>
          </p:sp>
        </mc:Choice>
        <mc:Fallback>
          <p:sp>
            <p:nvSpPr>
              <p:cNvPr id="15" name="テキスト ボックス 14">
                <a:extLst>
                  <a:ext uri="{FF2B5EF4-FFF2-40B4-BE49-F238E27FC236}">
                    <a16:creationId xmlns:a16="http://schemas.microsoft.com/office/drawing/2014/main" id="{DF52B7A5-41F3-403C-FFED-09334B3609E3}"/>
                  </a:ext>
                </a:extLst>
              </p:cNvPr>
              <p:cNvSpPr txBox="1">
                <a:spLocks noRot="1" noChangeAspect="1" noMove="1" noResize="1" noEditPoints="1" noAdjustHandles="1" noChangeArrowheads="1" noChangeShapeType="1" noTextEdit="1"/>
              </p:cNvSpPr>
              <p:nvPr/>
            </p:nvSpPr>
            <p:spPr>
              <a:xfrm>
                <a:off x="7470450" y="4788079"/>
                <a:ext cx="3859967" cy="400110"/>
              </a:xfrm>
              <a:prstGeom prst="rect">
                <a:avLst/>
              </a:prstGeom>
              <a:blipFill>
                <a:blip r:embed="rId7"/>
                <a:stretch>
                  <a:fillRect l="-980" t="-6061" r="-980" b="-24242"/>
                </a:stretch>
              </a:blipFill>
              <a:ln>
                <a:solidFill>
                  <a:schemeClr val="tx1"/>
                </a:solidFill>
                <a:prstDash val="sysDash"/>
              </a:ln>
            </p:spPr>
            <p:txBody>
              <a:bodyPr/>
              <a:lstStyle/>
              <a:p>
                <a:r>
                  <a:rPr lang="ja-JP" altLang="en-US">
                    <a:noFill/>
                  </a:rPr>
                  <a:t> </a:t>
                </a:r>
              </a:p>
            </p:txBody>
          </p:sp>
        </mc:Fallback>
      </mc:AlternateContent>
      <p:pic>
        <p:nvPicPr>
          <p:cNvPr id="14" name="図 13">
            <a:extLst>
              <a:ext uri="{FF2B5EF4-FFF2-40B4-BE49-F238E27FC236}">
                <a16:creationId xmlns:a16="http://schemas.microsoft.com/office/drawing/2014/main" id="{F9FCE867-3D0D-5D54-6C6C-18E98CE99FF6}"/>
              </a:ext>
            </a:extLst>
          </p:cNvPr>
          <p:cNvPicPr>
            <a:picLocks noChangeAspect="1"/>
          </p:cNvPicPr>
          <p:nvPr/>
        </p:nvPicPr>
        <p:blipFill>
          <a:blip r:embed="rId8"/>
          <a:srcRect l="21704" t="14017" r="19166" b="49707"/>
          <a:stretch>
            <a:fillRect/>
          </a:stretch>
        </p:blipFill>
        <p:spPr>
          <a:xfrm>
            <a:off x="1462065" y="4013780"/>
            <a:ext cx="1682827" cy="1548598"/>
          </a:xfrm>
          <a:prstGeom prst="rect">
            <a:avLst/>
          </a:prstGeom>
        </p:spPr>
      </p:pic>
    </p:spTree>
    <p:extLst>
      <p:ext uri="{BB962C8B-B14F-4D97-AF65-F5344CB8AC3E}">
        <p14:creationId xmlns:p14="http://schemas.microsoft.com/office/powerpoint/2010/main" val="4017541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DD94D-6CF4-8462-BD86-60532EC9B95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491E88A-99A4-E606-2BF0-72F2FD376D53}"/>
              </a:ext>
            </a:extLst>
          </p:cNvPr>
          <p:cNvSpPr>
            <a:spLocks noGrp="1"/>
          </p:cNvSpPr>
          <p:nvPr>
            <p:ph type="title"/>
          </p:nvPr>
        </p:nvSpPr>
        <p:spPr/>
        <p:txBody>
          <a:bodyPr>
            <a:normAutofit/>
          </a:bodyPr>
          <a:lstStyle/>
          <a:p>
            <a:r>
              <a:rPr kumimoji="1" lang="ja-JP" altLang="en-US"/>
              <a:t>個別的処置効果</a:t>
            </a:r>
          </a:p>
        </p:txBody>
      </p:sp>
      <p:sp>
        <p:nvSpPr>
          <p:cNvPr id="3" name="コンテンツ プレースホルダー 2">
            <a:extLst>
              <a:ext uri="{FF2B5EF4-FFF2-40B4-BE49-F238E27FC236}">
                <a16:creationId xmlns:a16="http://schemas.microsoft.com/office/drawing/2014/main" id="{677C618A-BF7C-BA63-1A19-1C5106417B31}"/>
              </a:ext>
            </a:extLst>
          </p:cNvPr>
          <p:cNvSpPr>
            <a:spLocks noGrp="1"/>
          </p:cNvSpPr>
          <p:nvPr>
            <p:ph idx="1"/>
          </p:nvPr>
        </p:nvSpPr>
        <p:spPr/>
        <p:txBody>
          <a:bodyPr>
            <a:normAutofit/>
          </a:bodyPr>
          <a:lstStyle/>
          <a:p>
            <a:r>
              <a:rPr lang="ja-JP" altLang="en-US" sz="2000">
                <a:latin typeface="Noto Sans JP" panose="020B0200000000000000" pitchFamily="34" charset="-128"/>
                <a:ea typeface="Noto Sans JP" panose="020B0200000000000000" pitchFamily="34" charset="-128"/>
              </a:rPr>
              <a:t>アプローチ：</a:t>
            </a:r>
            <a:endParaRPr lang="en-US" altLang="ja-JP" sz="2000" dirty="0">
              <a:latin typeface="Noto Sans JP" panose="020B0200000000000000" pitchFamily="34" charset="-128"/>
              <a:ea typeface="Noto Sans JP" panose="020B0200000000000000" pitchFamily="34" charset="-128"/>
            </a:endParaRPr>
          </a:p>
          <a:p>
            <a:pPr marL="457200" lvl="1" indent="0">
              <a:buNone/>
            </a:pPr>
            <a:r>
              <a:rPr lang="ja-JP" altLang="en-US" sz="2000">
                <a:latin typeface="Noto Sans JP" panose="020B0200000000000000" pitchFamily="34" charset="-128"/>
                <a:ea typeface="Noto Sans JP" panose="020B0200000000000000" pitchFamily="34" charset="-128"/>
              </a:rPr>
              <a:t>似たような人に異なる処置をそれぞれ施す．</a:t>
            </a:r>
            <a:endParaRPr lang="en-US" altLang="ja-JP" sz="2000" dirty="0">
              <a:latin typeface="Noto Sans JP" panose="020B0200000000000000" pitchFamily="34" charset="-128"/>
              <a:ea typeface="Noto Sans JP" panose="020B0200000000000000" pitchFamily="34" charset="-128"/>
            </a:endParaRPr>
          </a:p>
          <a:p>
            <a:endParaRPr lang="en-US" altLang="ja-JP" sz="2000" dirty="0">
              <a:latin typeface="Noto Sans JP" panose="020B0200000000000000" pitchFamily="34" charset="-128"/>
              <a:ea typeface="Noto Sans JP" panose="020B0200000000000000" pitchFamily="34" charset="-128"/>
            </a:endParaRPr>
          </a:p>
          <a:p>
            <a:endParaRPr lang="en-US" altLang="ja-JP" sz="2000" dirty="0">
              <a:latin typeface="Noto Sans JP" panose="020B0200000000000000" pitchFamily="34" charset="-128"/>
              <a:ea typeface="Noto Sans JP" panose="020B0200000000000000" pitchFamily="34" charset="-128"/>
            </a:endParaRPr>
          </a:p>
          <a:p>
            <a:endParaRPr lang="en-US" altLang="ja-JP" sz="2000" dirty="0">
              <a:latin typeface="Noto Sans JP" panose="020B0200000000000000" pitchFamily="34" charset="-128"/>
              <a:ea typeface="Noto Sans JP" panose="020B0200000000000000" pitchFamily="34" charset="-128"/>
            </a:endParaRPr>
          </a:p>
          <a:p>
            <a:endParaRPr lang="en-US" altLang="ja-JP" sz="2000" dirty="0">
              <a:latin typeface="Noto Sans JP" panose="020B0200000000000000" pitchFamily="34" charset="-128"/>
              <a:ea typeface="Noto Sans JP" panose="020B0200000000000000" pitchFamily="34" charset="-128"/>
            </a:endParaRPr>
          </a:p>
          <a:p>
            <a:endParaRPr lang="en-US" altLang="ja-JP" sz="2000" dirty="0">
              <a:latin typeface="Noto Sans JP" panose="020B0200000000000000" pitchFamily="34" charset="-128"/>
              <a:ea typeface="Noto Sans JP" panose="020B0200000000000000" pitchFamily="34" charset="-128"/>
            </a:endParaRPr>
          </a:p>
          <a:p>
            <a:endParaRPr lang="en-US" altLang="ja-JP" sz="2000" dirty="0">
              <a:latin typeface="Noto Sans JP" panose="020B0200000000000000" pitchFamily="34" charset="-128"/>
              <a:ea typeface="Noto Sans JP" panose="020B0200000000000000" pitchFamily="34" charset="-128"/>
            </a:endParaRPr>
          </a:p>
          <a:p>
            <a:endParaRPr lang="en-US" altLang="ja-JP" sz="2000" dirty="0">
              <a:latin typeface="Noto Sans JP" panose="020B0200000000000000" pitchFamily="34" charset="-128"/>
              <a:ea typeface="Noto Sans JP" panose="020B0200000000000000" pitchFamily="34" charset="-128"/>
            </a:endParaRPr>
          </a:p>
          <a:p>
            <a:pPr marL="0" indent="0">
              <a:buNone/>
            </a:pPr>
            <a:endParaRPr lang="en-US" altLang="ja-JP" sz="2000" dirty="0">
              <a:latin typeface="Noto Sans JP" panose="020B0200000000000000" pitchFamily="34" charset="-128"/>
              <a:ea typeface="Noto Sans JP" panose="020B0200000000000000" pitchFamily="34" charset="-128"/>
            </a:endParaRPr>
          </a:p>
          <a:p>
            <a:r>
              <a:rPr lang="ja-JP" altLang="en-US" sz="2000">
                <a:latin typeface="Noto Sans JP" panose="020B0200000000000000" pitchFamily="34" charset="-128"/>
                <a:ea typeface="Noto Sans JP" panose="020B0200000000000000" pitchFamily="34" charset="-128"/>
              </a:rPr>
              <a:t>問題点：</a:t>
            </a:r>
            <a:endParaRPr lang="en-US" altLang="ja-JP" sz="2000" dirty="0">
              <a:latin typeface="Noto Sans JP" panose="020B0200000000000000" pitchFamily="34" charset="-128"/>
              <a:ea typeface="Noto Sans JP" panose="020B0200000000000000" pitchFamily="34" charset="-128"/>
            </a:endParaRPr>
          </a:p>
          <a:p>
            <a:pPr lvl="1"/>
            <a:r>
              <a:rPr lang="ja-JP" altLang="en-US" sz="2000">
                <a:latin typeface="Noto Sans JP" panose="020B0200000000000000" pitchFamily="34" charset="-128"/>
                <a:ea typeface="Noto Sans JP" panose="020B0200000000000000" pitchFamily="34" charset="-128"/>
              </a:rPr>
              <a:t>似ている人を探すことが大変</a:t>
            </a:r>
            <a:endParaRPr lang="en-US" altLang="ja-JP" sz="2000" dirty="0">
              <a:latin typeface="Noto Sans JP" panose="020B0200000000000000" pitchFamily="34" charset="-128"/>
              <a:ea typeface="Noto Sans JP" panose="020B0200000000000000" pitchFamily="34" charset="-128"/>
            </a:endParaRPr>
          </a:p>
          <a:p>
            <a:pPr lvl="1"/>
            <a:r>
              <a:rPr lang="ja-JP" altLang="en-US" sz="2000">
                <a:latin typeface="Noto Sans JP" panose="020B0200000000000000" pitchFamily="34" charset="-128"/>
                <a:ea typeface="Noto Sans JP" panose="020B0200000000000000" pitchFamily="34" charset="-128"/>
              </a:rPr>
              <a:t>全く同じ人はいない</a:t>
            </a:r>
            <a:endParaRPr lang="en-US" altLang="ja-JP" sz="2000" dirty="0">
              <a:latin typeface="Noto Sans JP" panose="020B0200000000000000" pitchFamily="34" charset="-128"/>
              <a:ea typeface="Noto Sans JP" panose="020B0200000000000000" pitchFamily="34" charset="-128"/>
            </a:endParaRPr>
          </a:p>
          <a:p>
            <a:pPr marL="457200" lvl="1" indent="0">
              <a:buNone/>
            </a:pPr>
            <a:r>
              <a:rPr lang="ja-JP" altLang="en-US" sz="2000">
                <a:latin typeface="Noto Sans JP" panose="020B0200000000000000" pitchFamily="34" charset="-128"/>
                <a:ea typeface="Noto Sans JP" panose="020B0200000000000000" pitchFamily="34" charset="-128"/>
              </a:rPr>
              <a:t>→</a:t>
            </a:r>
            <a:r>
              <a:rPr lang="en-US" altLang="ja-JP" sz="2000" dirty="0">
                <a:latin typeface="Noto Sans JP" panose="020B0200000000000000" pitchFamily="34" charset="-128"/>
                <a:ea typeface="Noto Sans JP" panose="020B0200000000000000" pitchFamily="34" charset="-128"/>
              </a:rPr>
              <a:t> </a:t>
            </a:r>
            <a:r>
              <a:rPr lang="ja-JP" altLang="en-US" sz="2000">
                <a:latin typeface="Noto Sans JP" panose="020B0200000000000000" pitchFamily="34" charset="-128"/>
                <a:ea typeface="Noto Sans JP" panose="020B0200000000000000" pitchFamily="34" charset="-128"/>
              </a:rPr>
              <a:t>たくさん人を集めて、その集団に処置を施す（平均的には似ているだろう）</a:t>
            </a:r>
            <a:endParaRPr lang="en-US" altLang="ja-JP" sz="2000" dirty="0">
              <a:latin typeface="Noto Sans JP" panose="020B0200000000000000" pitchFamily="34" charset="-128"/>
              <a:ea typeface="Noto Sans JP" panose="020B0200000000000000" pitchFamily="34" charset="-128"/>
            </a:endParaRPr>
          </a:p>
          <a:p>
            <a:pPr marL="457200" lvl="1" indent="0">
              <a:buNone/>
            </a:pPr>
            <a:r>
              <a:rPr lang="ja-JP" altLang="en-US" sz="2000">
                <a:latin typeface="Noto Sans JP" panose="020B0200000000000000" pitchFamily="34" charset="-128"/>
                <a:ea typeface="Noto Sans JP" panose="020B0200000000000000" pitchFamily="34" charset="-128"/>
              </a:rPr>
              <a:t>→</a:t>
            </a:r>
            <a:r>
              <a:rPr lang="en-US" altLang="ja-JP" sz="2000" dirty="0">
                <a:latin typeface="Noto Sans JP" panose="020B0200000000000000" pitchFamily="34" charset="-128"/>
                <a:ea typeface="Noto Sans JP" panose="020B0200000000000000" pitchFamily="34" charset="-128"/>
              </a:rPr>
              <a:t> </a:t>
            </a:r>
            <a:r>
              <a:rPr lang="ja-JP" altLang="en-US" sz="2000">
                <a:latin typeface="Noto Sans JP" panose="020B0200000000000000" pitchFamily="34" charset="-128"/>
                <a:ea typeface="Noto Sans JP" panose="020B0200000000000000" pitchFamily="34" charset="-128"/>
              </a:rPr>
              <a:t>個人の処置効果は分からないが、集団上の</a:t>
            </a:r>
            <a:r>
              <a:rPr lang="ja-JP" altLang="en-US" sz="2000" u="sng">
                <a:solidFill>
                  <a:srgbClr val="FF0000"/>
                </a:solidFill>
                <a:latin typeface="Noto Sans JP" panose="020B0200000000000000" pitchFamily="34" charset="-128"/>
                <a:ea typeface="Noto Sans JP" panose="020B0200000000000000" pitchFamily="34" charset="-128"/>
              </a:rPr>
              <a:t>平均的な処置効果</a:t>
            </a:r>
            <a:r>
              <a:rPr lang="ja-JP" altLang="en-US" sz="2000">
                <a:latin typeface="Noto Sans JP" panose="020B0200000000000000" pitchFamily="34" charset="-128"/>
                <a:ea typeface="Noto Sans JP" panose="020B0200000000000000" pitchFamily="34" charset="-128"/>
              </a:rPr>
              <a:t>は分かる</a:t>
            </a:r>
            <a:endParaRPr lang="en-US" altLang="ja-JP" sz="2000" dirty="0">
              <a:latin typeface="Noto Sans JP" panose="020B0200000000000000" pitchFamily="34" charset="-128"/>
              <a:ea typeface="Noto Sans JP" panose="020B0200000000000000" pitchFamily="34" charset="-128"/>
            </a:endParaRPr>
          </a:p>
          <a:p>
            <a:endParaRPr kumimoji="1" lang="ja-JP" altLang="en-US" sz="2000">
              <a:latin typeface="Noto Sans JP" panose="020B0200000000000000" pitchFamily="34" charset="-128"/>
              <a:ea typeface="Noto Sans JP" panose="020B0200000000000000" pitchFamily="34" charset="-128"/>
            </a:endParaRPr>
          </a:p>
        </p:txBody>
      </p:sp>
      <p:sp>
        <p:nvSpPr>
          <p:cNvPr id="5" name="テキスト ボックス 4">
            <a:extLst>
              <a:ext uri="{FF2B5EF4-FFF2-40B4-BE49-F238E27FC236}">
                <a16:creationId xmlns:a16="http://schemas.microsoft.com/office/drawing/2014/main" id="{7A27EAE2-9C5E-38F2-0C46-45DD6743E0F8}"/>
              </a:ext>
            </a:extLst>
          </p:cNvPr>
          <p:cNvSpPr txBox="1"/>
          <p:nvPr/>
        </p:nvSpPr>
        <p:spPr>
          <a:xfrm>
            <a:off x="5638193" y="2520532"/>
            <a:ext cx="644728" cy="830997"/>
          </a:xfrm>
          <a:prstGeom prst="rect">
            <a:avLst/>
          </a:prstGeom>
          <a:noFill/>
        </p:spPr>
        <p:txBody>
          <a:bodyPr wrap="none" rtlCol="0">
            <a:spAutoFit/>
          </a:bodyPr>
          <a:lstStyle/>
          <a:p>
            <a:pPr algn="ctr"/>
            <a:r>
              <a:rPr kumimoji="1" lang="ja-JP" altLang="en-US" sz="4800">
                <a:latin typeface="Calibri" panose="020F0502020204030204" pitchFamily="34" charset="0"/>
                <a:ea typeface="MS PGothic" panose="020B0600070205080204" pitchFamily="34" charset="-128"/>
                <a:cs typeface="Calibri" panose="020F0502020204030204" pitchFamily="34" charset="0"/>
              </a:rPr>
              <a:t>≒</a:t>
            </a:r>
            <a:endParaRPr kumimoji="1" lang="en-US" altLang="ja-JP" sz="4800" dirty="0">
              <a:latin typeface="Calibri" panose="020F0502020204030204" pitchFamily="34" charset="0"/>
              <a:ea typeface="MS PGothic" panose="020B0600070205080204" pitchFamily="34" charset="-128"/>
              <a:cs typeface="Calibri" panose="020F0502020204030204" pitchFamily="34" charset="0"/>
            </a:endParaRPr>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704222F7-30BC-7F51-731E-7E91F4849EA1}"/>
                  </a:ext>
                </a:extLst>
              </p:cNvPr>
              <p:cNvSpPr txBox="1"/>
              <p:nvPr/>
            </p:nvSpPr>
            <p:spPr>
              <a:xfrm>
                <a:off x="1763050" y="2643643"/>
                <a:ext cx="1210589" cy="707886"/>
              </a:xfrm>
              <a:prstGeom prst="rect">
                <a:avLst/>
              </a:prstGeom>
              <a:noFill/>
            </p:spPr>
            <p:txBody>
              <a:bodyPr wrap="none" rtlCol="0">
                <a:spAutoFit/>
              </a:bodyPr>
              <a:lstStyle/>
              <a:p>
                <a:pPr algn="ctr"/>
                <a:r>
                  <a:rPr lang="ja-JP" altLang="en-US" sz="2000">
                    <a:latin typeface="Noto Sans JP" panose="020B0200000000000000" pitchFamily="34" charset="-128"/>
                    <a:ea typeface="Noto Sans JP" panose="020B0200000000000000" pitchFamily="34" charset="-128"/>
                    <a:cs typeface="Calibri" panose="020F0502020204030204" pitchFamily="34" charset="0"/>
                  </a:rPr>
                  <a:t>処置</a:t>
                </a:r>
                <a14:m>
                  <m:oMath xmlns:m="http://schemas.openxmlformats.org/officeDocument/2006/math">
                    <m:r>
                      <a:rPr kumimoji="1" lang="en-US" altLang="ja-JP" sz="2000" b="0" i="1" smtClean="0">
                        <a:latin typeface="Cambria Math" panose="02040503050406030204" pitchFamily="18" charset="0"/>
                      </a:rPr>
                      <m:t>1</m:t>
                    </m:r>
                  </m:oMath>
                </a14:m>
                <a:endParaRPr kumimoji="1" lang="en-US" altLang="ja-JP" sz="2000" dirty="0">
                  <a:latin typeface="Noto Sans JP" panose="020B0200000000000000" pitchFamily="34" charset="-128"/>
                  <a:ea typeface="Noto Sans JP" panose="020B0200000000000000" pitchFamily="34" charset="-128"/>
                  <a:cs typeface="Calibri" panose="020F0502020204030204" pitchFamily="34" charset="0"/>
                </a:endParaRPr>
              </a:p>
              <a:p>
                <a:pPr algn="ctr"/>
                <a:r>
                  <a:rPr lang="ja-JP" altLang="en-US" sz="2000">
                    <a:latin typeface="Noto Sans JP" panose="020B0200000000000000" pitchFamily="34" charset="-128"/>
                    <a:ea typeface="Noto Sans JP" panose="020B0200000000000000" pitchFamily="34" charset="-128"/>
                    <a:cs typeface="Calibri" panose="020F0502020204030204" pitchFamily="34" charset="0"/>
                  </a:rPr>
                  <a:t>塾に通う</a:t>
                </a:r>
                <a:endParaRPr lang="en-US" altLang="ja-JP" sz="2000" dirty="0">
                  <a:latin typeface="Noto Sans JP" panose="020B0200000000000000" pitchFamily="34" charset="-128"/>
                  <a:ea typeface="Noto Sans JP" panose="020B0200000000000000" pitchFamily="34" charset="-128"/>
                  <a:cs typeface="Calibri" panose="020F0502020204030204" pitchFamily="34" charset="0"/>
                </a:endParaRPr>
              </a:p>
            </p:txBody>
          </p:sp>
        </mc:Choice>
        <mc:Fallback xmlns="">
          <p:sp>
            <p:nvSpPr>
              <p:cNvPr id="9" name="テキスト ボックス 8">
                <a:extLst>
                  <a:ext uri="{FF2B5EF4-FFF2-40B4-BE49-F238E27FC236}">
                    <a16:creationId xmlns:a16="http://schemas.microsoft.com/office/drawing/2014/main" id="{704222F7-30BC-7F51-731E-7E91F4849EA1}"/>
                  </a:ext>
                </a:extLst>
              </p:cNvPr>
              <p:cNvSpPr txBox="1">
                <a:spLocks noRot="1" noChangeAspect="1" noMove="1" noResize="1" noEditPoints="1" noAdjustHandles="1" noChangeArrowheads="1" noChangeShapeType="1" noTextEdit="1"/>
              </p:cNvSpPr>
              <p:nvPr/>
            </p:nvSpPr>
            <p:spPr>
              <a:xfrm>
                <a:off x="1763050" y="2643643"/>
                <a:ext cx="1210589" cy="707886"/>
              </a:xfrm>
              <a:prstGeom prst="rect">
                <a:avLst/>
              </a:prstGeom>
              <a:blipFill>
                <a:blip r:embed="rId2"/>
                <a:stretch>
                  <a:fillRect l="-4124" t="-5357" r="-4124" b="-1607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E4C71100-2C06-44C9-2DAB-CE50A0E789FC}"/>
                  </a:ext>
                </a:extLst>
              </p:cNvPr>
              <p:cNvSpPr txBox="1"/>
              <p:nvPr/>
            </p:nvSpPr>
            <p:spPr>
              <a:xfrm>
                <a:off x="8473229" y="2643643"/>
                <a:ext cx="1723549" cy="707886"/>
              </a:xfrm>
              <a:prstGeom prst="rect">
                <a:avLst/>
              </a:prstGeom>
              <a:noFill/>
            </p:spPr>
            <p:txBody>
              <a:bodyPr wrap="none" rtlCol="0">
                <a:spAutoFit/>
              </a:bodyPr>
              <a:lstStyle/>
              <a:p>
                <a:pPr algn="ctr"/>
                <a:r>
                  <a:rPr lang="ja-JP" altLang="en-US" sz="2000">
                    <a:latin typeface="Noto Sans JP" panose="020B0200000000000000" pitchFamily="34" charset="-128"/>
                    <a:ea typeface="Noto Sans JP" panose="020B0200000000000000" pitchFamily="34" charset="-128"/>
                    <a:cs typeface="Calibri" panose="020F0502020204030204" pitchFamily="34" charset="0"/>
                  </a:rPr>
                  <a:t>処置</a:t>
                </a:r>
                <a14:m>
                  <m:oMath xmlns:m="http://schemas.openxmlformats.org/officeDocument/2006/math">
                    <m:r>
                      <a:rPr lang="en-US" altLang="ja-JP" sz="2000" b="0" i="1" smtClean="0">
                        <a:latin typeface="Cambria Math" panose="02040503050406030204" pitchFamily="18" charset="0"/>
                        <a:ea typeface="MS PGothic" panose="020B0600070205080204" pitchFamily="34" charset="-128"/>
                        <a:cs typeface="Calibri" panose="020F0502020204030204" pitchFamily="34" charset="0"/>
                      </a:rPr>
                      <m:t>0</m:t>
                    </m:r>
                  </m:oMath>
                </a14:m>
                <a:endParaRPr kumimoji="1" lang="en-US" altLang="ja-JP" sz="2000" dirty="0">
                  <a:latin typeface="Noto Sans JP" panose="020B0200000000000000" pitchFamily="34" charset="-128"/>
                  <a:ea typeface="Noto Sans JP" panose="020B0200000000000000" pitchFamily="34" charset="-128"/>
                  <a:cs typeface="Calibri" panose="020F0502020204030204" pitchFamily="34" charset="0"/>
                </a:endParaRPr>
              </a:p>
              <a:p>
                <a:pPr algn="ctr"/>
                <a:r>
                  <a:rPr lang="ja-JP" altLang="en-US" sz="2000">
                    <a:latin typeface="Noto Sans JP" panose="020B0200000000000000" pitchFamily="34" charset="-128"/>
                    <a:ea typeface="Noto Sans JP" panose="020B0200000000000000" pitchFamily="34" charset="-128"/>
                    <a:cs typeface="Calibri" panose="020F0502020204030204" pitchFamily="34" charset="0"/>
                  </a:rPr>
                  <a:t>塾に通わない</a:t>
                </a:r>
                <a:endParaRPr lang="en-US" altLang="ja-JP" sz="2000" dirty="0">
                  <a:latin typeface="Noto Sans JP" panose="020B0200000000000000" pitchFamily="34" charset="-128"/>
                  <a:ea typeface="Noto Sans JP" panose="020B0200000000000000" pitchFamily="34" charset="-128"/>
                  <a:cs typeface="Calibri" panose="020F0502020204030204" pitchFamily="34" charset="0"/>
                </a:endParaRPr>
              </a:p>
            </p:txBody>
          </p:sp>
        </mc:Choice>
        <mc:Fallback xmlns="">
          <p:sp>
            <p:nvSpPr>
              <p:cNvPr id="10" name="テキスト ボックス 9">
                <a:extLst>
                  <a:ext uri="{FF2B5EF4-FFF2-40B4-BE49-F238E27FC236}">
                    <a16:creationId xmlns:a16="http://schemas.microsoft.com/office/drawing/2014/main" id="{E4C71100-2C06-44C9-2DAB-CE50A0E789FC}"/>
                  </a:ext>
                </a:extLst>
              </p:cNvPr>
              <p:cNvSpPr txBox="1">
                <a:spLocks noRot="1" noChangeAspect="1" noMove="1" noResize="1" noEditPoints="1" noAdjustHandles="1" noChangeArrowheads="1" noChangeShapeType="1" noTextEdit="1"/>
              </p:cNvSpPr>
              <p:nvPr/>
            </p:nvSpPr>
            <p:spPr>
              <a:xfrm>
                <a:off x="8473229" y="2643643"/>
                <a:ext cx="1723549" cy="707886"/>
              </a:xfrm>
              <a:prstGeom prst="rect">
                <a:avLst/>
              </a:prstGeom>
              <a:blipFill>
                <a:blip r:embed="rId3"/>
                <a:stretch>
                  <a:fillRect l="-3650" t="-5357" r="-2920" b="-16071"/>
                </a:stretch>
              </a:blipFill>
            </p:spPr>
            <p:txBody>
              <a:bodyPr/>
              <a:lstStyle/>
              <a:p>
                <a:r>
                  <a:rPr lang="ja-JP" altLang="en-US">
                    <a:noFill/>
                  </a:rPr>
                  <a:t> </a:t>
                </a:r>
              </a:p>
            </p:txBody>
          </p:sp>
        </mc:Fallback>
      </mc:AlternateContent>
      <p:pic>
        <p:nvPicPr>
          <p:cNvPr id="6" name="図 5">
            <a:extLst>
              <a:ext uri="{FF2B5EF4-FFF2-40B4-BE49-F238E27FC236}">
                <a16:creationId xmlns:a16="http://schemas.microsoft.com/office/drawing/2014/main" id="{303AE08F-711E-CD49-0670-DCB6D90CDC72}"/>
              </a:ext>
            </a:extLst>
          </p:cNvPr>
          <p:cNvPicPr>
            <a:picLocks noChangeAspect="1"/>
          </p:cNvPicPr>
          <p:nvPr/>
        </p:nvPicPr>
        <p:blipFill>
          <a:blip r:embed="rId4"/>
          <a:srcRect l="21704" t="14017" r="19166" b="49707"/>
          <a:stretch>
            <a:fillRect/>
          </a:stretch>
        </p:blipFill>
        <p:spPr>
          <a:xfrm>
            <a:off x="3568638" y="2196944"/>
            <a:ext cx="1682827" cy="1548598"/>
          </a:xfrm>
          <a:prstGeom prst="rect">
            <a:avLst/>
          </a:prstGeom>
        </p:spPr>
      </p:pic>
      <p:pic>
        <p:nvPicPr>
          <p:cNvPr id="11" name="図 10">
            <a:extLst>
              <a:ext uri="{FF2B5EF4-FFF2-40B4-BE49-F238E27FC236}">
                <a16:creationId xmlns:a16="http://schemas.microsoft.com/office/drawing/2014/main" id="{16137698-30C2-DFBE-0F13-FDC9090FEAA8}"/>
              </a:ext>
            </a:extLst>
          </p:cNvPr>
          <p:cNvPicPr>
            <a:picLocks noChangeAspect="1"/>
          </p:cNvPicPr>
          <p:nvPr/>
        </p:nvPicPr>
        <p:blipFill>
          <a:blip r:embed="rId5"/>
          <a:srcRect l="21463" t="11568" r="17088" b="51624"/>
          <a:stretch>
            <a:fillRect/>
          </a:stretch>
        </p:blipFill>
        <p:spPr>
          <a:xfrm>
            <a:off x="6749680" y="2196944"/>
            <a:ext cx="1723549" cy="1548598"/>
          </a:xfrm>
          <a:prstGeom prst="rect">
            <a:avLst/>
          </a:prstGeom>
        </p:spPr>
      </p:pic>
    </p:spTree>
    <p:extLst>
      <p:ext uri="{BB962C8B-B14F-4D97-AF65-F5344CB8AC3E}">
        <p14:creationId xmlns:p14="http://schemas.microsoft.com/office/powerpoint/2010/main" val="3659750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03027-8F0D-D50E-275E-20B7297F969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2E557BC-905C-6772-456C-5F20747B65A0}"/>
              </a:ext>
            </a:extLst>
          </p:cNvPr>
          <p:cNvSpPr>
            <a:spLocks noGrp="1"/>
          </p:cNvSpPr>
          <p:nvPr>
            <p:ph type="title"/>
          </p:nvPr>
        </p:nvSpPr>
        <p:spPr/>
        <p:txBody>
          <a:bodyPr/>
          <a:lstStyle/>
          <a:p>
            <a:r>
              <a:rPr kumimoji="1" lang="ja-JP" altLang="en-US"/>
              <a:t>平均処置効果</a:t>
            </a:r>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3E3DB027-BC8B-8054-D7EF-44EED495143A}"/>
                  </a:ext>
                </a:extLst>
              </p:cNvPr>
              <p:cNvSpPr>
                <a:spLocks noGrp="1"/>
              </p:cNvSpPr>
              <p:nvPr>
                <p:ph idx="1"/>
              </p:nvPr>
            </p:nvSpPr>
            <p:spPr/>
            <p:txBody>
              <a:bodyPr>
                <a:normAutofit/>
              </a:bodyPr>
              <a:lstStyle/>
              <a:p>
                <a:r>
                  <a:rPr lang="ja-JP" altLang="en-US" sz="2000"/>
                  <a:t>個別処置効果を推定することは難しい</a:t>
                </a:r>
                <a:br>
                  <a:rPr lang="en-US" altLang="ja-JP" sz="2000" dirty="0"/>
                </a:br>
                <a:r>
                  <a:rPr lang="ja-JP" altLang="en-US" sz="2000"/>
                  <a:t>→ 母集団上での</a:t>
                </a:r>
                <a:r>
                  <a:rPr lang="ja-JP" altLang="en-US" sz="2000" b="1">
                    <a:solidFill>
                      <a:srgbClr val="FF0000"/>
                    </a:solidFill>
                  </a:rPr>
                  <a:t>平均処置効果（</a:t>
                </a:r>
                <a:r>
                  <a:rPr lang="en-US" altLang="ja-JP" sz="2000" b="1" dirty="0">
                    <a:solidFill>
                      <a:srgbClr val="FF0000"/>
                    </a:solidFill>
                  </a:rPr>
                  <a:t>Average</a:t>
                </a:r>
                <a:r>
                  <a:rPr lang="ja-JP" altLang="en-US" sz="2000" b="1">
                    <a:solidFill>
                      <a:srgbClr val="FF0000"/>
                    </a:solidFill>
                  </a:rPr>
                  <a:t> </a:t>
                </a:r>
                <a:r>
                  <a:rPr lang="en-US" altLang="ja-JP" sz="2000" b="1" dirty="0">
                    <a:solidFill>
                      <a:srgbClr val="FF0000"/>
                    </a:solidFill>
                  </a:rPr>
                  <a:t>Treatment Effect</a:t>
                </a:r>
                <a:r>
                  <a:rPr lang="ja-JP" altLang="en-US" sz="2000" b="1">
                    <a:solidFill>
                      <a:srgbClr val="FF0000"/>
                    </a:solidFill>
                  </a:rPr>
                  <a:t>；</a:t>
                </a:r>
                <a:r>
                  <a:rPr lang="en-US" altLang="ja-JP" sz="2000" b="1" dirty="0">
                    <a:solidFill>
                      <a:srgbClr val="FF0000"/>
                    </a:solidFill>
                  </a:rPr>
                  <a:t>ATE</a:t>
                </a:r>
                <a:r>
                  <a:rPr lang="ja-JP" altLang="en-US" sz="2000" b="1">
                    <a:solidFill>
                      <a:srgbClr val="FF0000"/>
                    </a:solidFill>
                  </a:rPr>
                  <a:t>）</a:t>
                </a:r>
                <a:r>
                  <a:rPr lang="ja-JP" altLang="en-US" sz="2000"/>
                  <a:t>の推定を目指す</a:t>
                </a:r>
                <a:endParaRPr lang="en-US" altLang="ja-JP" sz="2000" dirty="0"/>
              </a:p>
              <a:p>
                <a:pPr marL="0" indent="0">
                  <a:buNone/>
                </a:pPr>
                <a:endParaRPr kumimoji="1" lang="en-US" altLang="ja-JP" sz="800" dirty="0"/>
              </a:p>
              <a:p>
                <a:r>
                  <a:rPr lang="en-US" altLang="ja-JP" sz="2000" dirty="0"/>
                  <a:t>ATE</a:t>
                </a:r>
                <a:r>
                  <a:rPr lang="ja-JP" altLang="en-US" sz="2000"/>
                  <a:t>：二つの処置のアウトカムの差分の期待値：</a:t>
                </a:r>
                <a:endParaRPr lang="en-US" altLang="ja-JP" sz="2000" dirty="0"/>
              </a:p>
              <a:p>
                <a:pPr marL="0" indent="0">
                  <a:buNone/>
                </a:pPr>
                <a:endParaRPr lang="en-US" altLang="ja-JP" sz="8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𝜃</m:t>
                          </m:r>
                        </m:e>
                        <m:sub>
                          <m:r>
                            <a:rPr lang="en-US" altLang="ja-JP" sz="2000" b="0" i="1" smtClean="0">
                              <a:latin typeface="Cambria Math" panose="02040503050406030204" pitchFamily="18" charset="0"/>
                            </a:rPr>
                            <m:t>𝑃</m:t>
                          </m:r>
                        </m:sub>
                        <m:sup>
                          <m:r>
                            <m:rPr>
                              <m:sty m:val="p"/>
                            </m:rPr>
                            <a:rPr lang="en-US" altLang="ja-JP" sz="2000" b="0" i="0" smtClean="0">
                              <a:latin typeface="Cambria Math" panose="02040503050406030204" pitchFamily="18" charset="0"/>
                            </a:rPr>
                            <m:t>ATE</m:t>
                          </m:r>
                        </m:sup>
                      </m:sSubSup>
                      <m:r>
                        <a:rPr lang="en-US" altLang="ja-JP" sz="2000" b="0" i="1" smtClean="0">
                          <a:latin typeface="Cambria Math" panose="02040503050406030204" pitchFamily="18" charset="0"/>
                        </a:rPr>
                        <m:t> ≔</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𝔼</m:t>
                          </m:r>
                        </m:e>
                        <m:sub>
                          <m:r>
                            <a:rPr lang="en-US" altLang="ja-JP" sz="2000" b="0" i="1" smtClean="0">
                              <a:latin typeface="Cambria Math" panose="02040503050406030204" pitchFamily="18" charset="0"/>
                            </a:rPr>
                            <m:t>𝑃</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𝑌</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𝑌</m:t>
                      </m:r>
                      <m:r>
                        <a:rPr lang="en-US" altLang="ja-JP" sz="2000" b="0" i="1" smtClean="0">
                          <a:latin typeface="Cambria Math" panose="02040503050406030204" pitchFamily="18" charset="0"/>
                        </a:rPr>
                        <m:t>(0)]</m:t>
                      </m:r>
                    </m:oMath>
                  </m:oMathPara>
                </a14:m>
                <a:endParaRPr lang="en-US" altLang="ja-JP" sz="2000" dirty="0"/>
              </a:p>
              <a:p>
                <a:pPr/>
                <a:endParaRPr lang="en-US" altLang="ja-JP" sz="800" dirty="0"/>
              </a:p>
              <a:p>
                <a:pPr lvl="1"/>
                <a:r>
                  <a:rPr lang="ja-JP" altLang="en-US" sz="2000" b="0">
                    <a:latin typeface="Cambria Math" panose="02040503050406030204" pitchFamily="18" charset="0"/>
                  </a:rPr>
                  <a:t>アウトカムが従う分布を</a:t>
                </a:r>
                <a14:m>
                  <m:oMath xmlns:m="http://schemas.openxmlformats.org/officeDocument/2006/math">
                    <m:r>
                      <a:rPr lang="en-US" altLang="ja-JP" sz="2000" b="0" i="1" smtClean="0">
                        <a:latin typeface="Cambria Math" panose="02040503050406030204" pitchFamily="18" charset="0"/>
                      </a:rPr>
                      <m:t>𝑃</m:t>
                    </m:r>
                  </m:oMath>
                </a14:m>
                <a:r>
                  <a:rPr lang="ja-JP" altLang="en-US" sz="2000" b="0" dirty="0">
                    <a:latin typeface="Cambria Math" panose="02040503050406030204" pitchFamily="18" charset="0"/>
                  </a:rPr>
                  <a:t>とする</a:t>
                </a:r>
                <a:endParaRPr lang="en-US" altLang="ja-JP" sz="2000" b="0" dirty="0">
                  <a:latin typeface="Cambria Math" panose="02040503050406030204" pitchFamily="18" charset="0"/>
                </a:endParaRPr>
              </a:p>
              <a:p>
                <a:pPr lvl="1"/>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𝔼</m:t>
                        </m:r>
                      </m:e>
                      <m:sub>
                        <m:r>
                          <a:rPr lang="en-US" altLang="ja-JP" sz="2000" b="0" i="1" smtClean="0">
                            <a:latin typeface="Cambria Math" panose="02040503050406030204" pitchFamily="18" charset="0"/>
                          </a:rPr>
                          <m:t>𝑃</m:t>
                        </m:r>
                      </m:sub>
                    </m:sSub>
                  </m:oMath>
                </a14:m>
                <a:r>
                  <a:rPr lang="en-US" altLang="ja-JP" sz="2000" dirty="0"/>
                  <a:t> </a:t>
                </a:r>
                <a:r>
                  <a:rPr lang="ja-JP" altLang="en-US" sz="2000"/>
                  <a:t>は分布</a:t>
                </a:r>
                <a14:m>
                  <m:oMath xmlns:m="http://schemas.openxmlformats.org/officeDocument/2006/math">
                    <m:r>
                      <a:rPr lang="en-US" altLang="ja-JP" sz="2000" b="0" i="1" smtClean="0">
                        <a:latin typeface="Cambria Math" panose="02040503050406030204" pitchFamily="18" charset="0"/>
                      </a:rPr>
                      <m:t>𝑃</m:t>
                    </m:r>
                  </m:oMath>
                </a14:m>
                <a:r>
                  <a:rPr lang="ja-JP" altLang="en-US" sz="2000"/>
                  <a:t>上での期待値を表す</a:t>
                </a:r>
                <a:endParaRPr lang="en-US" altLang="ja-JP" sz="2000" dirty="0"/>
              </a:p>
            </p:txBody>
          </p:sp>
        </mc:Choice>
        <mc:Fallback>
          <p:sp>
            <p:nvSpPr>
              <p:cNvPr id="3" name="コンテンツ プレースホルダー 2">
                <a:extLst>
                  <a:ext uri="{FF2B5EF4-FFF2-40B4-BE49-F238E27FC236}">
                    <a16:creationId xmlns:a16="http://schemas.microsoft.com/office/drawing/2014/main" id="{3E3DB027-BC8B-8054-D7EF-44EED495143A}"/>
                  </a:ext>
                </a:extLst>
              </p:cNvPr>
              <p:cNvSpPr>
                <a:spLocks noGrp="1" noRot="1" noChangeAspect="1" noMove="1" noResize="1" noEditPoints="1" noAdjustHandles="1" noChangeArrowheads="1" noChangeShapeType="1" noTextEdit="1"/>
              </p:cNvSpPr>
              <p:nvPr>
                <p:ph idx="1"/>
              </p:nvPr>
            </p:nvSpPr>
            <p:spPr>
              <a:blipFill>
                <a:blip r:embed="rId2"/>
                <a:stretch>
                  <a:fillRect l="-603" t="-70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6318812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D957D-8844-640F-2D91-2320FE2B3B2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78C119D-53BF-9618-8736-BEBE919E4744}"/>
              </a:ext>
            </a:extLst>
          </p:cNvPr>
          <p:cNvSpPr>
            <a:spLocks noGrp="1"/>
          </p:cNvSpPr>
          <p:nvPr>
            <p:ph type="title"/>
          </p:nvPr>
        </p:nvSpPr>
        <p:spPr/>
        <p:txBody>
          <a:bodyPr/>
          <a:lstStyle/>
          <a:p>
            <a:r>
              <a:rPr lang="ja-JP" altLang="en-US"/>
              <a:t>処置効果推定における課題</a:t>
            </a:r>
            <a:endParaRPr kumimoji="1" lang="ja-JP" altLang="en-US"/>
          </a:p>
        </p:txBody>
      </p:sp>
      <p:sp>
        <p:nvSpPr>
          <p:cNvPr id="3" name="テキスト プレースホルダー 2">
            <a:extLst>
              <a:ext uri="{FF2B5EF4-FFF2-40B4-BE49-F238E27FC236}">
                <a16:creationId xmlns:a16="http://schemas.microsoft.com/office/drawing/2014/main" id="{1E5C7A73-7DA7-91E0-24EA-B1928C3BEC81}"/>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3978416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9FA9B-34D7-8B4C-7D19-490D6A7531D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EBB4160-D9A8-D60E-409E-B0A7AC2C6F50}"/>
              </a:ext>
            </a:extLst>
          </p:cNvPr>
          <p:cNvSpPr>
            <a:spLocks noGrp="1"/>
          </p:cNvSpPr>
          <p:nvPr>
            <p:ph type="title"/>
          </p:nvPr>
        </p:nvSpPr>
        <p:spPr/>
        <p:txBody>
          <a:bodyPr/>
          <a:lstStyle/>
          <a:p>
            <a:r>
              <a:rPr kumimoji="1" lang="ja-JP" altLang="en-US"/>
              <a:t>因果推論における課題</a:t>
            </a:r>
          </a:p>
        </p:txBody>
      </p:sp>
      <p:sp>
        <p:nvSpPr>
          <p:cNvPr id="3" name="コンテンツ プレースホルダー 2">
            <a:extLst>
              <a:ext uri="{FF2B5EF4-FFF2-40B4-BE49-F238E27FC236}">
                <a16:creationId xmlns:a16="http://schemas.microsoft.com/office/drawing/2014/main" id="{DD5BC5BB-2100-E1D5-06AB-AC826040BC91}"/>
              </a:ext>
            </a:extLst>
          </p:cNvPr>
          <p:cNvSpPr>
            <a:spLocks noGrp="1"/>
          </p:cNvSpPr>
          <p:nvPr>
            <p:ph idx="1"/>
          </p:nvPr>
        </p:nvSpPr>
        <p:spPr/>
        <p:txBody>
          <a:bodyPr>
            <a:noAutofit/>
          </a:bodyPr>
          <a:lstStyle/>
          <a:p>
            <a:pPr>
              <a:buFont typeface="Wingdings" pitchFamily="2" charset="2"/>
              <a:buChar char="Ø"/>
            </a:pPr>
            <a:r>
              <a:rPr lang="ja-JP" altLang="en-US" sz="2000">
                <a:latin typeface="+mn-ea"/>
              </a:rPr>
              <a:t>何が難しいのか</a:t>
            </a:r>
            <a:endParaRPr lang="en-US" altLang="ja-JP" sz="2000" dirty="0">
              <a:latin typeface="+mn-ea"/>
            </a:endParaRPr>
          </a:p>
          <a:p>
            <a:pPr>
              <a:buFont typeface="Wingdings" pitchFamily="2" charset="2"/>
              <a:buChar char="Ø"/>
            </a:pPr>
            <a:endParaRPr lang="en-US" altLang="ja-JP" sz="800" dirty="0">
              <a:latin typeface="+mn-ea"/>
            </a:endParaRPr>
          </a:p>
          <a:p>
            <a:r>
              <a:rPr lang="ja-JP" altLang="en-US" sz="2000" b="1">
                <a:latin typeface="+mn-ea"/>
              </a:rPr>
              <a:t>反実仮想的性質</a:t>
            </a:r>
            <a:endParaRPr lang="en-US" altLang="ja-JP" sz="2000" b="1" dirty="0">
              <a:latin typeface="+mn-ea"/>
            </a:endParaRPr>
          </a:p>
          <a:p>
            <a:pPr lvl="1"/>
            <a:r>
              <a:rPr lang="ja-JP" altLang="en-US" sz="2000">
                <a:latin typeface="+mn-ea"/>
              </a:rPr>
              <a:t>過去に実施しなかった施策に関する結果を観測できない</a:t>
            </a:r>
            <a:br>
              <a:rPr lang="en-US" altLang="ja-JP" sz="2000" dirty="0">
                <a:latin typeface="+mn-ea"/>
              </a:rPr>
            </a:br>
            <a:r>
              <a:rPr lang="ja-JP" altLang="en-US" sz="2000">
                <a:latin typeface="+mn-ea"/>
              </a:rPr>
              <a:t>（例）患者が手術をする場合としなかった場合の病状を同時に観測して比較できない</a:t>
            </a:r>
            <a:endParaRPr lang="en-US" altLang="ja-JP" sz="2000" dirty="0">
              <a:latin typeface="+mn-ea"/>
            </a:endParaRPr>
          </a:p>
          <a:p>
            <a:pPr lvl="1"/>
            <a:r>
              <a:rPr lang="ja-JP" altLang="en-US" sz="2000" b="1">
                <a:latin typeface="+mn-ea"/>
              </a:rPr>
              <a:t>欠損値の問題を生じさせる</a:t>
            </a:r>
            <a:endParaRPr lang="en-US" altLang="ja-JP" sz="2000" b="1" dirty="0">
              <a:latin typeface="+mn-ea"/>
            </a:endParaRPr>
          </a:p>
          <a:p>
            <a:pPr lvl="1"/>
            <a:endParaRPr lang="en-US" altLang="ja-JP" sz="800" b="1" dirty="0">
              <a:latin typeface="+mn-ea"/>
            </a:endParaRPr>
          </a:p>
          <a:p>
            <a:r>
              <a:rPr lang="ja-JP" altLang="en-US" sz="2000" b="1">
                <a:latin typeface="+mn-ea"/>
              </a:rPr>
              <a:t>交絡の存在</a:t>
            </a:r>
            <a:endParaRPr lang="en-US" altLang="ja-JP" sz="2000" b="1" dirty="0">
              <a:latin typeface="+mn-ea"/>
            </a:endParaRPr>
          </a:p>
          <a:p>
            <a:pPr lvl="1"/>
            <a:r>
              <a:rPr lang="ja-JP" altLang="en-US" sz="2000">
                <a:latin typeface="+mn-ea"/>
              </a:rPr>
              <a:t>因果効果の推定に必要な変数の欠如</a:t>
            </a:r>
            <a:endParaRPr lang="en-US" altLang="ja-JP" sz="2000" dirty="0">
              <a:latin typeface="+mn-ea"/>
            </a:endParaRPr>
          </a:p>
          <a:p>
            <a:pPr lvl="1"/>
            <a:r>
              <a:rPr lang="ja-JP" altLang="en-US" sz="2000">
                <a:latin typeface="+mn-ea"/>
              </a:rPr>
              <a:t>多くの場合、関心のある施策を動かした場合に同時に動いてしまう何か</a:t>
            </a:r>
            <a:endParaRPr lang="en-US" altLang="ja-JP" sz="2000" dirty="0">
              <a:latin typeface="+mn-ea"/>
            </a:endParaRPr>
          </a:p>
          <a:p>
            <a:pPr marL="397800" lvl="1" indent="0">
              <a:buNone/>
            </a:pPr>
            <a:r>
              <a:rPr lang="ja-JP" altLang="en-US" sz="2000">
                <a:latin typeface="+mn-ea"/>
              </a:rPr>
              <a:t>（例）ある商品の広告を配信したとき、その広告を見るのは商品に関心がある人</a:t>
            </a:r>
            <a:endParaRPr lang="en-US" altLang="ja-JP" sz="2000" dirty="0">
              <a:latin typeface="+mn-ea"/>
            </a:endParaRPr>
          </a:p>
          <a:p>
            <a:pPr marL="914400" lvl="2" indent="0">
              <a:buNone/>
            </a:pPr>
            <a:r>
              <a:rPr lang="en-US" altLang="ja-JP" sz="2000" dirty="0">
                <a:latin typeface="+mn-ea"/>
              </a:rPr>
              <a:t>           </a:t>
            </a:r>
            <a:r>
              <a:rPr lang="ja-JP" altLang="en-US" sz="2000">
                <a:latin typeface="+mn-ea"/>
              </a:rPr>
              <a:t>↔︎</a:t>
            </a:r>
            <a:r>
              <a:rPr lang="en-US" altLang="ja-JP" sz="2000" dirty="0">
                <a:latin typeface="+mn-ea"/>
              </a:rPr>
              <a:t> </a:t>
            </a:r>
            <a:r>
              <a:rPr lang="ja-JP" altLang="en-US" sz="2000">
                <a:latin typeface="+mn-ea"/>
              </a:rPr>
              <a:t>広告を見る人の属性を固定しないと広告配信の効果を推定できない</a:t>
            </a:r>
            <a:endParaRPr lang="en-US" altLang="ja-JP" sz="2000" dirty="0">
              <a:latin typeface="+mn-ea"/>
            </a:endParaRPr>
          </a:p>
          <a:p>
            <a:pPr marL="397800" lvl="1" indent="0">
              <a:buNone/>
            </a:pPr>
            <a:r>
              <a:rPr lang="ja-JP" altLang="en-US" sz="2000">
                <a:latin typeface="+mn-ea"/>
              </a:rPr>
              <a:t>（例）需要と供給は均衡するように動く</a:t>
            </a:r>
            <a:endParaRPr lang="en-US" altLang="ja-JP" sz="2000" dirty="0">
              <a:latin typeface="+mn-ea"/>
            </a:endParaRPr>
          </a:p>
          <a:p>
            <a:pPr marL="914400" lvl="2" indent="0">
              <a:buNone/>
            </a:pPr>
            <a:r>
              <a:rPr lang="ja-JP" altLang="en-US" sz="2000">
                <a:latin typeface="+mn-ea"/>
              </a:rPr>
              <a:t>　　　↔︎</a:t>
            </a:r>
            <a:r>
              <a:rPr lang="en-US" altLang="ja-JP" sz="2000" dirty="0">
                <a:latin typeface="+mn-ea"/>
              </a:rPr>
              <a:t> </a:t>
            </a:r>
            <a:r>
              <a:rPr lang="ja-JP" altLang="en-US" sz="2000">
                <a:latin typeface="+mn-ea"/>
              </a:rPr>
              <a:t>供給を固定しないと需要曲線は推定できない</a:t>
            </a:r>
            <a:endParaRPr lang="en-US" altLang="ja-JP" sz="2000" dirty="0">
              <a:latin typeface="+mn-ea"/>
            </a:endParaRPr>
          </a:p>
          <a:p>
            <a:pPr marL="397800" lvl="1" indent="0">
              <a:buNone/>
            </a:pPr>
            <a:endParaRPr lang="en-US" altLang="ja-JP" sz="800" b="1" dirty="0">
              <a:latin typeface="+mn-ea"/>
            </a:endParaRPr>
          </a:p>
          <a:p>
            <a:r>
              <a:rPr lang="ja-JP" altLang="en-US" sz="2000" b="1">
                <a:latin typeface="+mn-ea"/>
              </a:rPr>
              <a:t>外的妥当性</a:t>
            </a:r>
            <a:endParaRPr lang="en-US" altLang="ja-JP" sz="2000" b="1" dirty="0">
              <a:latin typeface="+mn-ea"/>
            </a:endParaRPr>
          </a:p>
          <a:p>
            <a:pPr lvl="1"/>
            <a:r>
              <a:rPr lang="ja-JP" altLang="en-US" sz="2000">
                <a:latin typeface="+mn-ea"/>
              </a:rPr>
              <a:t>データを生成している母集団と、関心のある母集団が異なる</a:t>
            </a:r>
            <a:endParaRPr lang="en-US" altLang="ja-JP" sz="2000" dirty="0">
              <a:latin typeface="+mn-ea"/>
            </a:endParaRPr>
          </a:p>
          <a:p>
            <a:endParaRPr kumimoji="1" lang="en-US" altLang="ja-JP" sz="2000" dirty="0"/>
          </a:p>
        </p:txBody>
      </p:sp>
    </p:spTree>
    <p:extLst>
      <p:ext uri="{BB962C8B-B14F-4D97-AF65-F5344CB8AC3E}">
        <p14:creationId xmlns:p14="http://schemas.microsoft.com/office/powerpoint/2010/main" val="3544041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42AB1-C2A0-F058-6548-D58A518DEAA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ED7E8BB-48C0-95FC-20E6-E9A5F2949097}"/>
              </a:ext>
            </a:extLst>
          </p:cNvPr>
          <p:cNvSpPr>
            <a:spLocks noGrp="1"/>
          </p:cNvSpPr>
          <p:nvPr>
            <p:ph type="title"/>
          </p:nvPr>
        </p:nvSpPr>
        <p:spPr/>
        <p:txBody>
          <a:bodyPr/>
          <a:lstStyle/>
          <a:p>
            <a:r>
              <a:rPr lang="en" altLang="ja-JP" dirty="0"/>
              <a:t>Ceteris Paribus </a:t>
            </a:r>
            <a:endParaRPr kumimoji="1" lang="ja-JP" altLang="en-US"/>
          </a:p>
        </p:txBody>
      </p:sp>
      <p:sp>
        <p:nvSpPr>
          <p:cNvPr id="3" name="コンテンツ プレースホルダー 2">
            <a:extLst>
              <a:ext uri="{FF2B5EF4-FFF2-40B4-BE49-F238E27FC236}">
                <a16:creationId xmlns:a16="http://schemas.microsoft.com/office/drawing/2014/main" id="{A9C6FC3E-5E98-0A87-D7BF-2CE31CACD94C}"/>
              </a:ext>
            </a:extLst>
          </p:cNvPr>
          <p:cNvSpPr>
            <a:spLocks noGrp="1"/>
          </p:cNvSpPr>
          <p:nvPr>
            <p:ph idx="1"/>
          </p:nvPr>
        </p:nvSpPr>
        <p:spPr/>
        <p:txBody>
          <a:bodyPr/>
          <a:lstStyle/>
          <a:p>
            <a:r>
              <a:rPr kumimoji="1" lang="ja-JP" altLang="en-US"/>
              <a:t>因果効果とは</a:t>
            </a:r>
            <a:r>
              <a:rPr lang="ja-JP" altLang="en-US"/>
              <a:t>「</a:t>
            </a:r>
            <a:r>
              <a:rPr kumimoji="1" lang="ja-JP" altLang="en-US"/>
              <a:t>ある処置（行動）</a:t>
            </a:r>
            <a:r>
              <a:rPr lang="ja-JP" altLang="en-US"/>
              <a:t>を施した場合におけるアウトカムの変化」</a:t>
            </a:r>
            <a:endParaRPr lang="en-US" altLang="ja-JP" dirty="0"/>
          </a:p>
          <a:p>
            <a:endParaRPr kumimoji="1" lang="en-US" altLang="ja-JP" sz="800" dirty="0"/>
          </a:p>
          <a:p>
            <a:pPr lvl="1"/>
            <a:r>
              <a:rPr lang="ja-JP" altLang="en-US"/>
              <a:t>関心にある処置以外の結果に関連するすべての要因を固定した状況で、ある処置（行動）を施した場合におけるアウトカムの変化</a:t>
            </a:r>
            <a:endParaRPr lang="en-US" altLang="ja-JP" dirty="0"/>
          </a:p>
          <a:p>
            <a:pPr marL="0" indent="0">
              <a:buNone/>
            </a:pPr>
            <a:endParaRPr lang="en-US" altLang="ja-JP" dirty="0"/>
          </a:p>
          <a:p>
            <a:r>
              <a:rPr lang="ja-JP" altLang="en-US"/>
              <a:t>要因を揃えることが重要</a:t>
            </a:r>
            <a:r>
              <a:rPr lang="en-US" altLang="ja-JP" dirty="0"/>
              <a:t> </a:t>
            </a:r>
          </a:p>
          <a:p>
            <a:endParaRPr lang="en-US" altLang="ja-JP" sz="800" dirty="0"/>
          </a:p>
          <a:p>
            <a:pPr lvl="1"/>
            <a:r>
              <a:rPr lang="ja-JP" altLang="en-US"/>
              <a:t>肥料を与えることの効果</a:t>
            </a:r>
            <a:endParaRPr lang="en-US" altLang="ja-JP" dirty="0"/>
          </a:p>
          <a:p>
            <a:pPr lvl="2"/>
            <a:r>
              <a:rPr lang="ja-JP" altLang="en-US"/>
              <a:t>二つの畑を用意</a:t>
            </a:r>
            <a:endParaRPr lang="en-US" altLang="ja-JP" dirty="0"/>
          </a:p>
          <a:p>
            <a:pPr lvl="3"/>
            <a:r>
              <a:rPr lang="ja-JP" altLang="en-US"/>
              <a:t>同質な土壌・同じ作物・同じ日当たり具合</a:t>
            </a:r>
            <a:r>
              <a:rPr lang="en-US" altLang="ja-JP" dirty="0"/>
              <a:t>... </a:t>
            </a:r>
          </a:p>
          <a:p>
            <a:pPr lvl="1"/>
            <a:endParaRPr lang="en-US" altLang="ja-JP" sz="800" dirty="0"/>
          </a:p>
          <a:p>
            <a:r>
              <a:rPr lang="ja-JP" altLang="en-US"/>
              <a:t>この概念は経済学などでは「他の（関連する）要因が等しい」（</a:t>
            </a:r>
            <a:r>
              <a:rPr lang="en-US" altLang="ja-JP" dirty="0"/>
              <a:t>ceteris paribus</a:t>
            </a:r>
            <a:r>
              <a:rPr lang="ja-JP" altLang="en-US"/>
              <a:t>）と呼ばれる</a:t>
            </a:r>
            <a:endParaRPr lang="en-US" altLang="ja-JP" dirty="0"/>
          </a:p>
          <a:p>
            <a:endParaRPr kumimoji="1" lang="en-US" altLang="ja-JP" dirty="0"/>
          </a:p>
        </p:txBody>
      </p:sp>
    </p:spTree>
    <p:extLst>
      <p:ext uri="{BB962C8B-B14F-4D97-AF65-F5344CB8AC3E}">
        <p14:creationId xmlns:p14="http://schemas.microsoft.com/office/powerpoint/2010/main" val="1519025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E1E38-D636-42B9-252D-5D61BF272CF2}"/>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BC2FFDFA-751A-891A-C96E-9D38853BFF28}"/>
              </a:ext>
            </a:extLst>
          </p:cNvPr>
          <p:cNvSpPr>
            <a:spLocks noGrp="1"/>
          </p:cNvSpPr>
          <p:nvPr>
            <p:ph type="title"/>
          </p:nvPr>
        </p:nvSpPr>
        <p:spPr/>
        <p:txBody>
          <a:bodyPr>
            <a:normAutofit/>
          </a:bodyPr>
          <a:lstStyle/>
          <a:p>
            <a:r>
              <a:rPr lang="ja-JP" altLang="en-US"/>
              <a:t>実験アプローチと観察アプローチ</a:t>
            </a:r>
          </a:p>
        </p:txBody>
      </p:sp>
      <p:sp>
        <p:nvSpPr>
          <p:cNvPr id="7" name="コンテンツ プレースホルダー 6">
            <a:extLst>
              <a:ext uri="{FF2B5EF4-FFF2-40B4-BE49-F238E27FC236}">
                <a16:creationId xmlns:a16="http://schemas.microsoft.com/office/drawing/2014/main" id="{9B27CF4C-A3DC-7C04-0E87-1DA859210CC8}"/>
              </a:ext>
            </a:extLst>
          </p:cNvPr>
          <p:cNvSpPr>
            <a:spLocks noGrp="1"/>
          </p:cNvSpPr>
          <p:nvPr>
            <p:ph idx="1"/>
          </p:nvPr>
        </p:nvSpPr>
        <p:spPr/>
        <p:txBody>
          <a:bodyPr>
            <a:noAutofit/>
          </a:bodyPr>
          <a:lstStyle/>
          <a:p>
            <a:r>
              <a:rPr lang="ja-JP" altLang="en-US" sz="2000"/>
              <a:t>因果推論には実験アプローチと観察アプローチの二つのアプローチがある</a:t>
            </a:r>
            <a:endParaRPr lang="en-US" altLang="ja-JP" sz="2000" dirty="0"/>
          </a:p>
          <a:p>
            <a:pPr lvl="1">
              <a:buFont typeface="Wingdings" pitchFamily="2" charset="2"/>
              <a:buChar char="l"/>
            </a:pPr>
            <a:r>
              <a:rPr lang="ja-JP" altLang="en-US" sz="2000"/>
              <a:t>実験アプローチ</a:t>
            </a:r>
            <a:endParaRPr lang="en-US" altLang="ja-JP" sz="2000" dirty="0"/>
          </a:p>
          <a:p>
            <a:pPr lvl="2"/>
            <a:r>
              <a:rPr lang="ja-JP" altLang="en-US" sz="2000"/>
              <a:t>二つの処置を人々に割り当てて，そのアウトカムを観察する実験を行う．</a:t>
            </a:r>
            <a:endParaRPr lang="en-US" altLang="ja-JP" sz="2000" dirty="0"/>
          </a:p>
          <a:p>
            <a:pPr lvl="3"/>
            <a:r>
              <a:rPr lang="ja-JP" altLang="en-US" sz="2000"/>
              <a:t>ランダム化比較実験（</a:t>
            </a:r>
            <a:r>
              <a:rPr lang="en-US" altLang="ja-JP" sz="2000" dirty="0"/>
              <a:t>RCT</a:t>
            </a:r>
            <a:r>
              <a:rPr lang="ja-JP" altLang="en-US" sz="2000"/>
              <a:t>）や治験が代表例（</a:t>
            </a:r>
            <a:r>
              <a:rPr lang="en-US" altLang="ja-JP" sz="2000" dirty="0"/>
              <a:t>RCT</a:t>
            </a:r>
            <a:r>
              <a:rPr lang="ja-JP" altLang="en-US" sz="2000"/>
              <a:t>は因果推論の黄金律）．</a:t>
            </a:r>
            <a:endParaRPr lang="en-US" altLang="ja-JP" sz="2000" dirty="0"/>
          </a:p>
          <a:p>
            <a:pPr lvl="2"/>
            <a:r>
              <a:rPr lang="ja-JP" altLang="en-US" sz="2000"/>
              <a:t>実験後のデータから平均処置効果を推定．</a:t>
            </a:r>
            <a:endParaRPr lang="en-US" altLang="ja-JP" sz="2000" dirty="0"/>
          </a:p>
          <a:p>
            <a:pPr lvl="1">
              <a:buFont typeface="Wingdings" pitchFamily="2" charset="2"/>
              <a:buChar char="l"/>
            </a:pPr>
            <a:r>
              <a:rPr lang="ja-JP" altLang="en-US" sz="2000"/>
              <a:t>観察アプローチ</a:t>
            </a:r>
            <a:endParaRPr lang="en-US" altLang="ja-JP" sz="2000" dirty="0"/>
          </a:p>
          <a:p>
            <a:pPr lvl="2"/>
            <a:r>
              <a:rPr lang="ja-JP" altLang="en-US" sz="2000"/>
              <a:t>実験を行える状況は限られている．</a:t>
            </a:r>
            <a:endParaRPr lang="en-US" altLang="ja-JP" sz="2000" dirty="0"/>
          </a:p>
          <a:p>
            <a:pPr lvl="2"/>
            <a:r>
              <a:rPr lang="ja-JP" altLang="en-US" sz="2000"/>
              <a:t>適当に観察されたデータを用いて平均処置効果を推定する．</a:t>
            </a:r>
            <a:endParaRPr lang="en-US" altLang="ja-JP" sz="2000" dirty="0"/>
          </a:p>
          <a:p>
            <a:pPr lvl="1"/>
            <a:endParaRPr lang="en-US" altLang="ja-JP" sz="800" dirty="0"/>
          </a:p>
          <a:p>
            <a:r>
              <a:rPr lang="ja-JP" altLang="en-US" sz="2000"/>
              <a:t>実験アプローチの利点と欠点</a:t>
            </a:r>
            <a:endParaRPr lang="en-US" altLang="ja-JP" sz="2000" dirty="0"/>
          </a:p>
          <a:p>
            <a:pPr lvl="1"/>
            <a:r>
              <a:rPr lang="ja-JP" altLang="en-US" sz="2000"/>
              <a:t>利点：</a:t>
            </a:r>
            <a:r>
              <a:rPr lang="en-US" altLang="ja-JP" sz="2000" dirty="0"/>
              <a:t> </a:t>
            </a:r>
            <a:r>
              <a:rPr lang="ja-JP" altLang="en-US" sz="2000"/>
              <a:t>（多くの場合）因果効果に関連する他の要因を揃えることが可能</a:t>
            </a:r>
            <a:endParaRPr lang="en-US" altLang="ja-JP" sz="2000" dirty="0"/>
          </a:p>
          <a:p>
            <a:pPr lvl="2"/>
            <a:r>
              <a:rPr lang="ja-JP" altLang="en-US" sz="2000"/>
              <a:t>例外：ネットワーク効果</a:t>
            </a:r>
            <a:endParaRPr lang="en-US" altLang="ja-JP" sz="2000" dirty="0"/>
          </a:p>
          <a:p>
            <a:pPr lvl="1"/>
            <a:r>
              <a:rPr lang="ja-JP" altLang="en-US" sz="2000"/>
              <a:t>欠点：</a:t>
            </a:r>
            <a:r>
              <a:rPr lang="en-US" altLang="ja-JP" sz="2000" dirty="0"/>
              <a:t> </a:t>
            </a:r>
            <a:r>
              <a:rPr lang="ja-JP" altLang="en-US" sz="2000"/>
              <a:t>高コスト</a:t>
            </a:r>
            <a:endParaRPr lang="en-US" altLang="ja-JP" sz="2000" dirty="0"/>
          </a:p>
          <a:p>
            <a:endParaRPr lang="en-US" altLang="ja-JP" sz="800" dirty="0"/>
          </a:p>
          <a:p>
            <a:r>
              <a:rPr lang="ja-JP" altLang="en-US" sz="2000"/>
              <a:t>観察アプローチの利点と欠点</a:t>
            </a:r>
            <a:endParaRPr lang="en-US" altLang="ja-JP" sz="2000" dirty="0"/>
          </a:p>
          <a:p>
            <a:pPr lvl="1"/>
            <a:r>
              <a:rPr lang="ja-JP" altLang="en-US" sz="2000"/>
              <a:t>利点：</a:t>
            </a:r>
            <a:r>
              <a:rPr lang="en-US" altLang="ja-JP" sz="2000" dirty="0"/>
              <a:t> </a:t>
            </a:r>
            <a:r>
              <a:rPr lang="ja-JP" altLang="en-US" sz="2000"/>
              <a:t>データを入手しやすい</a:t>
            </a:r>
            <a:endParaRPr lang="en-US" altLang="ja-JP" sz="2000" dirty="0"/>
          </a:p>
          <a:p>
            <a:pPr lvl="1"/>
            <a:r>
              <a:rPr lang="ja-JP" altLang="en-US" sz="2000"/>
              <a:t>欠点：</a:t>
            </a:r>
            <a:r>
              <a:rPr lang="en-US" altLang="ja-JP" sz="2000" dirty="0"/>
              <a:t> </a:t>
            </a:r>
            <a:r>
              <a:rPr lang="ja-JP" altLang="en-US" sz="2000"/>
              <a:t>他の関連する要因が揃っていないことが多い</a:t>
            </a:r>
            <a:endParaRPr lang="en-US" altLang="ja-JP" sz="2000" dirty="0"/>
          </a:p>
          <a:p>
            <a:pPr lvl="1"/>
            <a:endParaRPr lang="en-US" altLang="ja-JP" sz="2000" dirty="0"/>
          </a:p>
          <a:p>
            <a:pPr marL="855000" lvl="2" indent="0">
              <a:buNone/>
            </a:pPr>
            <a:endParaRPr lang="en-US" altLang="ja-JP" sz="2000" dirty="0"/>
          </a:p>
          <a:p>
            <a:pPr lvl="1"/>
            <a:endParaRPr lang="en-US" altLang="ja-JP" sz="2000" dirty="0"/>
          </a:p>
          <a:p>
            <a:pPr lvl="1"/>
            <a:endParaRPr lang="en-US" altLang="ja-JP" sz="2000" dirty="0"/>
          </a:p>
          <a:p>
            <a:endParaRPr lang="en-US" altLang="ja-JP" sz="2000" dirty="0"/>
          </a:p>
        </p:txBody>
      </p:sp>
      <p:sp>
        <p:nvSpPr>
          <p:cNvPr id="8" name="Holder 4">
            <a:extLst>
              <a:ext uri="{FF2B5EF4-FFF2-40B4-BE49-F238E27FC236}">
                <a16:creationId xmlns:a16="http://schemas.microsoft.com/office/drawing/2014/main" id="{8A4B13A2-8421-02A3-5A50-2389D2525696}"/>
              </a:ext>
            </a:extLst>
          </p:cNvPr>
          <p:cNvSpPr>
            <a:spLocks noGrp="1"/>
          </p:cNvSpPr>
          <p:nvPr>
            <p:ph type="ftr" sz="quarter" idx="3"/>
          </p:nvPr>
        </p:nvSpPr>
        <p:spPr>
          <a:xfrm>
            <a:off x="8297036" y="6571035"/>
            <a:ext cx="3510279" cy="123111"/>
          </a:xfrm>
          <a:prstGeom prst="rect">
            <a:avLst/>
          </a:prstGeom>
        </p:spPr>
        <p:txBody>
          <a:bodyPr wrap="square" lIns="0" tIns="0" rIns="0" bIns="0">
            <a:spAutoFit/>
          </a:bodyPr>
          <a:lstStyle>
            <a:defPPr>
              <a:defRPr kern="0"/>
            </a:defPPr>
            <a:lvl1pPr>
              <a:defRPr sz="800" b="0" i="0">
                <a:solidFill>
                  <a:srgbClr val="7E7E7E"/>
                </a:solidFill>
                <a:latin typeface="Arial"/>
                <a:cs typeface="Arial"/>
              </a:defRPr>
            </a:lvl1pPr>
          </a:lstStyle>
          <a:p>
            <a:pPr marL="12700">
              <a:lnSpc>
                <a:spcPct val="100000"/>
              </a:lnSpc>
              <a:spcBef>
                <a:spcPts val="25"/>
              </a:spcBef>
            </a:pPr>
            <a:r>
              <a:rPr lang="en"/>
              <a:t>Copyright</a:t>
            </a:r>
            <a:r>
              <a:rPr lang="en" spc="-15"/>
              <a:t> </a:t>
            </a:r>
            <a:r>
              <a:rPr lang="en"/>
              <a:t>(c)</a:t>
            </a:r>
            <a:r>
              <a:rPr lang="en" spc="-40"/>
              <a:t> </a:t>
            </a:r>
            <a:r>
              <a:rPr lang="en"/>
              <a:t>Mizuho–DL</a:t>
            </a:r>
            <a:r>
              <a:rPr lang="en" spc="-10"/>
              <a:t> </a:t>
            </a:r>
            <a:r>
              <a:rPr lang="en"/>
              <a:t>Financial</a:t>
            </a:r>
            <a:r>
              <a:rPr lang="en" spc="-30"/>
              <a:t> </a:t>
            </a:r>
            <a:r>
              <a:rPr lang="en"/>
              <a:t>Technology</a:t>
            </a:r>
            <a:r>
              <a:rPr lang="en" spc="-20"/>
              <a:t> </a:t>
            </a:r>
            <a:r>
              <a:rPr lang="en"/>
              <a:t>Co.,</a:t>
            </a:r>
            <a:r>
              <a:rPr lang="en" spc="-25"/>
              <a:t> </a:t>
            </a:r>
            <a:r>
              <a:rPr lang="en"/>
              <a:t>Ltd.</a:t>
            </a:r>
            <a:r>
              <a:rPr lang="en" spc="-30"/>
              <a:t> </a:t>
            </a:r>
            <a:r>
              <a:rPr lang="en"/>
              <a:t>All</a:t>
            </a:r>
            <a:r>
              <a:rPr lang="en" spc="-35"/>
              <a:t> </a:t>
            </a:r>
            <a:r>
              <a:rPr lang="en"/>
              <a:t>Rights</a:t>
            </a:r>
            <a:r>
              <a:rPr lang="en" spc="-35"/>
              <a:t> </a:t>
            </a:r>
            <a:r>
              <a:rPr lang="en" spc="-10"/>
              <a:t>Reserved.</a:t>
            </a:r>
            <a:endParaRPr spc="-10" dirty="0"/>
          </a:p>
        </p:txBody>
      </p:sp>
    </p:spTree>
    <p:extLst>
      <p:ext uri="{BB962C8B-B14F-4D97-AF65-F5344CB8AC3E}">
        <p14:creationId xmlns:p14="http://schemas.microsoft.com/office/powerpoint/2010/main" val="19392226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E0245-D38E-D271-C73C-8ABDE7B7169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88AFD3D-7720-E7FE-D2BF-86735C8F0208}"/>
              </a:ext>
            </a:extLst>
          </p:cNvPr>
          <p:cNvSpPr>
            <a:spLocks noGrp="1"/>
          </p:cNvSpPr>
          <p:nvPr>
            <p:ph type="title"/>
          </p:nvPr>
        </p:nvSpPr>
        <p:spPr/>
        <p:txBody>
          <a:bodyPr/>
          <a:lstStyle/>
          <a:p>
            <a:r>
              <a:rPr kumimoji="1" lang="ja-JP" altLang="en-US"/>
              <a:t>観察データを用いるデータ分析</a:t>
            </a:r>
          </a:p>
        </p:txBody>
      </p:sp>
      <p:sp>
        <p:nvSpPr>
          <p:cNvPr id="3" name="コンテンツ プレースホルダー 2">
            <a:extLst>
              <a:ext uri="{FF2B5EF4-FFF2-40B4-BE49-F238E27FC236}">
                <a16:creationId xmlns:a16="http://schemas.microsoft.com/office/drawing/2014/main" id="{89E895CE-405A-FD6E-C6B6-A491CF491AFB}"/>
              </a:ext>
            </a:extLst>
          </p:cNvPr>
          <p:cNvSpPr>
            <a:spLocks noGrp="1"/>
          </p:cNvSpPr>
          <p:nvPr>
            <p:ph idx="1"/>
          </p:nvPr>
        </p:nvSpPr>
        <p:spPr/>
        <p:txBody>
          <a:bodyPr>
            <a:normAutofit/>
          </a:bodyPr>
          <a:lstStyle/>
          <a:p>
            <a:r>
              <a:rPr lang="ja-JP" altLang="en-US" sz="2000"/>
              <a:t>この発表</a:t>
            </a:r>
            <a:r>
              <a:rPr kumimoji="1" lang="ja-JP" altLang="en-US" sz="2000"/>
              <a:t>では主に観察データを用いることを想定する</a:t>
            </a:r>
            <a:endParaRPr kumimoji="1" lang="en-US" altLang="ja-JP" sz="2000" dirty="0"/>
          </a:p>
          <a:p>
            <a:pPr lvl="1"/>
            <a:r>
              <a:rPr kumimoji="1" lang="ja-JP" altLang="en-US" sz="2000"/>
              <a:t>関連する要因が同じではないこと</a:t>
            </a:r>
            <a:r>
              <a:rPr lang="ja-JP" altLang="en-US" sz="2000"/>
              <a:t>を強調するため</a:t>
            </a:r>
            <a:endParaRPr kumimoji="1" lang="en-US" altLang="ja-JP" sz="2000" dirty="0"/>
          </a:p>
          <a:p>
            <a:pPr lvl="2"/>
            <a:r>
              <a:rPr lang="ja-JP" altLang="en-US" sz="1600"/>
              <a:t>実際には実験データと本質的に大きな違いはない</a:t>
            </a:r>
            <a:endParaRPr lang="en-US" altLang="ja-JP" sz="1600" dirty="0"/>
          </a:p>
          <a:p>
            <a:pPr lvl="3"/>
            <a:r>
              <a:rPr lang="ja-JP" altLang="en-US" sz="1600"/>
              <a:t>実験データといっても関連する要因が同じとは限らない（例：バンディット問題）</a:t>
            </a:r>
            <a:endParaRPr kumimoji="1" lang="en-US" altLang="ja-JP" sz="1600" dirty="0"/>
          </a:p>
          <a:p>
            <a:pPr lvl="1"/>
            <a:endParaRPr kumimoji="1" lang="en-US" altLang="ja-JP" sz="800" dirty="0"/>
          </a:p>
          <a:p>
            <a:r>
              <a:rPr kumimoji="1" lang="ja-JP" altLang="en-US" sz="2000"/>
              <a:t>「他の関連する要因を等しくする」（</a:t>
            </a:r>
            <a:r>
              <a:rPr lang="en-US" altLang="ja-JP" sz="2000" dirty="0"/>
              <a:t> ceteris paribus </a:t>
            </a:r>
            <a:r>
              <a:rPr kumimoji="1" lang="ja-JP" altLang="en-US" sz="2000"/>
              <a:t>）操作が重要</a:t>
            </a:r>
            <a:endParaRPr kumimoji="1" lang="en-US" altLang="ja-JP" sz="2000" dirty="0"/>
          </a:p>
          <a:p>
            <a:pPr marL="397800" lvl="1" indent="0">
              <a:buNone/>
            </a:pPr>
            <a:r>
              <a:rPr lang="ja-JP" altLang="en-US" sz="2000"/>
              <a:t>→</a:t>
            </a:r>
            <a:r>
              <a:rPr lang="en-US" altLang="ja-JP" sz="2000" dirty="0"/>
              <a:t> </a:t>
            </a:r>
            <a:r>
              <a:rPr lang="ja-JP" altLang="en-US" sz="2000"/>
              <a:t>コントロール（</a:t>
            </a:r>
            <a:r>
              <a:rPr lang="en-US" altLang="ja-JP" sz="2000" dirty="0"/>
              <a:t>control</a:t>
            </a:r>
            <a:r>
              <a:rPr lang="ja-JP" altLang="en-US" sz="2000"/>
              <a:t>；</a:t>
            </a:r>
            <a:r>
              <a:rPr lang="en-US" altLang="ja-JP" sz="2000" dirty="0"/>
              <a:t> </a:t>
            </a:r>
            <a:r>
              <a:rPr lang="ja-JP" altLang="en-US" sz="2000"/>
              <a:t>制御）と呼ばれる</a:t>
            </a:r>
            <a:endParaRPr kumimoji="1" lang="en-US" altLang="ja-JP" sz="2000" dirty="0"/>
          </a:p>
          <a:p>
            <a:pPr lvl="1"/>
            <a:r>
              <a:rPr lang="ja-JP" altLang="en-US" sz="2000"/>
              <a:t>他の関連する要因は交絡とも呼ばれる</a:t>
            </a:r>
            <a:endParaRPr lang="en-US" altLang="ja-JP" sz="2000" dirty="0"/>
          </a:p>
          <a:p>
            <a:endParaRPr kumimoji="1" lang="en-US" altLang="ja-JP" sz="800" dirty="0"/>
          </a:p>
          <a:p>
            <a:r>
              <a:rPr lang="ja-JP" altLang="en-US" sz="2000"/>
              <a:t>交絡のコントロール</a:t>
            </a:r>
            <a:endParaRPr lang="en-US" altLang="ja-JP" sz="2000" dirty="0"/>
          </a:p>
          <a:p>
            <a:pPr lvl="1"/>
            <a:r>
              <a:rPr kumimoji="1" lang="ja-JP" altLang="en-US" sz="2000"/>
              <a:t>交絡をコントロールすることが重要</a:t>
            </a:r>
            <a:endParaRPr kumimoji="1" lang="en-US" altLang="ja-JP" sz="2000" dirty="0"/>
          </a:p>
          <a:p>
            <a:pPr lvl="1"/>
            <a:r>
              <a:rPr lang="ja-JP" altLang="en-US" sz="2000"/>
              <a:t>交絡の定義や交絡のコントロールの具体的な操作は、背後の統計モデルに依存する</a:t>
            </a:r>
            <a:endParaRPr lang="en-US" altLang="ja-JP" sz="2000" dirty="0"/>
          </a:p>
          <a:p>
            <a:pPr lvl="2"/>
            <a:r>
              <a:rPr lang="ja-JP" altLang="en-US" sz="2000"/>
              <a:t>線形回帰</a:t>
            </a:r>
            <a:r>
              <a:rPr kumimoji="1" lang="ja-JP" altLang="en-US" sz="2000"/>
              <a:t>モデル</a:t>
            </a:r>
            <a:r>
              <a:rPr lang="ja-JP" altLang="en-US" sz="2000"/>
              <a:t>や</a:t>
            </a:r>
            <a:r>
              <a:rPr kumimoji="1" lang="ja-JP" altLang="en-US" sz="2000"/>
              <a:t>ノンパラメトリックモデルなど</a:t>
            </a:r>
          </a:p>
        </p:txBody>
      </p:sp>
    </p:spTree>
    <p:extLst>
      <p:ext uri="{BB962C8B-B14F-4D97-AF65-F5344CB8AC3E}">
        <p14:creationId xmlns:p14="http://schemas.microsoft.com/office/powerpoint/2010/main" val="1419041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D1C97-B34E-C024-6F15-11B667D738C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74CCD2D-9E66-1134-3D89-DCB00598E7E6}"/>
              </a:ext>
            </a:extLst>
          </p:cNvPr>
          <p:cNvSpPr>
            <a:spLocks noGrp="1"/>
          </p:cNvSpPr>
          <p:nvPr>
            <p:ph type="title"/>
          </p:nvPr>
        </p:nvSpPr>
        <p:spPr/>
        <p:txBody>
          <a:bodyPr/>
          <a:lstStyle/>
          <a:p>
            <a:r>
              <a:rPr kumimoji="1" lang="en-US" altLang="ja-JP" dirty="0"/>
              <a:t>ATE</a:t>
            </a:r>
            <a:r>
              <a:rPr kumimoji="1" lang="ja-JP" altLang="en-US"/>
              <a:t>推定の数学定式化と線形回帰分析</a:t>
            </a:r>
          </a:p>
        </p:txBody>
      </p:sp>
      <p:sp>
        <p:nvSpPr>
          <p:cNvPr id="3" name="テキスト プレースホルダー 2">
            <a:extLst>
              <a:ext uri="{FF2B5EF4-FFF2-40B4-BE49-F238E27FC236}">
                <a16:creationId xmlns:a16="http://schemas.microsoft.com/office/drawing/2014/main" id="{EC37BC7A-DAC5-405A-1432-568C1F9C4E14}"/>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32674818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CF1AE-AA08-6CF4-3354-14701EB0483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519A0C5-B46E-6D62-B783-16544D83FFD2}"/>
              </a:ext>
            </a:extLst>
          </p:cNvPr>
          <p:cNvSpPr>
            <a:spLocks noGrp="1"/>
          </p:cNvSpPr>
          <p:nvPr>
            <p:ph type="title"/>
          </p:nvPr>
        </p:nvSpPr>
        <p:spPr/>
        <p:txBody>
          <a:bodyPr>
            <a:normAutofit/>
          </a:bodyPr>
          <a:lstStyle/>
          <a:p>
            <a:r>
              <a:rPr kumimoji="1" lang="ja-JP" altLang="en-US"/>
              <a:t>潜在アウトカムモデル</a:t>
            </a:r>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7687677A-E8E6-A9B9-18BA-E19754171C7A}"/>
                  </a:ext>
                </a:extLst>
              </p:cNvPr>
              <p:cNvSpPr>
                <a:spLocks noGrp="1"/>
              </p:cNvSpPr>
              <p:nvPr>
                <p:ph idx="1"/>
              </p:nvPr>
            </p:nvSpPr>
            <p:spPr/>
            <p:txBody>
              <a:bodyPr>
                <a:noAutofit/>
              </a:bodyPr>
              <a:lstStyle/>
              <a:p>
                <a:pPr>
                  <a:spcAft>
                    <a:spcPts val="300"/>
                  </a:spcAft>
                  <a:buFont typeface="Wingdings" pitchFamily="2" charset="2"/>
                  <a:buChar char="Ø"/>
                </a:pPr>
                <a:r>
                  <a:rPr lang="ja-JP" altLang="en-US" sz="2000" b="1"/>
                  <a:t>ネイマン</a:t>
                </a:r>
                <a:r>
                  <a:rPr lang="en-US" altLang="ja-JP" sz="2000" b="1" dirty="0"/>
                  <a:t>=</a:t>
                </a:r>
                <a:r>
                  <a:rPr lang="ja-JP" altLang="en-US" sz="2000" b="1"/>
                  <a:t>ルービンの因果モデル</a:t>
                </a:r>
                <a:endParaRPr lang="en-US" altLang="ja-JP" sz="2000" b="1" dirty="0"/>
              </a:p>
              <a:p>
                <a:pPr lvl="1">
                  <a:spcAft>
                    <a:spcPts val="300"/>
                  </a:spcAft>
                  <a:buFont typeface="システムフォント（レギュラー）"/>
                  <a:buChar char="💡"/>
                </a:pPr>
                <a:r>
                  <a:rPr lang="ja-JP" altLang="en-US" sz="2000"/>
                  <a:t>ポイント：</a:t>
                </a:r>
                <a:r>
                  <a:rPr lang="en-US" altLang="ja-JP" sz="2000" dirty="0"/>
                  <a:t> </a:t>
                </a:r>
                <a:r>
                  <a:rPr lang="ja-JP" altLang="en-US" sz="2000"/>
                  <a:t>観測できるアウトカムと潜在的なアウトカムを分けて定義</a:t>
                </a:r>
                <a:endParaRPr lang="en-US" altLang="ja-JP" sz="2000" dirty="0"/>
              </a:p>
              <a:p>
                <a:pPr lvl="1">
                  <a:spcAft>
                    <a:spcPts val="300"/>
                  </a:spcAft>
                  <a:buFont typeface="システムフォント（レギュラー）"/>
                  <a:buChar char="💡"/>
                </a:pPr>
                <a:endParaRPr lang="en-US" altLang="ja-JP" sz="800" dirty="0"/>
              </a:p>
              <a:p>
                <a:pPr lvl="1">
                  <a:spcAft>
                    <a:spcPts val="300"/>
                  </a:spcAft>
                  <a:buClr>
                    <a:srgbClr val="FFC000"/>
                  </a:buClr>
                  <a:buFont typeface="Wingdings" pitchFamily="2" charset="2"/>
                  <a:buChar char="n"/>
                </a:pPr>
                <a:r>
                  <a:rPr lang="en-US" altLang="ja-JP" sz="2000" b="1" dirty="0"/>
                  <a:t> </a:t>
                </a:r>
                <a:r>
                  <a:rPr lang="ja-JP" altLang="en-US" sz="2000" b="1"/>
                  <a:t>観測できる変数</a:t>
                </a:r>
                <a:r>
                  <a:rPr lang="en-US" altLang="ja-JP" sz="2000" b="1" dirty="0"/>
                  <a:t> </a:t>
                </a:r>
              </a:p>
              <a:p>
                <a:pPr lvl="2">
                  <a:spcAft>
                    <a:spcPts val="300"/>
                  </a:spcAft>
                  <a:buClr>
                    <a:schemeClr val="tx1"/>
                  </a:buClr>
                </a:pPr>
                <a:r>
                  <a:rPr lang="ja-JP" altLang="en-US" sz="2000"/>
                  <a:t>各個人</a:t>
                </a:r>
                <a14:m>
                  <m:oMath xmlns:m="http://schemas.openxmlformats.org/officeDocument/2006/math">
                    <m:r>
                      <a:rPr lang="en-US" altLang="ja-JP" sz="2000" b="0" i="1" smtClean="0">
                        <a:latin typeface="Cambria Math" panose="02040503050406030204" pitchFamily="18" charset="0"/>
                      </a:rPr>
                      <m:t>𝑖</m:t>
                    </m:r>
                  </m:oMath>
                </a14:m>
                <a:r>
                  <a:rPr lang="ja-JP" altLang="en-US" sz="2000"/>
                  <a:t>ごとに</a:t>
                </a:r>
                <a14:m>
                  <m:oMath xmlns:m="http://schemas.openxmlformats.org/officeDocument/2006/math">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𝐷</m:t>
                        </m:r>
                      </m:e>
                      <m:sub>
                        <m:r>
                          <a:rPr lang="en-US" altLang="ja-JP" sz="2000" b="0" i="1" smtClean="0">
                            <a:latin typeface="Cambria Math" panose="02040503050406030204" pitchFamily="18" charset="0"/>
                          </a:rPr>
                          <m:t>𝑖</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𝑋</m:t>
                        </m:r>
                      </m:e>
                      <m:sub>
                        <m:r>
                          <a:rPr lang="en-US" altLang="ja-JP" sz="2000" b="0" i="1" smtClean="0">
                            <a:latin typeface="Cambria Math" panose="02040503050406030204" pitchFamily="18" charset="0"/>
                          </a:rPr>
                          <m:t>𝑖</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𝑌</m:t>
                        </m:r>
                      </m:e>
                      <m:sub>
                        <m:r>
                          <a:rPr lang="en-US" altLang="ja-JP" sz="2000" b="0" i="1" smtClean="0">
                            <a:latin typeface="Cambria Math" panose="02040503050406030204" pitchFamily="18" charset="0"/>
                          </a:rPr>
                          <m:t>𝑖</m:t>
                        </m:r>
                      </m:sub>
                    </m:sSub>
                    <m:r>
                      <a:rPr lang="en-US" altLang="ja-JP" sz="2000" b="0" i="1" smtClean="0">
                        <a:latin typeface="Cambria Math" panose="02040503050406030204" pitchFamily="18" charset="0"/>
                      </a:rPr>
                      <m:t>)</m:t>
                    </m:r>
                  </m:oMath>
                </a14:m>
                <a:r>
                  <a:rPr lang="ja-JP" altLang="en-US" sz="2000" dirty="0"/>
                  <a:t>を観測できる</a:t>
                </a:r>
                <a:endParaRPr lang="en-US" altLang="ja-JP" sz="2000" dirty="0"/>
              </a:p>
              <a:p>
                <a:pPr lvl="3">
                  <a:spcAft>
                    <a:spcPts val="300"/>
                  </a:spcAft>
                </a:pPr>
                <a:r>
                  <a:rPr lang="en-US" altLang="ja-JP" sz="2000" b="1" dirty="0"/>
                  <a:t> </a:t>
                </a:r>
                <a:r>
                  <a:rPr lang="ja-JP" altLang="en-US" sz="2000" b="1">
                    <a:solidFill>
                      <a:srgbClr val="FF0000"/>
                    </a:solidFill>
                  </a:rPr>
                  <a:t>共変量</a:t>
                </a:r>
                <a:r>
                  <a:rPr lang="en-US" altLang="ja-JP" sz="2000" b="1" dirty="0">
                    <a:solidFill>
                      <a:srgbClr val="FF0000"/>
                    </a:solidFill>
                  </a:rPr>
                  <a:t> </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b="0" i="1" smtClean="0">
                            <a:latin typeface="Cambria Math" panose="02040503050406030204" pitchFamily="18" charset="0"/>
                          </a:rPr>
                          <m:t>𝑖</m:t>
                        </m:r>
                      </m:sub>
                    </m:sSub>
                    <m:r>
                      <a:rPr lang="en-US" altLang="ja-JP" sz="2000" i="1">
                        <a:latin typeface="Cambria Math" panose="02040503050406030204" pitchFamily="18" charset="0"/>
                      </a:rPr>
                      <m:t>∈</m:t>
                    </m:r>
                    <m:r>
                      <a:rPr lang="en-US" altLang="ja-JP" sz="2000" i="1">
                        <a:latin typeface="Cambria Math" panose="02040503050406030204" pitchFamily="18" charset="0"/>
                      </a:rPr>
                      <m:t>𝒳</m:t>
                    </m:r>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ℝ</m:t>
                        </m:r>
                      </m:e>
                      <m:sup>
                        <m:r>
                          <a:rPr lang="en-US" altLang="ja-JP" sz="2000" b="0" i="1" smtClean="0">
                            <a:latin typeface="Cambria Math" panose="02040503050406030204" pitchFamily="18" charset="0"/>
                          </a:rPr>
                          <m:t>𝑘</m:t>
                        </m:r>
                      </m:sup>
                    </m:sSup>
                  </m:oMath>
                </a14:m>
                <a:r>
                  <a:rPr lang="en-US" altLang="ja-JP" sz="2000" dirty="0"/>
                  <a:t> (</a:t>
                </a:r>
                <a14:m>
                  <m:oMath xmlns:m="http://schemas.openxmlformats.org/officeDocument/2006/math">
                    <m:r>
                      <a:rPr lang="en-US" altLang="ja-JP" sz="2000" i="1" dirty="0">
                        <a:latin typeface="Cambria Math" panose="02040503050406030204" pitchFamily="18" charset="0"/>
                      </a:rPr>
                      <m:t>𝒳</m:t>
                    </m:r>
                  </m:oMath>
                </a14:m>
                <a:r>
                  <a:rPr lang="ja-JP" altLang="en-US" sz="2000"/>
                  <a:t>は説明変数の空間</a:t>
                </a:r>
                <a:r>
                  <a:rPr lang="en-US" altLang="ja-JP" sz="2000" dirty="0"/>
                  <a:t>). </a:t>
                </a:r>
              </a:p>
              <a:p>
                <a:pPr lvl="3">
                  <a:spcAft>
                    <a:spcPts val="300"/>
                  </a:spcAft>
                </a:pPr>
                <a:r>
                  <a:rPr lang="en-US" altLang="ja-JP" sz="2000" b="1" dirty="0"/>
                  <a:t> </a:t>
                </a:r>
                <a:r>
                  <a:rPr lang="ja-JP" altLang="en-US" sz="2000" b="1">
                    <a:solidFill>
                      <a:srgbClr val="FF0000"/>
                    </a:solidFill>
                  </a:rPr>
                  <a:t>処置変数</a:t>
                </a:r>
                <a:r>
                  <a:rPr lang="en-US" altLang="ja-JP" sz="2000" b="1" dirty="0">
                    <a:solidFill>
                      <a:srgbClr val="FF0000"/>
                    </a:solidFill>
                  </a:rPr>
                  <a:t> </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i="1">
                            <a:latin typeface="Cambria Math" panose="02040503050406030204" pitchFamily="18" charset="0"/>
                          </a:rPr>
                          <m:t>𝐷</m:t>
                        </m:r>
                      </m:e>
                      <m:sub>
                        <m:r>
                          <a:rPr lang="en-US" altLang="ja-JP" sz="2000" b="0" i="1" smtClean="0">
                            <a:latin typeface="Cambria Math" panose="02040503050406030204" pitchFamily="18" charset="0"/>
                          </a:rPr>
                          <m:t>𝑖</m:t>
                        </m:r>
                      </m:sub>
                    </m:sSub>
                    <m:r>
                      <a:rPr lang="en-US" altLang="ja-JP" sz="2000" i="1">
                        <a:latin typeface="Cambria Math" panose="02040503050406030204" pitchFamily="18" charset="0"/>
                      </a:rPr>
                      <m:t>∈</m:t>
                    </m:r>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1,0</m:t>
                        </m:r>
                      </m:e>
                    </m:d>
                  </m:oMath>
                </a14:m>
                <a:endParaRPr lang="en-US" altLang="ja-JP" sz="2000" b="0" dirty="0"/>
              </a:p>
              <a:p>
                <a:pPr lvl="4">
                  <a:spcAft>
                    <a:spcPts val="300"/>
                  </a:spcAft>
                </a:pPr>
                <a:r>
                  <a:rPr lang="ja-JP" altLang="en-US" sz="2000" b="0"/>
                  <a:t>処置</a:t>
                </a:r>
                <a14:m>
                  <m:oMath xmlns:m="http://schemas.openxmlformats.org/officeDocument/2006/math">
                    <m:r>
                      <a:rPr lang="en-US" altLang="ja-JP" sz="2000" b="0" i="1" smtClean="0">
                        <a:latin typeface="Cambria Math" panose="02040503050406030204" pitchFamily="18" charset="0"/>
                      </a:rPr>
                      <m:t>1</m:t>
                    </m:r>
                  </m:oMath>
                </a14:m>
                <a:r>
                  <a:rPr lang="ja-JP" altLang="en-US" sz="2000" b="0"/>
                  <a:t>と処置</a:t>
                </a:r>
                <a14:m>
                  <m:oMath xmlns:m="http://schemas.openxmlformats.org/officeDocument/2006/math">
                    <m:r>
                      <a:rPr lang="en-US" altLang="ja-JP" sz="2000" b="0" i="1" smtClean="0">
                        <a:latin typeface="Cambria Math" panose="02040503050406030204" pitchFamily="18" charset="0"/>
                      </a:rPr>
                      <m:t>0</m:t>
                    </m:r>
                  </m:oMath>
                </a14:m>
                <a:r>
                  <a:rPr lang="ja-JP" altLang="en-US" sz="2000" b="0"/>
                  <a:t>。処置</a:t>
                </a:r>
                <a14:m>
                  <m:oMath xmlns:m="http://schemas.openxmlformats.org/officeDocument/2006/math">
                    <m:r>
                      <a:rPr lang="en-US" altLang="ja-JP" sz="2000" b="0" i="1" smtClean="0">
                        <a:latin typeface="Cambria Math" panose="02040503050406030204" pitchFamily="18" charset="0"/>
                      </a:rPr>
                      <m:t>1</m:t>
                    </m:r>
                  </m:oMath>
                </a14:m>
                <a:r>
                  <a:rPr lang="ja-JP" altLang="en-US" sz="2000" b="0"/>
                  <a:t>は処置群、処置</a:t>
                </a:r>
                <a14:m>
                  <m:oMath xmlns:m="http://schemas.openxmlformats.org/officeDocument/2006/math">
                    <m:r>
                      <a:rPr lang="en-US" altLang="ja-JP" sz="2000" b="0" i="1" smtClean="0">
                        <a:latin typeface="Cambria Math" panose="02040503050406030204" pitchFamily="18" charset="0"/>
                      </a:rPr>
                      <m:t>0</m:t>
                    </m:r>
                  </m:oMath>
                </a14:m>
                <a:r>
                  <a:rPr lang="ja-JP" altLang="en-US" sz="2000" b="0" dirty="0"/>
                  <a:t>はコントロール群とも呼ばれる</a:t>
                </a:r>
                <a:endParaRPr lang="en-US" altLang="ja-JP" sz="2000" b="0" dirty="0"/>
              </a:p>
              <a:p>
                <a:pPr lvl="3">
                  <a:spcAft>
                    <a:spcPts val="300"/>
                  </a:spcAft>
                </a:pPr>
                <a:r>
                  <a:rPr lang="en-US" altLang="ja-JP" sz="2000" b="1" dirty="0"/>
                  <a:t> </a:t>
                </a:r>
                <a:r>
                  <a:rPr lang="ja-JP" altLang="en-US" sz="2000" b="1">
                    <a:solidFill>
                      <a:srgbClr val="FF0000"/>
                    </a:solidFill>
                  </a:rPr>
                  <a:t>観測できるアウトカム</a:t>
                </a:r>
                <a:r>
                  <a:rPr lang="en-US" altLang="ja-JP" sz="2000" dirty="0"/>
                  <a:t> </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b="0" i="1" smtClean="0">
                            <a:latin typeface="Cambria Math" panose="02040503050406030204" pitchFamily="18" charset="0"/>
                          </a:rPr>
                          <m:t>𝑖</m:t>
                        </m:r>
                      </m:sub>
                    </m:sSub>
                    <m:r>
                      <a:rPr lang="en-US" altLang="ja-JP" sz="2000" i="1">
                        <a:latin typeface="Cambria Math" panose="02040503050406030204" pitchFamily="18" charset="0"/>
                      </a:rPr>
                      <m:t>∈</m:t>
                    </m:r>
                    <m:r>
                      <a:rPr lang="en-US" altLang="ja-JP" sz="2000" i="1">
                        <a:latin typeface="Cambria Math" panose="02040503050406030204" pitchFamily="18" charset="0"/>
                      </a:rPr>
                      <m:t>𝒴</m:t>
                    </m:r>
                    <m:r>
                      <a:rPr lang="en-US" altLang="ja-JP" sz="2000" i="1">
                        <a:latin typeface="Cambria Math" panose="02040503050406030204" pitchFamily="18" charset="0"/>
                      </a:rPr>
                      <m:t>⊆</m:t>
                    </m:r>
                    <m:r>
                      <a:rPr lang="en-US" altLang="ja-JP" sz="2000" i="1">
                        <a:latin typeface="Cambria Math" panose="02040503050406030204" pitchFamily="18" charset="0"/>
                      </a:rPr>
                      <m:t>ℝ</m:t>
                    </m:r>
                  </m:oMath>
                </a14:m>
                <a:r>
                  <a:rPr lang="en-US" altLang="ja-JP" sz="2000" dirty="0"/>
                  <a:t>  (</a:t>
                </a:r>
                <a14:m>
                  <m:oMath xmlns:m="http://schemas.openxmlformats.org/officeDocument/2006/math">
                    <m:r>
                      <a:rPr lang="en-US" altLang="ja-JP" sz="2000" i="1" dirty="0">
                        <a:latin typeface="Cambria Math" panose="02040503050406030204" pitchFamily="18" charset="0"/>
                      </a:rPr>
                      <m:t>𝒴</m:t>
                    </m:r>
                  </m:oMath>
                </a14:m>
                <a:r>
                  <a:rPr lang="en-US" altLang="ja-JP" sz="2000" dirty="0"/>
                  <a:t> </a:t>
                </a:r>
                <a:r>
                  <a:rPr lang="ja-JP" altLang="en-US" sz="2000" dirty="0"/>
                  <a:t>は</a:t>
                </a:r>
                <a:r>
                  <a:rPr lang="ja-JP" altLang="en-US" sz="2000"/>
                  <a:t>アウトカムの空間</a:t>
                </a:r>
                <a:r>
                  <a:rPr lang="en-US" altLang="ja-JP" sz="2000" dirty="0"/>
                  <a:t>)</a:t>
                </a:r>
              </a:p>
              <a:p>
                <a:pPr lvl="2">
                  <a:spcAft>
                    <a:spcPts val="300"/>
                  </a:spcAft>
                </a:pPr>
                <a:endParaRPr lang="en-US" altLang="ja-JP" sz="800" dirty="0"/>
              </a:p>
              <a:p>
                <a:pPr lvl="1">
                  <a:spcAft>
                    <a:spcPts val="300"/>
                  </a:spcAft>
                  <a:buClr>
                    <a:srgbClr val="FFC000"/>
                  </a:buClr>
                  <a:buFont typeface="Wingdings" pitchFamily="2" charset="2"/>
                  <a:buChar char="n"/>
                </a:pPr>
                <a:r>
                  <a:rPr lang="ja-JP" altLang="en-US" sz="2000" b="1"/>
                  <a:t>潜在アウトカム</a:t>
                </a:r>
                <a:endParaRPr lang="en-US" altLang="ja-JP" sz="2000" b="1" dirty="0"/>
              </a:p>
              <a:p>
                <a:pPr lvl="2"/>
                <a:r>
                  <a:rPr lang="ja-JP" altLang="en-US" sz="2000"/>
                  <a:t>処置</a:t>
                </a:r>
                <a14:m>
                  <m:oMath xmlns:m="http://schemas.openxmlformats.org/officeDocument/2006/math">
                    <m:r>
                      <a:rPr lang="en-US" altLang="ja-JP" sz="2000" i="1">
                        <a:latin typeface="Cambria Math" panose="02040503050406030204" pitchFamily="18" charset="0"/>
                      </a:rPr>
                      <m:t>1</m:t>
                    </m:r>
                  </m:oMath>
                </a14:m>
                <a:r>
                  <a:rPr lang="ja-JP" altLang="en-US" sz="2000"/>
                  <a:t>を与えられたときのアウトカムを</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b="0" i="1" smtClean="0">
                            <a:latin typeface="Cambria Math" panose="02040503050406030204" pitchFamily="18" charset="0"/>
                          </a:rPr>
                          <m:t>𝑖</m:t>
                        </m:r>
                      </m:sub>
                    </m:sSub>
                    <m:r>
                      <a:rPr lang="en-US" altLang="ja-JP" sz="2000" i="1">
                        <a:latin typeface="Cambria Math" panose="02040503050406030204" pitchFamily="18" charset="0"/>
                      </a:rPr>
                      <m:t>(1)</m:t>
                    </m:r>
                  </m:oMath>
                </a14:m>
                <a:r>
                  <a:rPr lang="ja-JP" altLang="en-US" sz="2000"/>
                  <a:t>とする</a:t>
                </a:r>
                <a:endParaRPr lang="en-US" altLang="ja-JP" sz="2000" dirty="0"/>
              </a:p>
              <a:p>
                <a:pPr lvl="2"/>
                <a:r>
                  <a:rPr lang="ja-JP" altLang="en-US" sz="2000"/>
                  <a:t>処置</a:t>
                </a:r>
                <a14:m>
                  <m:oMath xmlns:m="http://schemas.openxmlformats.org/officeDocument/2006/math">
                    <m:r>
                      <a:rPr lang="en-US" altLang="ja-JP" sz="2000" i="1">
                        <a:latin typeface="Cambria Math" panose="02040503050406030204" pitchFamily="18" charset="0"/>
                      </a:rPr>
                      <m:t>0</m:t>
                    </m:r>
                  </m:oMath>
                </a14:m>
                <a:r>
                  <a:rPr lang="ja-JP" altLang="en-US" sz="2000"/>
                  <a:t>を与えられたときのアウトカムを</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b="0" i="1" smtClean="0">
                            <a:latin typeface="Cambria Math" panose="02040503050406030204" pitchFamily="18" charset="0"/>
                          </a:rPr>
                          <m:t>𝑖</m:t>
                        </m:r>
                      </m:sub>
                    </m:sSub>
                    <m:r>
                      <a:rPr lang="en-US" altLang="ja-JP" sz="2000" i="1">
                        <a:latin typeface="Cambria Math" panose="02040503050406030204" pitchFamily="18" charset="0"/>
                      </a:rPr>
                      <m:t>(0)</m:t>
                    </m:r>
                  </m:oMath>
                </a14:m>
                <a:r>
                  <a:rPr lang="ja-JP" altLang="en-US" sz="2000"/>
                  <a:t>とする</a:t>
                </a:r>
                <a:endParaRPr lang="en-US" altLang="ja-JP" sz="2000" dirty="0"/>
              </a:p>
              <a:p>
                <a:pPr lvl="1"/>
                <a:endParaRPr lang="en-US" altLang="ja-JP" sz="800" dirty="0"/>
              </a:p>
              <a:p>
                <a:pPr>
                  <a:spcAft>
                    <a:spcPts val="300"/>
                  </a:spcAft>
                </a:pPr>
                <a:r>
                  <a:rPr lang="en-US" altLang="ja-JP" sz="2000" dirty="0"/>
                  <a:t>ATE</a:t>
                </a:r>
                <a:r>
                  <a:rPr lang="ja-JP" altLang="en-US" sz="2000"/>
                  <a:t>：</a:t>
                </a:r>
                <a:endParaRPr lang="en-US" altLang="ja-JP" sz="2000" dirty="0"/>
              </a:p>
              <a:p>
                <a:pPr marL="0" indent="0">
                  <a:spcAft>
                    <a:spcPts val="300"/>
                  </a:spcAft>
                  <a:buNone/>
                </a:pPr>
                <a14:m>
                  <m:oMathPara xmlns:m="http://schemas.openxmlformats.org/officeDocument/2006/math">
                    <m:oMathParaPr>
                      <m:jc m:val="centerGroup"/>
                    </m:oMathParaPr>
                    <m:oMath xmlns:m="http://schemas.openxmlformats.org/officeDocument/2006/math">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𝜃</m:t>
                          </m:r>
                        </m:e>
                        <m:sub>
                          <m:r>
                            <a:rPr lang="en-US" altLang="ja-JP" sz="2000" i="1">
                              <a:latin typeface="Cambria Math" panose="02040503050406030204" pitchFamily="18" charset="0"/>
                            </a:rPr>
                            <m:t>0</m:t>
                          </m:r>
                        </m:sub>
                        <m:sup>
                          <m:r>
                            <a:rPr lang="en-US" altLang="ja-JP" sz="2000" i="1">
                              <a:latin typeface="Cambria Math" panose="02040503050406030204" pitchFamily="18" charset="0"/>
                            </a:rPr>
                            <m:t>𝐴𝑇𝐸</m:t>
                          </m:r>
                        </m:sup>
                      </m:sSubSup>
                      <m:r>
                        <a:rPr lang="en-US" altLang="ja-JP" sz="2000" i="1">
                          <a:latin typeface="Cambria Math" panose="02040503050406030204" pitchFamily="18" charset="0"/>
                        </a:rPr>
                        <m:t>=</m:t>
                      </m:r>
                      <m:r>
                        <a:rPr lang="en-US" altLang="ja-JP" sz="2000" i="1">
                          <a:latin typeface="Cambria Math" panose="02040503050406030204" pitchFamily="18" charset="0"/>
                        </a:rPr>
                        <m:t>𝔼</m:t>
                      </m:r>
                      <m:r>
                        <a:rPr lang="en-US" altLang="ja-JP" sz="2000" i="1">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b="0" i="1" smtClean="0">
                              <a:latin typeface="Cambria Math" panose="02040503050406030204" pitchFamily="18" charset="0"/>
                            </a:rPr>
                            <m:t>𝑖</m:t>
                          </m:r>
                        </m:sub>
                      </m:sSub>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e>
                      </m:d>
                      <m:r>
                        <a:rPr lang="en-US" altLang="ja-JP" sz="2000" i="1">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b="0" i="1" smtClean="0">
                              <a:latin typeface="Cambria Math" panose="02040503050406030204" pitchFamily="18" charset="0"/>
                            </a:rPr>
                            <m:t>𝑖</m:t>
                          </m:r>
                        </m:sub>
                      </m:sSub>
                      <m:r>
                        <a:rPr lang="en-US" altLang="ja-JP" sz="2000" i="1">
                          <a:latin typeface="Cambria Math" panose="02040503050406030204" pitchFamily="18" charset="0"/>
                        </a:rPr>
                        <m:t>(0)]</m:t>
                      </m:r>
                    </m:oMath>
                  </m:oMathPara>
                </a14:m>
                <a:endParaRPr lang="en-US" altLang="ja-JP" sz="2000" dirty="0"/>
              </a:p>
              <a:p>
                <a:pPr lvl="1"/>
                <a:endParaRPr lang="en-US" altLang="ja-JP" sz="2000" dirty="0"/>
              </a:p>
              <a:p>
                <a:pPr>
                  <a:spcAft>
                    <a:spcPts val="300"/>
                  </a:spcAft>
                </a:pPr>
                <a:endParaRPr lang="en-US" altLang="ja-JP" sz="2000" b="1" dirty="0"/>
              </a:p>
            </p:txBody>
          </p:sp>
        </mc:Choice>
        <mc:Fallback>
          <p:sp>
            <p:nvSpPr>
              <p:cNvPr id="3" name="コンテンツ プレースホルダー 2">
                <a:extLst>
                  <a:ext uri="{FF2B5EF4-FFF2-40B4-BE49-F238E27FC236}">
                    <a16:creationId xmlns:a16="http://schemas.microsoft.com/office/drawing/2014/main" id="{7687677A-E8E6-A9B9-18BA-E19754171C7A}"/>
                  </a:ext>
                </a:extLst>
              </p:cNvPr>
              <p:cNvSpPr>
                <a:spLocks noGrp="1" noRot="1" noChangeAspect="1" noMove="1" noResize="1" noEditPoints="1" noAdjustHandles="1" noChangeArrowheads="1" noChangeShapeType="1" noTextEdit="1"/>
              </p:cNvSpPr>
              <p:nvPr>
                <p:ph idx="1"/>
              </p:nvPr>
            </p:nvSpPr>
            <p:spPr>
              <a:blipFill>
                <a:blip r:embed="rId2"/>
                <a:stretch>
                  <a:fillRect l="-603" t="-70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5591171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DB012-39F9-B46F-969B-FACCAF8F3E1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17A3CE-7E33-60D0-4391-CFC06CB15516}"/>
              </a:ext>
            </a:extLst>
          </p:cNvPr>
          <p:cNvSpPr>
            <a:spLocks noGrp="1"/>
          </p:cNvSpPr>
          <p:nvPr>
            <p:ph type="title"/>
          </p:nvPr>
        </p:nvSpPr>
        <p:spPr/>
        <p:txBody>
          <a:bodyPr>
            <a:normAutofit/>
          </a:bodyPr>
          <a:lstStyle/>
          <a:p>
            <a:r>
              <a:rPr lang="en-US" altLang="ja-JP" dirty="0"/>
              <a:t>SUTVA</a:t>
            </a:r>
            <a:r>
              <a:rPr lang="ja-JP" altLang="en-US"/>
              <a:t>の仮定</a:t>
            </a:r>
            <a:endParaRPr kumimoji="1" lang="ja-JP" altLang="en-US"/>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D63F24B7-B96B-A2E2-8627-521B8100C301}"/>
                  </a:ext>
                </a:extLst>
              </p:cNvPr>
              <p:cNvSpPr>
                <a:spLocks noGrp="1"/>
              </p:cNvSpPr>
              <p:nvPr>
                <p:ph idx="1"/>
              </p:nvPr>
            </p:nvSpPr>
            <p:spPr/>
            <p:txBody>
              <a:bodyPr>
                <a:noAutofit/>
              </a:bodyPr>
              <a:lstStyle/>
              <a:p>
                <a:pPr>
                  <a:buClr>
                    <a:srgbClr val="C00000"/>
                  </a:buClr>
                  <a:buFont typeface="Wingdings" pitchFamily="2" charset="2"/>
                  <a:buChar char="ü"/>
                </a:pPr>
                <a:r>
                  <a:rPr lang="ja-JP" altLang="en-US" sz="2000"/>
                  <a:t>観測アウトカムと潜在アウトカムの関係：</a:t>
                </a:r>
                <a:endParaRPr lang="en-US" altLang="ja-JP" sz="2000" dirty="0"/>
              </a:p>
              <a:p>
                <a:pPr>
                  <a:buClr>
                    <a:srgbClr val="C00000"/>
                  </a:buClr>
                  <a:buFont typeface="Wingdings" pitchFamily="2" charset="2"/>
                  <a:buChar char="ü"/>
                </a:pPr>
                <a:endParaRPr lang="en-US" altLang="ja-JP" sz="800" i="1" dirty="0">
                  <a:latin typeface="Cambria Math" panose="02040503050406030204" pitchFamily="18" charset="0"/>
                </a:endParaRPr>
              </a:p>
              <a:p>
                <a:pPr marL="0" indent="0">
                  <a:buClr>
                    <a:srgbClr val="C00000"/>
                  </a:buClr>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b="0" i="1" smtClean="0">
                              <a:latin typeface="Cambria Math" panose="02040503050406030204" pitchFamily="18" charset="0"/>
                            </a:rPr>
                            <m:t>𝑖</m:t>
                          </m:r>
                        </m:sub>
                      </m:sSub>
                      <m:r>
                        <a:rPr lang="en-US" altLang="ja-JP" sz="2000" i="1">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i="1">
                              <a:latin typeface="Cambria Math" panose="02040503050406030204" pitchFamily="18" charset="0"/>
                            </a:rPr>
                            <m:t>𝐷</m:t>
                          </m:r>
                        </m:e>
                        <m:sub>
                          <m:r>
                            <a:rPr lang="en-US" altLang="ja-JP" sz="2000" b="0" i="1" smtClean="0">
                              <a:latin typeface="Cambria Math" panose="02040503050406030204" pitchFamily="18" charset="0"/>
                            </a:rPr>
                            <m:t>𝑖</m:t>
                          </m:r>
                        </m:sub>
                      </m:sSub>
                      <m:r>
                        <a:rPr lang="en-US" altLang="ja-JP" sz="2000" b="0" i="1" smtClean="0">
                          <a:latin typeface="Cambria Math" panose="02040503050406030204" pitchFamily="18" charset="0"/>
                        </a:rPr>
                        <m:t> </m:t>
                      </m:r>
                      <m:sSub>
                        <m:sSubPr>
                          <m:ctrlPr>
                            <a:rPr lang="en-US" altLang="ja-JP" sz="2000" b="0" i="1" smtClean="0">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b="0" i="1" smtClean="0">
                              <a:latin typeface="Cambria Math" panose="02040503050406030204" pitchFamily="18" charset="0"/>
                            </a:rPr>
                            <m:t>𝑖</m:t>
                          </m:r>
                        </m:sub>
                      </m:sSub>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e>
                      </m:d>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r>
                            <a:rPr lang="en-US" altLang="ja-JP" sz="2000" i="1">
                              <a:latin typeface="Cambria Math" panose="02040503050406030204" pitchFamily="18" charset="0"/>
                            </a:rPr>
                            <m:t>𝐷</m:t>
                          </m:r>
                        </m:e>
                      </m:d>
                      <m:r>
                        <a:rPr lang="en-US" altLang="ja-JP" sz="2000" b="0" i="1" smtClean="0">
                          <a:latin typeface="Cambria Math" panose="02040503050406030204" pitchFamily="18" charset="0"/>
                        </a:rPr>
                        <m:t> </m:t>
                      </m:r>
                      <m:sSub>
                        <m:sSubPr>
                          <m:ctrlPr>
                            <a:rPr lang="en-US" altLang="ja-JP" sz="2000" b="0" i="1" smtClean="0">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b="0" i="1" smtClean="0">
                              <a:latin typeface="Cambria Math" panose="02040503050406030204" pitchFamily="18" charset="0"/>
                            </a:rPr>
                            <m:t>𝑖</m:t>
                          </m:r>
                        </m:sub>
                      </m:sSub>
                      <m:r>
                        <a:rPr lang="en-US" altLang="ja-JP" sz="2000" i="1">
                          <a:latin typeface="Cambria Math" panose="02040503050406030204" pitchFamily="18" charset="0"/>
                        </a:rPr>
                        <m:t>(0)</m:t>
                      </m:r>
                    </m:oMath>
                  </m:oMathPara>
                </a14:m>
                <a:endParaRPr lang="en-US" altLang="ja-JP" sz="2000" b="1" dirty="0"/>
              </a:p>
              <a:p>
                <a:pPr>
                  <a:buClr>
                    <a:srgbClr val="C00000"/>
                  </a:buClr>
                  <a:buFont typeface="Wingdings" pitchFamily="2" charset="2"/>
                  <a:buChar char="ü"/>
                </a:pPr>
                <a:endParaRPr lang="en-US" altLang="ja-JP" sz="800" b="1" dirty="0"/>
              </a:p>
              <a:p>
                <a:pPr marL="397800" lvl="1" indent="0">
                  <a:buClr>
                    <a:srgbClr val="C00000"/>
                  </a:buClr>
                  <a:buNone/>
                </a:pPr>
                <a:r>
                  <a:rPr lang="ja-JP" altLang="en-US" sz="2000"/>
                  <a:t>↑</a:t>
                </a:r>
                <a:r>
                  <a:rPr lang="en-US" altLang="ja-JP" sz="2000" dirty="0"/>
                  <a:t> </a:t>
                </a:r>
                <a:r>
                  <a:rPr lang="ja-JP" altLang="en-US" sz="2000"/>
                  <a:t>この関係性が成り立つことは</a:t>
                </a:r>
                <a:r>
                  <a:rPr lang="en-US" altLang="ja-JP" sz="2000" dirty="0"/>
                  <a:t>SUTVA</a:t>
                </a:r>
                <a:r>
                  <a:rPr lang="ja-JP" altLang="en-US" sz="2000"/>
                  <a:t>の仮定と呼ばれることもある</a:t>
                </a:r>
                <a:endParaRPr lang="en-US" altLang="ja-JP" sz="2000" dirty="0"/>
              </a:p>
              <a:p>
                <a:pPr lvl="2">
                  <a:buClr>
                    <a:schemeClr val="tx1"/>
                  </a:buClr>
                </a:pPr>
                <a:r>
                  <a:rPr lang="ja-JP" altLang="en-US" sz="1600"/>
                  <a:t>特にそのような仮定を明示的にしなくても数学的には定義は可能</a:t>
                </a:r>
                <a:endParaRPr lang="en-US" altLang="ja-JP" sz="1600" dirty="0"/>
              </a:p>
              <a:p>
                <a:pPr lvl="2">
                  <a:buClr>
                    <a:schemeClr val="tx1"/>
                  </a:buClr>
                </a:pPr>
                <a:r>
                  <a:rPr lang="ja-JP" altLang="en-US" sz="1600"/>
                  <a:t>そのため、</a:t>
                </a:r>
                <a:r>
                  <a:rPr lang="en-US" altLang="ja-JP" sz="1600" dirty="0"/>
                  <a:t>SUTVA</a:t>
                </a:r>
                <a:r>
                  <a:rPr lang="ja-JP" altLang="en-US" sz="1600"/>
                  <a:t>の仮定自体が省略されることもある</a:t>
                </a:r>
                <a:endParaRPr lang="en-US" altLang="ja-JP" sz="1600" dirty="0"/>
              </a:p>
              <a:p>
                <a:endParaRPr lang="en-US" altLang="ja-JP" dirty="0"/>
              </a:p>
              <a:p>
                <a:r>
                  <a:rPr lang="en-US" altLang="ja-JP" sz="2000" dirty="0"/>
                  <a:t>SUTVA</a:t>
                </a:r>
                <a:r>
                  <a:rPr lang="ja-JP" altLang="en-US" sz="2000"/>
                  <a:t>（</a:t>
                </a:r>
                <a:r>
                  <a:rPr lang="en" altLang="ja-JP" sz="2000" dirty="0"/>
                  <a:t>Stable Unit Treatment Value Assumption</a:t>
                </a:r>
                <a:r>
                  <a:rPr lang="ja-JP" altLang="en-US" sz="2000"/>
                  <a:t>）の仮定</a:t>
                </a:r>
                <a:endParaRPr lang="en-US" altLang="ja-JP" sz="2000" dirty="0"/>
              </a:p>
              <a:p>
                <a:pPr marL="397800" lvl="1" indent="0">
                  <a:buNone/>
                </a:pPr>
                <a:r>
                  <a:rPr lang="ja-JP" altLang="en-US" sz="2000"/>
                  <a:t>以下の二つの仮定からなる仮定：</a:t>
                </a:r>
                <a:endParaRPr lang="en-US" altLang="ja-JP" sz="2000" dirty="0"/>
              </a:p>
              <a:p>
                <a:pPr marL="740700" lvl="1" indent="-342900">
                  <a:buFont typeface="+mj-lt"/>
                  <a:buAutoNum type="arabicPeriod"/>
                </a:pPr>
                <a:r>
                  <a:rPr lang="en" altLang="ja-JP" sz="2000" dirty="0"/>
                  <a:t>No Interference between units </a:t>
                </a:r>
                <a:r>
                  <a:rPr lang="ja-JP" altLang="en-US" sz="2000"/>
                  <a:t>の仮定</a:t>
                </a:r>
                <a:endParaRPr lang="en-US" altLang="ja-JP" sz="2000" dirty="0"/>
              </a:p>
              <a:p>
                <a:pPr marL="720000" lvl="2"/>
                <a:r>
                  <a:rPr lang="ja-JP" altLang="en-US" sz="2000"/>
                  <a:t>個体</a:t>
                </a:r>
                <a14:m>
                  <m:oMath xmlns:m="http://schemas.openxmlformats.org/officeDocument/2006/math">
                    <m:r>
                      <a:rPr lang="en-US" altLang="ja-JP" sz="2000" b="0" i="1" smtClean="0">
                        <a:latin typeface="Cambria Math" panose="02040503050406030204" pitchFamily="18" charset="0"/>
                      </a:rPr>
                      <m:t>𝑖</m:t>
                    </m:r>
                  </m:oMath>
                </a14:m>
                <a:r>
                  <a:rPr lang="ja-JP" altLang="en-US" sz="2000"/>
                  <a:t>の潜在アウトカムは、</a:t>
                </a:r>
                <a14:m>
                  <m:oMath xmlns:m="http://schemas.openxmlformats.org/officeDocument/2006/math">
                    <m:r>
                      <a:rPr lang="en-US" altLang="ja-JP" sz="2000" b="0" i="1" smtClean="0">
                        <a:latin typeface="Cambria Math" panose="02040503050406030204" pitchFamily="18" charset="0"/>
                      </a:rPr>
                      <m:t>𝑖</m:t>
                    </m:r>
                  </m:oMath>
                </a14:m>
                <a:r>
                  <a:rPr lang="ja-JP" altLang="en-US" sz="2000"/>
                  <a:t>以外の個体が受けた処置のアウトカムの影響を受けない</a:t>
                </a:r>
                <a:endParaRPr lang="en-US" altLang="ja-JP" sz="2000" dirty="0"/>
              </a:p>
              <a:p>
                <a:pPr lvl="2"/>
                <a:endParaRPr lang="en-US" altLang="ja-JP" sz="800" dirty="0"/>
              </a:p>
              <a:p>
                <a:pPr marL="740700" lvl="1" indent="-342900">
                  <a:buFont typeface="+mj-lt"/>
                  <a:buAutoNum type="arabicPeriod"/>
                </a:pPr>
                <a:r>
                  <a:rPr lang="en" altLang="ja-JP" sz="2000" dirty="0"/>
                  <a:t>No versions of treatments </a:t>
                </a:r>
                <a:r>
                  <a:rPr lang="ja-JP" altLang="en-US" sz="2000"/>
                  <a:t>の仮定</a:t>
                </a:r>
                <a:r>
                  <a:rPr lang="en" altLang="ja-JP" sz="2000" dirty="0"/>
                  <a:t> </a:t>
                </a:r>
              </a:p>
              <a:p>
                <a:pPr marL="720000" lvl="2"/>
                <a:r>
                  <a:rPr lang="ja-JP" altLang="en-US" sz="2000"/>
                  <a:t>各個体について異なる潜在アウトカムをもたらす異なる処置はない</a:t>
                </a:r>
                <a:endParaRPr lang="en-US" altLang="ja-JP" sz="2000" dirty="0"/>
              </a:p>
            </p:txBody>
          </p:sp>
        </mc:Choice>
        <mc:Fallback>
          <p:sp>
            <p:nvSpPr>
              <p:cNvPr id="3" name="コンテンツ プレースホルダー 2">
                <a:extLst>
                  <a:ext uri="{FF2B5EF4-FFF2-40B4-BE49-F238E27FC236}">
                    <a16:creationId xmlns:a16="http://schemas.microsoft.com/office/drawing/2014/main" id="{D63F24B7-B96B-A2E2-8627-521B8100C301}"/>
                  </a:ext>
                </a:extLst>
              </p:cNvPr>
              <p:cNvSpPr>
                <a:spLocks noGrp="1" noRot="1" noChangeAspect="1" noMove="1" noResize="1" noEditPoints="1" noAdjustHandles="1" noChangeArrowheads="1" noChangeShapeType="1" noTextEdit="1"/>
              </p:cNvSpPr>
              <p:nvPr>
                <p:ph idx="1"/>
              </p:nvPr>
            </p:nvSpPr>
            <p:spPr>
              <a:blipFill>
                <a:blip r:embed="rId2"/>
                <a:stretch>
                  <a:fillRect l="-603" t="-709" r="-24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2045002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81BFD-939D-5A6F-0AEC-43D618DE9D3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0D8A77A-C4A7-811A-B610-7A119BC8D431}"/>
              </a:ext>
            </a:extLst>
          </p:cNvPr>
          <p:cNvSpPr>
            <a:spLocks noGrp="1"/>
          </p:cNvSpPr>
          <p:nvPr>
            <p:ph type="title"/>
          </p:nvPr>
        </p:nvSpPr>
        <p:spPr/>
        <p:txBody>
          <a:bodyPr/>
          <a:lstStyle/>
          <a:p>
            <a:r>
              <a:rPr kumimoji="1" lang="ja-JP" altLang="en-US"/>
              <a:t>線形回帰モデル</a:t>
            </a:r>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691B65E6-D52F-82DF-02C8-97B4D36D691A}"/>
                  </a:ext>
                </a:extLst>
              </p:cNvPr>
              <p:cNvSpPr>
                <a:spLocks noGrp="1"/>
              </p:cNvSpPr>
              <p:nvPr>
                <p:ph idx="1"/>
              </p:nvPr>
            </p:nvSpPr>
            <p:spPr/>
            <p:txBody>
              <a:bodyPr>
                <a:normAutofit/>
              </a:bodyPr>
              <a:lstStyle/>
              <a:p>
                <a:r>
                  <a:rPr lang="ja-JP" altLang="en-US" sz="2000"/>
                  <a:t>変数</a:t>
                </a:r>
                <a14:m>
                  <m:oMath xmlns:m="http://schemas.openxmlformats.org/officeDocument/2006/math">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𝑋</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𝐷</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𝑌</m:t>
                    </m:r>
                    <m:r>
                      <a:rPr lang="en-US" altLang="ja-JP" sz="2000" b="0" i="1" smtClean="0">
                        <a:latin typeface="Cambria Math" panose="02040503050406030204" pitchFamily="18" charset="0"/>
                      </a:rPr>
                      <m:t>)</m:t>
                    </m:r>
                  </m:oMath>
                </a14:m>
                <a:r>
                  <a:rPr lang="ja-JP" altLang="en-US" sz="2000"/>
                  <a:t>は以下の線形回帰モデルに従って生成されていると仮定する：</a:t>
                </a:r>
                <a:endParaRPr lang="en-US" altLang="ja-JP" sz="2000" dirty="0"/>
              </a:p>
              <a:p>
                <a:pPr marL="0" indent="0">
                  <a:buNone/>
                </a:pPr>
                <a:endParaRPr lang="en-US" altLang="ja-JP" sz="8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𝑌</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𝛼</m:t>
                      </m:r>
                      <m:r>
                        <a:rPr lang="en-US" altLang="ja-JP" sz="2000" b="0" i="1" smtClean="0">
                          <a:latin typeface="Cambria Math" panose="02040503050406030204" pitchFamily="18" charset="0"/>
                        </a:rPr>
                        <m:t>𝐷</m:t>
                      </m:r>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𝛽</m:t>
                          </m:r>
                        </m:e>
                        <m:sup>
                          <m:r>
                            <a:rPr lang="en-US" altLang="ja-JP" sz="2000" b="0" i="1" smtClean="0">
                              <a:latin typeface="Cambria Math" panose="02040503050406030204" pitchFamily="18" charset="0"/>
                            </a:rPr>
                            <m:t>⊤</m:t>
                          </m:r>
                        </m:sup>
                      </m:sSup>
                      <m:r>
                        <a:rPr lang="en-US" altLang="ja-JP" sz="2000" b="0" i="1" smtClean="0">
                          <a:latin typeface="Cambria Math" panose="02040503050406030204" pitchFamily="18" charset="0"/>
                        </a:rPr>
                        <m:t>𝑋</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𝜖</m:t>
                      </m:r>
                    </m:oMath>
                  </m:oMathPara>
                </a14:m>
                <a:endParaRPr lang="en-US" altLang="ja-JP" sz="2000" dirty="0"/>
              </a:p>
              <a:p>
                <a:pPr lvl="1"/>
                <a:endParaRPr kumimoji="1" lang="en-US" altLang="ja-JP" sz="800" b="0" i="1" dirty="0">
                  <a:latin typeface="Cambria Math" panose="02040503050406030204" pitchFamily="18" charset="0"/>
                </a:endParaRPr>
              </a:p>
              <a:p>
                <a:pPr lvl="1"/>
                <a14:m>
                  <m:oMath xmlns:m="http://schemas.openxmlformats.org/officeDocument/2006/math">
                    <m:r>
                      <a:rPr kumimoji="1" lang="en-US" altLang="ja-JP" sz="2000" b="0" i="1" smtClean="0">
                        <a:latin typeface="Cambria Math" panose="02040503050406030204" pitchFamily="18" charset="0"/>
                      </a:rPr>
                      <m:t>𝐷</m:t>
                    </m:r>
                    <m:r>
                      <a:rPr kumimoji="1" lang="en-US" altLang="ja-JP" sz="2000" b="0" i="1" smtClean="0">
                        <a:latin typeface="Cambria Math" panose="02040503050406030204" pitchFamily="18" charset="0"/>
                      </a:rPr>
                      <m:t>=1</m:t>
                    </m:r>
                  </m:oMath>
                </a14:m>
                <a:r>
                  <a:rPr kumimoji="1" lang="ja-JP" altLang="en-US" sz="2000"/>
                  <a:t>の場合：</a:t>
                </a:r>
                <a:r>
                  <a:rPr kumimoji="1" lang="en-US" altLang="ja-JP" sz="2000" dirty="0"/>
                  <a:t> </a:t>
                </a:r>
              </a:p>
              <a:p>
                <a:pPr lvl="2"/>
                <a14:m>
                  <m:oMath xmlns:m="http://schemas.openxmlformats.org/officeDocument/2006/math">
                    <m:r>
                      <a:rPr kumimoji="1" lang="en-US" altLang="ja-JP" sz="2000" b="0" i="1" smtClean="0">
                        <a:latin typeface="Cambria Math" panose="02040503050406030204" pitchFamily="18" charset="0"/>
                      </a:rPr>
                      <m:t>𝑌</m:t>
                    </m:r>
                    <m:r>
                      <a:rPr kumimoji="1" lang="en-US" altLang="ja-JP" sz="2000" b="0" i="1" smtClean="0">
                        <a:latin typeface="Cambria Math" panose="02040503050406030204" pitchFamily="18" charset="0"/>
                      </a:rPr>
                      <m:t>=</m:t>
                    </m:r>
                    <m:r>
                      <a:rPr kumimoji="1" lang="en-US" altLang="ja-JP" sz="2000" b="0" i="1" smtClean="0">
                        <a:latin typeface="Cambria Math" panose="02040503050406030204" pitchFamily="18" charset="0"/>
                      </a:rPr>
                      <m:t>𝛼</m:t>
                    </m:r>
                    <m:r>
                      <a:rPr kumimoji="1" lang="en-US" altLang="ja-JP" sz="2000" b="0" i="1" smtClean="0">
                        <a:latin typeface="Cambria Math" panose="02040503050406030204" pitchFamily="18" charset="0"/>
                      </a:rPr>
                      <m:t>+</m:t>
                    </m:r>
                    <m:sSup>
                      <m:sSupPr>
                        <m:ctrlPr>
                          <a:rPr kumimoji="1" lang="en-US" altLang="ja-JP" sz="2000" b="0" i="1" smtClean="0">
                            <a:latin typeface="Cambria Math" panose="02040503050406030204" pitchFamily="18" charset="0"/>
                          </a:rPr>
                        </m:ctrlPr>
                      </m:sSupPr>
                      <m:e>
                        <m:r>
                          <a:rPr kumimoji="1" lang="en-US" altLang="ja-JP" sz="2000" b="0" i="1" smtClean="0">
                            <a:latin typeface="Cambria Math" panose="02040503050406030204" pitchFamily="18" charset="0"/>
                          </a:rPr>
                          <m:t>𝛽</m:t>
                        </m:r>
                      </m:e>
                      <m:sup>
                        <m:r>
                          <m:rPr>
                            <m:lit/>
                          </m:rPr>
                          <a:rPr kumimoji="1" lang="en-US" altLang="ja-JP" sz="2000" b="0" i="1" smtClean="0">
                            <a:latin typeface="Cambria Math" panose="02040503050406030204" pitchFamily="18" charset="0"/>
                          </a:rPr>
                          <m:t> </m:t>
                        </m:r>
                        <m:r>
                          <a:rPr kumimoji="1" lang="en-US" altLang="ja-JP" sz="2000" b="0" i="1" smtClean="0">
                            <a:latin typeface="Cambria Math" panose="02040503050406030204" pitchFamily="18" charset="0"/>
                          </a:rPr>
                          <m:t>⊤</m:t>
                        </m:r>
                      </m:sup>
                    </m:sSup>
                    <m:r>
                      <a:rPr lang="en-US" altLang="ja-JP" sz="2000" i="1">
                        <a:latin typeface="Cambria Math" panose="02040503050406030204" pitchFamily="18" charset="0"/>
                      </a:rPr>
                      <m:t>𝑋</m:t>
                    </m:r>
                    <m:r>
                      <a:rPr lang="en-US" altLang="ja-JP" sz="2000" i="1">
                        <a:latin typeface="Cambria Math" panose="02040503050406030204" pitchFamily="18" charset="0"/>
                      </a:rPr>
                      <m:t>+</m:t>
                    </m:r>
                    <m:r>
                      <a:rPr lang="en-US" altLang="ja-JP" sz="2000" i="1">
                        <a:latin typeface="Cambria Math" panose="02040503050406030204" pitchFamily="18" charset="0"/>
                      </a:rPr>
                      <m:t>𝜖</m:t>
                    </m:r>
                  </m:oMath>
                </a14:m>
                <a:endParaRPr kumimoji="1" lang="en-US" altLang="ja-JP" sz="2000" dirty="0"/>
              </a:p>
              <a:p>
                <a:pPr lvl="2"/>
                <a:r>
                  <a:rPr lang="en-US" altLang="ja-JP" sz="2000" dirty="0"/>
                  <a:t>SUTVA</a:t>
                </a:r>
                <a:r>
                  <a:rPr lang="ja-JP" altLang="en-US" sz="2000"/>
                  <a:t>の仮定より、</a:t>
                </a:r>
                <a14:m>
                  <m:oMath xmlns:m="http://schemas.openxmlformats.org/officeDocument/2006/math">
                    <m:r>
                      <a:rPr lang="en-US" altLang="ja-JP" sz="2000" b="0" i="1" smtClean="0">
                        <a:latin typeface="Cambria Math" panose="02040503050406030204" pitchFamily="18" charset="0"/>
                      </a:rPr>
                      <m:t>𝑌</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𝑌</m:t>
                    </m:r>
                    <m:r>
                      <a:rPr lang="en-US" altLang="ja-JP" sz="2000" b="0" i="1" smtClean="0">
                        <a:latin typeface="Cambria Math" panose="02040503050406030204" pitchFamily="18" charset="0"/>
                      </a:rPr>
                      <m:t>(1)</m:t>
                    </m:r>
                  </m:oMath>
                </a14:m>
                <a:endParaRPr kumimoji="1" lang="en-US" altLang="ja-JP" sz="2000" dirty="0"/>
              </a:p>
              <a:p>
                <a:pPr lvl="1"/>
                <a14:m>
                  <m:oMath xmlns:m="http://schemas.openxmlformats.org/officeDocument/2006/math">
                    <m:r>
                      <a:rPr kumimoji="1" lang="en-US" altLang="ja-JP" sz="2000" b="0" i="1" smtClean="0">
                        <a:latin typeface="Cambria Math" panose="02040503050406030204" pitchFamily="18" charset="0"/>
                      </a:rPr>
                      <m:t>𝐷</m:t>
                    </m:r>
                    <m:r>
                      <a:rPr kumimoji="1" lang="en-US" altLang="ja-JP" sz="2000" b="0" i="1" smtClean="0">
                        <a:latin typeface="Cambria Math" panose="02040503050406030204" pitchFamily="18" charset="0"/>
                      </a:rPr>
                      <m:t>=0</m:t>
                    </m:r>
                  </m:oMath>
                </a14:m>
                <a:r>
                  <a:rPr kumimoji="1" lang="ja-JP" altLang="en-US" sz="2000"/>
                  <a:t>の場合：</a:t>
                </a:r>
                <a:endParaRPr kumimoji="1" lang="en-US" altLang="ja-JP" sz="2000" dirty="0"/>
              </a:p>
              <a:p>
                <a:pPr lvl="2"/>
                <a14:m>
                  <m:oMath xmlns:m="http://schemas.openxmlformats.org/officeDocument/2006/math">
                    <m:r>
                      <a:rPr lang="en-US" altLang="ja-JP" sz="2000" b="0" i="1" smtClean="0">
                        <a:latin typeface="Cambria Math" panose="02040503050406030204" pitchFamily="18" charset="0"/>
                      </a:rPr>
                      <m:t>𝑌</m:t>
                    </m:r>
                    <m:r>
                      <a:rPr lang="en-US" altLang="ja-JP" sz="2000" i="1" smtClean="0">
                        <a:latin typeface="Cambria Math" panose="02040503050406030204" pitchFamily="18" charset="0"/>
                      </a:rPr>
                      <m:t>=</m:t>
                    </m:r>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𝛽</m:t>
                        </m:r>
                      </m:e>
                      <m:sup>
                        <m:r>
                          <m:rPr>
                            <m:lit/>
                          </m:rPr>
                          <a:rPr lang="en-US" altLang="ja-JP" sz="2000" i="1">
                            <a:latin typeface="Cambria Math" panose="02040503050406030204" pitchFamily="18" charset="0"/>
                          </a:rPr>
                          <m:t> </m:t>
                        </m:r>
                        <m:r>
                          <a:rPr lang="en-US" altLang="ja-JP" sz="2000" i="1">
                            <a:latin typeface="Cambria Math" panose="02040503050406030204" pitchFamily="18" charset="0"/>
                          </a:rPr>
                          <m:t>⊤</m:t>
                        </m:r>
                      </m:sup>
                    </m:sSup>
                    <m:r>
                      <a:rPr lang="en-US" altLang="ja-JP" sz="2000" i="1" smtClean="0">
                        <a:latin typeface="Cambria Math" panose="02040503050406030204" pitchFamily="18" charset="0"/>
                      </a:rPr>
                      <m:t>𝑋</m:t>
                    </m:r>
                    <m:r>
                      <a:rPr lang="en-US" altLang="ja-JP" sz="2000" i="1">
                        <a:latin typeface="Cambria Math" panose="02040503050406030204" pitchFamily="18" charset="0"/>
                      </a:rPr>
                      <m:t>+</m:t>
                    </m:r>
                    <m:r>
                      <a:rPr lang="en-US" altLang="ja-JP" sz="2000" i="1">
                        <a:latin typeface="Cambria Math" panose="02040503050406030204" pitchFamily="18" charset="0"/>
                      </a:rPr>
                      <m:t>𝜖</m:t>
                    </m:r>
                  </m:oMath>
                </a14:m>
                <a:endParaRPr lang="en-US" altLang="ja-JP" sz="2000" dirty="0"/>
              </a:p>
              <a:p>
                <a:pPr lvl="2"/>
                <a:r>
                  <a:rPr lang="en-US" altLang="ja-JP" sz="2000" dirty="0"/>
                  <a:t>SUTVA</a:t>
                </a:r>
                <a:r>
                  <a:rPr lang="ja-JP" altLang="en-US" sz="2000"/>
                  <a:t>の仮定より、</a:t>
                </a:r>
                <a14:m>
                  <m:oMath xmlns:m="http://schemas.openxmlformats.org/officeDocument/2006/math">
                    <m:r>
                      <a:rPr lang="en-US" altLang="ja-JP" sz="2000" b="0" i="1" smtClean="0">
                        <a:latin typeface="Cambria Math" panose="02040503050406030204" pitchFamily="18" charset="0"/>
                      </a:rPr>
                      <m:t>𝑌</m:t>
                    </m:r>
                    <m:r>
                      <a:rPr lang="en-US" altLang="ja-JP" sz="2000" i="1">
                        <a:latin typeface="Cambria Math" panose="02040503050406030204" pitchFamily="18" charset="0"/>
                      </a:rPr>
                      <m:t>=</m:t>
                    </m:r>
                    <m:r>
                      <a:rPr lang="en-US" altLang="ja-JP" sz="2000" i="1" smtClean="0">
                        <a:latin typeface="Cambria Math" panose="02040503050406030204" pitchFamily="18" charset="0"/>
                      </a:rPr>
                      <m:t>𝑌</m:t>
                    </m:r>
                    <m:r>
                      <a:rPr lang="en-US" altLang="ja-JP" sz="2000" i="1">
                        <a:latin typeface="Cambria Math" panose="02040503050406030204" pitchFamily="18" charset="0"/>
                      </a:rPr>
                      <m:t>(</m:t>
                    </m:r>
                    <m:r>
                      <a:rPr lang="en-US" altLang="ja-JP" sz="2000" b="0" i="1" smtClean="0">
                        <a:latin typeface="Cambria Math" panose="02040503050406030204" pitchFamily="18" charset="0"/>
                      </a:rPr>
                      <m:t>0</m:t>
                    </m:r>
                    <m:r>
                      <a:rPr lang="en-US" altLang="ja-JP" sz="2000" i="1">
                        <a:latin typeface="Cambria Math" panose="02040503050406030204" pitchFamily="18" charset="0"/>
                      </a:rPr>
                      <m:t>)</m:t>
                    </m:r>
                  </m:oMath>
                </a14:m>
                <a:endParaRPr lang="en-US" altLang="ja-JP" sz="2000" dirty="0"/>
              </a:p>
              <a:p>
                <a:pPr lvl="2"/>
                <a:endParaRPr kumimoji="1" lang="en-US" altLang="ja-JP" dirty="0">
                  <a:latin typeface="Noto Sans JP" panose="020B0200000000000000" pitchFamily="34" charset="-128"/>
                  <a:ea typeface="Noto Sans JP" panose="020B0200000000000000" pitchFamily="34" charset="-128"/>
                </a:endParaRPr>
              </a:p>
              <a:p>
                <a:r>
                  <a:rPr kumimoji="1" lang="ja-JP" altLang="en-US" sz="2000"/>
                  <a:t>したがって、平均処置効果は</a:t>
                </a:r>
                <a14:m>
                  <m:oMath xmlns:m="http://schemas.openxmlformats.org/officeDocument/2006/math">
                    <m:r>
                      <a:rPr kumimoji="1" lang="en-US" altLang="ja-JP" sz="2000" b="0" i="1" smtClean="0">
                        <a:latin typeface="Cambria Math" panose="02040503050406030204" pitchFamily="18" charset="0"/>
                      </a:rPr>
                      <m:t>𝛼</m:t>
                    </m:r>
                  </m:oMath>
                </a14:m>
                <a:r>
                  <a:rPr lang="ja-JP" altLang="en-US" sz="2000" dirty="0"/>
                  <a:t>と</a:t>
                </a:r>
                <a:r>
                  <a:rPr lang="ja-JP" altLang="en-US" sz="2000"/>
                  <a:t>なる。すなわち、</a:t>
                </a:r>
                <a:endParaRPr lang="en-US" altLang="ja-JP" sz="2000" dirty="0"/>
              </a:p>
              <a:p>
                <a:pPr marL="0" indent="0">
                  <a:buNone/>
                </a:pPr>
                <a:br>
                  <a:rPr lang="en-US" altLang="ja-JP" sz="800" dirty="0"/>
                </a:br>
                <a14:m>
                  <m:oMathPara xmlns:m="http://schemas.openxmlformats.org/officeDocument/2006/math">
                    <m:oMathParaPr>
                      <m:jc m:val="centerGroup"/>
                    </m:oMathParaPr>
                    <m:oMath xmlns:m="http://schemas.openxmlformats.org/officeDocument/2006/math">
                      <m:sSubSup>
                        <m:sSubSupPr>
                          <m:ctrlPr>
                            <a:rPr kumimoji="1" lang="en-US" altLang="ja-JP" sz="2000" b="0" i="1" smtClean="0">
                              <a:latin typeface="Cambria Math" panose="02040503050406030204" pitchFamily="18" charset="0"/>
                            </a:rPr>
                          </m:ctrlPr>
                        </m:sSubSupPr>
                        <m:e>
                          <m:r>
                            <a:rPr kumimoji="1" lang="en-US" altLang="ja-JP" sz="2000" b="0" i="1" smtClean="0">
                              <a:latin typeface="Cambria Math" panose="02040503050406030204" pitchFamily="18" charset="0"/>
                            </a:rPr>
                            <m:t>𝜃</m:t>
                          </m:r>
                        </m:e>
                        <m:sub>
                          <m:r>
                            <a:rPr kumimoji="1" lang="en-US" altLang="ja-JP" sz="2000" b="0" i="1" smtClean="0">
                              <a:latin typeface="Cambria Math" panose="02040503050406030204" pitchFamily="18" charset="0"/>
                            </a:rPr>
                            <m:t>0</m:t>
                          </m:r>
                        </m:sub>
                        <m:sup>
                          <m:r>
                            <m:rPr>
                              <m:sty m:val="p"/>
                            </m:rPr>
                            <a:rPr kumimoji="1" lang="en-US" altLang="ja-JP" sz="2000" b="0" i="0" smtClean="0">
                              <a:latin typeface="Cambria Math" panose="02040503050406030204" pitchFamily="18" charset="0"/>
                            </a:rPr>
                            <m:t>ATE</m:t>
                          </m:r>
                        </m:sup>
                      </m:sSubSup>
                      <m:r>
                        <a:rPr kumimoji="1" lang="en-US" altLang="ja-JP" sz="2000" b="0" i="1" smtClean="0">
                          <a:latin typeface="Cambria Math" panose="02040503050406030204" pitchFamily="18" charset="0"/>
                        </a:rPr>
                        <m:t>=</m:t>
                      </m:r>
                      <m:r>
                        <a:rPr kumimoji="1" lang="en-US" altLang="ja-JP" sz="2000" b="0" i="1" smtClean="0">
                          <a:latin typeface="Cambria Math" panose="02040503050406030204" pitchFamily="18" charset="0"/>
                        </a:rPr>
                        <m:t>𝔼</m:t>
                      </m:r>
                      <m:d>
                        <m:dPr>
                          <m:begChr m:val="["/>
                          <m:endChr m:val="]"/>
                          <m:ctrlPr>
                            <a:rPr kumimoji="1" lang="en-US" altLang="ja-JP" sz="2000" b="0" i="1" smtClean="0">
                              <a:latin typeface="Cambria Math" panose="02040503050406030204" pitchFamily="18" charset="0"/>
                            </a:rPr>
                          </m:ctrlPr>
                        </m:dPr>
                        <m:e>
                          <m:r>
                            <a:rPr kumimoji="1" lang="en-US" altLang="ja-JP" sz="2000" b="0" i="1" smtClean="0">
                              <a:latin typeface="Cambria Math" panose="02040503050406030204" pitchFamily="18" charset="0"/>
                            </a:rPr>
                            <m:t>𝑌</m:t>
                          </m:r>
                          <m:d>
                            <m:dPr>
                              <m:ctrlPr>
                                <a:rPr kumimoji="1" lang="en-US" altLang="ja-JP" sz="2000" b="0" i="1" smtClean="0">
                                  <a:latin typeface="Cambria Math" panose="02040503050406030204" pitchFamily="18" charset="0"/>
                                </a:rPr>
                              </m:ctrlPr>
                            </m:dPr>
                            <m:e>
                              <m:r>
                                <a:rPr kumimoji="1" lang="en-US" altLang="ja-JP" sz="2000" b="0" i="1" smtClean="0">
                                  <a:latin typeface="Cambria Math" panose="02040503050406030204" pitchFamily="18" charset="0"/>
                                </a:rPr>
                                <m:t>1</m:t>
                              </m:r>
                            </m:e>
                          </m:d>
                          <m:r>
                            <a:rPr kumimoji="1" lang="en-US" altLang="ja-JP" sz="2000" b="0" i="1" smtClean="0">
                              <a:latin typeface="Cambria Math" panose="02040503050406030204" pitchFamily="18" charset="0"/>
                            </a:rPr>
                            <m:t>−</m:t>
                          </m:r>
                          <m:r>
                            <a:rPr kumimoji="1" lang="en-US" altLang="ja-JP" sz="2000" b="0" i="1" smtClean="0">
                              <a:latin typeface="Cambria Math" panose="02040503050406030204" pitchFamily="18" charset="0"/>
                            </a:rPr>
                            <m:t>𝑌</m:t>
                          </m:r>
                          <m:d>
                            <m:dPr>
                              <m:ctrlPr>
                                <a:rPr kumimoji="1" lang="en-US" altLang="ja-JP" sz="2000" b="0" i="1" smtClean="0">
                                  <a:latin typeface="Cambria Math" panose="02040503050406030204" pitchFamily="18" charset="0"/>
                                </a:rPr>
                              </m:ctrlPr>
                            </m:dPr>
                            <m:e>
                              <m:r>
                                <a:rPr kumimoji="1" lang="en-US" altLang="ja-JP" sz="2000" b="0" i="1" smtClean="0">
                                  <a:latin typeface="Cambria Math" panose="02040503050406030204" pitchFamily="18" charset="0"/>
                                </a:rPr>
                                <m:t>0</m:t>
                              </m:r>
                            </m:e>
                          </m:d>
                        </m:e>
                      </m:d>
                      <m:r>
                        <a:rPr kumimoji="1" lang="en-US" altLang="ja-JP" sz="2000" b="0" i="1" smtClean="0">
                          <a:latin typeface="Cambria Math" panose="02040503050406030204" pitchFamily="18" charset="0"/>
                        </a:rPr>
                        <m:t>=</m:t>
                      </m:r>
                      <m:r>
                        <a:rPr kumimoji="1" lang="en-US" altLang="ja-JP" sz="2000" b="0" i="1" smtClean="0">
                          <a:latin typeface="Cambria Math" panose="02040503050406030204" pitchFamily="18" charset="0"/>
                        </a:rPr>
                        <m:t>𝛼</m:t>
                      </m:r>
                    </m:oMath>
                  </m:oMathPara>
                </a14:m>
                <a:br>
                  <a:rPr lang="en-US" altLang="ja-JP" dirty="0">
                    <a:latin typeface="Noto Sans JP" panose="020B0200000000000000" pitchFamily="34" charset="-128"/>
                    <a:ea typeface="Noto Sans JP" panose="020B0200000000000000" pitchFamily="34" charset="-128"/>
                  </a:rPr>
                </a:br>
                <a:endParaRPr kumimoji="1" lang="ja-JP" altLang="en-US">
                  <a:latin typeface="Noto Sans JP" panose="020B0200000000000000" pitchFamily="34" charset="-128"/>
                  <a:ea typeface="Noto Sans JP" panose="020B0200000000000000" pitchFamily="34" charset="-128"/>
                </a:endParaRPr>
              </a:p>
            </p:txBody>
          </p:sp>
        </mc:Choice>
        <mc:Fallback>
          <p:sp>
            <p:nvSpPr>
              <p:cNvPr id="3" name="コンテンツ プレースホルダー 2">
                <a:extLst>
                  <a:ext uri="{FF2B5EF4-FFF2-40B4-BE49-F238E27FC236}">
                    <a16:creationId xmlns:a16="http://schemas.microsoft.com/office/drawing/2014/main" id="{691B65E6-D52F-82DF-02C8-97B4D36D691A}"/>
                  </a:ext>
                </a:extLst>
              </p:cNvPr>
              <p:cNvSpPr>
                <a:spLocks noGrp="1" noRot="1" noChangeAspect="1" noMove="1" noResize="1" noEditPoints="1" noAdjustHandles="1" noChangeArrowheads="1" noChangeShapeType="1" noTextEdit="1"/>
              </p:cNvSpPr>
              <p:nvPr>
                <p:ph idx="1"/>
              </p:nvPr>
            </p:nvSpPr>
            <p:spPr>
              <a:blipFill>
                <a:blip r:embed="rId2"/>
                <a:stretch>
                  <a:fillRect l="-603" t="-70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563868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3CD2D-55FE-3FD2-0BDE-85A64BD5E8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0EFFDA0-9FBA-E95E-37AE-60EA7D21F8ED}"/>
              </a:ext>
            </a:extLst>
          </p:cNvPr>
          <p:cNvSpPr>
            <a:spLocks noGrp="1"/>
          </p:cNvSpPr>
          <p:nvPr>
            <p:ph type="title"/>
          </p:nvPr>
        </p:nvSpPr>
        <p:spPr/>
        <p:txBody>
          <a:bodyPr/>
          <a:lstStyle/>
          <a:p>
            <a:r>
              <a:rPr kumimoji="1" lang="en-US" altLang="ja-JP" dirty="0"/>
              <a:t>OLS</a:t>
            </a:r>
            <a:r>
              <a:rPr kumimoji="1" lang="ja-JP" altLang="en-US"/>
              <a:t>による推定</a:t>
            </a:r>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6B6F96EB-33F7-3494-8530-8B1F57F2CCEC}"/>
                  </a:ext>
                </a:extLst>
              </p:cNvPr>
              <p:cNvSpPr>
                <a:spLocks noGrp="1"/>
              </p:cNvSpPr>
              <p:nvPr>
                <p:ph idx="1"/>
              </p:nvPr>
            </p:nvSpPr>
            <p:spPr/>
            <p:txBody>
              <a:bodyPr>
                <a:normAutofit/>
              </a:bodyPr>
              <a:lstStyle/>
              <a:p>
                <a:pPr>
                  <a:buFont typeface="Wingdings" pitchFamily="2" charset="2"/>
                  <a:buChar char="Ø"/>
                </a:pPr>
                <a:r>
                  <a:rPr lang="en-US" altLang="ja-JP" sz="2000" dirty="0"/>
                  <a:t>ATE</a:t>
                </a:r>
                <a:r>
                  <a:rPr kumimoji="1" lang="en-US" altLang="ja-JP" sz="2000" b="0" dirty="0"/>
                  <a:t> </a:t>
                </a:r>
                <a14:m>
                  <m:oMath xmlns:m="http://schemas.openxmlformats.org/officeDocument/2006/math">
                    <m:r>
                      <a:rPr kumimoji="1" lang="en-US" altLang="ja-JP" sz="2000" b="0" i="1" smtClean="0">
                        <a:latin typeface="Cambria Math" panose="02040503050406030204" pitchFamily="18" charset="0"/>
                      </a:rPr>
                      <m:t>𝛼</m:t>
                    </m:r>
                  </m:oMath>
                </a14:m>
                <a:r>
                  <a:rPr kumimoji="1" lang="en-US" altLang="ja-JP" sz="2000" dirty="0"/>
                  <a:t> </a:t>
                </a:r>
                <a:r>
                  <a:rPr kumimoji="1" lang="ja-JP" altLang="en-US" sz="2000" dirty="0"/>
                  <a:t>の</a:t>
                </a:r>
                <a:r>
                  <a:rPr kumimoji="1" lang="ja-JP" altLang="en-US" sz="2000"/>
                  <a:t>推定は</a:t>
                </a:r>
                <a:r>
                  <a:rPr kumimoji="1" lang="en-US" altLang="ja-JP" sz="2000" dirty="0"/>
                  <a:t>OLS</a:t>
                </a:r>
                <a:r>
                  <a:rPr kumimoji="1" lang="ja-JP" altLang="en-US" sz="2000"/>
                  <a:t>を用いることで可能</a:t>
                </a:r>
                <a:endParaRPr kumimoji="1" lang="en-US" altLang="ja-JP" sz="2000" dirty="0"/>
              </a:p>
              <a:p>
                <a:pPr>
                  <a:spcAft>
                    <a:spcPts val="300"/>
                  </a:spcAft>
                </a:pPr>
                <a:endParaRPr lang="en-US" altLang="ja-JP" sz="800" b="1" dirty="0"/>
              </a:p>
              <a:p>
                <a:pPr>
                  <a:spcAft>
                    <a:spcPts val="300"/>
                  </a:spcAft>
                </a:pPr>
                <a:r>
                  <a:rPr lang="ja-JP" altLang="en-US" sz="2000" b="1"/>
                  <a:t>観測値</a:t>
                </a:r>
                <a:endParaRPr lang="en-US" altLang="ja-JP" sz="2000" b="1" dirty="0"/>
              </a:p>
              <a:p>
                <a:pPr lvl="1">
                  <a:spcAft>
                    <a:spcPts val="300"/>
                  </a:spcAft>
                </a:pPr>
                <a:r>
                  <a:rPr lang="ja-JP" altLang="en-US" sz="2000"/>
                  <a:t>サンプルサイズ</a:t>
                </a:r>
                <a:r>
                  <a:rPr lang="en-US" altLang="ja-JP" sz="2000" dirty="0"/>
                  <a:t> </a:t>
                </a:r>
                <a14:m>
                  <m:oMath xmlns:m="http://schemas.openxmlformats.org/officeDocument/2006/math">
                    <m:r>
                      <a:rPr lang="en-US" altLang="ja-JP" sz="2000" i="1">
                        <a:latin typeface="Cambria Math" panose="02040503050406030204" pitchFamily="18" charset="0"/>
                      </a:rPr>
                      <m:t>𝑛</m:t>
                    </m:r>
                  </m:oMath>
                </a14:m>
                <a:r>
                  <a:rPr lang="en-US" altLang="ja-JP" sz="2000" dirty="0"/>
                  <a:t> </a:t>
                </a:r>
                <a:r>
                  <a:rPr lang="ja-JP" altLang="en-US" sz="2000" dirty="0"/>
                  <a:t>の以下</a:t>
                </a:r>
                <a:r>
                  <a:rPr lang="ja-JP" altLang="en-US" sz="2000"/>
                  <a:t>のデータセットを観測：</a:t>
                </a:r>
                <a:endParaRPr lang="en-US" altLang="ja-JP" sz="2000" dirty="0"/>
              </a:p>
              <a:p>
                <a:pPr lvl="1">
                  <a:spcAft>
                    <a:spcPts val="300"/>
                  </a:spcAft>
                </a:pPr>
                <a:endParaRPr lang="en-US" altLang="ja-JP" sz="800" dirty="0"/>
              </a:p>
              <a:p>
                <a:pPr marL="397800" lvl="1" indent="0">
                  <a:spcAft>
                    <a:spcPts val="300"/>
                  </a:spcAft>
                  <a:buNone/>
                </a:pPr>
                <a14:m>
                  <m:oMathPara xmlns:m="http://schemas.openxmlformats.org/officeDocument/2006/math">
                    <m:oMathParaPr>
                      <m:jc m:val="centerGroup"/>
                    </m:oMathParaPr>
                    <m:oMath xmlns:m="http://schemas.openxmlformats.org/officeDocument/2006/math">
                      <m:sSubSup>
                        <m:sSubSupPr>
                          <m:ctrlPr>
                            <a:rPr lang="en-US" altLang="ja-JP" sz="2000" i="1">
                              <a:latin typeface="Cambria Math" panose="02040503050406030204" pitchFamily="18" charset="0"/>
                            </a:rPr>
                          </m:ctrlPr>
                        </m:sSubSupPr>
                        <m:e>
                          <m:d>
                            <m:dPr>
                              <m:begChr m:val="{"/>
                              <m:endChr m:val="}"/>
                              <m:ctrlPr>
                                <a:rPr lang="en-US" altLang="ja-JP" sz="2000" i="1">
                                  <a:latin typeface="Cambria Math" panose="02040503050406030204" pitchFamily="18" charset="0"/>
                                </a:rPr>
                              </m:ctrlPr>
                            </m:dPr>
                            <m:e>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𝐷</m:t>
                                      </m:r>
                                    </m:e>
                                    <m:sub>
                                      <m:r>
                                        <a:rPr lang="en-US" altLang="ja-JP" sz="2000" i="1">
                                          <a:latin typeface="Cambria Math" panose="02040503050406030204" pitchFamily="18" charset="0"/>
                                        </a:rPr>
                                        <m:t>𝑖</m:t>
                                      </m:r>
                                    </m:sub>
                                  </m:sSub>
                                  <m:r>
                                    <a:rPr lang="en-US" altLang="ja-JP" sz="2000" b="0" i="1" smtClean="0">
                                      <a:latin typeface="Cambria Math" panose="02040503050406030204" pitchFamily="18" charset="0"/>
                                    </a:rPr>
                                    <m:t>, </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i="1">
                                          <a:latin typeface="Cambria Math" panose="02040503050406030204" pitchFamily="18" charset="0"/>
                                        </a:rPr>
                                        <m:t>𝑖</m:t>
                                      </m:r>
                                    </m:sub>
                                  </m:sSub>
                                </m:e>
                              </m:d>
                            </m:e>
                          </m:d>
                        </m:e>
                        <m:sub>
                          <m:r>
                            <a:rPr lang="en-US" altLang="ja-JP" sz="2000" i="1">
                              <a:latin typeface="Cambria Math" panose="02040503050406030204" pitchFamily="18" charset="0"/>
                            </a:rPr>
                            <m:t>𝑖</m:t>
                          </m:r>
                          <m:r>
                            <a:rPr lang="en-US" altLang="ja-JP" sz="2000" i="1">
                              <a:latin typeface="Cambria Math" panose="02040503050406030204" pitchFamily="18" charset="0"/>
                            </a:rPr>
                            <m:t>=1</m:t>
                          </m:r>
                        </m:sub>
                        <m:sup>
                          <m:r>
                            <a:rPr lang="en-US" altLang="ja-JP" sz="2000" i="1">
                              <a:latin typeface="Cambria Math" panose="02040503050406030204" pitchFamily="18" charset="0"/>
                            </a:rPr>
                            <m:t>𝑛</m:t>
                          </m:r>
                        </m:sup>
                      </m:sSubSup>
                      <m:r>
                        <a:rPr lang="en-US" altLang="ja-JP" sz="2000" i="1">
                          <a:latin typeface="Cambria Math" panose="02040503050406030204" pitchFamily="18" charset="0"/>
                        </a:rPr>
                        <m:t>.</m:t>
                      </m:r>
                    </m:oMath>
                  </m:oMathPara>
                </a14:m>
                <a:endParaRPr lang="en-US" altLang="ja-JP" sz="2000" dirty="0"/>
              </a:p>
              <a:p>
                <a:pPr lvl="2">
                  <a:spcAft>
                    <a:spcPts val="300"/>
                  </a:spcAft>
                </a:pPr>
                <a:endParaRPr lang="en-US" altLang="ja-JP" sz="800" i="1" dirty="0">
                  <a:latin typeface="Cambria Math" panose="02040503050406030204" pitchFamily="18" charset="0"/>
                </a:endParaRPr>
              </a:p>
              <a:p>
                <a:pPr lvl="2">
                  <a:spcAft>
                    <a:spcPts val="300"/>
                  </a:spcAft>
                </a:pPr>
                <a14:m>
                  <m:oMath xmlns:m="http://schemas.openxmlformats.org/officeDocument/2006/math">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𝐷</m:t>
                            </m:r>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i="1">
                                <a:latin typeface="Cambria Math" panose="02040503050406030204" pitchFamily="18" charset="0"/>
                              </a:rPr>
                              <m:t>𝑖</m:t>
                            </m:r>
                          </m:sub>
                        </m:sSub>
                      </m:e>
                    </m:d>
                  </m:oMath>
                </a14:m>
                <a:r>
                  <a:rPr lang="en-US" altLang="ja-JP" sz="2000" dirty="0"/>
                  <a:t> </a:t>
                </a:r>
                <a:r>
                  <a:rPr lang="ja-JP" altLang="en-US" sz="2000"/>
                  <a:t>は独立同分布に従うデータ</a:t>
                </a:r>
                <a:endParaRPr lang="en-US" altLang="ja-JP" sz="2000" dirty="0"/>
              </a:p>
              <a:p>
                <a:endParaRPr kumimoji="1" lang="en-US" altLang="ja-JP" sz="2000" dirty="0"/>
              </a:p>
              <a:p>
                <a:r>
                  <a:rPr lang="en-US" altLang="ja-JP" sz="2000" b="1" dirty="0"/>
                  <a:t>OLS</a:t>
                </a:r>
                <a:r>
                  <a:rPr lang="ja-JP" altLang="en-US" sz="2000" b="1"/>
                  <a:t>推定量</a:t>
                </a:r>
                <a:endParaRPr kumimoji="1" lang="en-US" altLang="ja-JP" sz="2000" b="1" dirty="0"/>
              </a:p>
              <a:p>
                <a:pPr marL="397800" lvl="1" indent="0">
                  <a:buNone/>
                </a:pPr>
                <a14:m>
                  <m:oMathPara xmlns:m="http://schemas.openxmlformats.org/officeDocument/2006/math">
                    <m:oMathParaPr>
                      <m:jc m:val="centerGroup"/>
                    </m:oMathParaPr>
                    <m:oMath xmlns:m="http://schemas.openxmlformats.org/officeDocument/2006/math">
                      <m:d>
                        <m:dPr>
                          <m:ctrlPr>
                            <a:rPr kumimoji="1" lang="en-US" altLang="ja-JP" sz="2000" i="1" smtClean="0">
                              <a:latin typeface="Cambria Math" panose="02040503050406030204" pitchFamily="18" charset="0"/>
                            </a:rPr>
                          </m:ctrlPr>
                        </m:dPr>
                        <m:e>
                          <m:f>
                            <m:fPr>
                              <m:type m:val="noBar"/>
                              <m:ctrlPr>
                                <a:rPr kumimoji="1" lang="en-US" altLang="ja-JP" sz="2000" i="1" smtClean="0">
                                  <a:latin typeface="Cambria Math" panose="02040503050406030204" pitchFamily="18" charset="0"/>
                                </a:rPr>
                              </m:ctrlPr>
                            </m:fPr>
                            <m:num>
                              <m:acc>
                                <m:accPr>
                                  <m:chr m:val="̂"/>
                                  <m:ctrlPr>
                                    <a:rPr kumimoji="1" lang="en-US" altLang="ja-JP" sz="2000" b="0" i="1" smtClean="0">
                                      <a:latin typeface="Cambria Math" panose="02040503050406030204" pitchFamily="18" charset="0"/>
                                    </a:rPr>
                                  </m:ctrlPr>
                                </m:accPr>
                                <m:e>
                                  <m:r>
                                    <a:rPr kumimoji="1" lang="en-US" altLang="ja-JP" sz="2000" b="0" i="1" smtClean="0">
                                      <a:latin typeface="Cambria Math" panose="02040503050406030204" pitchFamily="18" charset="0"/>
                                    </a:rPr>
                                    <m:t>𝛼</m:t>
                                  </m:r>
                                </m:e>
                              </m:acc>
                            </m:num>
                            <m:den>
                              <m:acc>
                                <m:accPr>
                                  <m:chr m:val="̂"/>
                                  <m:ctrlPr>
                                    <a:rPr kumimoji="1" lang="en-US" altLang="ja-JP" sz="2000" b="0" i="1" smtClean="0">
                                      <a:latin typeface="Cambria Math" panose="02040503050406030204" pitchFamily="18" charset="0"/>
                                    </a:rPr>
                                  </m:ctrlPr>
                                </m:accPr>
                                <m:e>
                                  <m:r>
                                    <a:rPr kumimoji="1" lang="en-US" altLang="ja-JP" sz="2000" b="0" i="1" smtClean="0">
                                      <a:latin typeface="Cambria Math" panose="02040503050406030204" pitchFamily="18" charset="0"/>
                                    </a:rPr>
                                    <m:t>𝛽</m:t>
                                  </m:r>
                                </m:e>
                              </m:acc>
                            </m:den>
                          </m:f>
                        </m:e>
                      </m:d>
                      <m:r>
                        <a:rPr kumimoji="1" lang="en-US" altLang="ja-JP" sz="2000" b="0" i="1" smtClean="0">
                          <a:latin typeface="Cambria Math" panose="02040503050406030204" pitchFamily="18" charset="0"/>
                        </a:rPr>
                        <m:t>=</m:t>
                      </m:r>
                      <m:sSup>
                        <m:sSupPr>
                          <m:ctrlPr>
                            <a:rPr kumimoji="1" lang="en-US" altLang="ja-JP" sz="2000" b="0" i="1" smtClean="0">
                              <a:latin typeface="Cambria Math" panose="02040503050406030204" pitchFamily="18" charset="0"/>
                            </a:rPr>
                          </m:ctrlPr>
                        </m:sSupPr>
                        <m:e>
                          <m:d>
                            <m:dPr>
                              <m:ctrlPr>
                                <a:rPr kumimoji="1" lang="en-US" altLang="ja-JP" sz="2000" b="0" i="1" smtClean="0">
                                  <a:latin typeface="Cambria Math" panose="02040503050406030204" pitchFamily="18" charset="0"/>
                                </a:rPr>
                              </m:ctrlPr>
                            </m:dPr>
                            <m:e>
                              <m:f>
                                <m:fPr>
                                  <m:ctrlPr>
                                    <a:rPr kumimoji="1" lang="en-US" altLang="ja-JP" sz="2000" b="0" i="1" smtClean="0">
                                      <a:latin typeface="Cambria Math" panose="02040503050406030204" pitchFamily="18" charset="0"/>
                                    </a:rPr>
                                  </m:ctrlPr>
                                </m:fPr>
                                <m:num>
                                  <m:r>
                                    <a:rPr kumimoji="1" lang="en-US" altLang="ja-JP" sz="2000" b="0" i="1" smtClean="0">
                                      <a:latin typeface="Cambria Math" panose="02040503050406030204" pitchFamily="18" charset="0"/>
                                    </a:rPr>
                                    <m:t>1</m:t>
                                  </m:r>
                                </m:num>
                                <m:den>
                                  <m:r>
                                    <a:rPr kumimoji="1" lang="en-US" altLang="ja-JP" sz="2000" b="0" i="1" smtClean="0">
                                      <a:latin typeface="Cambria Math" panose="02040503050406030204" pitchFamily="18" charset="0"/>
                                    </a:rPr>
                                    <m:t>𝑛</m:t>
                                  </m:r>
                                </m:den>
                              </m:f>
                              <m:nary>
                                <m:naryPr>
                                  <m:chr m:val="∑"/>
                                  <m:ctrlPr>
                                    <a:rPr kumimoji="1" lang="en-US" altLang="ja-JP" sz="2000" b="0" i="1" smtClean="0">
                                      <a:latin typeface="Cambria Math" panose="02040503050406030204" pitchFamily="18" charset="0"/>
                                    </a:rPr>
                                  </m:ctrlPr>
                                </m:naryPr>
                                <m:sub>
                                  <m:r>
                                    <a:rPr kumimoji="1" lang="en-US" altLang="ja-JP" sz="2000" b="0" i="1" smtClean="0">
                                      <a:latin typeface="Cambria Math" panose="02040503050406030204" pitchFamily="18" charset="0"/>
                                    </a:rPr>
                                    <m:t>𝑖</m:t>
                                  </m:r>
                                  <m:r>
                                    <a:rPr kumimoji="1" lang="en-US" altLang="ja-JP" sz="2000" b="0" i="1" smtClean="0">
                                      <a:latin typeface="Cambria Math" panose="02040503050406030204" pitchFamily="18" charset="0"/>
                                    </a:rPr>
                                    <m:t>=1</m:t>
                                  </m:r>
                                </m:sub>
                                <m:sup>
                                  <m:r>
                                    <a:rPr kumimoji="1" lang="en-US" altLang="ja-JP" sz="2000" b="0" i="1" smtClean="0">
                                      <a:latin typeface="Cambria Math" panose="02040503050406030204" pitchFamily="18" charset="0"/>
                                    </a:rPr>
                                    <m:t>𝑛</m:t>
                                  </m:r>
                                </m:sup>
                                <m:e>
                                  <m:d>
                                    <m:dPr>
                                      <m:ctrlPr>
                                        <a:rPr kumimoji="1" lang="en-US" altLang="ja-JP" sz="2000" b="0" i="1" smtClean="0">
                                          <a:latin typeface="Cambria Math" panose="02040503050406030204" pitchFamily="18" charset="0"/>
                                        </a:rPr>
                                      </m:ctrlPr>
                                    </m:dPr>
                                    <m:e>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𝐷</m:t>
                                          </m:r>
                                        </m:e>
                                        <m:sub>
                                          <m:r>
                                            <a:rPr kumimoji="1" lang="en-US" altLang="ja-JP" sz="2000" b="0" i="1" smtClean="0">
                                              <a:latin typeface="Cambria Math" panose="02040503050406030204" pitchFamily="18" charset="0"/>
                                            </a:rPr>
                                            <m:t>𝑖</m:t>
                                          </m:r>
                                        </m:sub>
                                      </m:sSub>
                                      <m:r>
                                        <a:rPr kumimoji="1" lang="en-US" altLang="ja-JP" sz="2000" b="0" i="1" smtClean="0">
                                          <a:latin typeface="Cambria Math" panose="02040503050406030204" pitchFamily="18" charset="0"/>
                                        </a:rPr>
                                        <m:t>    </m:t>
                                      </m:r>
                                      <m:sSubSup>
                                        <m:sSubSupPr>
                                          <m:ctrlPr>
                                            <a:rPr kumimoji="1" lang="en-US" altLang="ja-JP" sz="2000" b="0" i="1" smtClean="0">
                                              <a:latin typeface="Cambria Math" panose="02040503050406030204" pitchFamily="18" charset="0"/>
                                            </a:rPr>
                                          </m:ctrlPr>
                                        </m:sSubSupPr>
                                        <m:e>
                                          <m:r>
                                            <a:rPr kumimoji="1" lang="en-US" altLang="ja-JP" sz="2000" b="0" i="1" smtClean="0">
                                              <a:latin typeface="Cambria Math" panose="02040503050406030204" pitchFamily="18" charset="0"/>
                                            </a:rPr>
                                            <m:t>𝑋</m:t>
                                          </m:r>
                                        </m:e>
                                        <m:sub>
                                          <m:r>
                                            <a:rPr kumimoji="1" lang="en-US" altLang="ja-JP" sz="2000" b="0" i="1" smtClean="0">
                                              <a:latin typeface="Cambria Math" panose="02040503050406030204" pitchFamily="18" charset="0"/>
                                            </a:rPr>
                                            <m:t>𝑖</m:t>
                                          </m:r>
                                        </m:sub>
                                        <m:sup>
                                          <m:r>
                                            <a:rPr kumimoji="1" lang="en-US" altLang="ja-JP" sz="2000" b="0" i="1" smtClean="0">
                                              <a:latin typeface="Cambria Math" panose="02040503050406030204" pitchFamily="18" charset="0"/>
                                            </a:rPr>
                                            <m:t>⊤</m:t>
                                          </m:r>
                                        </m:sup>
                                      </m:sSubSup>
                                    </m:e>
                                  </m:d>
                                  <m:d>
                                    <m:dPr>
                                      <m:ctrlPr>
                                        <a:rPr kumimoji="1" lang="en-US" altLang="ja-JP" sz="2000" b="0" i="1" smtClean="0">
                                          <a:latin typeface="Cambria Math" panose="02040503050406030204" pitchFamily="18" charset="0"/>
                                        </a:rPr>
                                      </m:ctrlPr>
                                    </m:dPr>
                                    <m:e>
                                      <m:f>
                                        <m:fPr>
                                          <m:type m:val="noBar"/>
                                          <m:ctrlPr>
                                            <a:rPr kumimoji="1" lang="en-US" altLang="ja-JP" sz="2000" b="0" i="1" smtClean="0">
                                              <a:latin typeface="Cambria Math" panose="02040503050406030204" pitchFamily="18" charset="0"/>
                                            </a:rPr>
                                          </m:ctrlPr>
                                        </m:fPr>
                                        <m:num>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𝐷</m:t>
                                              </m:r>
                                            </m:e>
                                            <m:sub>
                                              <m:r>
                                                <a:rPr kumimoji="1" lang="en-US" altLang="ja-JP" sz="2000" b="0" i="1" smtClean="0">
                                                  <a:latin typeface="Cambria Math" panose="02040503050406030204" pitchFamily="18" charset="0"/>
                                                </a:rPr>
                                                <m:t>𝑖</m:t>
                                              </m:r>
                                            </m:sub>
                                          </m:sSub>
                                        </m:num>
                                        <m:den>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𝑋</m:t>
                                              </m:r>
                                            </m:e>
                                            <m:sub>
                                              <m:r>
                                                <a:rPr kumimoji="1" lang="en-US" altLang="ja-JP" sz="2000" b="0" i="1" smtClean="0">
                                                  <a:latin typeface="Cambria Math" panose="02040503050406030204" pitchFamily="18" charset="0"/>
                                                </a:rPr>
                                                <m:t>𝑖</m:t>
                                              </m:r>
                                            </m:sub>
                                          </m:sSub>
                                        </m:den>
                                      </m:f>
                                    </m:e>
                                  </m:d>
                                </m:e>
                              </m:nary>
                            </m:e>
                          </m:d>
                        </m:e>
                        <m:sup>
                          <m:r>
                            <a:rPr kumimoji="1" lang="en-US" altLang="ja-JP" sz="2000" b="0" i="1" smtClean="0">
                              <a:latin typeface="Cambria Math" panose="02040503050406030204" pitchFamily="18" charset="0"/>
                            </a:rPr>
                            <m:t>−1</m:t>
                          </m:r>
                        </m:sup>
                      </m:sSup>
                      <m:f>
                        <m:fPr>
                          <m:ctrlPr>
                            <a:rPr kumimoji="1" lang="en-US" altLang="ja-JP" sz="2000" b="0" i="1" smtClean="0">
                              <a:latin typeface="Cambria Math" panose="02040503050406030204" pitchFamily="18" charset="0"/>
                            </a:rPr>
                          </m:ctrlPr>
                        </m:fPr>
                        <m:num>
                          <m:r>
                            <a:rPr kumimoji="1" lang="en-US" altLang="ja-JP" sz="2000" b="0" i="1" smtClean="0">
                              <a:latin typeface="Cambria Math" panose="02040503050406030204" pitchFamily="18" charset="0"/>
                            </a:rPr>
                            <m:t>1</m:t>
                          </m:r>
                        </m:num>
                        <m:den>
                          <m:r>
                            <a:rPr kumimoji="1" lang="en-US" altLang="ja-JP" sz="2000" b="0" i="1" smtClean="0">
                              <a:latin typeface="Cambria Math" panose="02040503050406030204" pitchFamily="18" charset="0"/>
                            </a:rPr>
                            <m:t>𝑛</m:t>
                          </m:r>
                        </m:den>
                      </m:f>
                      <m:nary>
                        <m:naryPr>
                          <m:chr m:val="∑"/>
                          <m:ctrlPr>
                            <a:rPr lang="en-US" altLang="ja-JP" sz="2000" i="1">
                              <a:latin typeface="Cambria Math" panose="02040503050406030204" pitchFamily="18" charset="0"/>
                            </a:rPr>
                          </m:ctrlPr>
                        </m:naryPr>
                        <m:sub>
                          <m:r>
                            <a:rPr lang="en-US" altLang="ja-JP" sz="2000" i="1">
                              <a:latin typeface="Cambria Math" panose="02040503050406030204" pitchFamily="18" charset="0"/>
                            </a:rPr>
                            <m:t>𝑖</m:t>
                          </m:r>
                          <m:r>
                            <a:rPr lang="en-US" altLang="ja-JP" sz="2000" i="1">
                              <a:latin typeface="Cambria Math" panose="02040503050406030204" pitchFamily="18" charset="0"/>
                            </a:rPr>
                            <m:t>=1</m:t>
                          </m:r>
                        </m:sub>
                        <m:sup>
                          <m:r>
                            <a:rPr lang="en-US" altLang="ja-JP" sz="2000" i="1">
                              <a:latin typeface="Cambria Math" panose="02040503050406030204" pitchFamily="18" charset="0"/>
                            </a:rPr>
                            <m:t>𝑛</m:t>
                          </m:r>
                        </m:sup>
                        <m:e>
                          <m:d>
                            <m:dPr>
                              <m:ctrlPr>
                                <a:rPr lang="en-US" altLang="ja-JP" sz="2000" i="1">
                                  <a:latin typeface="Cambria Math" panose="02040503050406030204" pitchFamily="18" charset="0"/>
                                </a:rPr>
                              </m:ctrlPr>
                            </m:dPr>
                            <m:e>
                              <m:f>
                                <m:fPr>
                                  <m:type m:val="noBar"/>
                                  <m:ctrlPr>
                                    <a:rPr lang="en-US" altLang="ja-JP" sz="2000" i="1">
                                      <a:latin typeface="Cambria Math" panose="02040503050406030204" pitchFamily="18" charset="0"/>
                                    </a:rPr>
                                  </m:ctrlPr>
                                </m:fPr>
                                <m:num>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𝐷</m:t>
                                      </m:r>
                                    </m:e>
                                    <m:sub>
                                      <m:r>
                                        <a:rPr lang="en-US" altLang="ja-JP" sz="2000" i="1">
                                          <a:latin typeface="Cambria Math" panose="02040503050406030204" pitchFamily="18" charset="0"/>
                                        </a:rPr>
                                        <m:t>𝑖</m:t>
                                      </m:r>
                                    </m:sub>
                                  </m:sSub>
                                </m:num>
                                <m:den>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𝑋</m:t>
                                      </m:r>
                                    </m:e>
                                    <m:sub>
                                      <m:r>
                                        <a:rPr lang="en-US" altLang="ja-JP" sz="2000" i="1">
                                          <a:latin typeface="Cambria Math" panose="02040503050406030204" pitchFamily="18" charset="0"/>
                                        </a:rPr>
                                        <m:t>𝑖</m:t>
                                      </m:r>
                                    </m:sub>
                                  </m:sSub>
                                </m:den>
                              </m:f>
                            </m:e>
                          </m:d>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i="1">
                                  <a:latin typeface="Cambria Math" panose="02040503050406030204" pitchFamily="18" charset="0"/>
                                </a:rPr>
                                <m:t>𝑖</m:t>
                              </m:r>
                            </m:sub>
                          </m:sSub>
                        </m:e>
                      </m:nary>
                    </m:oMath>
                  </m:oMathPara>
                </a14:m>
                <a:endParaRPr kumimoji="1" lang="en-US" altLang="ja-JP" sz="2000" dirty="0"/>
              </a:p>
            </p:txBody>
          </p:sp>
        </mc:Choice>
        <mc:Fallback>
          <p:sp>
            <p:nvSpPr>
              <p:cNvPr id="3" name="コンテンツ プレースホルダー 2">
                <a:extLst>
                  <a:ext uri="{FF2B5EF4-FFF2-40B4-BE49-F238E27FC236}">
                    <a16:creationId xmlns:a16="http://schemas.microsoft.com/office/drawing/2014/main" id="{6B6F96EB-33F7-3494-8530-8B1F57F2CCEC}"/>
                  </a:ext>
                </a:extLst>
              </p:cNvPr>
              <p:cNvSpPr>
                <a:spLocks noGrp="1" noRot="1" noChangeAspect="1" noMove="1" noResize="1" noEditPoints="1" noAdjustHandles="1" noChangeArrowheads="1" noChangeShapeType="1" noTextEdit="1"/>
              </p:cNvSpPr>
              <p:nvPr>
                <p:ph idx="1"/>
              </p:nvPr>
            </p:nvSpPr>
            <p:spPr>
              <a:blipFill>
                <a:blip r:embed="rId2"/>
                <a:stretch>
                  <a:fillRect l="-603" t="-70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4490046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AF7B8-E9B3-6783-4ECF-3BC9810D016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1DD6B34-F772-536B-ED1D-D0833E9D0F41}"/>
              </a:ext>
            </a:extLst>
          </p:cNvPr>
          <p:cNvSpPr>
            <a:spLocks noGrp="1"/>
          </p:cNvSpPr>
          <p:nvPr>
            <p:ph type="title"/>
          </p:nvPr>
        </p:nvSpPr>
        <p:spPr/>
        <p:txBody>
          <a:bodyPr/>
          <a:lstStyle/>
          <a:p>
            <a:r>
              <a:rPr kumimoji="1" lang="en-US" altLang="ja-JP" dirty="0"/>
              <a:t>OLS</a:t>
            </a:r>
            <a:r>
              <a:rPr kumimoji="1" lang="ja-JP" altLang="en-US"/>
              <a:t>の因果推論的</a:t>
            </a:r>
            <a:r>
              <a:rPr lang="ja-JP" altLang="en-US"/>
              <a:t>解釈</a:t>
            </a:r>
            <a:endParaRPr kumimoji="1" lang="ja-JP" altLang="en-US"/>
          </a:p>
        </p:txBody>
      </p:sp>
      <p:sp>
        <p:nvSpPr>
          <p:cNvPr id="3" name="テキスト プレースホルダー 2">
            <a:extLst>
              <a:ext uri="{FF2B5EF4-FFF2-40B4-BE49-F238E27FC236}">
                <a16:creationId xmlns:a16="http://schemas.microsoft.com/office/drawing/2014/main" id="{B05B1040-CD9C-E742-AF26-BC70D864F5AB}"/>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18513904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51D16-D40F-1523-0882-1E47711D1E8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465F94C5-C960-64A9-EF3B-09B594D9822A}"/>
                  </a:ext>
                </a:extLst>
              </p:cNvPr>
              <p:cNvSpPr>
                <a:spLocks noGrp="1"/>
              </p:cNvSpPr>
              <p:nvPr>
                <p:ph type="title"/>
              </p:nvPr>
            </p:nvSpPr>
            <p:spPr/>
            <p:txBody>
              <a:bodyPr/>
              <a:lstStyle/>
              <a:p>
                <a:r>
                  <a:rPr lang="ja-JP" altLang="en-US"/>
                  <a:t>共変量</a:t>
                </a:r>
                <a14:m>
                  <m:oMath xmlns:m="http://schemas.openxmlformats.org/officeDocument/2006/math">
                    <m:r>
                      <a:rPr lang="en-US" altLang="ja-JP" b="1" i="1" smtClean="0">
                        <a:latin typeface="Cambria Math" panose="02040503050406030204" pitchFamily="18" charset="0"/>
                      </a:rPr>
                      <m:t>𝑿</m:t>
                    </m:r>
                  </m:oMath>
                </a14:m>
                <a:r>
                  <a:rPr kumimoji="1" lang="ja-JP" altLang="en-US"/>
                  <a:t>の意味</a:t>
                </a:r>
              </a:p>
            </p:txBody>
          </p:sp>
        </mc:Choice>
        <mc:Fallback xmlns="">
          <p:sp>
            <p:nvSpPr>
              <p:cNvPr id="2" name="タイトル 1">
                <a:extLst>
                  <a:ext uri="{FF2B5EF4-FFF2-40B4-BE49-F238E27FC236}">
                    <a16:creationId xmlns:a16="http://schemas.microsoft.com/office/drawing/2014/main" id="{465F94C5-C960-64A9-EF3B-09B594D9822A}"/>
                  </a:ext>
                </a:extLst>
              </p:cNvPr>
              <p:cNvSpPr>
                <a:spLocks noGrp="1" noRot="1" noChangeAspect="1" noMove="1" noResize="1" noEditPoints="1" noAdjustHandles="1" noChangeArrowheads="1" noChangeShapeType="1" noTextEdit="1"/>
              </p:cNvSpPr>
              <p:nvPr>
                <p:ph type="title"/>
              </p:nvPr>
            </p:nvSpPr>
            <p:spPr>
              <a:blipFill>
                <a:blip r:embed="rId2"/>
                <a:stretch>
                  <a:fillRect l="-1568" t="-7273" b="-18182"/>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36C305CF-E277-8656-FC3A-43A4941B3CF0}"/>
                  </a:ext>
                </a:extLst>
              </p:cNvPr>
              <p:cNvSpPr>
                <a:spLocks noGrp="1"/>
              </p:cNvSpPr>
              <p:nvPr>
                <p:ph idx="1"/>
              </p:nvPr>
            </p:nvSpPr>
            <p:spPr>
              <a:xfrm>
                <a:off x="838199" y="1135116"/>
                <a:ext cx="10515599" cy="5357757"/>
              </a:xfrm>
            </p:spPr>
            <p:txBody>
              <a:bodyPr>
                <a:noAutofit/>
              </a:bodyPr>
              <a:lstStyle/>
              <a:p>
                <a:r>
                  <a:rPr kumimoji="1" lang="ja-JP" altLang="en-US" sz="2000"/>
                  <a:t>共変量</a:t>
                </a:r>
                <a:r>
                  <a:rPr kumimoji="1" lang="en-US" altLang="ja-JP" sz="2000" dirty="0"/>
                  <a:t> </a:t>
                </a:r>
                <a14:m>
                  <m:oMath xmlns:m="http://schemas.openxmlformats.org/officeDocument/2006/math">
                    <m:r>
                      <a:rPr kumimoji="1" lang="en-US" altLang="ja-JP" sz="2000" b="0" i="1" smtClean="0">
                        <a:latin typeface="Cambria Math" panose="02040503050406030204" pitchFamily="18" charset="0"/>
                      </a:rPr>
                      <m:t>𝑋</m:t>
                    </m:r>
                  </m:oMath>
                </a14:m>
                <a:r>
                  <a:rPr kumimoji="1" lang="en-US" altLang="ja-JP" sz="2000" dirty="0"/>
                  <a:t> </a:t>
                </a:r>
                <a:r>
                  <a:rPr kumimoji="1" lang="ja-JP" altLang="en-US" sz="2000"/>
                  <a:t>は</a:t>
                </a:r>
                <a:endParaRPr kumimoji="1" lang="en-US" altLang="ja-JP" sz="2000" dirty="0"/>
              </a:p>
              <a:p>
                <a:endParaRPr kumimoji="1" lang="en-US" altLang="ja-JP" sz="800" dirty="0"/>
              </a:p>
              <a:p>
                <a:pPr lvl="1"/>
                <a:r>
                  <a:rPr lang="ja-JP" altLang="en-US" sz="2000"/>
                  <a:t>アウトカム</a:t>
                </a:r>
                <a:r>
                  <a:rPr lang="en-US" altLang="ja-JP" sz="2000" dirty="0"/>
                  <a:t> </a:t>
                </a:r>
                <a14:m>
                  <m:oMath xmlns:m="http://schemas.openxmlformats.org/officeDocument/2006/math">
                    <m:r>
                      <a:rPr lang="en-US" altLang="ja-JP" sz="2000" i="1">
                        <a:latin typeface="Cambria Math" panose="02040503050406030204" pitchFamily="18" charset="0"/>
                      </a:rPr>
                      <m:t>𝑌</m:t>
                    </m:r>
                  </m:oMath>
                </a14:m>
                <a:r>
                  <a:rPr lang="en-US" altLang="ja-JP" sz="2000" dirty="0"/>
                  <a:t> </a:t>
                </a:r>
                <a:r>
                  <a:rPr lang="ja-JP" altLang="en-US" sz="2000" dirty="0"/>
                  <a:t>に影響</a:t>
                </a:r>
                <a:r>
                  <a:rPr lang="ja-JP" altLang="en-US" sz="2000"/>
                  <a:t>があり、</a:t>
                </a:r>
                <a:endParaRPr lang="en-US" altLang="ja-JP" sz="2000" dirty="0"/>
              </a:p>
              <a:p>
                <a:pPr lvl="1"/>
                <a:r>
                  <a:rPr lang="ja-JP" altLang="en-US" sz="2000"/>
                  <a:t>処置</a:t>
                </a:r>
                <a:r>
                  <a:rPr lang="en-US" altLang="ja-JP" sz="2000" dirty="0"/>
                  <a:t> </a:t>
                </a:r>
                <a14:m>
                  <m:oMath xmlns:m="http://schemas.openxmlformats.org/officeDocument/2006/math">
                    <m:r>
                      <a:rPr lang="en-US" altLang="ja-JP" sz="2000" i="1">
                        <a:latin typeface="Cambria Math" panose="02040503050406030204" pitchFamily="18" charset="0"/>
                      </a:rPr>
                      <m:t>𝐷</m:t>
                    </m:r>
                  </m:oMath>
                </a14:m>
                <a:r>
                  <a:rPr lang="en-US" altLang="ja-JP" sz="2000" dirty="0"/>
                  <a:t> </a:t>
                </a:r>
                <a:r>
                  <a:rPr lang="ja-JP" altLang="en-US" sz="2000"/>
                  <a:t>と</a:t>
                </a:r>
                <a:r>
                  <a:rPr lang="en-US" altLang="ja-JP" sz="2000" dirty="0"/>
                  <a:t> </a:t>
                </a:r>
                <a:r>
                  <a:rPr lang="ja-JP" altLang="en-US" sz="2000"/>
                  <a:t>関連があり、</a:t>
                </a:r>
                <a:endParaRPr lang="en-US" altLang="ja-JP" sz="2000" dirty="0"/>
              </a:p>
              <a:p>
                <a:pPr lvl="1"/>
                <a:r>
                  <a:rPr lang="ja-JP" altLang="en-US" sz="2000"/>
                  <a:t>処置</a:t>
                </a:r>
                <a:r>
                  <a:rPr lang="en-US" altLang="ja-JP" sz="2000" dirty="0"/>
                  <a:t> </a:t>
                </a:r>
                <a14:m>
                  <m:oMath xmlns:m="http://schemas.openxmlformats.org/officeDocument/2006/math">
                    <m:r>
                      <a:rPr lang="en-US" altLang="ja-JP" sz="2000" b="0" i="1" smtClean="0">
                        <a:latin typeface="Cambria Math" panose="02040503050406030204" pitchFamily="18" charset="0"/>
                      </a:rPr>
                      <m:t>𝐷</m:t>
                    </m:r>
                  </m:oMath>
                </a14:m>
                <a:r>
                  <a:rPr lang="en-US" altLang="ja-JP" sz="2000" dirty="0"/>
                  <a:t> </a:t>
                </a:r>
                <a:r>
                  <a:rPr lang="ja-JP" altLang="en-US" sz="2000"/>
                  <a:t>から</a:t>
                </a:r>
                <a:r>
                  <a:rPr lang="en-US" altLang="ja-JP" sz="2000" dirty="0"/>
                  <a:t> </a:t>
                </a:r>
                <a:r>
                  <a:rPr lang="ja-JP" altLang="en-US" sz="2000"/>
                  <a:t>アウトカム</a:t>
                </a:r>
                <a:r>
                  <a:rPr lang="en-US" altLang="ja-JP" sz="2000" dirty="0"/>
                  <a:t> </a:t>
                </a:r>
                <a14:m>
                  <m:oMath xmlns:m="http://schemas.openxmlformats.org/officeDocument/2006/math">
                    <m:r>
                      <a:rPr lang="en-US" altLang="ja-JP" sz="2000" b="0" i="1" smtClean="0">
                        <a:latin typeface="Cambria Math" panose="02040503050406030204" pitchFamily="18" charset="0"/>
                      </a:rPr>
                      <m:t>𝑌</m:t>
                    </m:r>
                  </m:oMath>
                </a14:m>
                <a:r>
                  <a:rPr lang="en-US" altLang="ja-JP" sz="2000" dirty="0"/>
                  <a:t> </a:t>
                </a:r>
                <a:r>
                  <a:rPr lang="ja-JP" altLang="en-US" sz="2000"/>
                  <a:t>への因果経路上に位置しない</a:t>
                </a:r>
                <a:endParaRPr lang="en-US" altLang="ja-JP" sz="2000" dirty="0"/>
              </a:p>
              <a:p>
                <a:pPr lvl="1"/>
                <a:endParaRPr kumimoji="1" lang="en-US" altLang="ja-JP" sz="800" dirty="0"/>
              </a:p>
              <a:p>
                <a:pPr marL="397800" lvl="1" indent="0">
                  <a:buNone/>
                </a:pPr>
                <a:r>
                  <a:rPr lang="ja-JP" altLang="en-US" sz="2000"/>
                  <a:t>とき、</a:t>
                </a:r>
                <a:r>
                  <a:rPr kumimoji="1" lang="ja-JP" altLang="en-US" sz="2000" b="1"/>
                  <a:t>交絡因子</a:t>
                </a:r>
                <a:r>
                  <a:rPr kumimoji="1" lang="ja-JP" altLang="en-US" sz="2000"/>
                  <a:t>・</a:t>
                </a:r>
                <a:r>
                  <a:rPr kumimoji="1" lang="ja-JP" altLang="en-US" sz="2000" b="1"/>
                  <a:t>交絡</a:t>
                </a:r>
                <a:r>
                  <a:rPr kumimoji="1" lang="ja-JP" altLang="en-US" sz="2000"/>
                  <a:t>と呼ばれる</a:t>
                </a:r>
                <a:endParaRPr kumimoji="1" lang="en-US" altLang="ja-JP" sz="2000" dirty="0"/>
              </a:p>
              <a:p>
                <a:endParaRPr lang="en-US" altLang="ja-JP" sz="2000" dirty="0"/>
              </a:p>
              <a:p>
                <a:endParaRPr lang="en-US" altLang="ja-JP" sz="2000" dirty="0"/>
              </a:p>
              <a:p>
                <a:endParaRPr lang="en-US" altLang="ja-JP" sz="2000" dirty="0"/>
              </a:p>
              <a:p>
                <a:endParaRPr lang="en-US" altLang="ja-JP" sz="2000" dirty="0"/>
              </a:p>
              <a:p>
                <a:endParaRPr lang="en-US" altLang="ja-JP" sz="2000" dirty="0"/>
              </a:p>
              <a:p>
                <a:endParaRPr lang="en-US" altLang="ja-JP" sz="2000" dirty="0"/>
              </a:p>
              <a:p>
                <a:endParaRPr lang="en-US" altLang="ja-JP" sz="2000" dirty="0"/>
              </a:p>
              <a:p>
                <a:endParaRPr lang="en-US" altLang="ja-JP" sz="2000" dirty="0"/>
              </a:p>
              <a:p>
                <a:r>
                  <a:rPr lang="ja-JP" altLang="en-US" sz="2000"/>
                  <a:t>交絡をコントロールすることが因果推論においては重要とされる</a:t>
                </a:r>
                <a:endParaRPr lang="en-US" altLang="ja-JP" sz="2000" dirty="0"/>
              </a:p>
              <a:p>
                <a:pPr lvl="1"/>
                <a:r>
                  <a:rPr lang="ja-JP" altLang="en-US" sz="2000"/>
                  <a:t>具体的な数学的な定義やコントロールの方法は、データや統計モデルに依存する</a:t>
                </a:r>
                <a:endParaRPr lang="en-US" altLang="ja-JP" sz="2000" dirty="0"/>
              </a:p>
              <a:p>
                <a:endParaRPr kumimoji="1" lang="en-US" altLang="ja-JP" sz="2000" dirty="0"/>
              </a:p>
              <a:p>
                <a:endParaRPr lang="en-US" altLang="ja-JP" sz="2000" dirty="0"/>
              </a:p>
              <a:p>
                <a:endParaRPr kumimoji="1" lang="en-US" altLang="ja-JP" sz="2000" dirty="0"/>
              </a:p>
              <a:p>
                <a:endParaRPr kumimoji="1" lang="en-US" altLang="ja-JP" sz="2000" dirty="0"/>
              </a:p>
              <a:p>
                <a:endParaRPr lang="en-US" altLang="ja-JP" sz="2000" dirty="0"/>
              </a:p>
              <a:p>
                <a:endParaRPr kumimoji="1" lang="en-US" altLang="ja-JP" sz="2000" dirty="0"/>
              </a:p>
              <a:p>
                <a:endParaRPr lang="en-US" altLang="ja-JP" sz="2000" dirty="0"/>
              </a:p>
            </p:txBody>
          </p:sp>
        </mc:Choice>
        <mc:Fallback>
          <p:sp>
            <p:nvSpPr>
              <p:cNvPr id="3" name="コンテンツ プレースホルダー 2">
                <a:extLst>
                  <a:ext uri="{FF2B5EF4-FFF2-40B4-BE49-F238E27FC236}">
                    <a16:creationId xmlns:a16="http://schemas.microsoft.com/office/drawing/2014/main" id="{36C305CF-E277-8656-FC3A-43A4941B3CF0}"/>
                  </a:ext>
                </a:extLst>
              </p:cNvPr>
              <p:cNvSpPr>
                <a:spLocks noGrp="1" noRot="1" noChangeAspect="1" noMove="1" noResize="1" noEditPoints="1" noAdjustHandles="1" noChangeArrowheads="1" noChangeShapeType="1" noTextEdit="1"/>
              </p:cNvSpPr>
              <p:nvPr>
                <p:ph idx="1"/>
              </p:nvPr>
            </p:nvSpPr>
            <p:spPr>
              <a:xfrm>
                <a:off x="838199" y="1135116"/>
                <a:ext cx="10515599" cy="5357757"/>
              </a:xfrm>
              <a:blipFill>
                <a:blip r:embed="rId3"/>
                <a:stretch>
                  <a:fillRect l="-483" t="-709" b="-946"/>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5" name="円/楕円 4">
                <a:extLst>
                  <a:ext uri="{FF2B5EF4-FFF2-40B4-BE49-F238E27FC236}">
                    <a16:creationId xmlns:a16="http://schemas.microsoft.com/office/drawing/2014/main" id="{4B698B80-A3DB-66BF-BAF6-48B61402E4C6}"/>
                  </a:ext>
                </a:extLst>
              </p:cNvPr>
              <p:cNvSpPr/>
              <p:nvPr/>
            </p:nvSpPr>
            <p:spPr>
              <a:xfrm>
                <a:off x="5940216" y="3338752"/>
                <a:ext cx="691376" cy="691376"/>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kumimoji="1" lang="en-US" altLang="ja-JP" b="0" i="1" smtClean="0">
                          <a:solidFill>
                            <a:schemeClr val="tx1"/>
                          </a:solidFill>
                          <a:latin typeface="Cambria Math" panose="02040503050406030204" pitchFamily="18" charset="0"/>
                        </a:rPr>
                        <m:t>𝑋</m:t>
                      </m:r>
                    </m:oMath>
                  </m:oMathPara>
                </a14:m>
                <a:endParaRPr kumimoji="1" lang="ja-JP" altLang="en-US">
                  <a:solidFill>
                    <a:schemeClr val="tx1"/>
                  </a:solidFill>
                </a:endParaRPr>
              </a:p>
            </p:txBody>
          </p:sp>
        </mc:Choice>
        <mc:Fallback>
          <p:sp>
            <p:nvSpPr>
              <p:cNvPr id="5" name="円/楕円 4">
                <a:extLst>
                  <a:ext uri="{FF2B5EF4-FFF2-40B4-BE49-F238E27FC236}">
                    <a16:creationId xmlns:a16="http://schemas.microsoft.com/office/drawing/2014/main" id="{4B698B80-A3DB-66BF-BAF6-48B61402E4C6}"/>
                  </a:ext>
                </a:extLst>
              </p:cNvPr>
              <p:cNvSpPr>
                <a:spLocks noRot="1" noChangeAspect="1" noMove="1" noResize="1" noEditPoints="1" noAdjustHandles="1" noChangeArrowheads="1" noChangeShapeType="1" noTextEdit="1"/>
              </p:cNvSpPr>
              <p:nvPr/>
            </p:nvSpPr>
            <p:spPr>
              <a:xfrm>
                <a:off x="5940216" y="3338752"/>
                <a:ext cx="691376" cy="691376"/>
              </a:xfrm>
              <a:prstGeom prst="ellipse">
                <a:avLst/>
              </a:prstGeom>
              <a:blipFill>
                <a:blip r:embed="rId4"/>
                <a:stretch>
                  <a:fillRect/>
                </a:stretch>
              </a:blipFill>
              <a:ln w="38100"/>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9" name="円/楕円 8">
                <a:extLst>
                  <a:ext uri="{FF2B5EF4-FFF2-40B4-BE49-F238E27FC236}">
                    <a16:creationId xmlns:a16="http://schemas.microsoft.com/office/drawing/2014/main" id="{FA9588F7-DC17-A39A-D195-31E65E87C83C}"/>
                  </a:ext>
                </a:extLst>
              </p:cNvPr>
              <p:cNvSpPr/>
              <p:nvPr/>
            </p:nvSpPr>
            <p:spPr>
              <a:xfrm>
                <a:off x="7528337" y="4699201"/>
                <a:ext cx="691376" cy="691376"/>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kumimoji="1" lang="en-US" altLang="ja-JP" b="0" i="1" smtClean="0">
                          <a:solidFill>
                            <a:schemeClr val="tx1"/>
                          </a:solidFill>
                          <a:latin typeface="Cambria Math" panose="02040503050406030204" pitchFamily="18" charset="0"/>
                        </a:rPr>
                        <m:t>𝑌</m:t>
                      </m:r>
                    </m:oMath>
                  </m:oMathPara>
                </a14:m>
                <a:endParaRPr kumimoji="1" lang="ja-JP" altLang="en-US">
                  <a:solidFill>
                    <a:schemeClr val="tx1"/>
                  </a:solidFill>
                </a:endParaRPr>
              </a:p>
            </p:txBody>
          </p:sp>
        </mc:Choice>
        <mc:Fallback>
          <p:sp>
            <p:nvSpPr>
              <p:cNvPr id="9" name="円/楕円 8">
                <a:extLst>
                  <a:ext uri="{FF2B5EF4-FFF2-40B4-BE49-F238E27FC236}">
                    <a16:creationId xmlns:a16="http://schemas.microsoft.com/office/drawing/2014/main" id="{FA9588F7-DC17-A39A-D195-31E65E87C83C}"/>
                  </a:ext>
                </a:extLst>
              </p:cNvPr>
              <p:cNvSpPr>
                <a:spLocks noRot="1" noChangeAspect="1" noMove="1" noResize="1" noEditPoints="1" noAdjustHandles="1" noChangeArrowheads="1" noChangeShapeType="1" noTextEdit="1"/>
              </p:cNvSpPr>
              <p:nvPr/>
            </p:nvSpPr>
            <p:spPr>
              <a:xfrm>
                <a:off x="7528337" y="4699201"/>
                <a:ext cx="691376" cy="691376"/>
              </a:xfrm>
              <a:prstGeom prst="ellipse">
                <a:avLst/>
              </a:prstGeom>
              <a:blipFill>
                <a:blip r:embed="rId5"/>
                <a:stretch>
                  <a:fillRect/>
                </a:stretch>
              </a:blipFill>
              <a:ln w="38100"/>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0" name="円/楕円 9">
                <a:extLst>
                  <a:ext uri="{FF2B5EF4-FFF2-40B4-BE49-F238E27FC236}">
                    <a16:creationId xmlns:a16="http://schemas.microsoft.com/office/drawing/2014/main" id="{0F907BA1-4986-4C79-1EE2-4BF50638EDE5}"/>
                  </a:ext>
                </a:extLst>
              </p:cNvPr>
              <p:cNvSpPr/>
              <p:nvPr/>
            </p:nvSpPr>
            <p:spPr>
              <a:xfrm>
                <a:off x="4352101" y="4699201"/>
                <a:ext cx="691376" cy="691376"/>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kumimoji="1" lang="en-US" altLang="ja-JP" b="0" i="1" smtClean="0">
                          <a:solidFill>
                            <a:schemeClr val="tx1"/>
                          </a:solidFill>
                          <a:latin typeface="Cambria Math" panose="02040503050406030204" pitchFamily="18" charset="0"/>
                        </a:rPr>
                        <m:t>𝐷</m:t>
                      </m:r>
                    </m:oMath>
                  </m:oMathPara>
                </a14:m>
                <a:endParaRPr kumimoji="1" lang="ja-JP" altLang="en-US">
                  <a:solidFill>
                    <a:schemeClr val="tx1"/>
                  </a:solidFill>
                </a:endParaRPr>
              </a:p>
            </p:txBody>
          </p:sp>
        </mc:Choice>
        <mc:Fallback>
          <p:sp>
            <p:nvSpPr>
              <p:cNvPr id="10" name="円/楕円 9">
                <a:extLst>
                  <a:ext uri="{FF2B5EF4-FFF2-40B4-BE49-F238E27FC236}">
                    <a16:creationId xmlns:a16="http://schemas.microsoft.com/office/drawing/2014/main" id="{0F907BA1-4986-4C79-1EE2-4BF50638EDE5}"/>
                  </a:ext>
                </a:extLst>
              </p:cNvPr>
              <p:cNvSpPr>
                <a:spLocks noRot="1" noChangeAspect="1" noMove="1" noResize="1" noEditPoints="1" noAdjustHandles="1" noChangeArrowheads="1" noChangeShapeType="1" noTextEdit="1"/>
              </p:cNvSpPr>
              <p:nvPr/>
            </p:nvSpPr>
            <p:spPr>
              <a:xfrm>
                <a:off x="4352101" y="4699201"/>
                <a:ext cx="691376" cy="691376"/>
              </a:xfrm>
              <a:prstGeom prst="ellipse">
                <a:avLst/>
              </a:prstGeom>
              <a:blipFill>
                <a:blip r:embed="rId6"/>
                <a:stretch>
                  <a:fillRect/>
                </a:stretch>
              </a:blipFill>
              <a:ln w="38100"/>
            </p:spPr>
            <p:txBody>
              <a:bodyPr/>
              <a:lstStyle/>
              <a:p>
                <a:r>
                  <a:rPr lang="ja-JP" altLang="en-US">
                    <a:noFill/>
                  </a:rPr>
                  <a:t> </a:t>
                </a:r>
              </a:p>
            </p:txBody>
          </p:sp>
        </mc:Fallback>
      </mc:AlternateContent>
      <p:cxnSp>
        <p:nvCxnSpPr>
          <p:cNvPr id="12" name="直線矢印コネクタ 11">
            <a:extLst>
              <a:ext uri="{FF2B5EF4-FFF2-40B4-BE49-F238E27FC236}">
                <a16:creationId xmlns:a16="http://schemas.microsoft.com/office/drawing/2014/main" id="{F6401F20-DD1C-1BBE-3DBC-15C895ED6571}"/>
              </a:ext>
            </a:extLst>
          </p:cNvPr>
          <p:cNvCxnSpPr/>
          <p:nvPr/>
        </p:nvCxnSpPr>
        <p:spPr>
          <a:xfrm>
            <a:off x="6713369" y="4030128"/>
            <a:ext cx="814968" cy="66907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51100B0F-B98A-D114-818C-3F1EE2CCDA29}"/>
              </a:ext>
            </a:extLst>
          </p:cNvPr>
          <p:cNvCxnSpPr>
            <a:cxnSpLocks/>
          </p:cNvCxnSpPr>
          <p:nvPr/>
        </p:nvCxnSpPr>
        <p:spPr>
          <a:xfrm flipH="1">
            <a:off x="4980458" y="4030128"/>
            <a:ext cx="877981" cy="67258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22851DA2-426E-B6F2-1985-E2DCC73D8739}"/>
              </a:ext>
            </a:extLst>
          </p:cNvPr>
          <p:cNvCxnSpPr>
            <a:cxnSpLocks/>
          </p:cNvCxnSpPr>
          <p:nvPr/>
        </p:nvCxnSpPr>
        <p:spPr>
          <a:xfrm>
            <a:off x="5199213" y="5044889"/>
            <a:ext cx="217338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00748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7568D-9EEA-4BE4-CF66-7B8DDED2216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9C8F645-DAE2-BC39-EB8D-35C01EAC9769}"/>
              </a:ext>
            </a:extLst>
          </p:cNvPr>
          <p:cNvSpPr>
            <a:spLocks noGrp="1"/>
          </p:cNvSpPr>
          <p:nvPr>
            <p:ph type="title"/>
          </p:nvPr>
        </p:nvSpPr>
        <p:spPr/>
        <p:txBody>
          <a:bodyPr/>
          <a:lstStyle/>
          <a:p>
            <a:r>
              <a:rPr kumimoji="1" lang="en-US" altLang="ja-JP" dirty="0"/>
              <a:t>ATE</a:t>
            </a:r>
            <a:r>
              <a:rPr kumimoji="1" lang="ja-JP" altLang="en-US"/>
              <a:t>推定に必要な仮定</a:t>
            </a:r>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47BC8F8E-61CB-2170-220D-45DC34071C55}"/>
                  </a:ext>
                </a:extLst>
              </p:cNvPr>
              <p:cNvSpPr>
                <a:spLocks noGrp="1"/>
              </p:cNvSpPr>
              <p:nvPr>
                <p:ph idx="1"/>
              </p:nvPr>
            </p:nvSpPr>
            <p:spPr/>
            <p:txBody>
              <a:bodyPr>
                <a:normAutofit/>
              </a:bodyPr>
              <a:lstStyle/>
              <a:p>
                <a:r>
                  <a:rPr lang="ja-JP" altLang="en-US" sz="2000"/>
                  <a:t>一般的に</a:t>
                </a:r>
                <a:r>
                  <a:rPr lang="en-US" altLang="ja-JP" sz="2000" dirty="0"/>
                  <a:t>ATE</a:t>
                </a:r>
                <a:r>
                  <a:rPr lang="ja-JP" altLang="en-US" sz="2000"/>
                  <a:t>の推定のために通常以下の三つの仮定が置かれる</a:t>
                </a:r>
                <a:endParaRPr lang="en-US" altLang="ja-JP" sz="2000" dirty="0">
                  <a:latin typeface="Noto Sans JP" panose="020B0200000000000000" pitchFamily="34" charset="-128"/>
                  <a:ea typeface="Noto Sans JP" panose="020B0200000000000000" pitchFamily="34" charset="-128"/>
                </a:endParaRPr>
              </a:p>
              <a:p>
                <a:endParaRPr lang="en-US" altLang="ja-JP" sz="800" dirty="0"/>
              </a:p>
              <a:p>
                <a:pPr marL="342900" indent="-342900">
                  <a:buClr>
                    <a:srgbClr val="C00000"/>
                  </a:buClr>
                  <a:buFont typeface="+mj-lt"/>
                  <a:buAutoNum type="arabicPeriod"/>
                </a:pPr>
                <a:r>
                  <a:rPr lang="en-US" altLang="ja-JP" sz="2000" dirty="0">
                    <a:latin typeface="Noto Sans JP" panose="020B0200000000000000" pitchFamily="34" charset="-128"/>
                    <a:ea typeface="Noto Sans JP" panose="020B0200000000000000" pitchFamily="34" charset="-128"/>
                  </a:rPr>
                  <a:t>SUTVA</a:t>
                </a:r>
                <a:r>
                  <a:rPr lang="ja-JP" altLang="en-US" sz="2000">
                    <a:latin typeface="Noto Sans JP" panose="020B0200000000000000" pitchFamily="34" charset="-128"/>
                    <a:ea typeface="Noto Sans JP" panose="020B0200000000000000" pitchFamily="34" charset="-128"/>
                  </a:rPr>
                  <a:t>の仮定</a:t>
                </a:r>
                <a:endParaRPr lang="en-US" altLang="ja-JP" sz="2000" dirty="0">
                  <a:latin typeface="Noto Sans JP" panose="020B0200000000000000" pitchFamily="34" charset="-128"/>
                  <a:ea typeface="Noto Sans JP" panose="020B0200000000000000" pitchFamily="34" charset="-128"/>
                </a:endParaRPr>
              </a:p>
              <a:p>
                <a:pPr>
                  <a:buClr>
                    <a:srgbClr val="C00000"/>
                  </a:buClr>
                  <a:buFont typeface="+mj-lt"/>
                  <a:buAutoNum type="arabicPeriod"/>
                </a:pPr>
                <a:endParaRPr lang="en-US" altLang="ja-JP" sz="800" dirty="0">
                  <a:latin typeface="Noto Sans JP" panose="020B0200000000000000" pitchFamily="34" charset="-128"/>
                  <a:ea typeface="Noto Sans JP" panose="020B0200000000000000" pitchFamily="34" charset="-128"/>
                </a:endParaRPr>
              </a:p>
              <a:p>
                <a:pPr marL="342900" indent="-342900">
                  <a:buClr>
                    <a:srgbClr val="C00000"/>
                  </a:buClr>
                  <a:buFont typeface="+mj-lt"/>
                  <a:buAutoNum type="arabicPeriod"/>
                </a:pPr>
                <a:r>
                  <a:rPr lang="ja-JP" altLang="en-US" sz="2000">
                    <a:latin typeface="Noto Sans JP" panose="020B0200000000000000" pitchFamily="34" charset="-128"/>
                    <a:ea typeface="Noto Sans JP" panose="020B0200000000000000" pitchFamily="34" charset="-128"/>
                  </a:rPr>
                  <a:t>非交絡性の仮定</a:t>
                </a:r>
                <a:endParaRPr lang="en-US" altLang="ja-JP" sz="2000" dirty="0">
                  <a:latin typeface="Noto Sans JP" panose="020B0200000000000000" pitchFamily="34" charset="-128"/>
                  <a:ea typeface="Noto Sans JP" panose="020B0200000000000000" pitchFamily="34" charset="-128"/>
                </a:endParaRPr>
              </a:p>
              <a:p>
                <a:pPr lvl="1">
                  <a:buClr>
                    <a:schemeClr val="tx1"/>
                  </a:buClr>
                </a:pPr>
                <a:r>
                  <a:rPr lang="ja-JP" altLang="en-US" sz="2000">
                    <a:latin typeface="Noto Sans JP" panose="020B0200000000000000" pitchFamily="34" charset="-128"/>
                    <a:ea typeface="Noto Sans JP" panose="020B0200000000000000" pitchFamily="34" charset="-128"/>
                  </a:rPr>
                  <a:t>強い意味で無視割り当ての仮定とも呼ばれる</a:t>
                </a:r>
                <a:endParaRPr lang="en-US" altLang="ja-JP" sz="2000" dirty="0">
                  <a:latin typeface="Noto Sans JP" panose="020B0200000000000000" pitchFamily="34" charset="-128"/>
                  <a:ea typeface="Noto Sans JP" panose="020B0200000000000000" pitchFamily="34" charset="-128"/>
                </a:endParaRPr>
              </a:p>
              <a:p>
                <a:pPr lvl="1">
                  <a:buClr>
                    <a:schemeClr val="tx1"/>
                  </a:buClr>
                </a:pPr>
                <a:r>
                  <a:rPr lang="ja-JP" altLang="en-US" sz="2000">
                    <a:latin typeface="Noto Sans JP" panose="020B0200000000000000" pitchFamily="34" charset="-128"/>
                    <a:ea typeface="Noto Sans JP" panose="020B0200000000000000" pitchFamily="34" charset="-128"/>
                  </a:rPr>
                  <a:t>共変量</a:t>
                </a:r>
                <a:r>
                  <a:rPr lang="en-US" altLang="ja-JP" sz="2000" dirty="0">
                    <a:latin typeface="Noto Sans JP" panose="020B0200000000000000" pitchFamily="34" charset="-128"/>
                    <a:ea typeface="Noto Sans JP" panose="020B0200000000000000" pitchFamily="34" charset="-128"/>
                  </a:rPr>
                  <a:t> </a:t>
                </a:r>
                <a14:m>
                  <m:oMath xmlns:m="http://schemas.openxmlformats.org/officeDocument/2006/math">
                    <m:r>
                      <a:rPr lang="en-US" altLang="ja-JP" sz="2000" b="0" i="1" smtClean="0">
                        <a:latin typeface="Cambria Math" panose="02040503050406030204" pitchFamily="18" charset="0"/>
                        <a:ea typeface="Noto Sans JP" panose="020B0200000000000000" pitchFamily="34" charset="-128"/>
                      </a:rPr>
                      <m:t>𝑋</m:t>
                    </m:r>
                  </m:oMath>
                </a14:m>
                <a:r>
                  <a:rPr lang="en-US" altLang="ja-JP" sz="2000" dirty="0">
                    <a:latin typeface="Noto Sans JP" panose="020B0200000000000000" pitchFamily="34" charset="-128"/>
                    <a:ea typeface="Noto Sans JP" panose="020B0200000000000000" pitchFamily="34" charset="-128"/>
                  </a:rPr>
                  <a:t> </a:t>
                </a:r>
                <a:r>
                  <a:rPr lang="ja-JP" altLang="en-US" sz="2000" dirty="0">
                    <a:latin typeface="Noto Sans JP" panose="020B0200000000000000" pitchFamily="34" charset="-128"/>
                    <a:ea typeface="Noto Sans JP" panose="020B0200000000000000" pitchFamily="34" charset="-128"/>
                  </a:rPr>
                  <a:t>で</a:t>
                </a:r>
                <a:r>
                  <a:rPr lang="ja-JP" altLang="en-US" sz="2000">
                    <a:latin typeface="Noto Sans JP" panose="020B0200000000000000" pitchFamily="34" charset="-128"/>
                    <a:ea typeface="Noto Sans JP" panose="020B0200000000000000" pitchFamily="34" charset="-128"/>
                  </a:rPr>
                  <a:t>条件づけると、処置の割り当てと潜在アウトカムが独立になる</a:t>
                </a:r>
                <a:endParaRPr lang="en-US" altLang="ja-JP" sz="2000" dirty="0">
                  <a:latin typeface="Noto Sans JP" panose="020B0200000000000000" pitchFamily="34" charset="-128"/>
                  <a:ea typeface="Noto Sans JP" panose="020B0200000000000000" pitchFamily="34" charset="-128"/>
                </a:endParaRPr>
              </a:p>
              <a:p>
                <a:pPr lvl="1">
                  <a:buClr>
                    <a:schemeClr val="tx1"/>
                  </a:buClr>
                </a:pPr>
                <a:endParaRPr lang="en-US" altLang="ja-JP" sz="800" dirty="0">
                  <a:latin typeface="Noto Sans JP" panose="020B0200000000000000" pitchFamily="34" charset="-128"/>
                  <a:ea typeface="Noto Sans JP" panose="020B0200000000000000" pitchFamily="34" charset="-128"/>
                </a:endParaRPr>
              </a:p>
              <a:p>
                <a:pPr marL="342900" indent="-342900">
                  <a:buClr>
                    <a:srgbClr val="C00000"/>
                  </a:buClr>
                  <a:buFont typeface="+mj-lt"/>
                  <a:buAutoNum type="arabicPeriod"/>
                </a:pPr>
                <a:r>
                  <a:rPr kumimoji="1" lang="ja-JP" altLang="en-US" sz="2000">
                    <a:latin typeface="Noto Sans JP" panose="020B0200000000000000" pitchFamily="34" charset="-128"/>
                    <a:ea typeface="Noto Sans JP" panose="020B0200000000000000" pitchFamily="34" charset="-128"/>
                  </a:rPr>
                  <a:t>共通サポートの仮定</a:t>
                </a:r>
                <a:endParaRPr kumimoji="1" lang="en-US" altLang="ja-JP" sz="2000" dirty="0">
                  <a:latin typeface="Noto Sans JP" panose="020B0200000000000000" pitchFamily="34" charset="-128"/>
                  <a:ea typeface="Noto Sans JP" panose="020B0200000000000000" pitchFamily="34" charset="-128"/>
                </a:endParaRPr>
              </a:p>
              <a:p>
                <a:pPr lvl="1"/>
                <a:r>
                  <a:rPr kumimoji="1" lang="ja-JP" altLang="en-US" sz="2000">
                    <a:latin typeface="Noto Sans JP" panose="020B0200000000000000" pitchFamily="34" charset="-128"/>
                    <a:ea typeface="Noto Sans JP" panose="020B0200000000000000" pitchFamily="34" charset="-128"/>
                  </a:rPr>
                  <a:t>共変量</a:t>
                </a:r>
                <a:r>
                  <a:rPr kumimoji="1" lang="en-US" altLang="ja-JP" sz="2000" dirty="0">
                    <a:latin typeface="Noto Sans JP" panose="020B0200000000000000" pitchFamily="34" charset="-128"/>
                    <a:ea typeface="Noto Sans JP" panose="020B0200000000000000" pitchFamily="34" charset="-128"/>
                  </a:rPr>
                  <a:t> </a:t>
                </a:r>
                <a14:m>
                  <m:oMath xmlns:m="http://schemas.openxmlformats.org/officeDocument/2006/math">
                    <m:r>
                      <a:rPr kumimoji="1" lang="en-US" altLang="ja-JP" sz="2000" b="0" i="1" smtClean="0">
                        <a:latin typeface="Cambria Math" panose="02040503050406030204" pitchFamily="18" charset="0"/>
                        <a:ea typeface="Noto Sans JP" panose="020B0200000000000000" pitchFamily="34" charset="-128"/>
                      </a:rPr>
                      <m:t>𝑋</m:t>
                    </m:r>
                  </m:oMath>
                </a14:m>
                <a:r>
                  <a:rPr kumimoji="1" lang="en-US" altLang="ja-JP" sz="2000" dirty="0">
                    <a:latin typeface="Noto Sans JP" panose="020B0200000000000000" pitchFamily="34" charset="-128"/>
                    <a:ea typeface="Noto Sans JP" panose="020B0200000000000000" pitchFamily="34" charset="-128"/>
                  </a:rPr>
                  <a:t> </a:t>
                </a:r>
                <a:r>
                  <a:rPr kumimoji="1" lang="ja-JP" altLang="en-US" sz="2000">
                    <a:latin typeface="Noto Sans JP" panose="020B0200000000000000" pitchFamily="34" charset="-128"/>
                    <a:ea typeface="Noto Sans JP" panose="020B0200000000000000" pitchFamily="34" charset="-128"/>
                  </a:rPr>
                  <a:t>のサポートが処置群と対照群とで共通部分がある</a:t>
                </a:r>
                <a:endParaRPr kumimoji="1" lang="en-US" altLang="ja-JP" sz="2000" dirty="0">
                  <a:latin typeface="Noto Sans JP" panose="020B0200000000000000" pitchFamily="34" charset="-128"/>
                  <a:ea typeface="Noto Sans JP" panose="020B0200000000000000" pitchFamily="34" charset="-128"/>
                </a:endParaRPr>
              </a:p>
              <a:p>
                <a:pPr lvl="1"/>
                <a:r>
                  <a:rPr kumimoji="1" lang="ja-JP" altLang="en-US" sz="2000">
                    <a:latin typeface="Noto Sans JP" panose="020B0200000000000000" pitchFamily="34" charset="-128"/>
                    <a:ea typeface="Noto Sans JP" panose="020B0200000000000000" pitchFamily="34" charset="-128"/>
                  </a:rPr>
                  <a:t>ポジティビティ（</a:t>
                </a:r>
                <a:r>
                  <a:rPr kumimoji="1" lang="en-US" altLang="ja-JP" sz="2000" dirty="0">
                    <a:latin typeface="Noto Sans JP" panose="020B0200000000000000" pitchFamily="34" charset="-128"/>
                    <a:ea typeface="Noto Sans JP" panose="020B0200000000000000" pitchFamily="34" charset="-128"/>
                  </a:rPr>
                  <a:t>positivity</a:t>
                </a:r>
                <a:r>
                  <a:rPr kumimoji="1" lang="ja-JP" altLang="en-US" sz="2000">
                    <a:latin typeface="Noto Sans JP" panose="020B0200000000000000" pitchFamily="34" charset="-128"/>
                    <a:ea typeface="Noto Sans JP" panose="020B0200000000000000" pitchFamily="34" charset="-128"/>
                  </a:rPr>
                  <a:t>）などともよばれる</a:t>
                </a:r>
                <a:endParaRPr kumimoji="1" lang="en-US" altLang="ja-JP" sz="2000" dirty="0">
                  <a:latin typeface="Noto Sans JP" panose="020B0200000000000000" pitchFamily="34" charset="-128"/>
                  <a:ea typeface="Noto Sans JP" panose="020B0200000000000000" pitchFamily="34" charset="-128"/>
                </a:endParaRPr>
              </a:p>
              <a:p>
                <a:endParaRPr kumimoji="1" lang="en-US" altLang="ja-JP" sz="2000" dirty="0">
                  <a:latin typeface="Noto Sans JP" panose="020B0200000000000000" pitchFamily="34" charset="-128"/>
                  <a:ea typeface="Noto Sans JP" panose="020B0200000000000000" pitchFamily="34" charset="-128"/>
                </a:endParaRPr>
              </a:p>
              <a:p>
                <a:pPr>
                  <a:buFont typeface="Wingdings" pitchFamily="2" charset="2"/>
                  <a:buChar char="Ø"/>
                </a:pPr>
                <a:r>
                  <a:rPr lang="ja-JP" altLang="en-US"/>
                  <a:t>注記</a:t>
                </a:r>
                <a:endParaRPr lang="en-US" altLang="ja-JP" dirty="0"/>
              </a:p>
              <a:p>
                <a:pPr lvl="1"/>
                <a:r>
                  <a:rPr kumimoji="1" lang="en-US" altLang="ja-JP" dirty="0">
                    <a:latin typeface="Noto Sans JP" panose="020B0200000000000000" pitchFamily="34" charset="-128"/>
                    <a:ea typeface="Noto Sans JP" panose="020B0200000000000000" pitchFamily="34" charset="-128"/>
                  </a:rPr>
                  <a:t>SUTVA</a:t>
                </a:r>
                <a:r>
                  <a:rPr kumimoji="1" lang="ja-JP" altLang="en-US">
                    <a:latin typeface="Noto Sans JP" panose="020B0200000000000000" pitchFamily="34" charset="-128"/>
                    <a:ea typeface="Noto Sans JP" panose="020B0200000000000000" pitchFamily="34" charset="-128"/>
                  </a:rPr>
                  <a:t>の仮定は</a:t>
                </a:r>
                <a:r>
                  <a:rPr lang="en-US" altLang="ja-JP" dirty="0" err="1"/>
                  <a:t>iid</a:t>
                </a:r>
                <a:r>
                  <a:rPr lang="ja-JP" altLang="en-US"/>
                  <a:t>の仮定などのデータ生成過程を丁寧に書くことで代替可能</a:t>
                </a:r>
                <a:endParaRPr lang="en-US" altLang="ja-JP" dirty="0"/>
              </a:p>
              <a:p>
                <a:pPr lvl="1"/>
                <a:r>
                  <a:rPr lang="ja-JP" altLang="en-US"/>
                  <a:t>非交絡性の仮定の具体的な形式は、データ生成過程や統計モデルに依存する</a:t>
                </a:r>
                <a:endParaRPr lang="en-US" altLang="ja-JP" dirty="0"/>
              </a:p>
              <a:p>
                <a:pPr lvl="1"/>
                <a:r>
                  <a:rPr kumimoji="1" lang="ja-JP" altLang="en-US">
                    <a:latin typeface="Noto Sans JP" panose="020B0200000000000000" pitchFamily="34" charset="-128"/>
                    <a:ea typeface="Noto Sans JP" panose="020B0200000000000000" pitchFamily="34" charset="-128"/>
                  </a:rPr>
                  <a:t>共通サポートの仮定は、強めの仮定を統計モデルに課せば、無くても良い</a:t>
                </a:r>
                <a:endParaRPr kumimoji="1" lang="en-US" altLang="ja-JP" dirty="0">
                  <a:latin typeface="Noto Sans JP" panose="020B0200000000000000" pitchFamily="34" charset="-128"/>
                  <a:ea typeface="Noto Sans JP" panose="020B0200000000000000" pitchFamily="34" charset="-128"/>
                </a:endParaRPr>
              </a:p>
              <a:p>
                <a:pPr lvl="2"/>
                <a:r>
                  <a:rPr lang="ja-JP" altLang="en-US"/>
                  <a:t>例：線形回帰モデルが</a:t>
                </a:r>
                <a14:m>
                  <m:oMath xmlns:m="http://schemas.openxmlformats.org/officeDocument/2006/math">
                    <m:r>
                      <a:rPr lang="en-US" altLang="ja-JP" b="0" i="1" smtClean="0">
                        <a:latin typeface="Cambria Math" panose="02040503050406030204" pitchFamily="18" charset="0"/>
                      </a:rPr>
                      <m:t>𝑋</m:t>
                    </m:r>
                  </m:oMath>
                </a14:m>
                <a:r>
                  <a:rPr kumimoji="1" lang="ja-JP" altLang="en-US">
                    <a:latin typeface="Noto Sans JP" panose="020B0200000000000000" pitchFamily="34" charset="-128"/>
                    <a:ea typeface="Noto Sans JP" panose="020B0200000000000000" pitchFamily="34" charset="-128"/>
                  </a:rPr>
                  <a:t>のサポート外でも成立している</a:t>
                </a:r>
                <a:endParaRPr lang="en-US" altLang="ja-JP" dirty="0"/>
              </a:p>
              <a:p>
                <a:pPr marL="397800" lvl="1" indent="0">
                  <a:buNone/>
                </a:pPr>
                <a:r>
                  <a:rPr kumimoji="1" lang="ja-JP" altLang="en-US">
                    <a:latin typeface="Noto Sans JP" panose="020B0200000000000000" pitchFamily="34" charset="-128"/>
                    <a:ea typeface="Noto Sans JP" panose="020B0200000000000000" pitchFamily="34" charset="-128"/>
                  </a:rPr>
                  <a:t>→</a:t>
                </a:r>
                <a:r>
                  <a:rPr kumimoji="1" lang="en-US" altLang="ja-JP" dirty="0">
                    <a:latin typeface="Noto Sans JP" panose="020B0200000000000000" pitchFamily="34" charset="-128"/>
                    <a:ea typeface="Noto Sans JP" panose="020B0200000000000000" pitchFamily="34" charset="-128"/>
                  </a:rPr>
                  <a:t> </a:t>
                </a:r>
                <a:r>
                  <a:rPr kumimoji="1" lang="ja-JP" altLang="en-US">
                    <a:latin typeface="Noto Sans JP" panose="020B0200000000000000" pitchFamily="34" charset="-128"/>
                    <a:ea typeface="Noto Sans JP" panose="020B0200000000000000" pitchFamily="34" charset="-128"/>
                  </a:rPr>
                  <a:t>どの仮定が必要になるか、仮定の具体的な数学的な定義は、データやモデルに依存</a:t>
                </a:r>
                <a:endParaRPr kumimoji="1" lang="en-US" altLang="ja-JP" dirty="0">
                  <a:latin typeface="Noto Sans JP" panose="020B0200000000000000" pitchFamily="34" charset="-128"/>
                  <a:ea typeface="Noto Sans JP" panose="020B0200000000000000" pitchFamily="34" charset="-128"/>
                </a:endParaRPr>
              </a:p>
            </p:txBody>
          </p:sp>
        </mc:Choice>
        <mc:Fallback>
          <p:sp>
            <p:nvSpPr>
              <p:cNvPr id="3" name="コンテンツ プレースホルダー 2">
                <a:extLst>
                  <a:ext uri="{FF2B5EF4-FFF2-40B4-BE49-F238E27FC236}">
                    <a16:creationId xmlns:a16="http://schemas.microsoft.com/office/drawing/2014/main" id="{47BC8F8E-61CB-2170-220D-45DC34071C55}"/>
                  </a:ext>
                </a:extLst>
              </p:cNvPr>
              <p:cNvSpPr>
                <a:spLocks noGrp="1" noRot="1" noChangeAspect="1" noMove="1" noResize="1" noEditPoints="1" noAdjustHandles="1" noChangeArrowheads="1" noChangeShapeType="1" noTextEdit="1"/>
              </p:cNvSpPr>
              <p:nvPr>
                <p:ph idx="1"/>
              </p:nvPr>
            </p:nvSpPr>
            <p:spPr>
              <a:blipFill>
                <a:blip r:embed="rId2"/>
                <a:stretch>
                  <a:fillRect l="-965" t="-709" b="-236"/>
                </a:stretch>
              </a:blipFill>
            </p:spPr>
            <p:txBody>
              <a:bodyPr/>
              <a:lstStyle/>
              <a:p>
                <a:r>
                  <a:rPr lang="ja-JP" altLang="en-US">
                    <a:noFill/>
                  </a:rPr>
                  <a:t> </a:t>
                </a:r>
              </a:p>
            </p:txBody>
          </p:sp>
        </mc:Fallback>
      </mc:AlternateContent>
      <p:sp>
        <p:nvSpPr>
          <p:cNvPr id="4" name="正方形/長方形 3">
            <a:extLst>
              <a:ext uri="{FF2B5EF4-FFF2-40B4-BE49-F238E27FC236}">
                <a16:creationId xmlns:a16="http://schemas.microsoft.com/office/drawing/2014/main" id="{DABE1BAA-A666-1B52-3F10-9989571B3B92}"/>
              </a:ext>
            </a:extLst>
          </p:cNvPr>
          <p:cNvSpPr/>
          <p:nvPr/>
        </p:nvSpPr>
        <p:spPr>
          <a:xfrm>
            <a:off x="838200" y="4466513"/>
            <a:ext cx="9724697" cy="20263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468330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F47F7-EE86-8AE6-2430-A0397396FF5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008F8A3-8ED9-6D31-CF77-92C024B39BAD}"/>
              </a:ext>
            </a:extLst>
          </p:cNvPr>
          <p:cNvSpPr>
            <a:spLocks noGrp="1"/>
          </p:cNvSpPr>
          <p:nvPr>
            <p:ph type="title"/>
          </p:nvPr>
        </p:nvSpPr>
        <p:spPr/>
        <p:txBody>
          <a:bodyPr/>
          <a:lstStyle/>
          <a:p>
            <a:r>
              <a:rPr kumimoji="1" lang="ja-JP" altLang="en-US"/>
              <a:t>回帰関数の差分の期待値</a:t>
            </a:r>
            <a:r>
              <a:rPr kumimoji="1" lang="en-US" altLang="ja-JP" dirty="0"/>
              <a:t> = </a:t>
            </a:r>
            <a:r>
              <a:rPr kumimoji="1" lang="ja-JP" altLang="en-US"/>
              <a:t>平均処置効果</a:t>
            </a:r>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42CDC2E6-84B9-06CE-6A39-37EAACBC54CB}"/>
                  </a:ext>
                </a:extLst>
              </p:cNvPr>
              <p:cNvSpPr>
                <a:spLocks noGrp="1"/>
              </p:cNvSpPr>
              <p:nvPr>
                <p:ph idx="1"/>
              </p:nvPr>
            </p:nvSpPr>
            <p:spPr>
              <a:xfrm>
                <a:off x="838200" y="1135116"/>
                <a:ext cx="7681332" cy="5357757"/>
              </a:xfrm>
            </p:spPr>
            <p:txBody>
              <a:bodyPr>
                <a:noAutofit/>
              </a:bodyPr>
              <a:lstStyle/>
              <a:p>
                <a:r>
                  <a:rPr kumimoji="1" lang="ja-JP" altLang="en-US" sz="2000"/>
                  <a:t>平均処置効果は「回帰関数の差分の期待値」</a:t>
                </a:r>
                <a:endParaRPr kumimoji="1" lang="en-US" altLang="ja-JP" sz="2000" dirty="0"/>
              </a:p>
              <a:p>
                <a:endParaRPr lang="en-US" altLang="ja-JP" sz="800" dirty="0"/>
              </a:p>
              <a:p>
                <a:pPr marL="0" indent="0">
                  <a:buNone/>
                </a:pPr>
                <a14:m>
                  <m:oMathPara xmlns:m="http://schemas.openxmlformats.org/officeDocument/2006/math">
                    <m:oMathParaPr>
                      <m:jc m:val="centerGroup"/>
                    </m:oMathParaPr>
                    <m:oMath xmlns:m="http://schemas.openxmlformats.org/officeDocument/2006/math">
                      <m:sSubSup>
                        <m:sSubSupPr>
                          <m:ctrlPr>
                            <a:rPr kumimoji="1" lang="en-US" altLang="ja-JP" sz="2000" b="0" i="1" smtClean="0">
                              <a:latin typeface="Cambria Math" panose="02040503050406030204" pitchFamily="18" charset="0"/>
                            </a:rPr>
                          </m:ctrlPr>
                        </m:sSubSupPr>
                        <m:e>
                          <m:r>
                            <a:rPr kumimoji="1" lang="en-US" altLang="ja-JP" sz="2000" b="0" i="1" smtClean="0">
                              <a:latin typeface="Cambria Math" panose="02040503050406030204" pitchFamily="18" charset="0"/>
                            </a:rPr>
                            <m:t>𝜃</m:t>
                          </m:r>
                        </m:e>
                        <m:sub>
                          <m:r>
                            <a:rPr kumimoji="1" lang="en-US" altLang="ja-JP" sz="2000" b="0" i="1" smtClean="0">
                              <a:latin typeface="Cambria Math" panose="02040503050406030204" pitchFamily="18" charset="0"/>
                            </a:rPr>
                            <m:t>0</m:t>
                          </m:r>
                        </m:sub>
                        <m:sup>
                          <m:r>
                            <a:rPr kumimoji="1" lang="en-US" altLang="ja-JP" sz="2000" b="0" i="1" smtClean="0">
                              <a:latin typeface="Cambria Math" panose="02040503050406030204" pitchFamily="18" charset="0"/>
                            </a:rPr>
                            <m:t>𝐴𝑇𝐸</m:t>
                          </m:r>
                        </m:sup>
                      </m:sSubSup>
                      <m:r>
                        <m:rPr>
                          <m:aln/>
                        </m:rPr>
                        <a:rPr kumimoji="1" lang="en-US" altLang="ja-JP" sz="2000" b="0" i="1" smtClean="0">
                          <a:latin typeface="Cambria Math" panose="02040503050406030204" pitchFamily="18" charset="0"/>
                        </a:rPr>
                        <m:t>=</m:t>
                      </m:r>
                      <m:r>
                        <a:rPr kumimoji="1" lang="en-US" altLang="ja-JP" sz="2000" b="0" i="1" smtClean="0">
                          <a:latin typeface="Cambria Math" panose="02040503050406030204" pitchFamily="18" charset="0"/>
                        </a:rPr>
                        <m:t>𝔼</m:t>
                      </m:r>
                      <m:d>
                        <m:dPr>
                          <m:begChr m:val="["/>
                          <m:endChr m:val="]"/>
                          <m:ctrlPr>
                            <a:rPr kumimoji="1" lang="en-US" altLang="ja-JP" sz="2000" b="0" i="1" smtClean="0">
                              <a:latin typeface="Cambria Math" panose="02040503050406030204" pitchFamily="18" charset="0"/>
                            </a:rPr>
                          </m:ctrlPr>
                        </m:dPr>
                        <m:e>
                          <m:r>
                            <a:rPr kumimoji="1" lang="en-US" altLang="ja-JP" sz="2000" b="0" i="1" smtClean="0">
                              <a:latin typeface="Cambria Math" panose="02040503050406030204" pitchFamily="18" charset="0"/>
                            </a:rPr>
                            <m:t>𝑌</m:t>
                          </m:r>
                          <m:d>
                            <m:dPr>
                              <m:ctrlPr>
                                <a:rPr kumimoji="1" lang="en-US" altLang="ja-JP" sz="2000" b="0" i="1" smtClean="0">
                                  <a:latin typeface="Cambria Math" panose="02040503050406030204" pitchFamily="18" charset="0"/>
                                </a:rPr>
                              </m:ctrlPr>
                            </m:dPr>
                            <m:e>
                              <m:r>
                                <a:rPr kumimoji="1" lang="en-US" altLang="ja-JP" sz="2000" b="0" i="1" smtClean="0">
                                  <a:latin typeface="Cambria Math" panose="02040503050406030204" pitchFamily="18" charset="0"/>
                                </a:rPr>
                                <m:t>1</m:t>
                              </m:r>
                            </m:e>
                          </m:d>
                          <m:r>
                            <a:rPr kumimoji="1" lang="en-US" altLang="ja-JP" sz="2000" b="0" i="1" smtClean="0">
                              <a:latin typeface="Cambria Math" panose="02040503050406030204" pitchFamily="18" charset="0"/>
                            </a:rPr>
                            <m:t>−</m:t>
                          </m:r>
                          <m:r>
                            <a:rPr kumimoji="1" lang="en-US" altLang="ja-JP" sz="2000" b="0" i="1" smtClean="0">
                              <a:latin typeface="Cambria Math" panose="02040503050406030204" pitchFamily="18" charset="0"/>
                            </a:rPr>
                            <m:t>𝑌</m:t>
                          </m:r>
                          <m:d>
                            <m:dPr>
                              <m:ctrlPr>
                                <a:rPr kumimoji="1" lang="en-US" altLang="ja-JP" sz="2000" b="0" i="1" smtClean="0">
                                  <a:latin typeface="Cambria Math" panose="02040503050406030204" pitchFamily="18" charset="0"/>
                                </a:rPr>
                              </m:ctrlPr>
                            </m:dPr>
                            <m:e>
                              <m:r>
                                <a:rPr kumimoji="1" lang="en-US" altLang="ja-JP" sz="2000" b="0" i="1" smtClean="0">
                                  <a:latin typeface="Cambria Math" panose="02040503050406030204" pitchFamily="18" charset="0"/>
                                </a:rPr>
                                <m:t>0</m:t>
                              </m:r>
                            </m:e>
                          </m:d>
                        </m:e>
                      </m:d>
                    </m:oMath>
                    <m:oMath xmlns:m="http://schemas.openxmlformats.org/officeDocument/2006/math">
                      <m:r>
                        <m:rPr>
                          <m:aln/>
                        </m:rPr>
                        <a:rPr kumimoji="1" lang="en-US" altLang="ja-JP" sz="2000" b="0" i="1" smtClean="0">
                          <a:latin typeface="Cambria Math" panose="02040503050406030204" pitchFamily="18" charset="0"/>
                        </a:rPr>
                        <m:t>=</m:t>
                      </m:r>
                      <m:r>
                        <a:rPr kumimoji="1" lang="en-US" altLang="ja-JP" sz="2000" b="0" i="1" smtClean="0">
                          <a:latin typeface="Cambria Math" panose="02040503050406030204" pitchFamily="18" charset="0"/>
                        </a:rPr>
                        <m:t>𝔼</m:t>
                      </m:r>
                      <m:d>
                        <m:dPr>
                          <m:begChr m:val="["/>
                          <m:endChr m:val="]"/>
                          <m:ctrlPr>
                            <a:rPr kumimoji="1" lang="en-US" altLang="ja-JP" sz="2000" b="0" i="1" smtClean="0">
                              <a:latin typeface="Cambria Math" panose="02040503050406030204" pitchFamily="18" charset="0"/>
                            </a:rPr>
                          </m:ctrlPr>
                        </m:dPr>
                        <m:e>
                          <m:r>
                            <a:rPr lang="en-US" altLang="ja-JP" sz="2000" i="1">
                              <a:latin typeface="Cambria Math" panose="02040503050406030204" pitchFamily="18" charset="0"/>
                            </a:rPr>
                            <m:t>𝔼</m:t>
                          </m:r>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𝑌</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e>
                              </m:d>
                              <m:r>
                                <a:rPr lang="en-US" altLang="ja-JP" sz="2000" i="1">
                                  <a:latin typeface="Cambria Math" panose="02040503050406030204" pitchFamily="18" charset="0"/>
                                </a:rPr>
                                <m:t>−</m:t>
                              </m:r>
                              <m:r>
                                <a:rPr lang="en-US" altLang="ja-JP" sz="2000" i="1">
                                  <a:latin typeface="Cambria Math" panose="02040503050406030204" pitchFamily="18" charset="0"/>
                                </a:rPr>
                                <m:t>𝑌</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0</m:t>
                                  </m:r>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𝑋</m:t>
                              </m:r>
                            </m:e>
                          </m:d>
                        </m:e>
                      </m:d>
                    </m:oMath>
                    <m:oMath xmlns:m="http://schemas.openxmlformats.org/officeDocument/2006/math">
                      <m:r>
                        <m:rPr>
                          <m:aln/>
                        </m:rPr>
                        <a:rPr lang="en-US" altLang="ja-JP" sz="2000" i="1">
                          <a:latin typeface="Cambria Math" panose="02040503050406030204" pitchFamily="18" charset="0"/>
                        </a:rPr>
                        <m:t>=</m:t>
                      </m:r>
                      <m:r>
                        <a:rPr lang="en-US" altLang="ja-JP" sz="2000" i="1">
                          <a:latin typeface="Cambria Math" panose="02040503050406030204" pitchFamily="18" charset="0"/>
                        </a:rPr>
                        <m:t>𝔼</m:t>
                      </m:r>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𝔼</m:t>
                          </m:r>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𝑌</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e>
                              </m:d>
                              <m:r>
                                <a:rPr lang="en-US" altLang="ja-JP" sz="2000" i="1">
                                  <a:latin typeface="Cambria Math" panose="02040503050406030204" pitchFamily="18" charset="0"/>
                                </a:rPr>
                                <m:t>∣</m:t>
                              </m:r>
                              <m:r>
                                <a:rPr lang="en-US" altLang="ja-JP" sz="2000" i="1">
                                  <a:latin typeface="Cambria Math" panose="02040503050406030204" pitchFamily="18" charset="0"/>
                                </a:rPr>
                                <m:t>𝑋</m:t>
                              </m:r>
                            </m:e>
                          </m:d>
                          <m:r>
                            <a:rPr lang="en-US" altLang="ja-JP" sz="2000" b="0" i="1" smtClean="0">
                              <a:latin typeface="Cambria Math" panose="02040503050406030204" pitchFamily="18" charset="0"/>
                            </a:rPr>
                            <m:t>−</m:t>
                          </m:r>
                          <m:r>
                            <a:rPr lang="en-US" altLang="ja-JP" sz="2000" i="1">
                              <a:latin typeface="Cambria Math" panose="02040503050406030204" pitchFamily="18" charset="0"/>
                            </a:rPr>
                            <m:t>𝔼</m:t>
                          </m:r>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𝑌</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0</m:t>
                                  </m:r>
                                </m:e>
                              </m:d>
                              <m:r>
                                <a:rPr lang="en-US" altLang="ja-JP" sz="2000" i="1">
                                  <a:latin typeface="Cambria Math" panose="02040503050406030204" pitchFamily="18" charset="0"/>
                                </a:rPr>
                                <m:t>∣</m:t>
                              </m:r>
                              <m:r>
                                <a:rPr lang="en-US" altLang="ja-JP" sz="2000" i="1">
                                  <a:latin typeface="Cambria Math" panose="02040503050406030204" pitchFamily="18" charset="0"/>
                                </a:rPr>
                                <m:t>𝑋</m:t>
                              </m:r>
                            </m:e>
                          </m:d>
                        </m:e>
                      </m:d>
                    </m:oMath>
                    <m:oMath xmlns:m="http://schemas.openxmlformats.org/officeDocument/2006/math">
                      <m:r>
                        <a:rPr lang="en-US" altLang="ja-JP" sz="2000" b="0" i="1" smtClean="0">
                          <a:solidFill>
                            <a:schemeClr val="bg1"/>
                          </a:solidFill>
                          <a:latin typeface="Cambria Math" panose="02040503050406030204" pitchFamily="18" charset="0"/>
                        </a:rPr>
                        <m:t>1</m:t>
                      </m:r>
                    </m:oMath>
                    <m:oMath xmlns:m="http://schemas.openxmlformats.org/officeDocument/2006/math">
                      <m:r>
                        <m:rPr>
                          <m:aln/>
                        </m:rPr>
                        <a:rPr kumimoji="1" lang="en-US" altLang="ja-JP" sz="2000" b="0" i="1" smtClean="0">
                          <a:latin typeface="Cambria Math" panose="02040503050406030204" pitchFamily="18" charset="0"/>
                        </a:rPr>
                        <m:t>=</m:t>
                      </m:r>
                      <m:r>
                        <a:rPr lang="en-US" altLang="ja-JP" sz="2000" i="1">
                          <a:latin typeface="Cambria Math" panose="02040503050406030204" pitchFamily="18" charset="0"/>
                        </a:rPr>
                        <m:t>𝔼</m:t>
                      </m:r>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𝔼</m:t>
                          </m:r>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𝑌</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e>
                              </m:d>
                              <m:r>
                                <a:rPr lang="en-US" altLang="ja-JP" sz="2000" i="1">
                                  <a:latin typeface="Cambria Math" panose="02040503050406030204" pitchFamily="18" charset="0"/>
                                </a:rPr>
                                <m:t>∣</m:t>
                              </m:r>
                              <m:r>
                                <a:rPr lang="en-US" altLang="ja-JP" sz="2000" b="0" i="1" smtClean="0">
                                  <a:latin typeface="Cambria Math" panose="02040503050406030204" pitchFamily="18" charset="0"/>
                                </a:rPr>
                                <m:t>𝐷</m:t>
                              </m:r>
                              <m:r>
                                <a:rPr lang="en-US" altLang="ja-JP" sz="2000" b="0" i="1" smtClean="0">
                                  <a:latin typeface="Cambria Math" panose="02040503050406030204" pitchFamily="18" charset="0"/>
                                </a:rPr>
                                <m:t>=1, </m:t>
                              </m:r>
                              <m:r>
                                <a:rPr lang="en-US" altLang="ja-JP" sz="2000" i="1">
                                  <a:latin typeface="Cambria Math" panose="02040503050406030204" pitchFamily="18" charset="0"/>
                                </a:rPr>
                                <m:t>𝑋</m:t>
                              </m:r>
                            </m:e>
                          </m:d>
                          <m:r>
                            <a:rPr lang="en-US" altLang="ja-JP" sz="2000" i="1">
                              <a:latin typeface="Cambria Math" panose="02040503050406030204" pitchFamily="18" charset="0"/>
                            </a:rPr>
                            <m:t>−</m:t>
                          </m:r>
                          <m:r>
                            <a:rPr lang="en-US" altLang="ja-JP" sz="2000" i="1">
                              <a:latin typeface="Cambria Math" panose="02040503050406030204" pitchFamily="18" charset="0"/>
                            </a:rPr>
                            <m:t>𝔼</m:t>
                          </m:r>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𝑌</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0</m:t>
                                  </m:r>
                                </m:e>
                              </m:d>
                              <m:r>
                                <a:rPr lang="en-US" altLang="ja-JP" sz="2000" i="1">
                                  <a:latin typeface="Cambria Math" panose="02040503050406030204" pitchFamily="18" charset="0"/>
                                </a:rPr>
                                <m:t>∣</m:t>
                              </m:r>
                              <m:r>
                                <a:rPr lang="en-US" altLang="ja-JP" sz="2000" i="1">
                                  <a:latin typeface="Cambria Math" panose="02040503050406030204" pitchFamily="18" charset="0"/>
                                </a:rPr>
                                <m:t>𝐷</m:t>
                              </m:r>
                              <m:r>
                                <a:rPr lang="en-US" altLang="ja-JP" sz="2000" i="1">
                                  <a:latin typeface="Cambria Math" panose="02040503050406030204" pitchFamily="18" charset="0"/>
                                </a:rPr>
                                <m:t>=</m:t>
                              </m:r>
                              <m:r>
                                <a:rPr lang="en-US" altLang="ja-JP" sz="2000" i="1">
                                  <a:latin typeface="Cambria Math" panose="02040503050406030204" pitchFamily="18" charset="0"/>
                                </a:rPr>
                                <m:t>𝑋</m:t>
                              </m:r>
                            </m:e>
                          </m:d>
                        </m:e>
                      </m:d>
                    </m:oMath>
                    <m:oMath xmlns:m="http://schemas.openxmlformats.org/officeDocument/2006/math">
                      <m:r>
                        <a:rPr lang="en-US" altLang="ja-JP" sz="2000" b="0" i="1" smtClean="0">
                          <a:solidFill>
                            <a:schemeClr val="bg1"/>
                          </a:solidFill>
                          <a:latin typeface="Cambria Math" panose="02040503050406030204" pitchFamily="18" charset="0"/>
                        </a:rPr>
                        <m:t>1</m:t>
                      </m:r>
                    </m:oMath>
                    <m:oMath xmlns:m="http://schemas.openxmlformats.org/officeDocument/2006/math">
                      <m:r>
                        <m:rPr>
                          <m:aln/>
                        </m:rPr>
                        <a:rPr lang="en-US" altLang="ja-JP" sz="2000" i="1">
                          <a:latin typeface="Cambria Math" panose="02040503050406030204" pitchFamily="18" charset="0"/>
                        </a:rPr>
                        <m:t>=</m:t>
                      </m:r>
                      <m:r>
                        <a:rPr lang="en-US" altLang="ja-JP" sz="2000" i="1">
                          <a:latin typeface="Cambria Math" panose="02040503050406030204" pitchFamily="18" charset="0"/>
                        </a:rPr>
                        <m:t>𝔼</m:t>
                      </m:r>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𝔼</m:t>
                          </m:r>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𝑌</m:t>
                              </m:r>
                              <m:r>
                                <a:rPr lang="en-US" altLang="ja-JP" sz="2000" i="1">
                                  <a:latin typeface="Cambria Math" panose="02040503050406030204" pitchFamily="18" charset="0"/>
                                </a:rPr>
                                <m:t>∣</m:t>
                              </m:r>
                              <m:r>
                                <a:rPr lang="en-US" altLang="ja-JP" sz="2000" i="1">
                                  <a:latin typeface="Cambria Math" panose="02040503050406030204" pitchFamily="18" charset="0"/>
                                </a:rPr>
                                <m:t>𝐷</m:t>
                              </m:r>
                              <m:r>
                                <a:rPr lang="en-US" altLang="ja-JP" sz="2000" i="1">
                                  <a:latin typeface="Cambria Math" panose="02040503050406030204" pitchFamily="18" charset="0"/>
                                </a:rPr>
                                <m:t>=1, </m:t>
                              </m:r>
                              <m:r>
                                <a:rPr lang="en-US" altLang="ja-JP" sz="2000" i="1">
                                  <a:latin typeface="Cambria Math" panose="02040503050406030204" pitchFamily="18" charset="0"/>
                                </a:rPr>
                                <m:t>𝑋</m:t>
                              </m:r>
                            </m:e>
                          </m:d>
                          <m:r>
                            <a:rPr lang="en-US" altLang="ja-JP" sz="2000" i="1">
                              <a:latin typeface="Cambria Math" panose="02040503050406030204" pitchFamily="18" charset="0"/>
                            </a:rPr>
                            <m:t>−</m:t>
                          </m:r>
                          <m:r>
                            <a:rPr lang="en-US" altLang="ja-JP" sz="2000" i="1">
                              <a:latin typeface="Cambria Math" panose="02040503050406030204" pitchFamily="18" charset="0"/>
                            </a:rPr>
                            <m:t>𝔼</m:t>
                          </m:r>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𝑌</m:t>
                              </m:r>
                              <m:r>
                                <a:rPr lang="en-US" altLang="ja-JP" sz="2000" i="1">
                                  <a:latin typeface="Cambria Math" panose="02040503050406030204" pitchFamily="18" charset="0"/>
                                </a:rPr>
                                <m:t>∣</m:t>
                              </m:r>
                              <m:r>
                                <a:rPr lang="en-US" altLang="ja-JP" sz="2000" i="1">
                                  <a:latin typeface="Cambria Math" panose="02040503050406030204" pitchFamily="18" charset="0"/>
                                </a:rPr>
                                <m:t>𝐷</m:t>
                              </m:r>
                              <m:r>
                                <a:rPr lang="en-US" altLang="ja-JP" sz="2000" i="1">
                                  <a:latin typeface="Cambria Math" panose="02040503050406030204" pitchFamily="18" charset="0"/>
                                </a:rPr>
                                <m:t>=0,</m:t>
                              </m:r>
                              <m:r>
                                <a:rPr lang="en-US" altLang="ja-JP" sz="2000" i="1">
                                  <a:latin typeface="Cambria Math" panose="02040503050406030204" pitchFamily="18" charset="0"/>
                                </a:rPr>
                                <m:t>𝑋</m:t>
                              </m:r>
                            </m:e>
                          </m:d>
                        </m:e>
                      </m:d>
                    </m:oMath>
                  </m:oMathPara>
                </a14:m>
                <a:endParaRPr kumimoji="1" lang="en-US" altLang="ja-JP" sz="2000" dirty="0"/>
              </a:p>
              <a:p>
                <a:endParaRPr kumimoji="1" lang="en-US" altLang="ja-JP" sz="2000" dirty="0"/>
              </a:p>
              <a:p>
                <a:pPr marL="0" indent="0">
                  <a:buNone/>
                </a:pPr>
                <a:endParaRPr lang="en-US" altLang="ja-JP" sz="2000" dirty="0"/>
              </a:p>
            </p:txBody>
          </p:sp>
        </mc:Choice>
        <mc:Fallback>
          <p:sp>
            <p:nvSpPr>
              <p:cNvPr id="3" name="コンテンツ プレースホルダー 2">
                <a:extLst>
                  <a:ext uri="{FF2B5EF4-FFF2-40B4-BE49-F238E27FC236}">
                    <a16:creationId xmlns:a16="http://schemas.microsoft.com/office/drawing/2014/main" id="{42CDC2E6-84B9-06CE-6A39-37EAACBC54CB}"/>
                  </a:ext>
                </a:extLst>
              </p:cNvPr>
              <p:cNvSpPr>
                <a:spLocks noGrp="1" noRot="1" noChangeAspect="1" noMove="1" noResize="1" noEditPoints="1" noAdjustHandles="1" noChangeArrowheads="1" noChangeShapeType="1" noTextEdit="1"/>
              </p:cNvSpPr>
              <p:nvPr>
                <p:ph idx="1"/>
              </p:nvPr>
            </p:nvSpPr>
            <p:spPr>
              <a:xfrm>
                <a:off x="838200" y="1135116"/>
                <a:ext cx="7681332" cy="5357757"/>
              </a:xfrm>
              <a:blipFill>
                <a:blip r:embed="rId2"/>
                <a:stretch>
                  <a:fillRect l="-825" t="-709"/>
                </a:stretch>
              </a:blipFill>
            </p:spPr>
            <p:txBody>
              <a:bodyPr/>
              <a:lstStyle/>
              <a:p>
                <a:r>
                  <a:rPr lang="ja-JP" altLang="en-US">
                    <a:noFill/>
                  </a:rPr>
                  <a:t> </a:t>
                </a:r>
              </a:p>
            </p:txBody>
          </p:sp>
        </mc:Fallback>
      </mc:AlternateContent>
      <p:sp>
        <p:nvSpPr>
          <p:cNvPr id="4" name="U ターン矢印 3">
            <a:extLst>
              <a:ext uri="{FF2B5EF4-FFF2-40B4-BE49-F238E27FC236}">
                <a16:creationId xmlns:a16="http://schemas.microsoft.com/office/drawing/2014/main" id="{FDDB5BDA-FD2E-9C73-276E-9A29A5FE0647}"/>
              </a:ext>
            </a:extLst>
          </p:cNvPr>
          <p:cNvSpPr/>
          <p:nvPr/>
        </p:nvSpPr>
        <p:spPr>
          <a:xfrm rot="5400000">
            <a:off x="8164047" y="2376648"/>
            <a:ext cx="683091" cy="719254"/>
          </a:xfrm>
          <a:prstGeom prst="uturnArrow">
            <a:avLst>
              <a:gd name="adj1" fmla="val 0"/>
              <a:gd name="adj2" fmla="val 9496"/>
              <a:gd name="adj3" fmla="val 18605"/>
              <a:gd name="adj4" fmla="val 43750"/>
              <a:gd name="adj5" fmla="val 10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6" name="U ターン矢印 5">
            <a:extLst>
              <a:ext uri="{FF2B5EF4-FFF2-40B4-BE49-F238E27FC236}">
                <a16:creationId xmlns:a16="http://schemas.microsoft.com/office/drawing/2014/main" id="{85DA35C0-454F-A843-D9E3-FEBD06341F69}"/>
              </a:ext>
            </a:extLst>
          </p:cNvPr>
          <p:cNvSpPr/>
          <p:nvPr/>
        </p:nvSpPr>
        <p:spPr>
          <a:xfrm rot="5400000">
            <a:off x="8164047" y="3273578"/>
            <a:ext cx="683091" cy="719254"/>
          </a:xfrm>
          <a:prstGeom prst="uturnArrow">
            <a:avLst>
              <a:gd name="adj1" fmla="val 0"/>
              <a:gd name="adj2" fmla="val 9496"/>
              <a:gd name="adj3" fmla="val 18605"/>
              <a:gd name="adj4" fmla="val 43750"/>
              <a:gd name="adj5" fmla="val 10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7" name="テキスト ボックス 6">
            <a:extLst>
              <a:ext uri="{FF2B5EF4-FFF2-40B4-BE49-F238E27FC236}">
                <a16:creationId xmlns:a16="http://schemas.microsoft.com/office/drawing/2014/main" id="{2AF76CE0-64B8-53B7-9671-E850732E0E19}"/>
              </a:ext>
            </a:extLst>
          </p:cNvPr>
          <p:cNvSpPr txBox="1"/>
          <p:nvPr/>
        </p:nvSpPr>
        <p:spPr>
          <a:xfrm>
            <a:off x="9210907" y="2551609"/>
            <a:ext cx="1800493" cy="369332"/>
          </a:xfrm>
          <a:prstGeom prst="rect">
            <a:avLst/>
          </a:prstGeom>
          <a:noFill/>
          <a:ln>
            <a:solidFill>
              <a:schemeClr val="tx1"/>
            </a:solidFill>
          </a:ln>
        </p:spPr>
        <p:txBody>
          <a:bodyPr wrap="none" rtlCol="0">
            <a:spAutoFit/>
          </a:bodyPr>
          <a:lstStyle/>
          <a:p>
            <a:pPr algn="ctr"/>
            <a:r>
              <a:rPr kumimoji="1" lang="ja-JP" altLang="en-US">
                <a:latin typeface="Noto Sans JP" panose="020B0200000000000000" pitchFamily="34" charset="-128"/>
                <a:ea typeface="Noto Sans JP" panose="020B0200000000000000" pitchFamily="34" charset="-128"/>
              </a:rPr>
              <a:t>非交絡性の仮定</a:t>
            </a:r>
          </a:p>
        </p:txBody>
      </p:sp>
      <p:sp>
        <p:nvSpPr>
          <p:cNvPr id="8" name="テキスト ボックス 7">
            <a:extLst>
              <a:ext uri="{FF2B5EF4-FFF2-40B4-BE49-F238E27FC236}">
                <a16:creationId xmlns:a16="http://schemas.microsoft.com/office/drawing/2014/main" id="{7ACB3A6A-4B06-D71F-C350-F82D4318606F}"/>
              </a:ext>
            </a:extLst>
          </p:cNvPr>
          <p:cNvSpPr txBox="1"/>
          <p:nvPr/>
        </p:nvSpPr>
        <p:spPr>
          <a:xfrm>
            <a:off x="9210907" y="3322083"/>
            <a:ext cx="1800492" cy="369332"/>
          </a:xfrm>
          <a:prstGeom prst="rect">
            <a:avLst/>
          </a:prstGeom>
          <a:noFill/>
          <a:ln>
            <a:solidFill>
              <a:schemeClr val="tx1"/>
            </a:solidFill>
          </a:ln>
        </p:spPr>
        <p:txBody>
          <a:bodyPr wrap="square" rtlCol="0">
            <a:spAutoFit/>
          </a:bodyPr>
          <a:lstStyle/>
          <a:p>
            <a:pPr algn="ctr"/>
            <a:r>
              <a:rPr lang="en-US" altLang="ja-JP" dirty="0">
                <a:latin typeface="Noto Sans JP" panose="020B0200000000000000" pitchFamily="34" charset="-128"/>
                <a:ea typeface="Noto Sans JP" panose="020B0200000000000000" pitchFamily="34" charset="-128"/>
              </a:rPr>
              <a:t>SUTVA</a:t>
            </a:r>
            <a:r>
              <a:rPr kumimoji="1" lang="ja-JP" altLang="en-US">
                <a:latin typeface="Noto Sans JP" panose="020B0200000000000000" pitchFamily="34" charset="-128"/>
                <a:ea typeface="Noto Sans JP" panose="020B0200000000000000" pitchFamily="34" charset="-128"/>
              </a:rPr>
              <a:t>の仮定</a:t>
            </a:r>
          </a:p>
        </p:txBody>
      </p:sp>
      <mc:AlternateContent xmlns:mc="http://schemas.openxmlformats.org/markup-compatibility/2006">
        <mc:Choice xmlns:a14="http://schemas.microsoft.com/office/drawing/2010/main" Requires="a14">
          <p:sp>
            <p:nvSpPr>
              <p:cNvPr id="9" name="テキスト ボックス 8">
                <a:extLst>
                  <a:ext uri="{FF2B5EF4-FFF2-40B4-BE49-F238E27FC236}">
                    <a16:creationId xmlns:a16="http://schemas.microsoft.com/office/drawing/2014/main" id="{3B5BD634-4935-ECCC-BAD0-09B974811EA0}"/>
                  </a:ext>
                </a:extLst>
              </p:cNvPr>
              <p:cNvSpPr txBox="1"/>
              <p:nvPr/>
            </p:nvSpPr>
            <p:spPr>
              <a:xfrm>
                <a:off x="2706414" y="4334611"/>
                <a:ext cx="6779172" cy="1847622"/>
              </a:xfrm>
              <a:prstGeom prst="rect">
                <a:avLst/>
              </a:prstGeom>
              <a:noFill/>
              <a:ln>
                <a:solidFill>
                  <a:schemeClr val="tx1"/>
                </a:solidFill>
              </a:ln>
            </p:spPr>
            <p:txBody>
              <a:bodyPr wrap="square">
                <a:spAutoFit/>
              </a:bodyPr>
              <a:lstStyle/>
              <a:p>
                <a:pPr marL="285750" indent="-285750">
                  <a:buClr>
                    <a:schemeClr val="accent1"/>
                  </a:buClr>
                  <a:buFont typeface="Wingdings" pitchFamily="2" charset="2"/>
                  <a:buChar char="l"/>
                </a:pPr>
                <a:r>
                  <a:rPr kumimoji="1" lang="ja-JP" altLang="en-US" sz="1600">
                    <a:latin typeface="Noto Sans JP" panose="020B0200000000000000" pitchFamily="34" charset="-128"/>
                    <a:ea typeface="Noto Sans JP" panose="020B0200000000000000" pitchFamily="34" charset="-128"/>
                  </a:rPr>
                  <a:t>ここでは、非交絡性の仮定を条件付き平均独立として仮定している</a:t>
                </a:r>
                <a:endParaRPr kumimoji="1" lang="en-US" altLang="ja-JP" sz="1600" dirty="0">
                  <a:latin typeface="Noto Sans JP" panose="020B0200000000000000" pitchFamily="34" charset="-128"/>
                  <a:ea typeface="Noto Sans JP" panose="020B0200000000000000" pitchFamily="34" charset="-128"/>
                </a:endParaRPr>
              </a:p>
              <a:p>
                <a:pPr marL="0" indent="0">
                  <a:buNone/>
                </a:pPr>
                <a:endParaRPr lang="en-US" altLang="ja-JP" sz="800" i="1" dirty="0">
                  <a:latin typeface="Noto Sans JP" panose="020B0200000000000000" pitchFamily="34" charset="-128"/>
                  <a:ea typeface="Noto Sans JP" panose="020B0200000000000000" pitchFamily="34" charset="-128"/>
                </a:endParaRPr>
              </a:p>
              <a:p>
                <a:pPr marL="0" indent="0">
                  <a:buNone/>
                </a:pPr>
                <a14:m>
                  <m:oMathPara xmlns:m="http://schemas.openxmlformats.org/officeDocument/2006/math">
                    <m:oMathParaPr>
                      <m:jc m:val="centerGroup"/>
                    </m:oMathParaPr>
                    <m:oMath xmlns:m="http://schemas.openxmlformats.org/officeDocument/2006/math">
                      <m:r>
                        <a:rPr lang="en-US" altLang="ja-JP" sz="1600" i="1">
                          <a:latin typeface="Cambria Math" panose="02040503050406030204" pitchFamily="18" charset="0"/>
                        </a:rPr>
                        <m:t>𝔼</m:t>
                      </m:r>
                      <m:d>
                        <m:dPr>
                          <m:begChr m:val="["/>
                          <m:endChr m:val="]"/>
                          <m:ctrlPr>
                            <a:rPr lang="en-US" altLang="ja-JP" sz="1600" i="1">
                              <a:latin typeface="Cambria Math" panose="02040503050406030204" pitchFamily="18" charset="0"/>
                            </a:rPr>
                          </m:ctrlPr>
                        </m:dPr>
                        <m:e>
                          <m:r>
                            <a:rPr lang="en-US" altLang="ja-JP" sz="1600" i="1">
                              <a:latin typeface="Cambria Math" panose="02040503050406030204" pitchFamily="18" charset="0"/>
                            </a:rPr>
                            <m:t>𝑌</m:t>
                          </m:r>
                          <m:d>
                            <m:dPr>
                              <m:ctrlPr>
                                <a:rPr lang="en-US" altLang="ja-JP" sz="1600" i="1">
                                  <a:latin typeface="Cambria Math" panose="02040503050406030204" pitchFamily="18" charset="0"/>
                                </a:rPr>
                              </m:ctrlPr>
                            </m:dPr>
                            <m:e>
                              <m:r>
                                <a:rPr lang="en-US" altLang="ja-JP" sz="1600" b="0" i="1" smtClean="0">
                                  <a:latin typeface="Cambria Math" panose="02040503050406030204" pitchFamily="18" charset="0"/>
                                </a:rPr>
                                <m:t>𝐷</m:t>
                              </m:r>
                            </m:e>
                          </m:d>
                          <m:r>
                            <a:rPr lang="en-US" altLang="ja-JP" sz="1600" i="1">
                              <a:latin typeface="Cambria Math" panose="02040503050406030204" pitchFamily="18" charset="0"/>
                            </a:rPr>
                            <m:t>∣</m:t>
                          </m:r>
                          <m:r>
                            <a:rPr lang="en-US" altLang="ja-JP" sz="1600" i="1">
                              <a:latin typeface="Cambria Math" panose="02040503050406030204" pitchFamily="18" charset="0"/>
                            </a:rPr>
                            <m:t>𝑋</m:t>
                          </m:r>
                        </m:e>
                      </m:d>
                      <m:r>
                        <a:rPr lang="en-US" altLang="ja-JP" sz="1600" b="0" i="1" smtClean="0">
                          <a:latin typeface="Cambria Math" panose="02040503050406030204" pitchFamily="18" charset="0"/>
                        </a:rPr>
                        <m:t>=</m:t>
                      </m:r>
                      <m:r>
                        <a:rPr lang="en-US" altLang="ja-JP" sz="1600" b="0" i="1" smtClean="0">
                          <a:latin typeface="Cambria Math" panose="02040503050406030204" pitchFamily="18" charset="0"/>
                        </a:rPr>
                        <m:t>𝔼</m:t>
                      </m:r>
                      <m:d>
                        <m:dPr>
                          <m:begChr m:val="["/>
                          <m:endChr m:val="]"/>
                          <m:sepChr m:val="∣"/>
                          <m:ctrlPr>
                            <a:rPr lang="en-US" altLang="ja-JP" sz="1600" b="0" i="1" smtClean="0">
                              <a:latin typeface="Cambria Math" panose="02040503050406030204" pitchFamily="18" charset="0"/>
                            </a:rPr>
                          </m:ctrlPr>
                        </m:dPr>
                        <m:e>
                          <m:r>
                            <a:rPr lang="en-US" altLang="ja-JP" sz="1600" b="0" i="1" smtClean="0">
                              <a:latin typeface="Cambria Math" panose="02040503050406030204" pitchFamily="18" charset="0"/>
                            </a:rPr>
                            <m:t>𝑌</m:t>
                          </m:r>
                          <m:d>
                            <m:dPr>
                              <m:ctrlPr>
                                <a:rPr lang="en-US" altLang="ja-JP" sz="1600" b="0" i="1" smtClean="0">
                                  <a:latin typeface="Cambria Math" panose="02040503050406030204" pitchFamily="18" charset="0"/>
                                </a:rPr>
                              </m:ctrlPr>
                            </m:dPr>
                            <m:e>
                              <m:r>
                                <a:rPr lang="en-US" altLang="ja-JP" sz="1600" b="0" i="1" smtClean="0">
                                  <a:latin typeface="Cambria Math" panose="02040503050406030204" pitchFamily="18" charset="0"/>
                                </a:rPr>
                                <m:t>𝐷</m:t>
                              </m:r>
                            </m:e>
                          </m:d>
                        </m:e>
                        <m:e>
                          <m:r>
                            <a:rPr lang="en-US" altLang="ja-JP" sz="1600" b="0" i="1" smtClean="0">
                              <a:latin typeface="Cambria Math" panose="02040503050406030204" pitchFamily="18" charset="0"/>
                            </a:rPr>
                            <m:t>𝐷</m:t>
                          </m:r>
                          <m:r>
                            <a:rPr lang="en-US" altLang="ja-JP" sz="1600" b="0" i="1" smtClean="0">
                              <a:latin typeface="Cambria Math" panose="02040503050406030204" pitchFamily="18" charset="0"/>
                            </a:rPr>
                            <m:t>,</m:t>
                          </m:r>
                          <m:r>
                            <a:rPr lang="en-US" altLang="ja-JP" sz="1600" b="0" i="1" smtClean="0">
                              <a:latin typeface="Cambria Math" panose="02040503050406030204" pitchFamily="18" charset="0"/>
                            </a:rPr>
                            <m:t>𝑋</m:t>
                          </m:r>
                        </m:e>
                      </m:d>
                      <m:r>
                        <a:rPr lang="en-US" altLang="ja-JP" sz="1600" b="0" i="1" smtClean="0">
                          <a:latin typeface="Cambria Math" panose="02040503050406030204" pitchFamily="18" charset="0"/>
                        </a:rPr>
                        <m:t>.</m:t>
                      </m:r>
                    </m:oMath>
                  </m:oMathPara>
                </a14:m>
                <a:endParaRPr lang="en-US" altLang="ja-JP" sz="1600" dirty="0">
                  <a:latin typeface="Noto Sans JP" panose="020B0200000000000000" pitchFamily="34" charset="-128"/>
                  <a:ea typeface="Noto Sans JP" panose="020B0200000000000000" pitchFamily="34" charset="-128"/>
                </a:endParaRPr>
              </a:p>
              <a:p>
                <a:endParaRPr kumimoji="1" lang="en-US" altLang="ja-JP" sz="800" dirty="0">
                  <a:latin typeface="Noto Sans JP" panose="020B0200000000000000" pitchFamily="34" charset="-128"/>
                  <a:ea typeface="Noto Sans JP" panose="020B0200000000000000" pitchFamily="34" charset="-128"/>
                </a:endParaRPr>
              </a:p>
              <a:p>
                <a:pPr lvl="1"/>
                <a:r>
                  <a:rPr lang="ja-JP" altLang="en-US" sz="1600">
                    <a:latin typeface="Noto Sans JP" panose="020B0200000000000000" pitchFamily="34" charset="-128"/>
                    <a:ea typeface="Noto Sans JP" panose="020B0200000000000000" pitchFamily="34" charset="-128"/>
                  </a:rPr>
                  <a:t>厳密には、非交絡性の仮定は条件付き独立を意味する</a:t>
                </a:r>
                <a:endParaRPr lang="en-US" altLang="ja-JP" sz="1600" dirty="0">
                  <a:latin typeface="Noto Sans JP" panose="020B0200000000000000" pitchFamily="34" charset="-128"/>
                  <a:ea typeface="Noto Sans JP" panose="020B0200000000000000" pitchFamily="34" charset="-128"/>
                </a:endParaRPr>
              </a:p>
              <a:p>
                <a:pPr marL="397800" lvl="1" indent="0">
                  <a:buNone/>
                </a:pPr>
                <a:endParaRPr lang="en-US" altLang="ja-JP" sz="800" dirty="0">
                  <a:latin typeface="Noto Sans JP" panose="020B0200000000000000" pitchFamily="34" charset="-128"/>
                  <a:ea typeface="Noto Sans JP" panose="020B0200000000000000" pitchFamily="34" charset="-128"/>
                </a:endParaRPr>
              </a:p>
              <a:p>
                <a:pPr marL="397800" lvl="1" indent="0">
                  <a:buNone/>
                </a:pPr>
                <a14:m>
                  <m:oMathPara xmlns:m="http://schemas.openxmlformats.org/officeDocument/2006/math">
                    <m:oMathParaPr>
                      <m:jc m:val="centerGroup"/>
                    </m:oMathParaPr>
                    <m:oMath xmlns:m="http://schemas.openxmlformats.org/officeDocument/2006/math">
                      <m:d>
                        <m:dPr>
                          <m:ctrlPr>
                            <a:rPr lang="en-US" altLang="ja-JP" sz="1600" b="0" i="1" smtClean="0">
                              <a:latin typeface="Cambria Math" panose="02040503050406030204" pitchFamily="18" charset="0"/>
                            </a:rPr>
                          </m:ctrlPr>
                        </m:dPr>
                        <m:e>
                          <m:r>
                            <a:rPr lang="en-US" altLang="ja-JP" sz="1600" b="0" i="1" smtClean="0">
                              <a:latin typeface="Cambria Math" panose="02040503050406030204" pitchFamily="18" charset="0"/>
                            </a:rPr>
                            <m:t>𝑌</m:t>
                          </m:r>
                          <m:d>
                            <m:dPr>
                              <m:ctrlPr>
                                <a:rPr lang="en-US" altLang="ja-JP" sz="1600" b="0" i="1" smtClean="0">
                                  <a:latin typeface="Cambria Math" panose="02040503050406030204" pitchFamily="18" charset="0"/>
                                </a:rPr>
                              </m:ctrlPr>
                            </m:dPr>
                            <m:e>
                              <m:r>
                                <a:rPr lang="en-US" altLang="ja-JP" sz="1600" b="0" i="1" smtClean="0">
                                  <a:latin typeface="Cambria Math" panose="02040503050406030204" pitchFamily="18" charset="0"/>
                                </a:rPr>
                                <m:t>1</m:t>
                              </m:r>
                            </m:e>
                          </m:d>
                          <m:r>
                            <a:rPr lang="en-US" altLang="ja-JP" sz="1600" b="0" i="1" smtClean="0">
                              <a:latin typeface="Cambria Math" panose="02040503050406030204" pitchFamily="18" charset="0"/>
                            </a:rPr>
                            <m:t>, </m:t>
                          </m:r>
                          <m:r>
                            <a:rPr lang="en-US" altLang="ja-JP" sz="1600" b="0" i="1" smtClean="0">
                              <a:latin typeface="Cambria Math" panose="02040503050406030204" pitchFamily="18" charset="0"/>
                            </a:rPr>
                            <m:t>𝑌</m:t>
                          </m:r>
                          <m:d>
                            <m:dPr>
                              <m:ctrlPr>
                                <a:rPr lang="en-US" altLang="ja-JP" sz="1600" b="0" i="1" smtClean="0">
                                  <a:latin typeface="Cambria Math" panose="02040503050406030204" pitchFamily="18" charset="0"/>
                                </a:rPr>
                              </m:ctrlPr>
                            </m:dPr>
                            <m:e>
                              <m:r>
                                <a:rPr lang="en-US" altLang="ja-JP" sz="1600" b="0" i="1" smtClean="0">
                                  <a:latin typeface="Cambria Math" panose="02040503050406030204" pitchFamily="18" charset="0"/>
                                </a:rPr>
                                <m:t>0</m:t>
                              </m:r>
                            </m:e>
                          </m:d>
                        </m:e>
                      </m:d>
                      <m:r>
                        <a:rPr lang="en-US" altLang="ja-JP" sz="1600" b="0" i="1" smtClean="0">
                          <a:latin typeface="Cambria Math" panose="02040503050406030204" pitchFamily="18" charset="0"/>
                        </a:rPr>
                        <m:t> ⊥ </m:t>
                      </m:r>
                      <m:r>
                        <a:rPr lang="en-US" altLang="ja-JP" sz="1600" b="0" i="1" smtClean="0">
                          <a:latin typeface="Cambria Math" panose="02040503050406030204" pitchFamily="18" charset="0"/>
                        </a:rPr>
                        <m:t>𝐷</m:t>
                      </m:r>
                      <m:r>
                        <a:rPr lang="en-US" altLang="ja-JP" sz="1600" b="0" i="1" smtClean="0">
                          <a:latin typeface="Cambria Math" panose="02040503050406030204" pitchFamily="18" charset="0"/>
                        </a:rPr>
                        <m:t>  |  </m:t>
                      </m:r>
                      <m:r>
                        <a:rPr lang="en-US" altLang="ja-JP" sz="1600" b="0" i="1" smtClean="0">
                          <a:latin typeface="Cambria Math" panose="02040503050406030204" pitchFamily="18" charset="0"/>
                        </a:rPr>
                        <m:t>𝑋</m:t>
                      </m:r>
                    </m:oMath>
                  </m:oMathPara>
                </a14:m>
                <a:br>
                  <a:rPr lang="en-US" altLang="ja-JP" sz="1600" dirty="0">
                    <a:latin typeface="Noto Sans JP" panose="020B0200000000000000" pitchFamily="34" charset="-128"/>
                    <a:ea typeface="Noto Sans JP" panose="020B0200000000000000" pitchFamily="34" charset="-128"/>
                  </a:rPr>
                </a:br>
                <a:endParaRPr lang="en-US" altLang="ja-JP" sz="1600" dirty="0">
                  <a:latin typeface="Noto Sans JP" panose="020B0200000000000000" pitchFamily="34" charset="-128"/>
                  <a:ea typeface="Noto Sans JP" panose="020B0200000000000000" pitchFamily="34" charset="-128"/>
                </a:endParaRPr>
              </a:p>
              <a:p>
                <a:pPr marL="397800" lvl="1" indent="0">
                  <a:buNone/>
                </a:pPr>
                <a:endParaRPr lang="en-US" altLang="ja-JP" sz="800" dirty="0">
                  <a:latin typeface="Noto Sans JP" panose="020B0200000000000000" pitchFamily="34" charset="-128"/>
                  <a:ea typeface="Noto Sans JP" panose="020B0200000000000000" pitchFamily="34" charset="-128"/>
                </a:endParaRPr>
              </a:p>
              <a:p>
                <a:pPr marL="397800" lvl="1" indent="0">
                  <a:buNone/>
                </a:pPr>
                <a:r>
                  <a:rPr lang="ja-JP" altLang="en-US" sz="1600">
                    <a:latin typeface="Noto Sans JP" panose="020B0200000000000000" pitchFamily="34" charset="-128"/>
                    <a:ea typeface="Noto Sans JP" panose="020B0200000000000000" pitchFamily="34" charset="-128"/>
                  </a:rPr>
                  <a:t>しかし、平均処置効果の推定では条件付き独立までは不要</a:t>
                </a:r>
              </a:p>
            </p:txBody>
          </p:sp>
        </mc:Choice>
        <mc:Fallback>
          <p:sp>
            <p:nvSpPr>
              <p:cNvPr id="9" name="テキスト ボックス 8">
                <a:extLst>
                  <a:ext uri="{FF2B5EF4-FFF2-40B4-BE49-F238E27FC236}">
                    <a16:creationId xmlns:a16="http://schemas.microsoft.com/office/drawing/2014/main" id="{3B5BD634-4935-ECCC-BAD0-09B974811EA0}"/>
                  </a:ext>
                </a:extLst>
              </p:cNvPr>
              <p:cNvSpPr txBox="1">
                <a:spLocks noRot="1" noChangeAspect="1" noMove="1" noResize="1" noEditPoints="1" noAdjustHandles="1" noChangeArrowheads="1" noChangeShapeType="1" noTextEdit="1"/>
              </p:cNvSpPr>
              <p:nvPr/>
            </p:nvSpPr>
            <p:spPr>
              <a:xfrm>
                <a:off x="2706414" y="4334611"/>
                <a:ext cx="6779172" cy="1847622"/>
              </a:xfrm>
              <a:prstGeom prst="rect">
                <a:avLst/>
              </a:prstGeom>
              <a:blipFill>
                <a:blip r:embed="rId3"/>
                <a:stretch>
                  <a:fillRect l="-187" t="-676" b="-2703"/>
                </a:stretch>
              </a:blipFill>
              <a:ln>
                <a:solidFill>
                  <a:schemeClr val="tx1"/>
                </a:solidFill>
              </a:ln>
            </p:spPr>
            <p:txBody>
              <a:bodyPr/>
              <a:lstStyle/>
              <a:p>
                <a:r>
                  <a:rPr lang="ja-JP" altLang="en-US">
                    <a:noFill/>
                  </a:rPr>
                  <a:t> </a:t>
                </a:r>
              </a:p>
            </p:txBody>
          </p:sp>
        </mc:Fallback>
      </mc:AlternateContent>
    </p:spTree>
    <p:extLst>
      <p:ext uri="{BB962C8B-B14F-4D97-AF65-F5344CB8AC3E}">
        <p14:creationId xmlns:p14="http://schemas.microsoft.com/office/powerpoint/2010/main" val="35544678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DB457-459A-E36C-0CDA-C776A47B887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F3850A0-8B2C-E054-105E-A31AF934604D}"/>
              </a:ext>
            </a:extLst>
          </p:cNvPr>
          <p:cNvSpPr>
            <a:spLocks noGrp="1"/>
          </p:cNvSpPr>
          <p:nvPr>
            <p:ph type="title"/>
          </p:nvPr>
        </p:nvSpPr>
        <p:spPr/>
        <p:txBody>
          <a:bodyPr/>
          <a:lstStyle/>
          <a:p>
            <a:r>
              <a:rPr lang="ja-JP" altLang="en-US"/>
              <a:t>線形回帰モデルの場合</a:t>
            </a:r>
            <a:endParaRPr kumimoji="1" lang="ja-JP" altLang="en-US"/>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FEB5CD9B-2391-2225-7E54-340F9E65078A}"/>
                  </a:ext>
                </a:extLst>
              </p:cNvPr>
              <p:cNvSpPr>
                <a:spLocks noGrp="1"/>
              </p:cNvSpPr>
              <p:nvPr>
                <p:ph idx="1"/>
              </p:nvPr>
            </p:nvSpPr>
            <p:spPr>
              <a:xfrm>
                <a:off x="838199" y="1135116"/>
                <a:ext cx="10515599" cy="5357757"/>
              </a:xfrm>
            </p:spPr>
            <p:txBody>
              <a:bodyPr>
                <a:noAutofit/>
              </a:bodyPr>
              <a:lstStyle/>
              <a:p>
                <a14:m>
                  <m:oMath xmlns:m="http://schemas.openxmlformats.org/officeDocument/2006/math">
                    <m:r>
                      <a:rPr kumimoji="1" lang="en-US" altLang="ja-JP" sz="2000" b="0" i="1" smtClean="0">
                        <a:latin typeface="Cambria Math" panose="02040503050406030204" pitchFamily="18" charset="0"/>
                      </a:rPr>
                      <m:t>(</m:t>
                    </m:r>
                    <m:r>
                      <a:rPr kumimoji="1" lang="en-US" altLang="ja-JP" sz="2000" b="0" i="1" smtClean="0">
                        <a:latin typeface="Cambria Math" panose="02040503050406030204" pitchFamily="18" charset="0"/>
                      </a:rPr>
                      <m:t>𝑋</m:t>
                    </m:r>
                    <m:r>
                      <a:rPr kumimoji="1" lang="en-US" altLang="ja-JP" sz="2000" b="0" i="1" smtClean="0">
                        <a:latin typeface="Cambria Math" panose="02040503050406030204" pitchFamily="18" charset="0"/>
                      </a:rPr>
                      <m:t>,</m:t>
                    </m:r>
                    <m:r>
                      <a:rPr kumimoji="1" lang="en-US" altLang="ja-JP" sz="2000" b="0" i="1" smtClean="0">
                        <a:latin typeface="Cambria Math" panose="02040503050406030204" pitchFamily="18" charset="0"/>
                      </a:rPr>
                      <m:t>𝐷</m:t>
                    </m:r>
                    <m:r>
                      <a:rPr kumimoji="1" lang="en-US" altLang="ja-JP" sz="2000" b="0" i="1" smtClean="0">
                        <a:latin typeface="Cambria Math" panose="02040503050406030204" pitchFamily="18" charset="0"/>
                      </a:rPr>
                      <m:t>,</m:t>
                    </m:r>
                    <m:r>
                      <a:rPr kumimoji="1" lang="en-US" altLang="ja-JP" sz="2000" b="0" i="1" smtClean="0">
                        <a:latin typeface="Cambria Math" panose="02040503050406030204" pitchFamily="18" charset="0"/>
                      </a:rPr>
                      <m:t>𝑌</m:t>
                    </m:r>
                    <m:r>
                      <a:rPr kumimoji="1" lang="en-US" altLang="ja-JP" sz="2000" b="0" i="1" smtClean="0">
                        <a:latin typeface="Cambria Math" panose="02040503050406030204" pitchFamily="18" charset="0"/>
                      </a:rPr>
                      <m:t>)</m:t>
                    </m:r>
                  </m:oMath>
                </a14:m>
                <a:r>
                  <a:rPr kumimoji="1" lang="en-US" altLang="ja-JP" sz="2000" b="0" i="1" dirty="0">
                    <a:latin typeface="Cambria Math" panose="02040503050406030204" pitchFamily="18" charset="0"/>
                  </a:rPr>
                  <a:t> </a:t>
                </a:r>
                <a:r>
                  <a:rPr kumimoji="1" lang="ja-JP" altLang="en-US" sz="2000" b="0" dirty="0">
                    <a:latin typeface="Cambria Math" panose="02040503050406030204" pitchFamily="18" charset="0"/>
                  </a:rPr>
                  <a:t>は</a:t>
                </a:r>
                <a:r>
                  <a:rPr kumimoji="1" lang="ja-JP" altLang="en-US" sz="2000" b="0">
                    <a:latin typeface="Cambria Math" panose="02040503050406030204" pitchFamily="18" charset="0"/>
                  </a:rPr>
                  <a:t>以下の線形回帰モデルに従って生成されているとする：</a:t>
                </a:r>
                <a:endParaRPr kumimoji="1" lang="en-US" altLang="ja-JP" sz="2000" b="0" dirty="0">
                  <a:latin typeface="Cambria Math" panose="02040503050406030204" pitchFamily="18" charset="0"/>
                </a:endParaRPr>
              </a:p>
              <a:p>
                <a:endParaRPr kumimoji="1" lang="en-US" altLang="ja-JP" sz="800" b="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kumimoji="1" lang="en-US" altLang="ja-JP" sz="2000" b="0" i="1" smtClean="0">
                          <a:latin typeface="Cambria Math" panose="02040503050406030204" pitchFamily="18" charset="0"/>
                        </a:rPr>
                        <m:t>𝑌</m:t>
                      </m:r>
                      <m:r>
                        <a:rPr kumimoji="1" lang="en-US" altLang="ja-JP" sz="2000" b="0" i="1" smtClean="0">
                          <a:latin typeface="Cambria Math" panose="02040503050406030204" pitchFamily="18" charset="0"/>
                        </a:rPr>
                        <m:t>=</m:t>
                      </m:r>
                      <m:r>
                        <a:rPr kumimoji="1" lang="en-US" altLang="ja-JP" sz="2000" b="0" i="1" smtClean="0">
                          <a:latin typeface="Cambria Math" panose="02040503050406030204" pitchFamily="18" charset="0"/>
                        </a:rPr>
                        <m:t>𝛼</m:t>
                      </m:r>
                      <m:r>
                        <a:rPr kumimoji="1" lang="en-US" altLang="ja-JP" sz="2000" b="0" i="1" smtClean="0">
                          <a:latin typeface="Cambria Math" panose="02040503050406030204" pitchFamily="18" charset="0"/>
                        </a:rPr>
                        <m:t> </m:t>
                      </m:r>
                      <m:r>
                        <a:rPr kumimoji="1" lang="en-US" altLang="ja-JP" sz="2000" b="0" i="1" smtClean="0">
                          <a:latin typeface="Cambria Math" panose="02040503050406030204" pitchFamily="18" charset="0"/>
                        </a:rPr>
                        <m:t>𝐷</m:t>
                      </m:r>
                      <m:r>
                        <a:rPr kumimoji="1" lang="en-US" altLang="ja-JP" sz="2000" b="0" i="1" smtClean="0">
                          <a:latin typeface="Cambria Math" panose="02040503050406030204" pitchFamily="18" charset="0"/>
                        </a:rPr>
                        <m:t>+</m:t>
                      </m:r>
                      <m:sSup>
                        <m:sSupPr>
                          <m:ctrlPr>
                            <a:rPr kumimoji="1" lang="en-US" altLang="ja-JP" sz="2000" b="0" i="1" smtClean="0">
                              <a:latin typeface="Cambria Math" panose="02040503050406030204" pitchFamily="18" charset="0"/>
                            </a:rPr>
                          </m:ctrlPr>
                        </m:sSupPr>
                        <m:e>
                          <m:r>
                            <a:rPr kumimoji="1" lang="en-US" altLang="ja-JP" sz="2000" b="0" i="1" smtClean="0">
                              <a:latin typeface="Cambria Math" panose="02040503050406030204" pitchFamily="18" charset="0"/>
                            </a:rPr>
                            <m:t>𝛽</m:t>
                          </m:r>
                        </m:e>
                        <m:sup>
                          <m:r>
                            <a:rPr kumimoji="1" lang="en-US" altLang="ja-JP" sz="2000" b="0" i="1" smtClean="0">
                              <a:latin typeface="Cambria Math" panose="02040503050406030204" pitchFamily="18" charset="0"/>
                            </a:rPr>
                            <m:t>⊤</m:t>
                          </m:r>
                        </m:sup>
                      </m:sSup>
                      <m:r>
                        <a:rPr kumimoji="1" lang="en-US" altLang="ja-JP" sz="2000" b="0" i="1" smtClean="0">
                          <a:latin typeface="Cambria Math" panose="02040503050406030204" pitchFamily="18" charset="0"/>
                        </a:rPr>
                        <m:t>𝑋</m:t>
                      </m:r>
                      <m:r>
                        <a:rPr kumimoji="1" lang="en-US" altLang="ja-JP" sz="2000" b="0" i="1" smtClean="0">
                          <a:latin typeface="Cambria Math" panose="02040503050406030204" pitchFamily="18" charset="0"/>
                        </a:rPr>
                        <m:t>+</m:t>
                      </m:r>
                      <m:r>
                        <a:rPr kumimoji="1" lang="en-US" altLang="ja-JP" sz="2000" b="0" i="1" smtClean="0">
                          <a:latin typeface="Cambria Math" panose="02040503050406030204" pitchFamily="18" charset="0"/>
                        </a:rPr>
                        <m:t>𝜖</m:t>
                      </m:r>
                    </m:oMath>
                  </m:oMathPara>
                </a14:m>
                <a:endParaRPr kumimoji="1" lang="en-US" altLang="ja-JP" sz="2000" dirty="0"/>
              </a:p>
              <a:p>
                <a:pPr marL="855000" lvl="2" indent="0" algn="ctr">
                  <a:buNone/>
                </a:pPr>
                <a14:m>
                  <m:oMath xmlns:m="http://schemas.openxmlformats.org/officeDocument/2006/math">
                    <m:r>
                      <a:rPr lang="en-US" altLang="ja-JP" sz="2000" i="1">
                        <a:latin typeface="Cambria Math" panose="02040503050406030204" pitchFamily="18" charset="0"/>
                      </a:rPr>
                      <m:t>𝜖</m:t>
                    </m:r>
                  </m:oMath>
                </a14:m>
                <a:r>
                  <a:rPr lang="en-US" altLang="ja-JP" sz="2000" dirty="0"/>
                  <a:t> </a:t>
                </a:r>
                <a:r>
                  <a:rPr lang="ja-JP" altLang="en-US" sz="2000"/>
                  <a:t>は平均ゼロで</a:t>
                </a:r>
                <a14:m>
                  <m:oMath xmlns:m="http://schemas.openxmlformats.org/officeDocument/2006/math">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𝐷</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𝑋</m:t>
                    </m:r>
                    <m:r>
                      <a:rPr lang="en-US" altLang="ja-JP" sz="2000" b="0" i="1" smtClean="0">
                        <a:latin typeface="Cambria Math" panose="02040503050406030204" pitchFamily="18" charset="0"/>
                      </a:rPr>
                      <m:t>)</m:t>
                    </m:r>
                  </m:oMath>
                </a14:m>
                <a:r>
                  <a:rPr lang="ja-JP" altLang="en-US" sz="2000"/>
                  <a:t>と独立な誤差項</a:t>
                </a:r>
                <a:endParaRPr lang="en-US" altLang="ja-JP" sz="2000" dirty="0"/>
              </a:p>
              <a:p>
                <a:pPr marL="855000" lvl="2" indent="0" algn="ctr">
                  <a:buNone/>
                </a:pPr>
                <a:endParaRPr lang="en-US" altLang="ja-JP" sz="800" dirty="0"/>
              </a:p>
              <a:p>
                <a:pPr lvl="1"/>
                <a:r>
                  <a:rPr lang="ja-JP" altLang="en-US" sz="2000"/>
                  <a:t>共変量</a:t>
                </a:r>
                <a:r>
                  <a:rPr lang="en-US" altLang="ja-JP" sz="2000" dirty="0"/>
                  <a:t> </a:t>
                </a:r>
                <a14:m>
                  <m:oMath xmlns:m="http://schemas.openxmlformats.org/officeDocument/2006/math">
                    <m:r>
                      <a:rPr lang="en-US" altLang="ja-JP" sz="2000" b="0" i="1" smtClean="0">
                        <a:latin typeface="Cambria Math" panose="02040503050406030204" pitchFamily="18" charset="0"/>
                      </a:rPr>
                      <m:t>𝑋</m:t>
                    </m:r>
                  </m:oMath>
                </a14:m>
                <a:r>
                  <a:rPr lang="en-US" altLang="ja-JP" sz="2000" dirty="0"/>
                  <a:t> </a:t>
                </a:r>
                <a:r>
                  <a:rPr lang="ja-JP" altLang="en-US" sz="2000" dirty="0"/>
                  <a:t>と処置</a:t>
                </a:r>
                <a:r>
                  <a:rPr lang="en-US" altLang="ja-JP" sz="2000" dirty="0"/>
                  <a:t> </a:t>
                </a:r>
                <a14:m>
                  <m:oMath xmlns:m="http://schemas.openxmlformats.org/officeDocument/2006/math">
                    <m:r>
                      <a:rPr lang="en-US" altLang="ja-JP" sz="2000" b="0" i="1" dirty="0" smtClean="0">
                        <a:latin typeface="Cambria Math" panose="02040503050406030204" pitchFamily="18" charset="0"/>
                      </a:rPr>
                      <m:t>𝐷</m:t>
                    </m:r>
                  </m:oMath>
                </a14:m>
                <a:r>
                  <a:rPr lang="en-US" altLang="ja-JP" sz="2000" dirty="0"/>
                  <a:t> </a:t>
                </a:r>
                <a:r>
                  <a:rPr lang="ja-JP" altLang="en-US" sz="2000" dirty="0"/>
                  <a:t>が相関</a:t>
                </a:r>
                <a:r>
                  <a:rPr lang="ja-JP" altLang="en-US" sz="2000"/>
                  <a:t>しているとする</a:t>
                </a:r>
                <a:endParaRPr lang="en-US" altLang="ja-JP" sz="2000" dirty="0"/>
              </a:p>
              <a:p>
                <a:pPr lvl="1"/>
                <a:r>
                  <a:rPr lang="ja-JP" altLang="en-US" sz="2000"/>
                  <a:t>このとき、平均処置効果は</a:t>
                </a:r>
                <a:r>
                  <a:rPr lang="en-US" altLang="ja-JP" sz="2000" dirty="0"/>
                  <a:t> </a:t>
                </a:r>
                <a14:m>
                  <m:oMath xmlns:m="http://schemas.openxmlformats.org/officeDocument/2006/math">
                    <m:r>
                      <a:rPr lang="en-US" altLang="ja-JP" sz="2000" b="0" i="1" smtClean="0">
                        <a:latin typeface="Cambria Math" panose="02040503050406030204" pitchFamily="18" charset="0"/>
                      </a:rPr>
                      <m:t>𝛼</m:t>
                    </m:r>
                  </m:oMath>
                </a14:m>
                <a:r>
                  <a:rPr lang="en-US" altLang="ja-JP" sz="2000" dirty="0"/>
                  <a:t> </a:t>
                </a:r>
                <a:r>
                  <a:rPr lang="ja-JP" altLang="en-US" sz="2000"/>
                  <a:t>となる</a:t>
                </a:r>
                <a:endParaRPr lang="en-US" altLang="ja-JP" sz="2000" dirty="0"/>
              </a:p>
              <a:p>
                <a:pPr lvl="2"/>
                <a:r>
                  <a:rPr lang="ja-JP" altLang="en-US" sz="2000"/>
                  <a:t>重回帰（</a:t>
                </a:r>
                <a:r>
                  <a:rPr lang="en-US" altLang="ja-JP" sz="2000" dirty="0"/>
                  <a:t> OLS </a:t>
                </a:r>
                <a:r>
                  <a:rPr lang="ja-JP" altLang="en-US" sz="2000"/>
                  <a:t>）で推定可能</a:t>
                </a:r>
                <a:endParaRPr lang="en-US" altLang="ja-JP" sz="2000" dirty="0"/>
              </a:p>
              <a:p>
                <a:pPr lvl="2"/>
                <a:r>
                  <a:rPr lang="en-US" altLang="ja-JP" sz="2000" dirty="0"/>
                  <a:t>OLS </a:t>
                </a:r>
                <a:r>
                  <a:rPr lang="ja-JP" altLang="en-US" sz="2000"/>
                  <a:t>推定量は不偏</a:t>
                </a:r>
                <a:endParaRPr lang="en-US" altLang="ja-JP" sz="2000" dirty="0"/>
              </a:p>
              <a:p>
                <a:pPr lvl="1"/>
                <a:endParaRPr lang="en-US" altLang="ja-JP" sz="800" dirty="0"/>
              </a:p>
              <a:p>
                <a:r>
                  <a:rPr lang="ja-JP" altLang="en-US" sz="2000"/>
                  <a:t>共変量</a:t>
                </a:r>
                <a:r>
                  <a:rPr lang="en-US" altLang="ja-JP" sz="2000" dirty="0"/>
                  <a:t> </a:t>
                </a:r>
                <a14:m>
                  <m:oMath xmlns:m="http://schemas.openxmlformats.org/officeDocument/2006/math">
                    <m:r>
                      <a:rPr lang="en-US" altLang="ja-JP" sz="2000" b="0" i="1" smtClean="0">
                        <a:latin typeface="Cambria Math" panose="02040503050406030204" pitchFamily="18" charset="0"/>
                      </a:rPr>
                      <m:t>𝑋</m:t>
                    </m:r>
                  </m:oMath>
                </a14:m>
                <a:r>
                  <a:rPr lang="en-US" altLang="ja-JP" sz="2000" dirty="0"/>
                  <a:t> </a:t>
                </a:r>
                <a:r>
                  <a:rPr lang="ja-JP" altLang="en-US" sz="2000" dirty="0"/>
                  <a:t>を</a:t>
                </a:r>
                <a:r>
                  <a:rPr lang="ja-JP" altLang="en-US" sz="2000"/>
                  <a:t>無視して、以下の線形回帰モデルのパラメータ</a:t>
                </a:r>
                <a14:m>
                  <m:oMath xmlns:m="http://schemas.openxmlformats.org/officeDocument/2006/math">
                    <m:r>
                      <a:rPr lang="en-US" altLang="ja-JP" sz="2000" b="0" i="1" smtClean="0">
                        <a:latin typeface="Cambria Math" panose="02040503050406030204" pitchFamily="18" charset="0"/>
                      </a:rPr>
                      <m:t>𝛼</m:t>
                    </m:r>
                  </m:oMath>
                </a14:m>
                <a:r>
                  <a:rPr lang="ja-JP" altLang="en-US" sz="2000" dirty="0"/>
                  <a:t>を推定する</a:t>
                </a:r>
                <a:r>
                  <a:rPr lang="ja-JP" altLang="en-US" sz="2000"/>
                  <a:t>とする</a:t>
                </a:r>
                <a:endParaRPr lang="en-US" altLang="ja-JP" sz="2000" dirty="0"/>
              </a:p>
              <a:p>
                <a:endParaRPr lang="en-US" altLang="ja-JP" sz="800" dirty="0"/>
              </a:p>
              <a:p>
                <a:pPr marL="0" indent="0">
                  <a:buNone/>
                </a:pPr>
                <a14:m>
                  <m:oMathPara xmlns:m="http://schemas.openxmlformats.org/officeDocument/2006/math">
                    <m:oMathParaPr>
                      <m:jc m:val="centerGroup"/>
                    </m:oMathParaPr>
                    <m:oMath xmlns:m="http://schemas.openxmlformats.org/officeDocument/2006/math">
                      <m:r>
                        <a:rPr lang="en-US" altLang="ja-JP" sz="2000" i="1" smtClean="0">
                          <a:latin typeface="Cambria Math" panose="02040503050406030204" pitchFamily="18" charset="0"/>
                        </a:rPr>
                        <m:t>𝑌</m:t>
                      </m:r>
                      <m:r>
                        <a:rPr lang="en-US" altLang="ja-JP" sz="2000" i="1" smtClean="0">
                          <a:latin typeface="Cambria Math" panose="02040503050406030204" pitchFamily="18" charset="0"/>
                        </a:rPr>
                        <m:t>=</m:t>
                      </m:r>
                      <m:r>
                        <a:rPr lang="en-US" altLang="ja-JP" sz="2000" i="1" smtClean="0">
                          <a:latin typeface="Cambria Math" panose="02040503050406030204" pitchFamily="18" charset="0"/>
                        </a:rPr>
                        <m:t>𝛼</m:t>
                      </m:r>
                      <m:r>
                        <a:rPr lang="en-US" altLang="ja-JP" sz="2000" i="1" smtClean="0">
                          <a:latin typeface="Cambria Math" panose="02040503050406030204" pitchFamily="18" charset="0"/>
                        </a:rPr>
                        <m:t> </m:t>
                      </m:r>
                      <m:r>
                        <a:rPr lang="en-US" altLang="ja-JP" sz="2000" i="1" smtClean="0">
                          <a:latin typeface="Cambria Math" panose="02040503050406030204" pitchFamily="18" charset="0"/>
                        </a:rPr>
                        <m:t>𝐷</m:t>
                      </m:r>
                      <m:r>
                        <a:rPr lang="en-US" altLang="ja-JP" sz="2000" i="1">
                          <a:latin typeface="Cambria Math" panose="02040503050406030204" pitchFamily="18" charset="0"/>
                        </a:rPr>
                        <m:t>+</m:t>
                      </m:r>
                      <m:r>
                        <m:rPr>
                          <m:sty m:val="p"/>
                        </m:rPr>
                        <a:rPr lang="en-US" altLang="ja-JP" sz="2000" b="0" i="0" smtClean="0">
                          <a:latin typeface="Cambria Math" panose="02040503050406030204" pitchFamily="18" charset="0"/>
                        </a:rPr>
                        <m:t>u</m:t>
                      </m:r>
                    </m:oMath>
                    <m:oMath xmlns:m="http://schemas.openxmlformats.org/officeDocument/2006/math">
                      <m:r>
                        <a:rPr lang="en-US" altLang="ja-JP" sz="2000" b="0" i="1" smtClean="0">
                          <a:latin typeface="Cambria Math" panose="02040503050406030204" pitchFamily="18" charset="0"/>
                        </a:rPr>
                        <m:t>𝑢</m:t>
                      </m:r>
                      <m:r>
                        <m:rPr>
                          <m:aln/>
                        </m:rPr>
                        <a:rPr lang="en-US" altLang="ja-JP" sz="2000" b="0" i="1" smtClean="0">
                          <a:latin typeface="Cambria Math" panose="02040503050406030204" pitchFamily="18" charset="0"/>
                        </a:rPr>
                        <m:t>=</m:t>
                      </m:r>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𝛽</m:t>
                          </m:r>
                        </m:e>
                        <m:sup>
                          <m:r>
                            <a:rPr lang="en-US" altLang="ja-JP" sz="2000" i="1">
                              <a:latin typeface="Cambria Math" panose="02040503050406030204" pitchFamily="18" charset="0"/>
                            </a:rPr>
                            <m:t>⊤</m:t>
                          </m:r>
                        </m:sup>
                      </m:sSup>
                      <m:r>
                        <a:rPr lang="en-US" altLang="ja-JP" sz="2000" i="1">
                          <a:latin typeface="Cambria Math" panose="02040503050406030204" pitchFamily="18" charset="0"/>
                        </a:rPr>
                        <m:t>𝑋</m:t>
                      </m:r>
                      <m:r>
                        <a:rPr lang="en-US" altLang="ja-JP" sz="2000" b="0" i="1" smtClean="0">
                          <a:latin typeface="Cambria Math" panose="02040503050406030204" pitchFamily="18" charset="0"/>
                        </a:rPr>
                        <m:t>+</m:t>
                      </m:r>
                      <m:r>
                        <a:rPr lang="en-US" altLang="ja-JP" sz="2000" i="1">
                          <a:latin typeface="Cambria Math" panose="02040503050406030204" pitchFamily="18" charset="0"/>
                        </a:rPr>
                        <m:t>𝜖</m:t>
                      </m:r>
                    </m:oMath>
                  </m:oMathPara>
                </a14:m>
                <a:br>
                  <a:rPr lang="en-US" altLang="ja-JP" sz="2000" b="0" dirty="0"/>
                </a:br>
                <a:endParaRPr lang="en-US" altLang="ja-JP" sz="2000" dirty="0"/>
              </a:p>
              <a:p>
                <a:endParaRPr lang="en-US" altLang="ja-JP" sz="800" dirty="0"/>
              </a:p>
              <a:p>
                <a:pPr lvl="1"/>
                <a:r>
                  <a:rPr lang="ja-JP" altLang="en-US" sz="2000"/>
                  <a:t>誤差項</a:t>
                </a:r>
                <a14:m>
                  <m:oMath xmlns:m="http://schemas.openxmlformats.org/officeDocument/2006/math">
                    <m:r>
                      <a:rPr lang="en-US" altLang="ja-JP" sz="2000" b="0" i="1" smtClean="0">
                        <a:latin typeface="Cambria Math" panose="02040503050406030204" pitchFamily="18" charset="0"/>
                      </a:rPr>
                      <m:t>𝑢</m:t>
                    </m:r>
                  </m:oMath>
                </a14:m>
                <a:r>
                  <a:rPr lang="en-US" altLang="ja-JP" sz="2000" dirty="0"/>
                  <a:t> </a:t>
                </a:r>
                <a:r>
                  <a:rPr lang="ja-JP" altLang="en-US" sz="2000" dirty="0"/>
                  <a:t>に</a:t>
                </a:r>
                <a:r>
                  <a:rPr lang="ja-JP" altLang="en-US" sz="2000"/>
                  <a:t>共変量</a:t>
                </a:r>
                <a:r>
                  <a:rPr lang="en-US" altLang="ja-JP" sz="2000" dirty="0"/>
                  <a:t> </a:t>
                </a:r>
                <a14:m>
                  <m:oMath xmlns:m="http://schemas.openxmlformats.org/officeDocument/2006/math">
                    <m:r>
                      <a:rPr lang="en-US" altLang="ja-JP" sz="2000" b="0" i="1" smtClean="0">
                        <a:latin typeface="Cambria Math" panose="02040503050406030204" pitchFamily="18" charset="0"/>
                      </a:rPr>
                      <m:t>𝑋</m:t>
                    </m:r>
                  </m:oMath>
                </a14:m>
                <a:r>
                  <a:rPr lang="en-US" altLang="ja-JP" sz="2000" b="0" dirty="0"/>
                  <a:t> </a:t>
                </a:r>
                <a:r>
                  <a:rPr lang="ja-JP" altLang="en-US" sz="2000" b="0" dirty="0"/>
                  <a:t>が</a:t>
                </a:r>
                <a:r>
                  <a:rPr lang="ja-JP" altLang="en-US" sz="2000" b="0"/>
                  <a:t>含まれている</a:t>
                </a:r>
                <a:endParaRPr lang="en-US" altLang="ja-JP" sz="2000" b="0" dirty="0"/>
              </a:p>
              <a:p>
                <a:pPr lvl="1"/>
                <a:r>
                  <a:rPr lang="ja-JP" altLang="en-US" sz="2000" b="0"/>
                  <a:t>これを単回帰で推定すると、欠落変数バイアスが生じる</a:t>
                </a:r>
                <a:endParaRPr lang="en-US" altLang="ja-JP" sz="2000" b="0" dirty="0"/>
              </a:p>
            </p:txBody>
          </p:sp>
        </mc:Choice>
        <mc:Fallback>
          <p:sp>
            <p:nvSpPr>
              <p:cNvPr id="3" name="コンテンツ プレースホルダー 2">
                <a:extLst>
                  <a:ext uri="{FF2B5EF4-FFF2-40B4-BE49-F238E27FC236}">
                    <a16:creationId xmlns:a16="http://schemas.microsoft.com/office/drawing/2014/main" id="{FEB5CD9B-2391-2225-7E54-340F9E65078A}"/>
                  </a:ext>
                </a:extLst>
              </p:cNvPr>
              <p:cNvSpPr>
                <a:spLocks noGrp="1" noRot="1" noChangeAspect="1" noMove="1" noResize="1" noEditPoints="1" noAdjustHandles="1" noChangeArrowheads="1" noChangeShapeType="1" noTextEdit="1"/>
              </p:cNvSpPr>
              <p:nvPr>
                <p:ph idx="1"/>
              </p:nvPr>
            </p:nvSpPr>
            <p:spPr>
              <a:xfrm>
                <a:off x="838199" y="1135116"/>
                <a:ext cx="10515599" cy="5357757"/>
              </a:xfrm>
              <a:blipFill>
                <a:blip r:embed="rId2"/>
                <a:stretch>
                  <a:fillRect l="-483" t="-70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93522486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43938</TotalTime>
  <Words>3025</Words>
  <Application>Microsoft Macintosh PowerPoint</Application>
  <PresentationFormat>ワイド画面</PresentationFormat>
  <Paragraphs>440</Paragraphs>
  <Slides>32</Slides>
  <Notes>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32</vt:i4>
      </vt:variant>
    </vt:vector>
  </HeadingPairs>
  <TitlesOfParts>
    <vt:vector size="40" baseType="lpstr">
      <vt:lpstr>Noto Sans JP</vt:lpstr>
      <vt:lpstr>システムフォント（レギュラー）</vt:lpstr>
      <vt:lpstr>游ゴシック</vt:lpstr>
      <vt:lpstr>Arial</vt:lpstr>
      <vt:lpstr>Calibri</vt:lpstr>
      <vt:lpstr>Cambria Math</vt:lpstr>
      <vt:lpstr>Wingdings</vt:lpstr>
      <vt:lpstr>Office テーマ</vt:lpstr>
      <vt:lpstr>「機械学習と因果推論」入門  ① 因果効果とは</vt:lpstr>
      <vt:lpstr>「機械学習と因果推論」入門</vt:lpstr>
      <vt:lpstr>本講義のポイント</vt:lpstr>
      <vt:lpstr>データ分析とは</vt:lpstr>
      <vt:lpstr>データ分析</vt:lpstr>
      <vt:lpstr>仮説検定</vt:lpstr>
      <vt:lpstr>機械学習</vt:lpstr>
      <vt:lpstr>因果推論に関する基礎的な用語や概念の整理</vt:lpstr>
      <vt:lpstr>因果推論</vt:lpstr>
      <vt:lpstr>因果推論の目的</vt:lpstr>
      <vt:lpstr>因果推論の目的</vt:lpstr>
      <vt:lpstr>因果効果</vt:lpstr>
      <vt:lpstr>行動</vt:lpstr>
      <vt:lpstr>平均処置効果</vt:lpstr>
      <vt:lpstr>個別的処置効果</vt:lpstr>
      <vt:lpstr>個別的処置効果</vt:lpstr>
      <vt:lpstr>平均処置効果</vt:lpstr>
      <vt:lpstr>処置効果推定における課題</vt:lpstr>
      <vt:lpstr>因果推論における課題</vt:lpstr>
      <vt:lpstr>Ceteris Paribus </vt:lpstr>
      <vt:lpstr>実験アプローチと観察アプローチ</vt:lpstr>
      <vt:lpstr>観察データを用いるデータ分析</vt:lpstr>
      <vt:lpstr>ATE推定の数学定式化と線形回帰分析</vt:lpstr>
      <vt:lpstr>潜在アウトカムモデル</vt:lpstr>
      <vt:lpstr>SUTVAの仮定</vt:lpstr>
      <vt:lpstr>線形回帰モデル</vt:lpstr>
      <vt:lpstr>OLSによる推定</vt:lpstr>
      <vt:lpstr>OLSの因果推論的解釈</vt:lpstr>
      <vt:lpstr>共変量Xの意味</vt:lpstr>
      <vt:lpstr>ATE推定に必要な仮定</vt:lpstr>
      <vt:lpstr>回帰関数の差分の期待値 = 平均処置効果</vt:lpstr>
      <vt:lpstr>線形回帰モデルの場合</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加藤真大</dc:creator>
  <cp:lastModifiedBy>加藤　真大</cp:lastModifiedBy>
  <cp:revision>600</cp:revision>
  <cp:lastPrinted>2025-05-18T19:28:46Z</cp:lastPrinted>
  <dcterms:created xsi:type="dcterms:W3CDTF">2023-04-02T16:55:48Z</dcterms:created>
  <dcterms:modified xsi:type="dcterms:W3CDTF">2026-04-07T06:42:36Z</dcterms:modified>
</cp:coreProperties>
</file>