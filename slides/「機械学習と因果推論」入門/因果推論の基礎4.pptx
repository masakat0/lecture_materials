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1262" r:id="rId2"/>
    <p:sldId id="2147377662" r:id="rId3"/>
    <p:sldId id="1263" r:id="rId4"/>
    <p:sldId id="1308" r:id="rId5"/>
    <p:sldId id="1264" r:id="rId6"/>
    <p:sldId id="1325" r:id="rId7"/>
    <p:sldId id="1309" r:id="rId8"/>
    <p:sldId id="1324" r:id="rId9"/>
    <p:sldId id="1267" r:id="rId10"/>
    <p:sldId id="1306" r:id="rId11"/>
    <p:sldId id="1317" r:id="rId12"/>
    <p:sldId id="1298" r:id="rId13"/>
    <p:sldId id="1299" r:id="rId14"/>
    <p:sldId id="1319" r:id="rId15"/>
    <p:sldId id="1260" r:id="rId16"/>
    <p:sldId id="1326" r:id="rId17"/>
    <p:sldId id="1261" r:id="rId18"/>
    <p:sldId id="1320" r:id="rId19"/>
    <p:sldId id="1321" r:id="rId20"/>
    <p:sldId id="1304" r:id="rId21"/>
    <p:sldId id="1330" r:id="rId22"/>
    <p:sldId id="2147377663" r:id="rId23"/>
    <p:sldId id="2147377664" r:id="rId24"/>
    <p:sldId id="1329" r:id="rId25"/>
    <p:sldId id="2147377665" r:id="rId26"/>
    <p:sldId id="1328" r:id="rId27"/>
    <p:sldId id="2147377666" r:id="rId28"/>
    <p:sldId id="1322" r:id="rId29"/>
    <p:sldId id="2147377667"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A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7"/>
    <p:restoredTop sz="95785"/>
  </p:normalViewPr>
  <p:slideViewPr>
    <p:cSldViewPr snapToGrid="0">
      <p:cViewPr varScale="1">
        <p:scale>
          <a:sx n="114" d="100"/>
          <a:sy n="114" d="100"/>
        </p:scale>
        <p:origin x="10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13FDF-AD6D-D044-9473-4EF57EA7D013}" type="datetimeFigureOut">
              <a:rPr kumimoji="1" lang="ja-JP" altLang="en-US" smtClean="0"/>
              <a:t>2026/4/15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86D82-5BE7-0F48-9C8D-382CDFB51FA5}" type="slidenum">
              <a:rPr kumimoji="1" lang="ja-JP" altLang="en-US" smtClean="0"/>
              <a:t>‹#›</a:t>
            </a:fld>
            <a:endParaRPr kumimoji="1" lang="ja-JP" altLang="en-US"/>
          </a:p>
        </p:txBody>
      </p:sp>
    </p:spTree>
    <p:extLst>
      <p:ext uri="{BB962C8B-B14F-4D97-AF65-F5344CB8AC3E}">
        <p14:creationId xmlns:p14="http://schemas.microsoft.com/office/powerpoint/2010/main" val="83014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40B73-CA8B-244F-465D-90B28BB58857}"/>
              </a:ext>
            </a:extLst>
          </p:cNvPr>
          <p:cNvSpPr>
            <a:spLocks noGrp="1"/>
          </p:cNvSpPr>
          <p:nvPr>
            <p:ph type="ctrTitle"/>
          </p:nvPr>
        </p:nvSpPr>
        <p:spPr>
          <a:xfrm>
            <a:off x="1524000" y="1122363"/>
            <a:ext cx="9144000" cy="2387600"/>
          </a:xfrm>
        </p:spPr>
        <p:txBody>
          <a:bodyPr anchor="b">
            <a:normAutofit/>
          </a:bodyPr>
          <a:lstStyle>
            <a:lvl1pPr algn="ctr">
              <a:defRPr sz="4800">
                <a:latin typeface="Calibri" panose="020F0502020204030204" pitchFamily="34" charset="0"/>
                <a:cs typeface="Calibri" panose="020F0502020204030204" pitchFamily="34" charset="0"/>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8793CBE-9F0A-E8E4-882A-A40100D656DE}"/>
              </a:ext>
            </a:extLst>
          </p:cNvPr>
          <p:cNvSpPr>
            <a:spLocks noGrp="1"/>
          </p:cNvSpPr>
          <p:nvPr>
            <p:ph type="subTitle" idx="1"/>
          </p:nvPr>
        </p:nvSpPr>
        <p:spPr>
          <a:xfrm>
            <a:off x="1524000" y="3602038"/>
            <a:ext cx="9144000" cy="1655762"/>
          </a:xfrm>
        </p:spPr>
        <p:txBody>
          <a:bodyPr/>
          <a:lstStyle>
            <a:lvl1pPr marL="0" indent="0" algn="ctr">
              <a:buNone/>
              <a:defRPr sz="24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971058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E3B2C6-2794-F355-E00B-B5E1C219EBE5}"/>
              </a:ext>
            </a:extLst>
          </p:cNvPr>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7B3163-8C3F-2210-0E9F-DFF0C2D3B285}"/>
              </a:ext>
            </a:extLst>
          </p:cNvPr>
          <p:cNvSpPr>
            <a:spLocks noGrp="1"/>
          </p:cNvSpPr>
          <p:nvPr>
            <p:ph idx="1"/>
          </p:nvPr>
        </p:nvSpPr>
        <p:spPr/>
        <p:txBody>
          <a:bodyPr/>
          <a:lstStyle>
            <a:lvl1pPr marL="288000" indent="-288000">
              <a:lnSpc>
                <a:spcPct val="100000"/>
              </a:lnSpc>
              <a:spcBef>
                <a:spcPts val="0"/>
              </a:spcBef>
              <a:spcAft>
                <a:spcPts val="200"/>
              </a:spcAft>
              <a:defRPr/>
            </a:lvl1pPr>
            <a:lvl2pPr indent="-288000">
              <a:lnSpc>
                <a:spcPct val="100000"/>
              </a:lnSpc>
              <a:spcBef>
                <a:spcPts val="0"/>
              </a:spcBef>
              <a:spcAft>
                <a:spcPts val="200"/>
              </a:spcAft>
              <a:defRPr/>
            </a:lvl2pPr>
            <a:lvl3pPr indent="-288000">
              <a:lnSpc>
                <a:spcPct val="100000"/>
              </a:lnSpc>
              <a:spcBef>
                <a:spcPts val="0"/>
              </a:spcBef>
              <a:spcAft>
                <a:spcPts val="200"/>
              </a:spcAft>
              <a:defRPr/>
            </a:lvl3pPr>
            <a:lvl4pPr indent="-288000">
              <a:lnSpc>
                <a:spcPct val="100000"/>
              </a:lnSpc>
              <a:spcBef>
                <a:spcPts val="0"/>
              </a:spcBef>
              <a:spcAft>
                <a:spcPts val="200"/>
              </a:spcAft>
              <a:defRPr/>
            </a:lvl4pPr>
            <a:lvl5pPr indent="-288000">
              <a:lnSpc>
                <a:spcPct val="100000"/>
              </a:lnSpc>
              <a:spcBef>
                <a:spcPts val="0"/>
              </a:spcBef>
              <a:spcAft>
                <a:spcPts val="200"/>
              </a:spcAft>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256300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FC314-A284-6A7E-968A-A17B51D59E8B}"/>
              </a:ext>
            </a:extLst>
          </p:cNvPr>
          <p:cNvSpPr>
            <a:spLocks noGrp="1"/>
          </p:cNvSpPr>
          <p:nvPr>
            <p:ph type="title"/>
          </p:nvPr>
        </p:nvSpPr>
        <p:spPr>
          <a:xfrm>
            <a:off x="831850" y="1709738"/>
            <a:ext cx="10515600" cy="2852737"/>
          </a:xfrm>
        </p:spPr>
        <p:txBody>
          <a:bodyPr anchor="b">
            <a:normAutofit/>
          </a:bodyPr>
          <a:lstStyle>
            <a:lvl1pPr>
              <a:defRPr sz="3200">
                <a:latin typeface="Calibri" panose="020F0502020204030204" pitchFamily="34" charset="0"/>
                <a:cs typeface="Calibri" panose="020F050202020403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FB42AB-71B3-7AEA-D9B6-7225F46A0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1856984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03122C-98EE-5E33-3274-052D218673B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5BAEBC0-84BA-6D53-2783-3B25B6F12808}"/>
              </a:ext>
            </a:extLst>
          </p:cNvPr>
          <p:cNvSpPr>
            <a:spLocks noGrp="1"/>
          </p:cNvSpPr>
          <p:nvPr>
            <p:ph sz="half" idx="1"/>
          </p:nvPr>
        </p:nvSpPr>
        <p:spPr>
          <a:xfrm>
            <a:off x="838200" y="1227602"/>
            <a:ext cx="5181600" cy="526527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AA4A09E-30C9-A84C-41A8-594B447685A4}"/>
              </a:ext>
            </a:extLst>
          </p:cNvPr>
          <p:cNvSpPr>
            <a:spLocks noGrp="1"/>
          </p:cNvSpPr>
          <p:nvPr>
            <p:ph sz="half" idx="2"/>
          </p:nvPr>
        </p:nvSpPr>
        <p:spPr>
          <a:xfrm>
            <a:off x="6172200" y="1227603"/>
            <a:ext cx="5181600" cy="526527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32806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26C5243-9908-957C-272E-1CACEAACB3C1}"/>
              </a:ext>
            </a:extLst>
          </p:cNvPr>
          <p:cNvSpPr>
            <a:spLocks noGrp="1"/>
          </p:cNvSpPr>
          <p:nvPr>
            <p:ph type="body" idx="1"/>
          </p:nvPr>
        </p:nvSpPr>
        <p:spPr>
          <a:xfrm>
            <a:off x="836612" y="122760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D8F1BE-F587-C5AD-CEFD-08124A5D9FE2}"/>
              </a:ext>
            </a:extLst>
          </p:cNvPr>
          <p:cNvSpPr>
            <a:spLocks noGrp="1"/>
          </p:cNvSpPr>
          <p:nvPr>
            <p:ph sz="half" idx="2"/>
          </p:nvPr>
        </p:nvSpPr>
        <p:spPr>
          <a:xfrm>
            <a:off x="839788" y="2187110"/>
            <a:ext cx="5157787"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A5E6AD-D24B-21D0-AA15-0BDEF42D59CE}"/>
              </a:ext>
            </a:extLst>
          </p:cNvPr>
          <p:cNvSpPr>
            <a:spLocks noGrp="1"/>
          </p:cNvSpPr>
          <p:nvPr>
            <p:ph type="body" sz="quarter" idx="3"/>
          </p:nvPr>
        </p:nvSpPr>
        <p:spPr>
          <a:xfrm>
            <a:off x="6172200" y="12057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C61124A-DCBC-E8EE-D22F-F3844F5AC6FE}"/>
              </a:ext>
            </a:extLst>
          </p:cNvPr>
          <p:cNvSpPr>
            <a:spLocks noGrp="1"/>
          </p:cNvSpPr>
          <p:nvPr>
            <p:ph sz="quarter" idx="4"/>
          </p:nvPr>
        </p:nvSpPr>
        <p:spPr>
          <a:xfrm>
            <a:off x="6172200" y="2187110"/>
            <a:ext cx="5183188"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1">
            <a:extLst>
              <a:ext uri="{FF2B5EF4-FFF2-40B4-BE49-F238E27FC236}">
                <a16:creationId xmlns:a16="http://schemas.microsoft.com/office/drawing/2014/main" id="{A5313B0B-D4F3-7917-8839-79443075C2CF}"/>
              </a:ext>
            </a:extLst>
          </p:cNvPr>
          <p:cNvSpPr txBox="1">
            <a:spLocks/>
          </p:cNvSpPr>
          <p:nvPr userDrawn="1"/>
        </p:nvSpPr>
        <p:spPr>
          <a:xfrm>
            <a:off x="838200" y="365126"/>
            <a:ext cx="10515600" cy="68309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マスター タイトルの書式設定</a:t>
            </a:r>
          </a:p>
        </p:txBody>
      </p:sp>
    </p:spTree>
    <p:extLst>
      <p:ext uri="{BB962C8B-B14F-4D97-AF65-F5344CB8AC3E}">
        <p14:creationId xmlns:p14="http://schemas.microsoft.com/office/powerpoint/2010/main" val="3703310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3EDDE0-1C2D-37D0-FD41-E6B1D5AA896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360401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45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7EC8DF-579F-DAC2-7B7E-EA0BCD16B39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8364614-4713-4466-2E3B-5941849C3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88142A6-4F57-09A9-DDCC-567B08E15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907423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64ABF-EF5F-E78A-24B1-F79081ABE08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2A33443-FE5E-B9B6-8D15-0D8E0501D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C468DBC-7885-2B27-55AC-91B260C3B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3850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72C68C-F41D-5CB1-85D8-D03E722B2C1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82FF0EA-005F-4BF9-D50C-67458878BB0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81934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1A88D21-F1C9-30BB-584E-54C3ACF3CD2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E824FD-0922-2A56-C26B-DC3D5FBF373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619790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816A7C1-1192-9FFD-14C3-AEAF38CA6C43}"/>
              </a:ext>
            </a:extLst>
          </p:cNvPr>
          <p:cNvSpPr>
            <a:spLocks noGrp="1"/>
          </p:cNvSpPr>
          <p:nvPr>
            <p:ph type="title"/>
          </p:nvPr>
        </p:nvSpPr>
        <p:spPr>
          <a:xfrm>
            <a:off x="838200" y="365126"/>
            <a:ext cx="10515600" cy="68309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EE530A-2B56-2F03-C8BE-28411AA6AC7D}"/>
              </a:ext>
            </a:extLst>
          </p:cNvPr>
          <p:cNvSpPr>
            <a:spLocks noGrp="1"/>
          </p:cNvSpPr>
          <p:nvPr>
            <p:ph type="body" idx="1"/>
          </p:nvPr>
        </p:nvSpPr>
        <p:spPr>
          <a:xfrm>
            <a:off x="838200" y="1135116"/>
            <a:ext cx="10515600" cy="5357757"/>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Google Shape;226;p37">
            <a:extLst>
              <a:ext uri="{FF2B5EF4-FFF2-40B4-BE49-F238E27FC236}">
                <a16:creationId xmlns:a16="http://schemas.microsoft.com/office/drawing/2014/main" id="{8EC8FDF8-FA14-8141-7070-09A520BABD93}"/>
              </a:ext>
            </a:extLst>
          </p:cNvPr>
          <p:cNvSpPr txBox="1">
            <a:spLocks/>
          </p:cNvSpPr>
          <p:nvPr userDrawn="1"/>
        </p:nvSpPr>
        <p:spPr>
          <a:xfrm>
            <a:off x="10620216" y="365125"/>
            <a:ext cx="1258824" cy="529431"/>
          </a:xfrm>
          <a:prstGeom prst="rect">
            <a:avLst/>
          </a:prstGeom>
        </p:spPr>
        <p:txBody>
          <a:bodyPr spcFirstLastPara="1" vert="horz" wrap="square" lIns="121900" tIns="121900" rIns="121900" bIns="121900" rtlCol="0" anchor="ctr" anchorCtr="0">
            <a:noAutofit/>
          </a:bodyP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00000000-1234-1234-1234-123412341234}" type="slidenum">
              <a:rPr lang="en-US" altLang="ja" sz="5333" b="1" smtClean="0"/>
              <a:pPr/>
              <a:t>‹#›</a:t>
            </a:fld>
            <a:endParaRPr lang="en-US" sz="5333" b="1" dirty="0"/>
          </a:p>
        </p:txBody>
      </p:sp>
    </p:spTree>
    <p:extLst>
      <p:ext uri="{BB962C8B-B14F-4D97-AF65-F5344CB8AC3E}">
        <p14:creationId xmlns:p14="http://schemas.microsoft.com/office/powerpoint/2010/main" val="731111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3200" b="1" kern="1200">
          <a:solidFill>
            <a:schemeClr val="accent1">
              <a:lumMod val="50000"/>
            </a:schemeClr>
          </a:solidFill>
          <a:latin typeface="Noto Sans JP" panose="020B0200000000000000" pitchFamily="34" charset="-128"/>
          <a:ea typeface="Noto Sans JP" panose="020B0200000000000000" pitchFamily="34" charset="-128"/>
          <a:cs typeface="Arial" panose="020B0604020202020204" pitchFamily="34" charset="0"/>
        </a:defRPr>
      </a:lvl1pPr>
    </p:titleStyle>
    <p:bodyStyle>
      <a:lvl1pPr marL="228600" indent="-228600" algn="l" defTabSz="914400" rtl="0" eaLnBrk="1" latinLnBrk="0" hangingPunct="1">
        <a:lnSpc>
          <a:spcPct val="100000"/>
        </a:lnSpc>
        <a:spcBef>
          <a:spcPts val="1000"/>
        </a:spcBef>
        <a:spcAft>
          <a:spcPts val="200"/>
        </a:spcAft>
        <a:buClr>
          <a:srgbClr val="FFC000"/>
        </a:buClr>
        <a:buFont typeface="Wingdings" pitchFamily="2" charset="2"/>
        <a:buChar char="n"/>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082B-E28B-6DF3-E2E9-F1582EB41A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544FCF-191B-128E-AD55-EB02DD4998D8}"/>
              </a:ext>
            </a:extLst>
          </p:cNvPr>
          <p:cNvSpPr>
            <a:spLocks noGrp="1"/>
          </p:cNvSpPr>
          <p:nvPr>
            <p:ph type="ctrTitle"/>
          </p:nvPr>
        </p:nvSpPr>
        <p:spPr>
          <a:xfrm>
            <a:off x="798195" y="1139985"/>
            <a:ext cx="10595610" cy="2387600"/>
          </a:xfrm>
        </p:spPr>
        <p:txBody>
          <a:bodyPr>
            <a:normAutofit/>
          </a:bodyPr>
          <a:lstStyle/>
          <a:p>
            <a:r>
              <a:rPr lang="ja-JP" altLang="en-US" sz="3600">
                <a:solidFill>
                  <a:srgbClr val="002060"/>
                </a:solidFill>
              </a:rPr>
              <a:t>「機械学習と因果推論」入門</a:t>
            </a:r>
            <a:br>
              <a:rPr kumimoji="1" lang="en-US" altLang="ja-JP" sz="3600" b="1" dirty="0">
                <a:solidFill>
                  <a:srgbClr val="002060"/>
                </a:solidFill>
                <a:latin typeface="Calibri" panose="020F0502020204030204" pitchFamily="34" charset="0"/>
                <a:cs typeface="Calibri" panose="020F0502020204030204" pitchFamily="34" charset="0"/>
              </a:rPr>
            </a:br>
            <a:br>
              <a:rPr kumimoji="1" lang="en-US" altLang="ja-JP" sz="1400" b="1" dirty="0">
                <a:solidFill>
                  <a:srgbClr val="002060"/>
                </a:solidFill>
                <a:latin typeface="Calibri" panose="020F0502020204030204" pitchFamily="34" charset="0"/>
                <a:cs typeface="Calibri" panose="020F0502020204030204" pitchFamily="34" charset="0"/>
              </a:rPr>
            </a:br>
            <a:r>
              <a:rPr kumimoji="1" lang="en-US" altLang="ja-JP" sz="3600" b="1" dirty="0">
                <a:solidFill>
                  <a:srgbClr val="002060"/>
                </a:solidFill>
                <a:latin typeface="Calibri" panose="020F0502020204030204" pitchFamily="34" charset="0"/>
                <a:cs typeface="Calibri" panose="020F0502020204030204" pitchFamily="34" charset="0"/>
              </a:rPr>
              <a:t>④</a:t>
            </a:r>
            <a:r>
              <a:rPr lang="ja-JP" altLang="en-US" sz="3600"/>
              <a:t>処置効果のさまざまな推定方法</a:t>
            </a:r>
            <a:endParaRPr kumimoji="1" lang="ja-JP" altLang="en-US" sz="3600" b="1">
              <a:solidFill>
                <a:srgbClr val="002060"/>
              </a:solidFill>
              <a:latin typeface="Calibri" panose="020F0502020204030204" pitchFamily="34" charset="0"/>
              <a:cs typeface="Calibri" panose="020F0502020204030204" pitchFamily="34" charset="0"/>
            </a:endParaRPr>
          </a:p>
        </p:txBody>
      </p:sp>
      <p:sp>
        <p:nvSpPr>
          <p:cNvPr id="3" name="字幕 2">
            <a:extLst>
              <a:ext uri="{FF2B5EF4-FFF2-40B4-BE49-F238E27FC236}">
                <a16:creationId xmlns:a16="http://schemas.microsoft.com/office/drawing/2014/main" id="{74716797-EF17-64DA-FA89-10FEA2F64C8A}"/>
              </a:ext>
            </a:extLst>
          </p:cNvPr>
          <p:cNvSpPr>
            <a:spLocks noGrp="1"/>
          </p:cNvSpPr>
          <p:nvPr>
            <p:ph type="subTitle" idx="1"/>
          </p:nvPr>
        </p:nvSpPr>
        <p:spPr>
          <a:xfrm>
            <a:off x="1524000" y="3657600"/>
            <a:ext cx="9144000" cy="1970570"/>
          </a:xfrm>
        </p:spPr>
        <p:txBody>
          <a:bodyPr>
            <a:normAutofit/>
          </a:bodyPr>
          <a:lstStyle/>
          <a:p>
            <a:pPr>
              <a:lnSpc>
                <a:spcPct val="120000"/>
              </a:lnSpc>
            </a:pPr>
            <a:r>
              <a:rPr kumimoji="1" lang="ja-JP" altLang="en-US"/>
              <a:t>加藤真大</a:t>
            </a:r>
            <a:endParaRPr lang="en-US" altLang="ja-JP" dirty="0"/>
          </a:p>
          <a:p>
            <a:pPr>
              <a:lnSpc>
                <a:spcPct val="120000"/>
              </a:lnSpc>
            </a:pPr>
            <a:r>
              <a:rPr kumimoji="1" lang="ja-JP" altLang="en-US" sz="1800"/>
              <a:t>大阪公立大学</a:t>
            </a:r>
            <a:br>
              <a:rPr lang="en-US" altLang="ja-JP" sz="1800" dirty="0"/>
            </a:br>
            <a:r>
              <a:rPr lang="en-US" altLang="ja-JP" sz="1800" dirty="0"/>
              <a:t>RIKEN AIP</a:t>
            </a:r>
          </a:p>
        </p:txBody>
      </p:sp>
    </p:spTree>
    <p:extLst>
      <p:ext uri="{BB962C8B-B14F-4D97-AF65-F5344CB8AC3E}">
        <p14:creationId xmlns:p14="http://schemas.microsoft.com/office/powerpoint/2010/main" val="37102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3E0D4-B4A5-BBEC-6AB9-F477539B79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4D55F3-5F2F-C902-F47B-4CA4092D7C94}"/>
              </a:ext>
            </a:extLst>
          </p:cNvPr>
          <p:cNvSpPr>
            <a:spLocks noGrp="1"/>
          </p:cNvSpPr>
          <p:nvPr>
            <p:ph type="title"/>
          </p:nvPr>
        </p:nvSpPr>
        <p:spPr/>
        <p:txBody>
          <a:bodyPr/>
          <a:lstStyle/>
          <a:p>
            <a:r>
              <a:rPr kumimoji="1" lang="ja-JP" altLang="en-US"/>
              <a:t>「機械学習と因果推論」入門</a:t>
            </a:r>
          </a:p>
        </p:txBody>
      </p:sp>
      <p:sp>
        <p:nvSpPr>
          <p:cNvPr id="3" name="コンテンツ プレースホルダー 2">
            <a:extLst>
              <a:ext uri="{FF2B5EF4-FFF2-40B4-BE49-F238E27FC236}">
                <a16:creationId xmlns:a16="http://schemas.microsoft.com/office/drawing/2014/main" id="{0D729C64-8514-9669-4EA0-938B868A147C}"/>
              </a:ext>
            </a:extLst>
          </p:cNvPr>
          <p:cNvSpPr>
            <a:spLocks noGrp="1"/>
          </p:cNvSpPr>
          <p:nvPr>
            <p:ph idx="1"/>
          </p:nvPr>
        </p:nvSpPr>
        <p:spPr/>
        <p:txBody>
          <a:bodyPr>
            <a:normAutofit/>
          </a:bodyPr>
          <a:lstStyle/>
          <a:p>
            <a:r>
              <a:rPr lang="ja-JP" altLang="en-US" sz="2000"/>
              <a:t>全</a:t>
            </a:r>
            <a:r>
              <a:rPr lang="en-US" altLang="ja-JP" sz="2000" dirty="0"/>
              <a:t>5</a:t>
            </a:r>
            <a:r>
              <a:rPr lang="ja-JP" altLang="en-US" sz="2000"/>
              <a:t>回</a:t>
            </a:r>
            <a:endParaRPr lang="en-US" altLang="ja-JP" sz="2000" dirty="0"/>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因果推論とは</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回帰分析から因果分析へ</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漸近効率な推定量と二重機械学習</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t>処置効果のさまざまな推定方法</a:t>
            </a:r>
            <a:endParaRPr lang="en-US" altLang="ja-JP" sz="2000" dirty="0"/>
          </a:p>
          <a:p>
            <a:pPr marL="740700" lvl="1" indent="-342900">
              <a:buFont typeface="+mj-ea"/>
              <a:buAutoNum type="circleNumDbPlain"/>
            </a:pPr>
            <a:r>
              <a:rPr lang="ja-JP" altLang="en-US" sz="2000"/>
              <a:t>因果</a:t>
            </a:r>
            <a:r>
              <a:rPr lang="ja-JP" altLang="en-US" sz="2000">
                <a:latin typeface="Noto Sans JP" panose="020B0200000000000000" pitchFamily="34" charset="-128"/>
                <a:ea typeface="Noto Sans JP" panose="020B0200000000000000" pitchFamily="34" charset="-128"/>
              </a:rPr>
              <a:t>効果推定の一般化</a:t>
            </a:r>
            <a:r>
              <a:rPr lang="ja-JP" altLang="en-US" sz="2000"/>
              <a:t>　</a:t>
            </a:r>
            <a:endParaRPr lang="en-US" altLang="ja-JP" sz="2000" dirty="0"/>
          </a:p>
          <a:p>
            <a:pPr marL="740700" lvl="1" indent="-342900">
              <a:buFont typeface="+mj-ea"/>
              <a:buAutoNum type="circleNumDbPlain"/>
            </a:pPr>
            <a:endParaRPr lang="en-US" altLang="ja-JP" sz="2000" dirty="0"/>
          </a:p>
          <a:p>
            <a:r>
              <a:rPr lang="ja-JP" altLang="en-US" sz="2000"/>
              <a:t>これらの発表を通じて伝えたいこと</a:t>
            </a:r>
            <a:r>
              <a:rPr lang="en-US" altLang="ja-JP" sz="2000" dirty="0"/>
              <a:t> / </a:t>
            </a:r>
            <a:r>
              <a:rPr lang="ja-JP" altLang="en-US" sz="2000"/>
              <a:t>主張</a:t>
            </a:r>
            <a:endParaRPr lang="en-US" altLang="ja-JP" sz="2000" dirty="0"/>
          </a:p>
          <a:p>
            <a:pPr lvl="1"/>
            <a:r>
              <a:rPr lang="ja-JP" altLang="en-US" sz="2000"/>
              <a:t>因果分析を回帰分析と同じ枠組みで考えること</a:t>
            </a:r>
            <a:endParaRPr lang="en-US" altLang="ja-JP" sz="2000" dirty="0"/>
          </a:p>
          <a:p>
            <a:pPr lvl="1"/>
            <a:r>
              <a:rPr lang="ja-JP" altLang="en-US" sz="2000"/>
              <a:t>因果推論の目的の多くは、</a:t>
            </a:r>
            <a:r>
              <a:rPr lang="ja-JP" altLang="en-US" sz="2000" u="sng"/>
              <a:t>少ない仮定</a:t>
            </a:r>
            <a:r>
              <a:rPr lang="ja-JP" altLang="en-US" sz="2000"/>
              <a:t>で</a:t>
            </a:r>
            <a:r>
              <a:rPr lang="ja-JP" altLang="en-US" sz="2000" u="sng"/>
              <a:t>効率的に</a:t>
            </a:r>
            <a:r>
              <a:rPr lang="ja-JP" altLang="en-US" sz="2000"/>
              <a:t>因果効果を推定・推論すること</a:t>
            </a:r>
            <a:endParaRPr lang="en-US" altLang="ja-JP" sz="2000" dirty="0"/>
          </a:p>
          <a:p>
            <a:pPr lvl="1"/>
            <a:r>
              <a:rPr lang="ja-JP" altLang="en-US" sz="2000"/>
              <a:t>少ない仮定</a:t>
            </a:r>
            <a:r>
              <a:rPr lang="en-US" altLang="ja-JP" sz="2000" dirty="0"/>
              <a:t> = </a:t>
            </a:r>
            <a:r>
              <a:rPr lang="ja-JP" altLang="en-US" sz="2000"/>
              <a:t>ノンパラメトリック・セミパラメトリック分析</a:t>
            </a:r>
            <a:endParaRPr lang="en-US" altLang="ja-JP" sz="2000" dirty="0"/>
          </a:p>
          <a:p>
            <a:pPr marL="397800" lvl="1" indent="0">
              <a:buNone/>
            </a:pPr>
            <a:r>
              <a:rPr lang="ja-JP" altLang="en-US" sz="2000"/>
              <a:t>→</a:t>
            </a:r>
            <a:r>
              <a:rPr lang="en-US" altLang="ja-JP" sz="2000" dirty="0"/>
              <a:t> </a:t>
            </a:r>
            <a:r>
              <a:rPr lang="ja-JP" altLang="en-US" sz="2000" b="1"/>
              <a:t>二重機械学習</a:t>
            </a:r>
            <a:endParaRPr lang="en-US" altLang="ja-JP" sz="2000" b="1" dirty="0"/>
          </a:p>
          <a:p>
            <a:pPr lvl="1"/>
            <a:r>
              <a:rPr lang="ja-JP" altLang="en-US" sz="2000"/>
              <a:t>平均処置効果推定で用いる手法は一般化して多くの問題に応用できる</a:t>
            </a:r>
            <a:endParaRPr lang="en-US" altLang="ja-JP" sz="2000" dirty="0"/>
          </a:p>
          <a:p>
            <a:pPr marL="397800" lvl="1" indent="0">
              <a:buNone/>
            </a:pPr>
            <a:r>
              <a:rPr lang="ja-JP" altLang="en-US" sz="2000"/>
              <a:t>→</a:t>
            </a:r>
            <a:r>
              <a:rPr lang="en-US" altLang="ja-JP" sz="2000" dirty="0"/>
              <a:t> </a:t>
            </a:r>
            <a:r>
              <a:rPr lang="ja-JP" altLang="en-US" sz="2000" b="1"/>
              <a:t>自動バイアス除去学習</a:t>
            </a:r>
            <a:endParaRPr lang="en-US" altLang="ja-JP" sz="2000" b="1" dirty="0"/>
          </a:p>
          <a:p>
            <a:pPr lvl="2"/>
            <a:r>
              <a:rPr lang="ja-JP" altLang="en-US" sz="2000"/>
              <a:t>リースの表現定理による記述</a:t>
            </a:r>
            <a:endParaRPr lang="en-US" altLang="ja-JP" sz="2000" dirty="0"/>
          </a:p>
          <a:p>
            <a:pPr marL="740700" lvl="1" indent="-342900">
              <a:buFont typeface="+mj-lt"/>
              <a:buAutoNum type="circleNumDbPlain"/>
            </a:pPr>
            <a:endParaRPr lang="en-US" altLang="ja-JP" sz="2000" dirty="0">
              <a:latin typeface="Noto Sans JP" panose="020B0200000000000000" pitchFamily="34" charset="-128"/>
              <a:ea typeface="Noto Sans JP" panose="020B0200000000000000" pitchFamily="34" charset="-128"/>
            </a:endParaRPr>
          </a:p>
          <a:p>
            <a:pPr marL="740700" lvl="1" indent="-342900">
              <a:buFont typeface="+mj-lt"/>
              <a:buAutoNum type="circleNumDbPlain"/>
            </a:pPr>
            <a:endParaRPr lang="en-US" altLang="ja-JP" sz="2000" dirty="0"/>
          </a:p>
          <a:p>
            <a:pPr marL="342900" indent="-342900">
              <a:buFont typeface="+mj-lt"/>
              <a:buAutoNum type="arabicPeriod"/>
            </a:pPr>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p:txBody>
      </p:sp>
      <p:sp>
        <p:nvSpPr>
          <p:cNvPr id="4" name="角丸四角形 3">
            <a:extLst>
              <a:ext uri="{FF2B5EF4-FFF2-40B4-BE49-F238E27FC236}">
                <a16:creationId xmlns:a16="http://schemas.microsoft.com/office/drawing/2014/main" id="{F5B04F6F-32BB-A725-1F73-46AFA648C122}"/>
              </a:ext>
            </a:extLst>
          </p:cNvPr>
          <p:cNvSpPr/>
          <p:nvPr/>
        </p:nvSpPr>
        <p:spPr>
          <a:xfrm>
            <a:off x="7002518" y="1303283"/>
            <a:ext cx="4351282" cy="16291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Noto Sans JP" panose="020B0200000000000000" pitchFamily="34" charset="-128"/>
                <a:ea typeface="Noto Sans JP" panose="020B0200000000000000" pitchFamily="34" charset="-128"/>
              </a:rPr>
              <a:t>本スライドの一部の図表や説明は、</a:t>
            </a:r>
            <a:br>
              <a:rPr kumimoji="1" lang="en-US" altLang="ja-JP" dirty="0">
                <a:solidFill>
                  <a:schemeClr val="tx1"/>
                </a:solidFill>
                <a:latin typeface="Noto Sans JP" panose="020B0200000000000000" pitchFamily="34" charset="-128"/>
                <a:ea typeface="Noto Sans JP" panose="020B0200000000000000" pitchFamily="34" charset="-128"/>
              </a:rPr>
            </a:br>
            <a:r>
              <a:rPr kumimoji="1" lang="ja-JP" altLang="en-US">
                <a:solidFill>
                  <a:schemeClr val="tx1"/>
                </a:solidFill>
                <a:latin typeface="Noto Sans JP" panose="020B0200000000000000" pitchFamily="34" charset="-128"/>
                <a:ea typeface="Noto Sans JP" panose="020B0200000000000000" pitchFamily="34" charset="-128"/>
              </a:rPr>
              <a:t>今後出版予定の拙著「機械学習による因果推論」で使用予定のものを、</a:t>
            </a:r>
            <a:br>
              <a:rPr lang="en-US" altLang="ja-JP" dirty="0">
                <a:solidFill>
                  <a:schemeClr val="tx1"/>
                </a:solidFill>
                <a:latin typeface="Noto Sans JP" panose="020B0200000000000000" pitchFamily="34" charset="-128"/>
                <a:ea typeface="Noto Sans JP" panose="020B0200000000000000" pitchFamily="34" charset="-128"/>
              </a:rPr>
            </a:br>
            <a:r>
              <a:rPr kumimoji="1" lang="ja-JP" altLang="en-US">
                <a:solidFill>
                  <a:schemeClr val="tx1"/>
                </a:solidFill>
                <a:latin typeface="Noto Sans JP" panose="020B0200000000000000" pitchFamily="34" charset="-128"/>
                <a:ea typeface="Noto Sans JP" panose="020B0200000000000000" pitchFamily="34" charset="-128"/>
              </a:rPr>
              <a:t>校正も兼ねて試験的に用いています</a:t>
            </a:r>
          </a:p>
        </p:txBody>
      </p:sp>
    </p:spTree>
    <p:extLst>
      <p:ext uri="{BB962C8B-B14F-4D97-AF65-F5344CB8AC3E}">
        <p14:creationId xmlns:p14="http://schemas.microsoft.com/office/powerpoint/2010/main" val="2519007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2A0565-ED61-B6E2-6FD2-3FD940FCF4A5}"/>
              </a:ext>
            </a:extLst>
          </p:cNvPr>
          <p:cNvSpPr>
            <a:spLocks noGrp="1"/>
          </p:cNvSpPr>
          <p:nvPr>
            <p:ph type="title"/>
          </p:nvPr>
        </p:nvSpPr>
        <p:spPr/>
        <p:txBody>
          <a:bodyPr/>
          <a:lstStyle/>
          <a:p>
            <a:r>
              <a:rPr kumimoji="1" lang="ja-JP" altLang="en-US"/>
              <a:t>本講義のポイント</a:t>
            </a:r>
          </a:p>
        </p:txBody>
      </p:sp>
      <p:sp>
        <p:nvSpPr>
          <p:cNvPr id="3" name="コンテンツ プレースホルダー 2">
            <a:extLst>
              <a:ext uri="{FF2B5EF4-FFF2-40B4-BE49-F238E27FC236}">
                <a16:creationId xmlns:a16="http://schemas.microsoft.com/office/drawing/2014/main" id="{1D6FFFC2-5AC3-4E50-C9CB-1C2CD045AA4D}"/>
              </a:ext>
            </a:extLst>
          </p:cNvPr>
          <p:cNvSpPr>
            <a:spLocks noGrp="1"/>
          </p:cNvSpPr>
          <p:nvPr>
            <p:ph idx="1"/>
          </p:nvPr>
        </p:nvSpPr>
        <p:spPr/>
        <p:txBody>
          <a:bodyPr/>
          <a:lstStyle/>
          <a:p>
            <a:r>
              <a:rPr kumimoji="1" lang="ja-JP" altLang="en-US"/>
              <a:t>前回までの復習</a:t>
            </a:r>
            <a:endParaRPr kumimoji="1" lang="en-US" altLang="ja-JP" dirty="0"/>
          </a:p>
          <a:p>
            <a:pPr lvl="1"/>
            <a:r>
              <a:rPr kumimoji="1" lang="ja-JP" altLang="en-US"/>
              <a:t>理論的に良い推定量を「漸近分散がもっとも小さい推定量」として定義する</a:t>
            </a:r>
            <a:endParaRPr kumimoji="1" lang="en-US" altLang="ja-JP" dirty="0"/>
          </a:p>
          <a:p>
            <a:pPr lvl="2"/>
            <a:r>
              <a:rPr lang="ja-JP" altLang="en-US"/>
              <a:t>そのような推定量は漸近効率な推定量と呼ばれる</a:t>
            </a:r>
            <a:endParaRPr lang="en-US" altLang="ja-JP" dirty="0"/>
          </a:p>
          <a:p>
            <a:pPr lvl="1"/>
            <a:r>
              <a:rPr kumimoji="1" lang="ja-JP" altLang="en-US"/>
              <a:t>推定量が効率スコアに対して正則かつ漸近線形であれば漸近効率</a:t>
            </a:r>
            <a:endParaRPr kumimoji="1" lang="en-US" altLang="ja-JP" dirty="0"/>
          </a:p>
          <a:p>
            <a:pPr lvl="1"/>
            <a:r>
              <a:rPr lang="ja-JP" altLang="en-US"/>
              <a:t>適当な条件を満たす</a:t>
            </a:r>
            <a:r>
              <a:rPr kumimoji="1" lang="ja-JP" altLang="en-US"/>
              <a:t>効率スコアはネイマン直交スコアと呼ばれる</a:t>
            </a:r>
            <a:endParaRPr kumimoji="1" lang="en-US" altLang="ja-JP" dirty="0"/>
          </a:p>
          <a:p>
            <a:pPr lvl="1"/>
            <a:r>
              <a:rPr kumimoji="1" lang="ja-JP" altLang="en-US"/>
              <a:t>平均処置効果の推定における逆確率重みづけ推定量はネイマン直交スコアから作られる</a:t>
            </a:r>
            <a:endParaRPr kumimoji="1" lang="en-US" altLang="ja-JP" dirty="0"/>
          </a:p>
          <a:p>
            <a:pPr marL="397800" lvl="1" indent="0">
              <a:buNone/>
            </a:pPr>
            <a:endParaRPr kumimoji="1" lang="en-US" altLang="ja-JP" dirty="0"/>
          </a:p>
          <a:p>
            <a:r>
              <a:rPr lang="ja-JP" altLang="en-US"/>
              <a:t>今回の内容</a:t>
            </a:r>
            <a:endParaRPr lang="en-US" altLang="ja-JP" dirty="0"/>
          </a:p>
          <a:p>
            <a:pPr lvl="1"/>
            <a:r>
              <a:rPr kumimoji="1" lang="ja-JP" altLang="en-US"/>
              <a:t>ネイマン直交スコアの利点</a:t>
            </a:r>
            <a:endParaRPr kumimoji="1" lang="en-US" altLang="ja-JP" dirty="0"/>
          </a:p>
          <a:p>
            <a:pPr lvl="1"/>
            <a:r>
              <a:rPr kumimoji="1" lang="ja-JP" altLang="en-US"/>
              <a:t>局外母数とは</a:t>
            </a:r>
            <a:endParaRPr kumimoji="1" lang="en-US" altLang="ja-JP" dirty="0"/>
          </a:p>
          <a:p>
            <a:pPr lvl="1"/>
            <a:r>
              <a:rPr lang="ja-JP" altLang="en-US"/>
              <a:t>局外母数の推定に伴うバイアスの問題</a:t>
            </a:r>
            <a:endParaRPr lang="en-US" altLang="ja-JP" dirty="0"/>
          </a:p>
          <a:p>
            <a:pPr lvl="1"/>
            <a:r>
              <a:rPr lang="en-US" altLang="ja-JP" dirty="0"/>
              <a:t>Donsker</a:t>
            </a:r>
            <a:r>
              <a:rPr lang="ja-JP" altLang="en-US"/>
              <a:t>条件と交差適合</a:t>
            </a:r>
            <a:endParaRPr lang="en-US" altLang="ja-JP" dirty="0"/>
          </a:p>
          <a:p>
            <a:pPr lvl="1"/>
            <a:r>
              <a:rPr kumimoji="1" lang="ja-JP" altLang="en-US"/>
              <a:t>共変量バランシングについて</a:t>
            </a:r>
            <a:endParaRPr kumimoji="1" lang="en-US" altLang="ja-JP" dirty="0"/>
          </a:p>
          <a:p>
            <a:pPr lvl="1"/>
            <a:r>
              <a:rPr lang="ja-JP" altLang="en-US"/>
              <a:t>標的最尤推定について</a:t>
            </a:r>
            <a:endParaRPr kumimoji="1" lang="en-US" altLang="ja-JP" dirty="0"/>
          </a:p>
          <a:p>
            <a:pPr lvl="1"/>
            <a:endParaRPr kumimoji="1" lang="en-US" altLang="ja-JP" dirty="0"/>
          </a:p>
          <a:p>
            <a:pPr lvl="1"/>
            <a:endParaRPr kumimoji="1" lang="ja-JP" altLang="en-US"/>
          </a:p>
        </p:txBody>
      </p:sp>
    </p:spTree>
    <p:extLst>
      <p:ext uri="{BB962C8B-B14F-4D97-AF65-F5344CB8AC3E}">
        <p14:creationId xmlns:p14="http://schemas.microsoft.com/office/powerpoint/2010/main" val="541011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2DE0B3-2A1A-F8BE-F1FE-503D0EAF9A7F}"/>
              </a:ext>
            </a:extLst>
          </p:cNvPr>
          <p:cNvSpPr>
            <a:spLocks noGrp="1"/>
          </p:cNvSpPr>
          <p:nvPr>
            <p:ph type="title"/>
          </p:nvPr>
        </p:nvSpPr>
        <p:spPr/>
        <p:txBody>
          <a:bodyPr/>
          <a:lstStyle/>
          <a:p>
            <a:r>
              <a:rPr kumimoji="1" lang="ja-JP" altLang="en-US"/>
              <a:t>復習</a:t>
            </a:r>
          </a:p>
        </p:txBody>
      </p:sp>
      <p:sp>
        <p:nvSpPr>
          <p:cNvPr id="3" name="テキスト プレースホルダー 2">
            <a:extLst>
              <a:ext uri="{FF2B5EF4-FFF2-40B4-BE49-F238E27FC236}">
                <a16:creationId xmlns:a16="http://schemas.microsoft.com/office/drawing/2014/main" id="{9874BF17-9942-D2DC-FC84-DE5071389154}"/>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394224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DF7D2C-1CA4-F4BE-327E-E657DC341A4F}"/>
              </a:ext>
            </a:extLst>
          </p:cNvPr>
          <p:cNvSpPr>
            <a:spLocks noGrp="1"/>
          </p:cNvSpPr>
          <p:nvPr>
            <p:ph type="title"/>
          </p:nvPr>
        </p:nvSpPr>
        <p:spPr/>
        <p:txBody>
          <a:bodyPr/>
          <a:lstStyle/>
          <a:p>
            <a:r>
              <a:rPr lang="ja-JP" altLang="en-US"/>
              <a:t>漸近効率下限と漸近効率な推定量</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1D0FF10-C396-227F-D50C-6D7A38CBF832}"/>
                  </a:ext>
                </a:extLst>
              </p:cNvPr>
              <p:cNvSpPr>
                <a:spLocks noGrp="1"/>
              </p:cNvSpPr>
              <p:nvPr>
                <p:ph idx="1"/>
              </p:nvPr>
            </p:nvSpPr>
            <p:spPr/>
            <p:txBody>
              <a:bodyPr>
                <a:normAutofit/>
              </a:bodyPr>
              <a:lstStyle/>
              <a:p>
                <a:pPr>
                  <a:spcAft>
                    <a:spcPts val="300"/>
                  </a:spcAft>
                </a:pPr>
                <a:r>
                  <a:rPr lang="ja-JP" altLang="en-US" sz="2000">
                    <a:latin typeface="Noto Sans JP" panose="020B0200000000000000" pitchFamily="34" charset="-128"/>
                    <a:ea typeface="Noto Sans JP" panose="020B0200000000000000" pitchFamily="34" charset="-128"/>
                  </a:rPr>
                  <a:t>因果パラメータの効率的な推定量の構築を目指す．</a:t>
                </a:r>
                <a:endParaRPr lang="en-US" altLang="ja-JP" sz="2000" dirty="0">
                  <a:latin typeface="Noto Sans JP" panose="020B0200000000000000" pitchFamily="34" charset="-128"/>
                  <a:ea typeface="Noto Sans JP" panose="020B0200000000000000" pitchFamily="34" charset="-128"/>
                </a:endParaRPr>
              </a:p>
              <a:p>
                <a:pPr lvl="1">
                  <a:spcAft>
                    <a:spcPts val="300"/>
                  </a:spcAft>
                </a:pPr>
                <a:r>
                  <a:rPr lang="ja-JP" altLang="en-US" sz="2000">
                    <a:latin typeface="Noto Sans JP" panose="020B0200000000000000" pitchFamily="34" charset="-128"/>
                    <a:ea typeface="Noto Sans JP" panose="020B0200000000000000" pitchFamily="34" charset="-128"/>
                  </a:rPr>
                  <a:t>漸近効率な推定量</a:t>
                </a:r>
                <a:br>
                  <a:rPr lang="en-US" altLang="ja-JP" sz="2000" dirty="0">
                    <a:latin typeface="Noto Sans JP" panose="020B0200000000000000" pitchFamily="34" charset="-128"/>
                    <a:ea typeface="Noto Sans JP" panose="020B0200000000000000" pitchFamily="34" charset="-128"/>
                  </a:rPr>
                </a:br>
                <a:r>
                  <a:rPr lang="en-US" altLang="ja-JP" sz="2000" dirty="0">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バイアスが漸近的に消失し，漸近分散が理論的最良値と一致する推定量．</a:t>
                </a:r>
                <a:endParaRPr lang="en-US" altLang="ja-JP" sz="2000" dirty="0">
                  <a:latin typeface="Noto Sans JP" panose="020B0200000000000000" pitchFamily="34" charset="-128"/>
                  <a:ea typeface="Noto Sans JP" panose="020B0200000000000000" pitchFamily="34" charset="-128"/>
                </a:endParaRPr>
              </a:p>
              <a:p>
                <a:pPr lvl="2">
                  <a:spcAft>
                    <a:spcPts val="300"/>
                  </a:spcAft>
                </a:pPr>
                <a:r>
                  <a:rPr lang="ja-JP" altLang="en-US" sz="2000">
                    <a:latin typeface="Noto Sans JP" panose="020B0200000000000000" pitchFamily="34" charset="-128"/>
                    <a:ea typeface="Noto Sans JP" panose="020B0200000000000000" pitchFamily="34" charset="-128"/>
                  </a:rPr>
                  <a:t>理論的最良値</a:t>
                </a:r>
                <a:r>
                  <a:rPr lang="en-US" altLang="ja-JP" sz="2000" dirty="0">
                    <a:latin typeface="Noto Sans JP" panose="020B0200000000000000" pitchFamily="34" charset="-128"/>
                    <a:ea typeface="Noto Sans JP" panose="020B0200000000000000" pitchFamily="34" charset="-128"/>
                  </a:rPr>
                  <a:t> = </a:t>
                </a:r>
                <a:r>
                  <a:rPr lang="ja-JP" altLang="en-US" sz="2000">
                    <a:latin typeface="Noto Sans JP" panose="020B0200000000000000" pitchFamily="34" charset="-128"/>
                    <a:ea typeface="Noto Sans JP" panose="020B0200000000000000" pitchFamily="34" charset="-128"/>
                  </a:rPr>
                  <a:t>漸近効率下限</a:t>
                </a:r>
                <a:endParaRPr lang="en-US" altLang="ja-JP" sz="2000" dirty="0">
                  <a:latin typeface="Noto Sans JP" panose="020B0200000000000000" pitchFamily="34" charset="-128"/>
                  <a:ea typeface="Noto Sans JP" panose="020B0200000000000000" pitchFamily="34" charset="-128"/>
                </a:endParaRPr>
              </a:p>
              <a:p>
                <a:pPr lvl="2">
                  <a:spcAft>
                    <a:spcPts val="300"/>
                  </a:spcAft>
                </a:pPr>
                <a:endParaRPr lang="en-US" altLang="ja-JP" sz="2000" dirty="0">
                  <a:latin typeface="Noto Sans JP" panose="020B0200000000000000" pitchFamily="34" charset="-128"/>
                  <a:ea typeface="Noto Sans JP" panose="020B0200000000000000" pitchFamily="34" charset="-128"/>
                </a:endParaRPr>
              </a:p>
              <a:p>
                <a:pPr>
                  <a:spcAft>
                    <a:spcPts val="300"/>
                  </a:spcAft>
                </a:pPr>
                <a:r>
                  <a:rPr lang="ja-JP" altLang="en-US" sz="2000">
                    <a:latin typeface="Noto Sans JP" panose="020B0200000000000000" pitchFamily="34" charset="-128"/>
                    <a:ea typeface="Noto Sans JP" panose="020B0200000000000000" pitchFamily="34" charset="-128"/>
                  </a:rPr>
                  <a:t>推定量が</a:t>
                </a:r>
                <a:r>
                  <a:rPr lang="ja-JP" altLang="en-US" sz="2000" u="sng">
                    <a:latin typeface="Noto Sans JP" panose="020B0200000000000000" pitchFamily="34" charset="-128"/>
                    <a:ea typeface="Noto Sans JP" panose="020B0200000000000000" pitchFamily="34" charset="-128"/>
                  </a:rPr>
                  <a:t>正則かつ漸近線形（</a:t>
                </a:r>
                <a:r>
                  <a:rPr lang="en-US" altLang="ja-JP" sz="2000" u="sng" dirty="0">
                    <a:latin typeface="Noto Sans JP" panose="020B0200000000000000" pitchFamily="34" charset="-128"/>
                    <a:ea typeface="Noto Sans JP" panose="020B0200000000000000" pitchFamily="34" charset="-128"/>
                  </a:rPr>
                  <a:t>Regular and Asymptotically Linear</a:t>
                </a:r>
                <a:r>
                  <a:rPr lang="ja-JP" altLang="en-US" sz="2000" u="sng">
                    <a:latin typeface="Noto Sans JP" panose="020B0200000000000000" pitchFamily="34" charset="-128"/>
                    <a:ea typeface="Noto Sans JP" panose="020B0200000000000000" pitchFamily="34" charset="-128"/>
                  </a:rPr>
                  <a:t>；</a:t>
                </a:r>
                <a:r>
                  <a:rPr lang="en-US" altLang="ja-JP" sz="2000" u="sng" dirty="0">
                    <a:latin typeface="Noto Sans JP" panose="020B0200000000000000" pitchFamily="34" charset="-128"/>
                    <a:ea typeface="Noto Sans JP" panose="020B0200000000000000" pitchFamily="34" charset="-128"/>
                  </a:rPr>
                  <a:t>RAL</a:t>
                </a:r>
                <a:r>
                  <a:rPr lang="ja-JP" altLang="en-US" sz="2000" u="sng">
                    <a:latin typeface="Noto Sans JP" panose="020B0200000000000000" pitchFamily="34" charset="-128"/>
                    <a:ea typeface="Noto Sans JP" panose="020B0200000000000000" pitchFamily="34" charset="-128"/>
                  </a:rPr>
                  <a:t>）</a:t>
                </a:r>
                <a:r>
                  <a:rPr lang="ja-JP" altLang="en-US" sz="2000">
                    <a:latin typeface="Noto Sans JP" panose="020B0200000000000000" pitchFamily="34" charset="-128"/>
                    <a:ea typeface="Noto Sans JP" panose="020B0200000000000000" pitchFamily="34" charset="-128"/>
                  </a:rPr>
                  <a:t>なら漸近効率</a:t>
                </a:r>
                <a:endParaRPr lang="en-US" altLang="ja-JP" sz="2000" dirty="0">
                  <a:latin typeface="Noto Sans JP" panose="020B0200000000000000" pitchFamily="34" charset="-128"/>
                  <a:ea typeface="Noto Sans JP" panose="020B0200000000000000" pitchFamily="34" charset="-128"/>
                </a:endParaRPr>
              </a:p>
              <a:p>
                <a:pPr marL="0" indent="0">
                  <a:spcAft>
                    <a:spcPts val="300"/>
                  </a:spcAft>
                  <a:buNone/>
                </a:pPr>
                <a14:m>
                  <m:oMathPara xmlns:m="http://schemas.openxmlformats.org/officeDocument/2006/math">
                    <m:oMathParaPr>
                      <m:jc m:val="centerGroup"/>
                    </m:oMathParaPr>
                    <m:oMath xmlns:m="http://schemas.openxmlformats.org/officeDocument/2006/math">
                      <m:rad>
                        <m:radPr>
                          <m:degHide m:val="on"/>
                          <m:ctrlPr>
                            <a:rPr lang="en-US" altLang="ja-JP" sz="2000" i="1">
                              <a:latin typeface="Cambria Math" panose="02040503050406030204" pitchFamily="18" charset="0"/>
                            </a:rPr>
                          </m:ctrlPr>
                        </m:radPr>
                        <m:deg/>
                        <m:e>
                          <m:r>
                            <a:rPr lang="en-US" altLang="ja-JP" sz="2000" i="1">
                              <a:latin typeface="Cambria Math" panose="02040503050406030204" pitchFamily="18" charset="0"/>
                            </a:rPr>
                            <m:t>𝑛</m:t>
                          </m:r>
                        </m:e>
                      </m:rad>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𝜃</m:t>
                              </m:r>
                            </m:e>
                          </m:acc>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𝜃</m:t>
                              </m:r>
                            </m:e>
                            <m:sub>
                              <m:r>
                                <a:rPr lang="en-US" altLang="ja-JP" sz="2000" i="1" dirty="0">
                                  <a:latin typeface="Cambria Math" panose="02040503050406030204" pitchFamily="18" charset="0"/>
                                </a:rPr>
                                <m:t>0</m:t>
                              </m:r>
                            </m:sub>
                          </m:sSub>
                        </m:e>
                      </m:d>
                      <m:r>
                        <a:rPr lang="en-US" altLang="ja-JP" sz="2000" i="1" dirty="0">
                          <a:latin typeface="Cambria Math" panose="02040503050406030204" pitchFamily="18" charset="0"/>
                        </a:rPr>
                        <m:t>≔</m:t>
                      </m:r>
                      <m:f>
                        <m:fPr>
                          <m:ctrlPr>
                            <a:rPr lang="en-US" altLang="ja-JP" sz="2000" i="1" dirty="0">
                              <a:latin typeface="Cambria Math" panose="02040503050406030204" pitchFamily="18" charset="0"/>
                            </a:rPr>
                          </m:ctrlPr>
                        </m:fPr>
                        <m:num>
                          <m:r>
                            <a:rPr lang="en-US" altLang="ja-JP" sz="2000" i="1" dirty="0">
                              <a:latin typeface="Cambria Math" panose="02040503050406030204" pitchFamily="18" charset="0"/>
                            </a:rPr>
                            <m:t>1</m:t>
                          </m:r>
                        </m:num>
                        <m:den>
                          <m:rad>
                            <m:radPr>
                              <m:degHide m:val="on"/>
                              <m:ctrlPr>
                                <a:rPr lang="en-US" altLang="ja-JP" sz="2000" i="1" dirty="0">
                                  <a:latin typeface="Cambria Math" panose="02040503050406030204" pitchFamily="18" charset="0"/>
                                </a:rPr>
                              </m:ctrlPr>
                            </m:radPr>
                            <m:deg/>
                            <m:e>
                              <m:r>
                                <a:rPr lang="en-US" altLang="ja-JP" sz="2000" i="1" dirty="0">
                                  <a:latin typeface="Cambria Math" panose="02040503050406030204" pitchFamily="18" charset="0"/>
                                </a:rPr>
                                <m:t>𝑛</m:t>
                              </m:r>
                            </m:e>
                          </m:rad>
                        </m:den>
                      </m:f>
                      <m:nary>
                        <m:naryPr>
                          <m:chr m:val="∑"/>
                          <m:ctrlPr>
                            <a:rPr lang="en-US" altLang="ja-JP" sz="2000" i="1" dirty="0">
                              <a:latin typeface="Cambria Math" panose="02040503050406030204" pitchFamily="18" charset="0"/>
                            </a:rPr>
                          </m:ctrlPr>
                        </m:naryPr>
                        <m:sub>
                          <m:r>
                            <a:rPr lang="en-US" altLang="ja-JP" sz="2000" i="1" dirty="0">
                              <a:latin typeface="Cambria Math" panose="02040503050406030204" pitchFamily="18" charset="0"/>
                            </a:rPr>
                            <m:t>𝑖</m:t>
                          </m:r>
                          <m:r>
                            <a:rPr lang="en-US" altLang="ja-JP" sz="2000" i="1" dirty="0">
                              <a:latin typeface="Cambria Math" panose="02040503050406030204" pitchFamily="18" charset="0"/>
                            </a:rPr>
                            <m:t>=1</m:t>
                          </m:r>
                        </m:sub>
                        <m:sup>
                          <m:r>
                            <a:rPr lang="en-US" altLang="ja-JP" sz="2000" i="1" dirty="0">
                              <a:latin typeface="Cambria Math" panose="02040503050406030204" pitchFamily="18" charset="0"/>
                            </a:rPr>
                            <m:t>𝑛</m:t>
                          </m:r>
                        </m:sup>
                        <m:e>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𝜓</m:t>
                              </m:r>
                            </m:e>
                            <m:sub>
                              <m:r>
                                <a:rPr lang="en-US" altLang="ja-JP" sz="2000" i="1" dirty="0">
                                  <a:latin typeface="Cambria Math" panose="02040503050406030204" pitchFamily="18" charset="0"/>
                                </a:rPr>
                                <m:t>0</m:t>
                              </m:r>
                            </m:sub>
                          </m:sSub>
                          <m:r>
                            <a:rPr lang="en-US" altLang="ja-JP" sz="2000" i="1" dirty="0">
                              <a:latin typeface="Cambria Math" panose="02040503050406030204" pitchFamily="18" charset="0"/>
                            </a:rPr>
                            <m:t> </m:t>
                          </m:r>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𝑊</m:t>
                                  </m:r>
                                </m:e>
                                <m:sub>
                                  <m:r>
                                    <a:rPr lang="en-US" altLang="ja-JP" sz="2000" i="1" dirty="0">
                                      <a:latin typeface="Cambria Math" panose="02040503050406030204" pitchFamily="18" charset="0"/>
                                    </a:rPr>
                                    <m:t>𝑖</m:t>
                                  </m:r>
                                </m:sub>
                              </m:sSub>
                            </m:e>
                          </m:d>
                        </m:e>
                      </m:nary>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𝑜</m:t>
                          </m:r>
                        </m:e>
                        <m:sub>
                          <m:r>
                            <a:rPr lang="en-US" altLang="ja-JP" sz="2000" i="1" dirty="0">
                              <a:latin typeface="Cambria Math" panose="02040503050406030204" pitchFamily="18" charset="0"/>
                            </a:rPr>
                            <m:t>𝑝</m:t>
                          </m:r>
                        </m:sub>
                      </m:sSub>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e>
                      </m:d>
                      <m:r>
                        <a:rPr lang="en-US" altLang="ja-JP" sz="2000" b="0" i="1" dirty="0" smtClean="0">
                          <a:latin typeface="Cambria Math" panose="02040503050406030204" pitchFamily="18" charset="0"/>
                        </a:rPr>
                        <m:t>     (</m:t>
                      </m:r>
                      <m:r>
                        <a:rPr lang="en-US" altLang="ja-JP" sz="2000" b="0" i="1" dirty="0" smtClean="0">
                          <a:latin typeface="Cambria Math" panose="02040503050406030204" pitchFamily="18" charset="0"/>
                        </a:rPr>
                        <m:t>𝑛</m:t>
                      </m:r>
                      <m:r>
                        <a:rPr lang="en-US" altLang="ja-JP" sz="2000" b="0" i="1" dirty="0" smtClean="0">
                          <a:latin typeface="Cambria Math" panose="02040503050406030204" pitchFamily="18" charset="0"/>
                        </a:rPr>
                        <m:t>→∞).</m:t>
                      </m:r>
                    </m:oMath>
                  </m:oMathPara>
                </a14:m>
                <a:endParaRPr lang="en-US" altLang="ja-JP" sz="2000" dirty="0">
                  <a:latin typeface="Noto Sans JP" panose="020B0200000000000000" pitchFamily="34" charset="-128"/>
                  <a:ea typeface="Noto Sans JP" panose="020B0200000000000000" pitchFamily="34" charset="-128"/>
                </a:endParaRPr>
              </a:p>
              <a:p>
                <a:pPr lvl="2">
                  <a:spcAft>
                    <a:spcPts val="300"/>
                  </a:spcAft>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𝑖</m:t>
                        </m:r>
                      </m:sub>
                    </m:sSub>
                  </m:oMath>
                </a14:m>
                <a:r>
                  <a:rPr lang="ja-JP" altLang="en-US" sz="2000" i="1">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は観測値</a:t>
                </a:r>
                <a:endParaRPr lang="en-US" altLang="ja-JP" sz="2000" dirty="0">
                  <a:latin typeface="Noto Sans JP" panose="020B0200000000000000" pitchFamily="34" charset="-128"/>
                  <a:ea typeface="Noto Sans JP" panose="020B0200000000000000" pitchFamily="34" charset="-128"/>
                </a:endParaRPr>
              </a:p>
              <a:p>
                <a:pPr lvl="1">
                  <a:spcAft>
                    <a:spcPts val="300"/>
                  </a:spcAft>
                </a:pP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𝜓</m:t>
                        </m:r>
                      </m:e>
                      <m:sub>
                        <m:r>
                          <a:rPr lang="en-US" altLang="ja-JP" sz="2000" i="1">
                            <a:latin typeface="Cambria Math" panose="02040503050406030204" pitchFamily="18" charset="0"/>
                          </a:rPr>
                          <m:t>0</m:t>
                        </m:r>
                      </m:sub>
                    </m:sSub>
                  </m:oMath>
                </a14:m>
                <a:r>
                  <a:rPr lang="en-US" altLang="ja-JP" sz="2000" dirty="0">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は</a:t>
                </a:r>
                <a:r>
                  <a:rPr lang="ja-JP" altLang="en-US" sz="2000" b="1">
                    <a:solidFill>
                      <a:srgbClr val="FF0000"/>
                    </a:solidFill>
                    <a:latin typeface="Noto Sans JP" panose="020B0200000000000000" pitchFamily="34" charset="-128"/>
                    <a:ea typeface="Noto Sans JP" panose="020B0200000000000000" pitchFamily="34" charset="-128"/>
                  </a:rPr>
                  <a:t>効率スコア関数</a:t>
                </a:r>
                <a:r>
                  <a:rPr lang="ja-JP" altLang="en-US" sz="2000">
                    <a:latin typeface="Noto Sans JP" panose="020B0200000000000000" pitchFamily="34" charset="-128"/>
                    <a:ea typeface="Noto Sans JP" panose="020B0200000000000000" pitchFamily="34" charset="-128"/>
                  </a:rPr>
                  <a:t>と呼ばれる</a:t>
                </a:r>
                <a:endParaRPr lang="en-US" altLang="ja-JP" sz="2000" dirty="0">
                  <a:latin typeface="Noto Sans JP" panose="020B0200000000000000" pitchFamily="34" charset="-128"/>
                  <a:ea typeface="Noto Sans JP" panose="020B0200000000000000" pitchFamily="34" charset="-128"/>
                </a:endParaRPr>
              </a:p>
              <a:p>
                <a:pPr>
                  <a:spcAft>
                    <a:spcPts val="300"/>
                  </a:spcAft>
                </a:pPr>
                <a:endParaRPr lang="en-US" altLang="ja-JP" sz="2000" dirty="0">
                  <a:latin typeface="Noto Sans JP" panose="020B0200000000000000" pitchFamily="34" charset="-128"/>
                  <a:ea typeface="Noto Sans JP" panose="020B0200000000000000" pitchFamily="34" charset="-128"/>
                </a:endParaRPr>
              </a:p>
              <a:p>
                <a:pPr>
                  <a:spcAft>
                    <a:spcPts val="300"/>
                  </a:spcAft>
                </a:pPr>
                <a:r>
                  <a:rPr lang="en-US" altLang="ja-JP" sz="2000" dirty="0">
                    <a:latin typeface="Noto Sans JP" panose="020B0200000000000000" pitchFamily="34" charset="-128"/>
                    <a:ea typeface="Noto Sans JP" panose="020B0200000000000000" pitchFamily="34" charset="-128"/>
                  </a:rPr>
                  <a:t>ATE</a:t>
                </a:r>
                <a:r>
                  <a:rPr lang="ja-JP" altLang="en-US" sz="2000">
                    <a:latin typeface="Noto Sans JP" panose="020B0200000000000000" pitchFamily="34" charset="-128"/>
                    <a:ea typeface="Noto Sans JP" panose="020B0200000000000000" pitchFamily="34" charset="-128"/>
                  </a:rPr>
                  <a:t>推定の場合</a:t>
                </a:r>
                <a:endParaRPr lang="en-US" altLang="ja-JP" sz="2000" b="0" i="1" dirty="0">
                  <a:latin typeface="Noto Sans JP" panose="020B0200000000000000" pitchFamily="34" charset="-128"/>
                  <a:ea typeface="Noto Sans JP" panose="020B0200000000000000" pitchFamily="34" charset="-128"/>
                </a:endParaRPr>
              </a:p>
              <a:p>
                <a:pPr marL="0" indent="0">
                  <a:spcAft>
                    <a:spcPts val="300"/>
                  </a:spcAft>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𝜓</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e>
                      </m:d>
                      <m:r>
                        <m:rPr>
                          <m:aln/>
                        </m:rPr>
                        <a:rPr lang="en-US" altLang="ja-JP" sz="2000" b="0" i="1" smtClean="0">
                          <a:latin typeface="Cambria Math" panose="02040503050406030204" pitchFamily="18" charset="0"/>
                        </a:rPr>
                        <m:t>=</m:t>
                      </m:r>
                      <m:r>
                        <a:rPr lang="en-US" altLang="ja-JP" sz="2000" i="1">
                          <a:latin typeface="Cambria Math" panose="02040503050406030204" pitchFamily="18" charset="0"/>
                        </a:rPr>
                        <m:t>𝜓</m:t>
                      </m:r>
                      <m:d>
                        <m:dPr>
                          <m:ctrlPr>
                            <a:rPr lang="en-US" altLang="ja-JP" sz="200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𝑓</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m:t>
                              </m:r>
                            </m:e>
                            <m:sub>
                              <m:r>
                                <a:rPr lang="en-US" altLang="ja-JP" sz="2000" i="1">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𝜃</m:t>
                              </m:r>
                            </m:e>
                            <m:sub>
                              <m:r>
                                <a:rPr lang="en-US" altLang="ja-JP" sz="2000" b="0" i="1" smtClean="0">
                                  <a:latin typeface="Cambria Math" panose="02040503050406030204" pitchFamily="18" charset="0"/>
                                </a:rPr>
                                <m:t>0</m:t>
                              </m:r>
                            </m:sub>
                          </m:sSub>
                        </m:e>
                      </m:d>
                    </m:oMath>
                    <m:oMath xmlns:m="http://schemas.openxmlformats.org/officeDocument/2006/math">
                      <m:r>
                        <m:rPr>
                          <m:aln/>
                        </m:rP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f>
                            <m:fPr>
                              <m:ctrlPr>
                                <a:rPr lang="en-US" altLang="ja-JP" sz="2000" i="1">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den>
                          </m:f>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b="0" i="1" smtClean="0">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num>
                            <m:den>
                              <m:sSub>
                                <m:sSubPr>
                                  <m:ctrlPr>
                                    <a:rPr lang="en-US" altLang="ja-JP" sz="2000" i="1">
                                      <a:latin typeface="Cambria Math" panose="02040503050406030204" pitchFamily="18" charset="0"/>
                                    </a:rPr>
                                  </m:ctrlPr>
                                </m:sSubPr>
                                <m:e>
                                  <m:r>
                                    <a:rPr lang="en-US" altLang="ja-JP" sz="2000" b="0" i="1" smtClean="0">
                                      <a:latin typeface="Cambria Math" panose="02040503050406030204" pitchFamily="18" charset="0"/>
                                    </a:rPr>
                                    <m:t>1−</m:t>
                                  </m:r>
                                  <m:r>
                                    <a:rPr lang="en-US" altLang="ja-JP" sz="2000" i="1">
                                      <a:latin typeface="Cambria Math" panose="02040503050406030204" pitchFamily="18" charset="0"/>
                                    </a:rPr>
                                    <m:t>𝑒</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den>
                          </m:f>
                        </m:e>
                      </m:d>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𝑓</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𝑓</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𝑓</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0,</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Sub>
                    </m:oMath>
                  </m:oMathPara>
                </a14:m>
                <a:br>
                  <a:rPr lang="en-US" altLang="ja-JP" sz="2000" b="0" i="1" dirty="0">
                    <a:latin typeface="Noto Sans JP" panose="020B0200000000000000" pitchFamily="34" charset="-128"/>
                    <a:ea typeface="Noto Sans JP" panose="020B0200000000000000" pitchFamily="34" charset="-128"/>
                  </a:rPr>
                </a:br>
                <a:endParaRPr lang="en-US" altLang="ja-JP" sz="2000" dirty="0">
                  <a:latin typeface="Noto Sans JP" panose="020B0200000000000000" pitchFamily="34" charset="-128"/>
                  <a:ea typeface="Noto Sans JP" panose="020B0200000000000000" pitchFamily="34" charset="-128"/>
                </a:endParaRPr>
              </a:p>
            </p:txBody>
          </p:sp>
        </mc:Choice>
        <mc:Fallback xmlns="">
          <p:sp>
            <p:nvSpPr>
              <p:cNvPr id="3" name="コンテンツ プレースホルダー 2">
                <a:extLst>
                  <a:ext uri="{FF2B5EF4-FFF2-40B4-BE49-F238E27FC236}">
                    <a16:creationId xmlns:a16="http://schemas.microsoft.com/office/drawing/2014/main" id="{E1D0FF10-C396-227F-D50C-6D7A38CBF832}"/>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2E1F013B-F67C-5650-52BE-74503CE08EA3}"/>
              </a:ext>
            </a:extLst>
          </p:cNvPr>
          <p:cNvSpPr/>
          <p:nvPr/>
        </p:nvSpPr>
        <p:spPr>
          <a:xfrm>
            <a:off x="3312261" y="3224195"/>
            <a:ext cx="5567478" cy="845999"/>
          </a:xfrm>
          <a:prstGeom prst="rect">
            <a:avLst/>
          </a:prstGeom>
          <a:solidFill>
            <a:srgbClr val="FFD012">
              <a:alpha val="1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27592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13505-FD6D-6746-F0AC-671720E3D3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ECAAD5-66F1-2E8A-001B-E1DFF4D659B4}"/>
              </a:ext>
            </a:extLst>
          </p:cNvPr>
          <p:cNvSpPr>
            <a:spLocks noGrp="1"/>
          </p:cNvSpPr>
          <p:nvPr>
            <p:ph type="title"/>
          </p:nvPr>
        </p:nvSpPr>
        <p:spPr/>
        <p:txBody>
          <a:bodyPr/>
          <a:lstStyle/>
          <a:p>
            <a:r>
              <a:rPr lang="en-US" altLang="ja-JP" dirty="0"/>
              <a:t>AIPW</a:t>
            </a:r>
            <a:r>
              <a:rPr lang="ja-JP" altLang="en-US"/>
              <a:t>推定量</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D079A99-DED6-3D10-92CC-CD2FE72C784D}"/>
                  </a:ext>
                </a:extLst>
              </p:cNvPr>
              <p:cNvSpPr>
                <a:spLocks noGrp="1"/>
              </p:cNvSpPr>
              <p:nvPr>
                <p:ph idx="1"/>
              </p:nvPr>
            </p:nvSpPr>
            <p:spPr/>
            <p:txBody>
              <a:bodyPr>
                <a:normAutofit/>
              </a:bodyPr>
              <a:lstStyle/>
              <a:p>
                <a:pPr>
                  <a:spcAft>
                    <a:spcPts val="300"/>
                  </a:spcAft>
                </a:pPr>
                <a:r>
                  <a:rPr lang="ja-JP" altLang="en-US">
                    <a:latin typeface="Noto Sans JP" panose="020B0200000000000000" pitchFamily="34" charset="-128"/>
                    <a:ea typeface="Noto Sans JP" panose="020B0200000000000000" pitchFamily="34" charset="-128"/>
                  </a:rPr>
                  <a:t>拡張逆確率重み付け（</a:t>
                </a:r>
                <a:r>
                  <a:rPr lang="en-US" altLang="ja-JP" dirty="0">
                    <a:latin typeface="Noto Sans JP" panose="020B0200000000000000" pitchFamily="34" charset="-128"/>
                    <a:ea typeface="Noto Sans JP" panose="020B0200000000000000" pitchFamily="34" charset="-128"/>
                  </a:rPr>
                  <a:t>AIPW</a:t>
                </a:r>
                <a:r>
                  <a:rPr lang="ja-JP" altLang="en-US">
                    <a:latin typeface="Noto Sans JP" panose="020B0200000000000000" pitchFamily="34" charset="-128"/>
                    <a:ea typeface="Noto Sans JP" panose="020B0200000000000000" pitchFamily="34" charset="-128"/>
                  </a:rPr>
                  <a:t>）推定量：</a:t>
                </a:r>
                <a:endParaRPr lang="en-US" altLang="ja-JP" dirty="0">
                  <a:latin typeface="Noto Sans JP" panose="020B0200000000000000" pitchFamily="34" charset="-128"/>
                  <a:ea typeface="Noto Sans JP" panose="020B0200000000000000" pitchFamily="34" charset="-128"/>
                </a:endParaRPr>
              </a:p>
              <a:p>
                <a:pPr marL="0" indent="0">
                  <a:spcAft>
                    <a:spcPts val="300"/>
                  </a:spcAft>
                  <a:buNone/>
                </a:pPr>
                <a:br>
                  <a:rPr lang="en-US" altLang="ja-JP" sz="800" b="0" i="1" dirty="0">
                    <a:latin typeface="Noto Sans JP" panose="020B0200000000000000" pitchFamily="34" charset="-128"/>
                    <a:ea typeface="Noto Sans JP" panose="020B0200000000000000" pitchFamily="34" charset="-128"/>
                  </a:rPr>
                </a:b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ea typeface="Noto Sans JP" panose="020B0200000000000000" pitchFamily="34" charset="-128"/>
                            </a:rPr>
                          </m:ctrlPr>
                        </m:sSubSupPr>
                        <m:e>
                          <m:acc>
                            <m:accPr>
                              <m:chr m:val="̂"/>
                              <m:ctrlPr>
                                <a:rPr lang="en-US" altLang="ja-JP" b="0" i="1" smtClean="0">
                                  <a:latin typeface="Cambria Math" panose="02040503050406030204" pitchFamily="18" charset="0"/>
                                  <a:ea typeface="Noto Sans JP" panose="020B0200000000000000" pitchFamily="34" charset="-128"/>
                                </a:rPr>
                              </m:ctrlPr>
                            </m:accPr>
                            <m:e>
                              <m:r>
                                <a:rPr lang="en-US" altLang="ja-JP" b="0" i="1" smtClean="0">
                                  <a:latin typeface="Cambria Math" panose="02040503050406030204" pitchFamily="18" charset="0"/>
                                  <a:ea typeface="Noto Sans JP" panose="020B0200000000000000" pitchFamily="34" charset="-128"/>
                                </a:rPr>
                                <m:t>𝜃</m:t>
                              </m:r>
                            </m:e>
                          </m:acc>
                        </m:e>
                        <m:sub>
                          <m:r>
                            <a:rPr lang="en-US" altLang="ja-JP" b="0" i="1" smtClean="0">
                              <a:latin typeface="Cambria Math" panose="02040503050406030204" pitchFamily="18" charset="0"/>
                              <a:ea typeface="Noto Sans JP" panose="020B0200000000000000" pitchFamily="34" charset="-128"/>
                            </a:rPr>
                            <m:t>𝑛</m:t>
                          </m:r>
                        </m:sub>
                        <m:sup>
                          <m:r>
                            <m:rPr>
                              <m:sty m:val="p"/>
                            </m:rPr>
                            <a:rPr lang="en-US" altLang="ja-JP" b="0" i="0" smtClean="0">
                              <a:latin typeface="Cambria Math" panose="02040503050406030204" pitchFamily="18" charset="0"/>
                              <a:ea typeface="Noto Sans JP" panose="020B0200000000000000" pitchFamily="34" charset="-128"/>
                            </a:rPr>
                            <m:t>AIPW</m:t>
                          </m:r>
                        </m:sup>
                      </m:sSubSup>
                      <m:r>
                        <m:rPr>
                          <m:aln/>
                        </m:rPr>
                        <a:rPr lang="en-US" altLang="ja-JP" b="0" i="1" smtClean="0">
                          <a:latin typeface="Cambria Math" panose="02040503050406030204" pitchFamily="18" charset="0"/>
                        </a:rPr>
                        <m:t>=</m:t>
                      </m:r>
                      <m:d>
                        <m:dPr>
                          <m:ctrlPr>
                            <a:rPr lang="en-US" altLang="ja-JP" b="0" i="1" smtClean="0">
                              <a:latin typeface="Cambria Math" panose="02040503050406030204" pitchFamily="18" charset="0"/>
                            </a:rPr>
                          </m:ctrlPr>
                        </m:dPr>
                        <m:e>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num>
                            <m:den>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𝑒</m:t>
                                  </m:r>
                                </m:e>
                              </m:acc>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den>
                          </m:f>
                          <m:r>
                            <a:rPr lang="en-US" altLang="ja-JP" b="0" i="1" smtClean="0">
                              <a:latin typeface="Cambria Math" panose="02040503050406030204" pitchFamily="18" charset="0"/>
                            </a:rPr>
                            <m:t>+</m:t>
                          </m:r>
                          <m:f>
                            <m:fPr>
                              <m:ctrlPr>
                                <a:rPr lang="en-US" altLang="ja-JP" i="1">
                                  <a:latin typeface="Cambria Math" panose="02040503050406030204" pitchFamily="18" charset="0"/>
                                </a:rPr>
                              </m:ctrlPr>
                            </m:fPr>
                            <m:num>
                              <m:r>
                                <a:rPr lang="en-US" altLang="ja-JP" b="0" i="1" smtClean="0">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num>
                            <m:den>
                              <m:r>
                                <a:rPr lang="en-US" altLang="ja-JP" b="0" i="1" smtClean="0">
                                  <a:latin typeface="Cambria Math" panose="02040503050406030204" pitchFamily="18" charset="0"/>
                                </a:rPr>
                                <m:t>1−</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𝑒</m:t>
                                  </m:r>
                                </m:e>
                              </m:acc>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den>
                          </m:f>
                        </m:e>
                      </m:d>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𝑌</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𝐷</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e>
                          </m:d>
                        </m:e>
                      </m:d>
                      <m:r>
                        <a:rPr lang="en-US" altLang="ja-JP" b="0" i="1" smtClean="0">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r>
                        <a:rPr lang="en-US" altLang="ja-JP" b="0" i="1" smtClean="0">
                          <a:latin typeface="Cambria Math" panose="02040503050406030204" pitchFamily="18" charset="0"/>
                        </a:rPr>
                        <m:t>(0,</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m:t>
                      </m:r>
                    </m:oMath>
                  </m:oMathPara>
                </a14:m>
                <a:br>
                  <a:rPr lang="en-US" altLang="ja-JP" b="0" i="1" dirty="0">
                    <a:latin typeface="Noto Sans JP" panose="020B0200000000000000" pitchFamily="34" charset="-128"/>
                    <a:ea typeface="Noto Sans JP" panose="020B0200000000000000" pitchFamily="34" charset="-128"/>
                  </a:rPr>
                </a:br>
                <a:endParaRPr lang="en-US" altLang="ja-JP" b="0" i="1" dirty="0">
                  <a:latin typeface="Noto Sans JP" panose="020B0200000000000000" pitchFamily="34" charset="-128"/>
                  <a:ea typeface="Noto Sans JP" panose="020B0200000000000000" pitchFamily="34" charset="-128"/>
                </a:endParaRPr>
              </a:p>
              <a:p>
                <a:pPr marL="0" indent="0">
                  <a:spcAft>
                    <a:spcPts val="300"/>
                  </a:spcAft>
                  <a:buNone/>
                </a:pPr>
                <a:endParaRPr lang="en-US" altLang="ja-JP" sz="800" i="1" dirty="0">
                  <a:latin typeface="Noto Sans JP" panose="020B0200000000000000" pitchFamily="34" charset="-128"/>
                  <a:ea typeface="Noto Sans JP" panose="020B0200000000000000" pitchFamily="34" charset="-128"/>
                </a:endParaRPr>
              </a:p>
              <a:p>
                <a:pPr lvl="1">
                  <a:spcAft>
                    <a:spcPts val="300"/>
                  </a:spcAft>
                </a:pPr>
                <a14:m>
                  <m:oMath xmlns:m="http://schemas.openxmlformats.org/officeDocument/2006/math">
                    <m:acc>
                      <m:accPr>
                        <m:chr m:val="̂"/>
                        <m:ctrlPr>
                          <a:rPr lang="en-US" altLang="ja-JP" b="0" i="1" smtClean="0">
                            <a:latin typeface="Cambria Math" panose="02040503050406030204" pitchFamily="18" charset="0"/>
                            <a:ea typeface="Noto Sans JP" panose="020B0200000000000000" pitchFamily="34" charset="-128"/>
                          </a:rPr>
                        </m:ctrlPr>
                      </m:accPr>
                      <m:e>
                        <m:r>
                          <a:rPr lang="en-US" altLang="ja-JP" b="0" i="1" smtClean="0">
                            <a:latin typeface="Cambria Math" panose="02040503050406030204" pitchFamily="18" charset="0"/>
                            <a:ea typeface="Noto Sans JP" panose="020B0200000000000000" pitchFamily="34" charset="-128"/>
                          </a:rPr>
                          <m:t>𝑓</m:t>
                        </m:r>
                      </m:e>
                    </m:acc>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と</a:t>
                </a:r>
                <a:r>
                  <a:rPr lang="en-US" altLang="ja-JP" dirty="0">
                    <a:latin typeface="Noto Sans JP" panose="020B0200000000000000" pitchFamily="34" charset="-128"/>
                    <a:ea typeface="Noto Sans JP" panose="020B0200000000000000" pitchFamily="34" charset="-128"/>
                  </a:rPr>
                  <a:t> </a:t>
                </a:r>
                <a14:m>
                  <m:oMath xmlns:m="http://schemas.openxmlformats.org/officeDocument/2006/math">
                    <m:acc>
                      <m:accPr>
                        <m:chr m:val="̂"/>
                        <m:ctrlPr>
                          <a:rPr lang="en-US" altLang="ja-JP" b="0" i="1" smtClean="0">
                            <a:latin typeface="Cambria Math" panose="02040503050406030204" pitchFamily="18" charset="0"/>
                            <a:ea typeface="Noto Sans JP" panose="020B0200000000000000" pitchFamily="34" charset="-128"/>
                          </a:rPr>
                        </m:ctrlPr>
                      </m:accPr>
                      <m:e>
                        <m:r>
                          <a:rPr lang="en-US" altLang="ja-JP" b="0" i="1" smtClean="0">
                            <a:latin typeface="Cambria Math" panose="02040503050406030204" pitchFamily="18" charset="0"/>
                            <a:ea typeface="Noto Sans JP" panose="020B0200000000000000" pitchFamily="34" charset="-128"/>
                          </a:rPr>
                          <m:t>𝑒</m:t>
                        </m:r>
                      </m:e>
                    </m:acc>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は</a:t>
                </a:r>
                <a:r>
                  <a:rPr lang="en-US" altLang="ja-JP" dirty="0">
                    <a:latin typeface="Noto Sans JP" panose="020B0200000000000000" pitchFamily="34" charset="-128"/>
                    <a:ea typeface="Noto Sans JP" panose="020B0200000000000000" pitchFamily="34" charset="-128"/>
                  </a:rPr>
                  <a:t> </a:t>
                </a:r>
                <a14:m>
                  <m:oMath xmlns:m="http://schemas.openxmlformats.org/officeDocument/2006/math">
                    <m:sSub>
                      <m:sSubPr>
                        <m:ctrlPr>
                          <a:rPr lang="en-US" altLang="ja-JP" b="0" i="1" smtClean="0">
                            <a:latin typeface="Cambria Math" panose="02040503050406030204" pitchFamily="18" charset="0"/>
                            <a:ea typeface="Noto Sans JP" panose="020B0200000000000000" pitchFamily="34" charset="-128"/>
                          </a:rPr>
                        </m:ctrlPr>
                      </m:sSubPr>
                      <m:e>
                        <m:r>
                          <a:rPr lang="en-US" altLang="ja-JP" b="0" i="1" smtClean="0">
                            <a:latin typeface="Cambria Math" panose="02040503050406030204" pitchFamily="18" charset="0"/>
                            <a:ea typeface="Noto Sans JP" panose="020B0200000000000000" pitchFamily="34" charset="-128"/>
                          </a:rPr>
                          <m:t>𝑓</m:t>
                        </m:r>
                      </m:e>
                      <m:sub>
                        <m:r>
                          <a:rPr lang="en-US" altLang="ja-JP" b="0" i="1" smtClean="0">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と </a:t>
                </a:r>
                <a14:m>
                  <m:oMath xmlns:m="http://schemas.openxmlformats.org/officeDocument/2006/math">
                    <m:sSub>
                      <m:sSubPr>
                        <m:ctrlPr>
                          <a:rPr lang="en-US" altLang="ja-JP" b="0" i="1" smtClean="0">
                            <a:latin typeface="Cambria Math" panose="02040503050406030204" pitchFamily="18" charset="0"/>
                            <a:ea typeface="Noto Sans JP" panose="020B0200000000000000" pitchFamily="34" charset="-128"/>
                          </a:rPr>
                        </m:ctrlPr>
                      </m:sSubPr>
                      <m:e>
                        <m:r>
                          <a:rPr lang="en-US" altLang="ja-JP" b="0" i="1" smtClean="0">
                            <a:latin typeface="Cambria Math" panose="02040503050406030204" pitchFamily="18" charset="0"/>
                            <a:ea typeface="Noto Sans JP" panose="020B0200000000000000" pitchFamily="34" charset="-128"/>
                          </a:rPr>
                          <m:t>𝑒</m:t>
                        </m:r>
                      </m:e>
                      <m:sub>
                        <m:r>
                          <a:rPr lang="en-US" altLang="ja-JP" b="0" i="1" smtClean="0">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dirty="0">
                    <a:latin typeface="Noto Sans JP" panose="020B0200000000000000" pitchFamily="34" charset="-128"/>
                    <a:ea typeface="Noto Sans JP" panose="020B0200000000000000" pitchFamily="34" charset="-128"/>
                  </a:rPr>
                  <a:t>の</a:t>
                </a:r>
                <a:r>
                  <a:rPr lang="ja-JP" altLang="en-US">
                    <a:latin typeface="Noto Sans JP" panose="020B0200000000000000" pitchFamily="34" charset="-128"/>
                    <a:ea typeface="Noto Sans JP" panose="020B0200000000000000" pitchFamily="34" charset="-128"/>
                  </a:rPr>
                  <a:t>推定量</a:t>
                </a:r>
                <a:endParaRPr lang="en-US" altLang="ja-JP" dirty="0">
                  <a:latin typeface="Noto Sans JP" panose="020B0200000000000000" pitchFamily="34" charset="-128"/>
                  <a:ea typeface="Noto Sans JP" panose="020B0200000000000000" pitchFamily="34" charset="-128"/>
                </a:endParaRPr>
              </a:p>
              <a:p>
                <a:pPr lvl="1">
                  <a:spcAft>
                    <a:spcPts val="300"/>
                  </a:spcAft>
                </a:pPr>
                <a:r>
                  <a:rPr lang="ja-JP" altLang="en-US">
                    <a:latin typeface="Noto Sans JP" panose="020B0200000000000000" pitchFamily="34" charset="-128"/>
                    <a:ea typeface="Noto Sans JP" panose="020B0200000000000000" pitchFamily="34" charset="-128"/>
                  </a:rPr>
                  <a:t>適当な条件のもとで効率スコア関数に対して</a:t>
                </a:r>
                <a:r>
                  <a:rPr lang="en-US" altLang="ja-JP" dirty="0">
                    <a:latin typeface="Noto Sans JP" panose="020B0200000000000000" pitchFamily="34" charset="-128"/>
                    <a:ea typeface="Noto Sans JP" panose="020B0200000000000000" pitchFamily="34" charset="-128"/>
                  </a:rPr>
                  <a:t>RAL</a:t>
                </a:r>
                <a:r>
                  <a:rPr lang="ja-JP" altLang="en-US">
                    <a:latin typeface="Noto Sans JP" panose="020B0200000000000000" pitchFamily="34" charset="-128"/>
                    <a:ea typeface="Noto Sans JP" panose="020B0200000000000000" pitchFamily="34" charset="-128"/>
                  </a:rPr>
                  <a:t>推定量になる</a:t>
                </a:r>
                <a:endParaRPr lang="en-US" altLang="ja-JP" dirty="0">
                  <a:latin typeface="Noto Sans JP" panose="020B0200000000000000" pitchFamily="34" charset="-128"/>
                  <a:ea typeface="Noto Sans JP" panose="020B0200000000000000" pitchFamily="34" charset="-128"/>
                </a:endParaRPr>
              </a:p>
            </p:txBody>
          </p:sp>
        </mc:Choice>
        <mc:Fallback xmlns="">
          <p:sp>
            <p:nvSpPr>
              <p:cNvPr id="3" name="コンテンツ プレースホルダー 2">
                <a:extLst>
                  <a:ext uri="{FF2B5EF4-FFF2-40B4-BE49-F238E27FC236}">
                    <a16:creationId xmlns:a16="http://schemas.microsoft.com/office/drawing/2014/main" id="{ED079A99-DED6-3D10-92CC-CD2FE72C784D}"/>
                  </a:ext>
                </a:extLst>
              </p:cNvPr>
              <p:cNvSpPr>
                <a:spLocks noGrp="1" noRot="1" noChangeAspect="1" noMove="1" noResize="1" noEditPoints="1" noAdjustHandles="1" noChangeArrowheads="1" noChangeShapeType="1" noTextEdit="1"/>
              </p:cNvSpPr>
              <p:nvPr>
                <p:ph idx="1"/>
              </p:nvPr>
            </p:nvSpPr>
            <p:spPr>
              <a:blipFill>
                <a:blip r:embed="rId2"/>
                <a:stretch>
                  <a:fillRect l="-483" t="-473"/>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5EB706E9-6920-17A9-C2B0-35C865E5702F}"/>
              </a:ext>
            </a:extLst>
          </p:cNvPr>
          <p:cNvSpPr/>
          <p:nvPr/>
        </p:nvSpPr>
        <p:spPr>
          <a:xfrm>
            <a:off x="2437238" y="1521862"/>
            <a:ext cx="7317524" cy="730684"/>
          </a:xfrm>
          <a:prstGeom prst="rect">
            <a:avLst/>
          </a:prstGeom>
          <a:solidFill>
            <a:srgbClr val="FFD012">
              <a:alpha val="1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65917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4E83-4E51-81D2-1E89-FEDBE77935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D1F368-78AC-DD46-E582-BE581DF2B8A5}"/>
              </a:ext>
            </a:extLst>
          </p:cNvPr>
          <p:cNvSpPr>
            <a:spLocks noGrp="1"/>
          </p:cNvSpPr>
          <p:nvPr>
            <p:ph type="title"/>
          </p:nvPr>
        </p:nvSpPr>
        <p:spPr/>
        <p:txBody>
          <a:bodyPr/>
          <a:lstStyle/>
          <a:p>
            <a:r>
              <a:rPr kumimoji="1" lang="ja-JP" altLang="en-US"/>
              <a:t>ネイマン直交性</a:t>
            </a:r>
          </a:p>
        </p:txBody>
      </p:sp>
      <p:sp>
        <p:nvSpPr>
          <p:cNvPr id="3" name="テキスト プレースホルダー 2">
            <a:extLst>
              <a:ext uri="{FF2B5EF4-FFF2-40B4-BE49-F238E27FC236}">
                <a16:creationId xmlns:a16="http://schemas.microsoft.com/office/drawing/2014/main" id="{E1046C52-A2BD-ECE8-86F1-28AF587ED279}"/>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72313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180F-D04A-0842-5DAE-E376D34F8B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1C0024-CB63-DE71-656A-ED4F8A78DCBF}"/>
              </a:ext>
            </a:extLst>
          </p:cNvPr>
          <p:cNvSpPr>
            <a:spLocks noGrp="1"/>
          </p:cNvSpPr>
          <p:nvPr>
            <p:ph type="title"/>
          </p:nvPr>
        </p:nvSpPr>
        <p:spPr/>
        <p:txBody>
          <a:bodyPr/>
          <a:lstStyle/>
          <a:p>
            <a:r>
              <a:rPr lang="ja-JP" altLang="en-US"/>
              <a:t>推定方程式アプローチ</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1C59225-709C-F09E-266F-5E2BD9C8169B}"/>
                  </a:ext>
                </a:extLst>
              </p:cNvPr>
              <p:cNvSpPr>
                <a:spLocks noGrp="1"/>
              </p:cNvSpPr>
              <p:nvPr>
                <p:ph idx="1"/>
              </p:nvPr>
            </p:nvSpPr>
            <p:spPr/>
            <p:txBody>
              <a:bodyPr>
                <a:normAutofit lnSpcReduction="10000"/>
              </a:bodyPr>
              <a:lstStyle/>
              <a:p>
                <a:r>
                  <a:rPr lang="ja-JP" altLang="en-US">
                    <a:latin typeface="Cambria Math" panose="02040503050406030204" pitchFamily="18" charset="0"/>
                  </a:rPr>
                  <a:t>漸近効率な推定量は以下の形式になる（</a:t>
                </a:r>
                <a:r>
                  <a:rPr lang="en-US" altLang="ja-JP" dirty="0">
                    <a:latin typeface="Cambria Math" panose="02040503050406030204" pitchFamily="18" charset="0"/>
                  </a:rPr>
                  <a:t>RAL</a:t>
                </a:r>
                <a:r>
                  <a:rPr lang="ja-JP" altLang="en-US">
                    <a:latin typeface="Cambria Math" panose="02040503050406030204" pitchFamily="18" charset="0"/>
                  </a:rPr>
                  <a:t>推定量）：</a:t>
                </a:r>
                <a:endParaRPr lang="en-US" altLang="ja-JP"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ad>
                        <m:radPr>
                          <m:degHide m:val="on"/>
                          <m:ctrlPr>
                            <a:rPr lang="en-US" altLang="ja-JP" i="1">
                              <a:latin typeface="Cambria Math" panose="02040503050406030204" pitchFamily="18" charset="0"/>
                            </a:rPr>
                          </m:ctrlPr>
                        </m:radPr>
                        <m:deg/>
                        <m:e>
                          <m:r>
                            <a:rPr lang="en-US" altLang="ja-JP" i="1" smtClean="0">
                              <a:latin typeface="Cambria Math" panose="02040503050406030204" pitchFamily="18" charset="0"/>
                            </a:rPr>
                            <m:t>𝑛</m:t>
                          </m:r>
                        </m:e>
                      </m:rad>
                      <m:d>
                        <m:dPr>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smtClean="0">
                                  <a:latin typeface="Cambria Math" panose="02040503050406030204" pitchFamily="18" charset="0"/>
                                </a:rPr>
                                <m:t>𝜃</m:t>
                              </m:r>
                            </m:e>
                          </m:acc>
                          <m:r>
                            <a:rPr lang="en-US" altLang="ja-JP" i="1" dirty="0" smtClean="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smtClean="0">
                                  <a:latin typeface="Cambria Math" panose="02040503050406030204" pitchFamily="18" charset="0"/>
                                </a:rPr>
                                <m:t>𝜃</m:t>
                              </m:r>
                            </m:e>
                            <m:sub>
                              <m:r>
                                <a:rPr lang="en-US" altLang="ja-JP" i="1" dirty="0" smtClean="0">
                                  <a:latin typeface="Cambria Math" panose="02040503050406030204" pitchFamily="18" charset="0"/>
                                </a:rPr>
                                <m:t>0</m:t>
                              </m:r>
                            </m:sub>
                          </m:sSub>
                        </m:e>
                      </m:d>
                      <m:r>
                        <a:rPr lang="en-US" altLang="ja-JP"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smtClean="0">
                              <a:latin typeface="Cambria Math" panose="02040503050406030204" pitchFamily="18" charset="0"/>
                            </a:rPr>
                            <m:t>1</m:t>
                          </m:r>
                        </m:num>
                        <m:den>
                          <m:rad>
                            <m:radPr>
                              <m:degHide m:val="on"/>
                              <m:ctrlPr>
                                <a:rPr lang="en-US" altLang="ja-JP" i="1" dirty="0">
                                  <a:latin typeface="Cambria Math" panose="02040503050406030204" pitchFamily="18" charset="0"/>
                                </a:rPr>
                              </m:ctrlPr>
                            </m:radPr>
                            <m:deg/>
                            <m:e>
                              <m:r>
                                <a:rPr lang="en-US" altLang="ja-JP" i="1" dirty="0" smtClean="0">
                                  <a:latin typeface="Cambria Math" panose="02040503050406030204" pitchFamily="18" charset="0"/>
                                </a:rPr>
                                <m:t>𝑛</m:t>
                              </m:r>
                            </m:e>
                          </m:rad>
                        </m:den>
                      </m:f>
                      <m:nary>
                        <m:naryPr>
                          <m:chr m:val="∑"/>
                          <m:ctrlPr>
                            <a:rPr lang="en-US" altLang="ja-JP" i="1" dirty="0">
                              <a:latin typeface="Cambria Math" panose="02040503050406030204" pitchFamily="18" charset="0"/>
                            </a:rPr>
                          </m:ctrlPr>
                        </m:naryPr>
                        <m:sub>
                          <m:r>
                            <a:rPr lang="en-US" altLang="ja-JP" i="1" dirty="0" smtClean="0">
                              <a:latin typeface="Cambria Math" panose="02040503050406030204" pitchFamily="18" charset="0"/>
                            </a:rPr>
                            <m:t>𝑖</m:t>
                          </m:r>
                          <m:r>
                            <a:rPr lang="en-US" altLang="ja-JP" i="1" dirty="0" smtClean="0">
                              <a:latin typeface="Cambria Math" panose="02040503050406030204" pitchFamily="18" charset="0"/>
                            </a:rPr>
                            <m:t>=1</m:t>
                          </m:r>
                        </m:sub>
                        <m:sup>
                          <m:r>
                            <a:rPr lang="en-US" altLang="ja-JP" i="1" dirty="0" smtClean="0">
                              <a:latin typeface="Cambria Math" panose="02040503050406030204" pitchFamily="18" charset="0"/>
                            </a:rPr>
                            <m:t>𝑛</m:t>
                          </m:r>
                        </m:sup>
                        <m:e>
                          <m:r>
                            <a:rPr lang="en-US" altLang="ja-JP" i="1" smtClean="0">
                              <a:latin typeface="Cambria Math" panose="02040503050406030204" pitchFamily="18" charset="0"/>
                            </a:rPr>
                            <m:t>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𝑌</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𝑒</m:t>
                                  </m:r>
                                </m:e>
                                <m:sub>
                                  <m:r>
                                    <a:rPr lang="en-US" altLang="ja-JP"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𝜃</m:t>
                                  </m:r>
                                </m:e>
                                <m:sub>
                                  <m:r>
                                    <a:rPr lang="en-US" altLang="ja-JP" b="0" i="1" smtClean="0">
                                      <a:latin typeface="Cambria Math" panose="02040503050406030204" pitchFamily="18" charset="0"/>
                                    </a:rPr>
                                    <m:t>0</m:t>
                                  </m:r>
                                </m:sub>
                              </m:sSub>
                            </m:e>
                          </m:d>
                        </m:e>
                      </m:nary>
                      <m:r>
                        <a:rPr lang="en-US" altLang="ja-JP" i="1" dirty="0" smtClean="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smtClean="0">
                              <a:latin typeface="Cambria Math" panose="02040503050406030204" pitchFamily="18" charset="0"/>
                            </a:rPr>
                            <m:t>𝑜</m:t>
                          </m:r>
                        </m:e>
                        <m:sub>
                          <m:r>
                            <a:rPr lang="en-US" altLang="ja-JP" i="1" dirty="0" smtClean="0">
                              <a:latin typeface="Cambria Math" panose="02040503050406030204" pitchFamily="18" charset="0"/>
                            </a:rPr>
                            <m:t>𝑝</m:t>
                          </m:r>
                        </m:sub>
                      </m:sSub>
                      <m:d>
                        <m:dPr>
                          <m:ctrlPr>
                            <a:rPr lang="en-US" altLang="ja-JP" i="1" dirty="0">
                              <a:latin typeface="Cambria Math" panose="02040503050406030204" pitchFamily="18" charset="0"/>
                            </a:rPr>
                          </m:ctrlPr>
                        </m:dPr>
                        <m:e>
                          <m:r>
                            <a:rPr lang="en-US" altLang="ja-JP" i="1" dirty="0" smtClean="0">
                              <a:latin typeface="Cambria Math" panose="02040503050406030204" pitchFamily="18" charset="0"/>
                            </a:rPr>
                            <m:t>1</m:t>
                          </m:r>
                        </m:e>
                      </m:d>
                    </m:oMath>
                  </m:oMathPara>
                </a14:m>
                <a:endParaRPr kumimoji="1" lang="en-US" altLang="ja-JP" i="1" dirty="0"/>
              </a:p>
              <a:p>
                <a:r>
                  <a:rPr lang="ja-JP" altLang="en-US">
                    <a:latin typeface="Cambria Math" panose="02040503050406030204" pitchFamily="18" charset="0"/>
                  </a:rPr>
                  <a:t>ここで</a:t>
                </a:r>
                <a:r>
                  <a:rPr lang="ja-JP" altLang="en-US" i="1">
                    <a:latin typeface="Cambria Math" panose="02040503050406030204" pitchFamily="18" charset="0"/>
                  </a:rPr>
                  <a:t>，</a:t>
                </a:r>
                <a:r>
                  <a:rPr lang="en-US" altLang="ja-JP" i="1" dirty="0"/>
                  <a:t> </a:t>
                </a:r>
                <a14:m>
                  <m:oMath xmlns:m="http://schemas.openxmlformats.org/officeDocument/2006/math">
                    <m:r>
                      <a:rPr lang="en-US" altLang="ja-JP" i="1" smtClean="0">
                        <a:latin typeface="Cambria Math" panose="02040503050406030204" pitchFamily="18" charset="0"/>
                      </a:rPr>
                      <m:t>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𝑌</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𝑒</m:t>
                            </m:r>
                          </m:e>
                          <m:sub>
                            <m:r>
                              <a:rPr lang="en-US" altLang="ja-JP" i="1" smtClean="0">
                                <a:latin typeface="Cambria Math" panose="02040503050406030204" pitchFamily="18" charset="0"/>
                              </a:rPr>
                              <m:t>0</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𝜃</m:t>
                            </m:r>
                          </m:e>
                          <m:sub>
                            <m:r>
                              <a:rPr lang="en-US" altLang="ja-JP" i="1" smtClean="0">
                                <a:latin typeface="Cambria Math" panose="02040503050406030204" pitchFamily="18" charset="0"/>
                              </a:rPr>
                              <m:t>0</m:t>
                            </m:r>
                          </m:sub>
                        </m:sSub>
                      </m:e>
                    </m:d>
                  </m:oMath>
                </a14:m>
                <a:r>
                  <a:rPr lang="en-US" altLang="ja-JP" dirty="0">
                    <a:latin typeface="Cambria Math" panose="02040503050406030204" pitchFamily="18" charset="0"/>
                  </a:rPr>
                  <a:t> </a:t>
                </a:r>
                <a:r>
                  <a:rPr lang="ja-JP" altLang="en-US" dirty="0">
                    <a:latin typeface="Cambria Math" panose="02040503050406030204" pitchFamily="18" charset="0"/>
                  </a:rPr>
                  <a:t>は効率</a:t>
                </a:r>
                <a:r>
                  <a:rPr lang="ja-JP" altLang="en-US">
                    <a:latin typeface="Cambria Math" panose="02040503050406030204" pitchFamily="18" charset="0"/>
                  </a:rPr>
                  <a:t>スコア関数：</a:t>
                </a:r>
                <a:endParaRPr lang="en-US" altLang="ja-JP"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i="1" smtClean="0">
                          <a:latin typeface="Cambria Math" panose="02040503050406030204" pitchFamily="18" charset="0"/>
                        </a:rPr>
                        <m:t>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𝑌</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𝑒</m:t>
                              </m:r>
                            </m:e>
                            <m:sub>
                              <m:r>
                                <a:rPr lang="en-US" altLang="ja-JP" i="1" smtClean="0">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𝜃</m:t>
                              </m:r>
                            </m:e>
                            <m:sub>
                              <m:r>
                                <a:rPr lang="en-US" altLang="ja-JP" i="1">
                                  <a:latin typeface="Cambria Math" panose="02040503050406030204" pitchFamily="18" charset="0"/>
                                </a:rPr>
                                <m:t>0</m:t>
                              </m:r>
                            </m:sub>
                          </m:sSub>
                        </m:e>
                      </m:d>
                      <m:r>
                        <m:rPr>
                          <m:aln/>
                        </m:rPr>
                        <a:rPr lang="en-US" altLang="ja-JP" i="1" smtClean="0">
                          <a:latin typeface="Cambria Math" panose="02040503050406030204" pitchFamily="18" charset="0"/>
                        </a:rPr>
                        <m:t>=</m:t>
                      </m:r>
                      <m:d>
                        <m:dPr>
                          <m:ctrlPr>
                            <a:rPr lang="en-US" altLang="ja-JP" i="1">
                              <a:latin typeface="Cambria Math" panose="02040503050406030204" pitchFamily="18" charset="0"/>
                            </a:rPr>
                          </m:ctrlPr>
                        </m:dPr>
                        <m:e>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num>
                            <m:den>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𝑒</m:t>
                                  </m:r>
                                </m:e>
                                <m:sub>
                                  <m:r>
                                    <a:rPr lang="en-US" altLang="ja-JP" i="1" smtClean="0">
                                      <a:latin typeface="Cambria Math" panose="02040503050406030204" pitchFamily="18" charset="0"/>
                                    </a:rPr>
                                    <m:t>0</m:t>
                                  </m:r>
                                </m:sub>
                              </m:sSub>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e>
                              </m:d>
                            </m:den>
                          </m:f>
                          <m:r>
                            <a:rPr lang="en-US" altLang="ja-JP" i="1" smtClean="0">
                              <a:latin typeface="Cambria Math" panose="02040503050406030204" pitchFamily="18" charset="0"/>
                            </a:rPr>
                            <m:t>+</m:t>
                          </m:r>
                          <m:f>
                            <m:fPr>
                              <m:ctrlPr>
                                <a:rPr lang="en-US" altLang="ja-JP" i="1">
                                  <a:latin typeface="Cambria Math" panose="02040503050406030204" pitchFamily="18" charset="0"/>
                                </a:rPr>
                              </m:ctrlPr>
                            </m:fPr>
                            <m:num>
                              <m:r>
                                <a:rPr lang="en-US" altLang="ja-JP" i="1" smtClean="0">
                                  <a:latin typeface="Cambria Math" panose="02040503050406030204" pitchFamily="18" charset="0"/>
                                </a:rPr>
                                <m:t>1−</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num>
                            <m:den>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1−</m:t>
                                  </m:r>
                                  <m:r>
                                    <a:rPr lang="en-US" altLang="ja-JP" i="1" smtClean="0">
                                      <a:latin typeface="Cambria Math" panose="02040503050406030204" pitchFamily="18" charset="0"/>
                                    </a:rPr>
                                    <m:t>𝑒</m:t>
                                  </m:r>
                                </m:e>
                                <m:sub>
                                  <m:r>
                                    <a:rPr lang="en-US" altLang="ja-JP" i="1" smtClean="0">
                                      <a:latin typeface="Cambria Math" panose="02040503050406030204" pitchFamily="18" charset="0"/>
                                    </a:rPr>
                                    <m:t>0</m:t>
                                  </m:r>
                                </m:sub>
                              </m:sSub>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e>
                              </m:d>
                            </m:den>
                          </m:f>
                        </m:e>
                      </m:d>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𝑌</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𝐷</m:t>
                                  </m:r>
                                </m:e>
                                <m:sub>
                                  <m:r>
                                    <a:rPr lang="en-US" altLang="ja-JP" i="1" smtClean="0">
                                      <a:latin typeface="Cambria Math" panose="02040503050406030204" pitchFamily="18" charset="0"/>
                                    </a:rPr>
                                    <m:t>𝑖</m:t>
                                  </m:r>
                                </m:sub>
                              </m:sSub>
                              <m:r>
                                <a:rPr lang="en-US" altLang="ja-JP" i="1" smtClean="0">
                                  <a:latin typeface="Cambria Math" panose="02040503050406030204" pitchFamily="18" charset="0"/>
                                </a:rPr>
                                <m:t>, </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e>
                          </m:d>
                        </m:e>
                      </m:d>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smtClean="0">
                              <a:latin typeface="Cambria Math" panose="02040503050406030204" pitchFamily="18" charset="0"/>
                            </a:rPr>
                            <m:t>1,</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e>
                      </m:d>
                      <m:r>
                        <a:rPr lang="en-US" altLang="ja-JP"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𝑓</m:t>
                          </m:r>
                        </m:e>
                        <m:sub>
                          <m:r>
                            <a:rPr lang="en-US" altLang="ja-JP" i="1" smtClean="0">
                              <a:latin typeface="Cambria Math" panose="02040503050406030204" pitchFamily="18" charset="0"/>
                            </a:rPr>
                            <m:t>0</m:t>
                          </m:r>
                        </m:sub>
                      </m:sSub>
                      <m:d>
                        <m:dPr>
                          <m:ctrlPr>
                            <a:rPr lang="en-US" altLang="ja-JP" i="1" smtClean="0">
                              <a:latin typeface="Cambria Math" panose="02040503050406030204" pitchFamily="18" charset="0"/>
                            </a:rPr>
                          </m:ctrlPr>
                        </m:dPr>
                        <m:e>
                          <m:r>
                            <a:rPr lang="en-US" altLang="ja-JP" i="1" smtClean="0">
                              <a:latin typeface="Cambria Math" panose="02040503050406030204" pitchFamily="18" charset="0"/>
                            </a:rPr>
                            <m:t>0,</m:t>
                          </m:r>
                          <m:sSub>
                            <m:sSubPr>
                              <m:ctrlPr>
                                <a:rPr lang="en-US" altLang="ja-JP" i="1">
                                  <a:latin typeface="Cambria Math" panose="02040503050406030204" pitchFamily="18" charset="0"/>
                                </a:rPr>
                              </m:ctrlPr>
                            </m:sSubPr>
                            <m:e>
                              <m:r>
                                <a:rPr lang="en-US" altLang="ja-JP" i="1" smtClean="0">
                                  <a:latin typeface="Cambria Math" panose="02040503050406030204" pitchFamily="18" charset="0"/>
                                </a:rPr>
                                <m:t>𝑋</m:t>
                              </m:r>
                            </m:e>
                            <m:sub>
                              <m:r>
                                <a:rPr lang="en-US" altLang="ja-JP" i="1" smtClean="0">
                                  <a:latin typeface="Cambria Math" panose="02040503050406030204" pitchFamily="18" charset="0"/>
                                </a:rPr>
                                <m:t>𝑖</m:t>
                              </m:r>
                            </m:sub>
                          </m:sSub>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𝜃</m:t>
                          </m:r>
                        </m:e>
                        <m:sub>
                          <m:r>
                            <a:rPr lang="en-US" altLang="ja-JP" b="0" i="1" smtClean="0">
                              <a:latin typeface="Cambria Math" panose="02040503050406030204" pitchFamily="18" charset="0"/>
                            </a:rPr>
                            <m:t>0</m:t>
                          </m:r>
                        </m:sub>
                      </m:sSub>
                    </m:oMath>
                  </m:oMathPara>
                </a14:m>
                <a:br>
                  <a:rPr lang="en-US" altLang="ja-JP" i="1" dirty="0">
                    <a:latin typeface="Noto Sans JP" panose="020B0200000000000000" pitchFamily="34" charset="-128"/>
                    <a:ea typeface="Noto Sans JP" panose="020B0200000000000000" pitchFamily="34" charset="-128"/>
                  </a:rPr>
                </a:br>
                <a:endParaRPr lang="en-US" altLang="ja-JP" i="1" dirty="0">
                  <a:latin typeface="Noto Sans JP" panose="020B0200000000000000" pitchFamily="34" charset="-128"/>
                  <a:ea typeface="Noto Sans JP" panose="020B0200000000000000" pitchFamily="34" charset="-128"/>
                </a:endParaRPr>
              </a:p>
              <a:p>
                <a:endParaRPr kumimoji="1" lang="en-US" altLang="ja-JP" i="1" dirty="0">
                  <a:latin typeface="Noto Sans JP" panose="020B0200000000000000" pitchFamily="34" charset="-128"/>
                  <a:ea typeface="Noto Sans JP" panose="020B0200000000000000" pitchFamily="34" charset="-128"/>
                </a:endParaRPr>
              </a:p>
              <a:p>
                <a:r>
                  <a:rPr lang="ja-JP" altLang="en-US">
                    <a:latin typeface="Noto Sans JP" panose="020B0200000000000000" pitchFamily="34" charset="-128"/>
                    <a:ea typeface="Noto Sans JP" panose="020B0200000000000000" pitchFamily="34" charset="-128"/>
                  </a:rPr>
                  <a:t>どのような推定量が</a:t>
                </a:r>
                <a:r>
                  <a:rPr lang="en-US" altLang="ja-JP" dirty="0">
                    <a:latin typeface="Noto Sans JP" panose="020B0200000000000000" pitchFamily="34" charset="-128"/>
                    <a:ea typeface="Noto Sans JP" panose="020B0200000000000000" pitchFamily="34" charset="-128"/>
                  </a:rPr>
                  <a:t>RAL</a:t>
                </a:r>
                <a:r>
                  <a:rPr lang="ja-JP" altLang="en-US">
                    <a:latin typeface="Noto Sans JP" panose="020B0200000000000000" pitchFamily="34" charset="-128"/>
                    <a:ea typeface="Noto Sans JP" panose="020B0200000000000000" pitchFamily="34" charset="-128"/>
                  </a:rPr>
                  <a:t>になるのか？</a:t>
                </a:r>
                <a:endParaRPr lang="en-US" altLang="ja-JP" dirty="0">
                  <a:latin typeface="Noto Sans JP" panose="020B0200000000000000" pitchFamily="34" charset="-128"/>
                  <a:ea typeface="Noto Sans JP" panose="020B0200000000000000" pitchFamily="34" charset="-128"/>
                </a:endParaRPr>
              </a:p>
              <a:p>
                <a:pPr lvl="1"/>
                <a:r>
                  <a:rPr kumimoji="1" lang="ja-JP" altLang="en-US">
                    <a:latin typeface="Noto Sans JP" panose="020B0200000000000000" pitchFamily="34" charset="-128"/>
                    <a:ea typeface="Noto Sans JP" panose="020B0200000000000000" pitchFamily="34" charset="-128"/>
                  </a:rPr>
                  <a:t>例：推定方程式アプローチ：</a:t>
                </a:r>
                <a:endParaRPr kumimoji="1" lang="en-US" altLang="ja-JP" dirty="0">
                  <a:latin typeface="Noto Sans JP" panose="020B0200000000000000" pitchFamily="34" charset="-128"/>
                  <a:ea typeface="Noto Sans JP" panose="020B0200000000000000" pitchFamily="34" charset="-128"/>
                </a:endParaRPr>
              </a:p>
              <a:p>
                <a:pPr lvl="2"/>
                <a:r>
                  <a:rPr lang="ja-JP" altLang="en-US">
                    <a:latin typeface="Noto Sans JP" panose="020B0200000000000000" pitchFamily="34" charset="-128"/>
                    <a:ea typeface="Noto Sans JP" panose="020B0200000000000000" pitchFamily="34" charset="-128"/>
                  </a:rPr>
                  <a:t>未知の</a:t>
                </a:r>
                <a14:m>
                  <m:oMath xmlns:m="http://schemas.openxmlformats.org/officeDocument/2006/math">
                    <m:sSub>
                      <m:sSubPr>
                        <m:ctrlPr>
                          <a:rPr lang="en-US" altLang="ja-JP" i="1">
                            <a:latin typeface="Cambria Math" panose="02040503050406030204" pitchFamily="18" charset="0"/>
                            <a:ea typeface="Noto Sans JP" panose="020B0200000000000000" pitchFamily="34" charset="-128"/>
                          </a:rPr>
                        </m:ctrlPr>
                      </m:sSubPr>
                      <m:e>
                        <m:r>
                          <a:rPr lang="en-US" altLang="ja-JP" i="1">
                            <a:latin typeface="Cambria Math" panose="02040503050406030204" pitchFamily="18" charset="0"/>
                            <a:ea typeface="Noto Sans JP" panose="020B0200000000000000" pitchFamily="34" charset="-128"/>
                          </a:rPr>
                          <m:t>𝑓</m:t>
                        </m:r>
                      </m:e>
                      <m:sub>
                        <m:r>
                          <a:rPr lang="en-US" altLang="ja-JP" i="1">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と </a:t>
                </a:r>
                <a14:m>
                  <m:oMath xmlns:m="http://schemas.openxmlformats.org/officeDocument/2006/math">
                    <m:sSub>
                      <m:sSubPr>
                        <m:ctrlPr>
                          <a:rPr lang="en-US" altLang="ja-JP" i="1">
                            <a:latin typeface="Cambria Math" panose="02040503050406030204" pitchFamily="18" charset="0"/>
                            <a:ea typeface="Noto Sans JP" panose="020B0200000000000000" pitchFamily="34" charset="-128"/>
                          </a:rPr>
                        </m:ctrlPr>
                      </m:sSubPr>
                      <m:e>
                        <m:r>
                          <a:rPr lang="en-US" altLang="ja-JP" i="1">
                            <a:latin typeface="Cambria Math" panose="02040503050406030204" pitchFamily="18" charset="0"/>
                            <a:ea typeface="Noto Sans JP" panose="020B0200000000000000" pitchFamily="34" charset="-128"/>
                          </a:rPr>
                          <m:t>𝑒</m:t>
                        </m:r>
                      </m:e>
                      <m:sub>
                        <m:r>
                          <a:rPr lang="en-US" altLang="ja-JP" i="1">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dirty="0">
                    <a:latin typeface="Noto Sans JP" panose="020B0200000000000000" pitchFamily="34" charset="-128"/>
                    <a:ea typeface="Noto Sans JP" panose="020B0200000000000000" pitchFamily="34" charset="-128"/>
                  </a:rPr>
                  <a:t>を</a:t>
                </a:r>
                <a:r>
                  <a:rPr lang="ja-JP" altLang="en-US">
                    <a:latin typeface="Noto Sans JP" panose="020B0200000000000000" pitchFamily="34" charset="-128"/>
                    <a:ea typeface="Noto Sans JP" panose="020B0200000000000000" pitchFamily="34" charset="-128"/>
                  </a:rPr>
                  <a:t>推定量</a:t>
                </a:r>
                <a:r>
                  <a:rPr lang="en-US" altLang="ja-JP" dirty="0">
                    <a:latin typeface="Noto Sans JP" panose="020B0200000000000000" pitchFamily="34" charset="-128"/>
                    <a:ea typeface="Noto Sans JP" panose="020B0200000000000000" pitchFamily="34" charset="-128"/>
                  </a:rPr>
                  <a:t> </a:t>
                </a:r>
                <a14:m>
                  <m:oMath xmlns:m="http://schemas.openxmlformats.org/officeDocument/2006/math">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と</a:t>
                </a:r>
                <a:r>
                  <a:rPr lang="en-US" altLang="ja-JP" dirty="0">
                    <a:latin typeface="Noto Sans JP" panose="020B0200000000000000" pitchFamily="34" charset="-128"/>
                    <a:ea typeface="Noto Sans JP" panose="020B0200000000000000" pitchFamily="34" charset="-128"/>
                  </a:rPr>
                  <a:t> </a:t>
                </a:r>
                <a14:m>
                  <m:oMath xmlns:m="http://schemas.openxmlformats.org/officeDocument/2006/math">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𝑒</m:t>
                        </m:r>
                      </m:e>
                    </m:acc>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で置き換え</a:t>
                </a:r>
                <a:endParaRPr lang="en-US" altLang="ja-JP" dirty="0">
                  <a:latin typeface="Noto Sans JP" panose="020B0200000000000000" pitchFamily="34" charset="-128"/>
                  <a:ea typeface="Noto Sans JP" panose="020B0200000000000000" pitchFamily="34" charset="-128"/>
                </a:endParaRPr>
              </a:p>
              <a:p>
                <a:pPr lvl="2"/>
                <a:r>
                  <a:rPr lang="ja-JP" altLang="en-US">
                    <a:latin typeface="Noto Sans JP" panose="020B0200000000000000" pitchFamily="34" charset="-128"/>
                    <a:ea typeface="Noto Sans JP" panose="020B0200000000000000" pitchFamily="34" charset="-128"/>
                  </a:rPr>
                  <a:t>以下の等式を満たすように</a:t>
                </a:r>
                <a:r>
                  <a:rPr lang="en-US" altLang="ja-JP" dirty="0">
                    <a:latin typeface="Noto Sans JP" panose="020B0200000000000000" pitchFamily="34" charset="-128"/>
                    <a:ea typeface="Noto Sans JP" panose="020B0200000000000000" pitchFamily="34" charset="-128"/>
                  </a:rPr>
                  <a:t> </a:t>
                </a:r>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を推定：</a:t>
                </a:r>
                <a:endParaRPr lang="en-US" altLang="ja-JP" dirty="0">
                  <a:latin typeface="Noto Sans JP" panose="020B0200000000000000" pitchFamily="34" charset="-128"/>
                  <a:ea typeface="Noto Sans JP" panose="020B0200000000000000" pitchFamily="34" charset="-128"/>
                </a:endParaRPr>
              </a:p>
              <a:p>
                <a:pPr marL="855000" lvl="2" indent="0">
                  <a:buNone/>
                </a:pPr>
                <a14:m>
                  <m:oMathPara xmlns:m="http://schemas.openxmlformats.org/officeDocument/2006/math">
                    <m:oMathParaPr>
                      <m:jc m:val="centerGroup"/>
                    </m:oMathParaPr>
                    <m:oMath xmlns:m="http://schemas.openxmlformats.org/officeDocument/2006/math">
                      <m:f>
                        <m:fPr>
                          <m:ctrlPr>
                            <a:rPr lang="en-US" altLang="ja-JP" b="0" i="1" dirty="0" smtClean="0">
                              <a:latin typeface="Cambria Math" panose="02040503050406030204" pitchFamily="18" charset="0"/>
                            </a:rPr>
                          </m:ctrlPr>
                        </m:fPr>
                        <m:num>
                          <m:r>
                            <a:rPr lang="en-US" altLang="ja-JP" b="0" i="1" dirty="0" smtClean="0">
                              <a:latin typeface="Cambria Math" panose="02040503050406030204" pitchFamily="18" charset="0"/>
                            </a:rPr>
                            <m:t>1</m:t>
                          </m:r>
                        </m:num>
                        <m:den>
                          <m:r>
                            <a:rPr lang="en-US" altLang="ja-JP" b="0" i="1" dirty="0" smtClean="0">
                              <a:latin typeface="Cambria Math" panose="02040503050406030204" pitchFamily="18" charset="0"/>
                            </a:rPr>
                            <m:t>𝑛</m:t>
                          </m:r>
                        </m:den>
                      </m:f>
                      <m:nary>
                        <m:naryPr>
                          <m:chr m:val="∑"/>
                          <m:ctrlPr>
                            <a:rPr lang="en-US" altLang="ja-JP" i="1" dirty="0">
                              <a:latin typeface="Cambria Math" panose="02040503050406030204" pitchFamily="18" charset="0"/>
                            </a:rPr>
                          </m:ctrlPr>
                        </m:naryPr>
                        <m:sub>
                          <m:r>
                            <a:rPr lang="en-US" altLang="ja-JP" i="1" dirty="0">
                              <a:latin typeface="Cambria Math" panose="02040503050406030204" pitchFamily="18" charset="0"/>
                            </a:rPr>
                            <m:t>𝑖</m:t>
                          </m:r>
                          <m:r>
                            <a:rPr lang="en-US" altLang="ja-JP" i="1" dirty="0">
                              <a:latin typeface="Cambria Math" panose="02040503050406030204" pitchFamily="18" charset="0"/>
                            </a:rPr>
                            <m:t>=1</m:t>
                          </m:r>
                        </m:sub>
                        <m:sup>
                          <m:r>
                            <a:rPr lang="en-US" altLang="ja-JP" i="1" dirty="0">
                              <a:latin typeface="Cambria Math" panose="02040503050406030204" pitchFamily="18" charset="0"/>
                            </a:rPr>
                            <m:t>𝑛</m:t>
                          </m:r>
                        </m:sup>
                        <m:e>
                          <m:r>
                            <a:rPr lang="en-US" altLang="ja-JP" i="1">
                              <a:latin typeface="Cambria Math" panose="02040503050406030204" pitchFamily="18" charset="0"/>
                            </a:rPr>
                            <m:t>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m:t>
                              </m:r>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𝑓</m:t>
                                  </m:r>
                                </m:e>
                              </m:acc>
                              <m:r>
                                <a:rPr lang="en-US" altLang="ja-JP" i="1">
                                  <a:latin typeface="Cambria Math" panose="02040503050406030204" pitchFamily="18" charset="0"/>
                                </a:rPr>
                                <m:t>,</m:t>
                              </m:r>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𝑒</m:t>
                                  </m:r>
                                </m:e>
                              </m:acc>
                              <m:r>
                                <a:rPr lang="en-US" altLang="ja-JP" i="1">
                                  <a:latin typeface="Cambria Math" panose="02040503050406030204" pitchFamily="18" charset="0"/>
                                </a:rPr>
                                <m:t>,</m:t>
                              </m:r>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e>
                          </m:d>
                        </m:e>
                      </m:nary>
                      <m:r>
                        <a:rPr lang="en-US" altLang="ja-JP" b="0" i="1" smtClean="0">
                          <a:latin typeface="Cambria Math" panose="02040503050406030204" pitchFamily="18" charset="0"/>
                        </a:rPr>
                        <m:t>=0</m:t>
                      </m:r>
                    </m:oMath>
                  </m:oMathPara>
                </a14:m>
                <a:endParaRPr lang="en-US" altLang="ja-JP" dirty="0">
                  <a:latin typeface="Noto Sans JP" panose="020B0200000000000000" pitchFamily="34" charset="-128"/>
                  <a:ea typeface="Noto Sans JP" panose="020B0200000000000000" pitchFamily="34" charset="-128"/>
                </a:endParaRPr>
              </a:p>
              <a:p>
                <a:pPr lvl="2"/>
                <a:r>
                  <a:rPr lang="ja-JP" altLang="en-US">
                    <a:latin typeface="Noto Sans JP" panose="020B0200000000000000" pitchFamily="34" charset="-128"/>
                    <a:ea typeface="Noto Sans JP" panose="020B0200000000000000" pitchFamily="34" charset="-128"/>
                  </a:rPr>
                  <a:t>これは</a:t>
                </a:r>
                <a:r>
                  <a:rPr lang="en-US" altLang="ja-JP" dirty="0">
                    <a:latin typeface="Noto Sans JP" panose="020B0200000000000000" pitchFamily="34" charset="-128"/>
                    <a:ea typeface="Noto Sans JP" panose="020B0200000000000000" pitchFamily="34" charset="-128"/>
                  </a:rPr>
                  <a:t>AIPW </a:t>
                </a:r>
                <a:r>
                  <a:rPr lang="ja-JP" altLang="en-US">
                    <a:latin typeface="Noto Sans JP" panose="020B0200000000000000" pitchFamily="34" charset="-128"/>
                    <a:ea typeface="Noto Sans JP" panose="020B0200000000000000" pitchFamily="34" charset="-128"/>
                  </a:rPr>
                  <a:t>推定量となる：</a:t>
                </a:r>
                <a14:m>
                  <m:oMath xmlns:m="http://schemas.openxmlformats.org/officeDocument/2006/math">
                    <m:sSubSup>
                      <m:sSubSupPr>
                        <m:ctrlPr>
                          <a:rPr lang="en-US" altLang="ja-JP" i="1">
                            <a:latin typeface="Cambria Math" panose="02040503050406030204" pitchFamily="18" charset="0"/>
                            <a:ea typeface="Noto Sans JP" panose="020B0200000000000000" pitchFamily="34" charset="-128"/>
                          </a:rPr>
                        </m:ctrlPr>
                      </m:sSubSupPr>
                      <m:e>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𝜃</m:t>
                            </m:r>
                          </m:e>
                        </m:acc>
                      </m:e>
                      <m:sub>
                        <m:r>
                          <a:rPr lang="en-US" altLang="ja-JP" i="1">
                            <a:latin typeface="Cambria Math" panose="02040503050406030204" pitchFamily="18" charset="0"/>
                            <a:ea typeface="Noto Sans JP" panose="020B0200000000000000" pitchFamily="34" charset="-128"/>
                          </a:rPr>
                          <m:t>𝑛</m:t>
                        </m:r>
                      </m:sub>
                      <m:sup>
                        <m:r>
                          <m:rPr>
                            <m:sty m:val="p"/>
                          </m:rPr>
                          <a:rPr lang="en-US" altLang="ja-JP">
                            <a:latin typeface="Cambria Math" panose="02040503050406030204" pitchFamily="18" charset="0"/>
                            <a:ea typeface="Noto Sans JP" panose="020B0200000000000000" pitchFamily="34" charset="-128"/>
                          </a:rPr>
                          <m:t>AIPW</m:t>
                        </m:r>
                      </m:sup>
                    </m:sSubSup>
                    <m:r>
                      <m:rPr>
                        <m:aln/>
                      </m:rPr>
                      <a:rPr lang="en-US" altLang="ja-JP" i="1">
                        <a:latin typeface="Cambria Math" panose="02040503050406030204" pitchFamily="18" charset="0"/>
                      </a:rPr>
                      <m:t>=</m:t>
                    </m:r>
                    <m:d>
                      <m:dPr>
                        <m:ctrlPr>
                          <a:rPr lang="en-US" altLang="ja-JP" i="1">
                            <a:latin typeface="Cambria Math" panose="02040503050406030204" pitchFamily="18" charset="0"/>
                          </a:rPr>
                        </m:ctrlPr>
                      </m:dPr>
                      <m:e>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num>
                          <m:den>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𝑒</m:t>
                                </m:r>
                              </m:e>
                            </m:acc>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num>
                          <m:den>
                            <m:r>
                              <a:rPr lang="en-US" altLang="ja-JP" i="1">
                                <a:latin typeface="Cambria Math" panose="02040503050406030204" pitchFamily="18" charset="0"/>
                              </a:rPr>
                              <m:t>1−</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𝑒</m:t>
                                </m:r>
                              </m:e>
                            </m:acc>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den>
                        </m:f>
                      </m:e>
                    </m:d>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e>
                    </m:d>
                    <m:r>
                      <a:rPr lang="en-US" altLang="ja-JP" i="1">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d>
                      <m:dPr>
                        <m:ctrlPr>
                          <a:rPr lang="en-US" altLang="ja-JP" i="1">
                            <a:latin typeface="Cambria Math" panose="02040503050406030204" pitchFamily="18" charset="0"/>
                          </a:rPr>
                        </m:ctrlPr>
                      </m:dPr>
                      <m:e>
                        <m:r>
                          <a:rPr lang="en-US" altLang="ja-JP" i="1">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e>
                    </m:d>
                    <m:r>
                      <a:rPr lang="en-US" altLang="ja-JP" i="1">
                        <a:latin typeface="Cambria Math" panose="02040503050406030204" pitchFamily="18" charset="0"/>
                      </a:rPr>
                      <m:t>−</m:t>
                    </m:r>
                    <m:acc>
                      <m:accPr>
                        <m:chr m:val="̂"/>
                        <m:ctrlPr>
                          <a:rPr lang="en-US" altLang="ja-JP" i="1">
                            <a:latin typeface="Cambria Math" panose="02040503050406030204" pitchFamily="18" charset="0"/>
                            <a:ea typeface="Noto Sans JP" panose="020B0200000000000000" pitchFamily="34" charset="-128"/>
                          </a:rPr>
                        </m:ctrlPr>
                      </m:accPr>
                      <m:e>
                        <m:r>
                          <a:rPr lang="en-US" altLang="ja-JP" i="1">
                            <a:latin typeface="Cambria Math" panose="02040503050406030204" pitchFamily="18" charset="0"/>
                            <a:ea typeface="Noto Sans JP" panose="020B0200000000000000" pitchFamily="34" charset="-128"/>
                          </a:rPr>
                          <m:t>𝑓</m:t>
                        </m:r>
                      </m:e>
                    </m:acc>
                    <m:r>
                      <a:rPr lang="en-US" altLang="ja-JP" i="1">
                        <a:latin typeface="Cambria Math" panose="02040503050406030204" pitchFamily="18" charset="0"/>
                      </a:rPr>
                      <m:t>(0,</m:t>
                    </m:r>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𝑖</m:t>
                        </m:r>
                      </m:sub>
                    </m:sSub>
                    <m:r>
                      <a:rPr lang="en-US" altLang="ja-JP" i="1">
                        <a:latin typeface="Cambria Math" panose="02040503050406030204" pitchFamily="18" charset="0"/>
                      </a:rPr>
                      <m:t>)</m:t>
                    </m:r>
                  </m:oMath>
                </a14:m>
                <a:br>
                  <a:rPr lang="en-US" altLang="ja-JP" i="1" dirty="0">
                    <a:latin typeface="Noto Sans JP" panose="020B0200000000000000" pitchFamily="34" charset="-128"/>
                    <a:ea typeface="Noto Sans JP" panose="020B0200000000000000" pitchFamily="34" charset="-128"/>
                  </a:rPr>
                </a:br>
                <a:endParaRPr lang="en-US" altLang="ja-JP" dirty="0">
                  <a:latin typeface="Noto Sans JP" panose="020B0200000000000000" pitchFamily="34" charset="-128"/>
                  <a:ea typeface="Noto Sans JP" panose="020B0200000000000000" pitchFamily="34" charset="-128"/>
                </a:endParaRPr>
              </a:p>
              <a:p>
                <a:pPr lvl="2"/>
                <a:endParaRPr lang="en-US" altLang="ja-JP" dirty="0">
                  <a:latin typeface="Noto Sans JP" panose="020B0200000000000000" pitchFamily="34" charset="-128"/>
                  <a:ea typeface="Noto Sans JP" panose="020B0200000000000000" pitchFamily="34" charset="-128"/>
                </a:endParaRPr>
              </a:p>
              <a:p>
                <a:r>
                  <a:rPr lang="en-US" altLang="ja-JP" dirty="0">
                    <a:latin typeface="Noto Sans JP" panose="020B0200000000000000" pitchFamily="34" charset="-128"/>
                    <a:ea typeface="Noto Sans JP" panose="020B0200000000000000" pitchFamily="34" charset="-128"/>
                  </a:rPr>
                  <a:t>AIPW</a:t>
                </a:r>
                <a:r>
                  <a:rPr lang="ja-JP" altLang="en-US">
                    <a:latin typeface="Noto Sans JP" panose="020B0200000000000000" pitchFamily="34" charset="-128"/>
                    <a:ea typeface="Noto Sans JP" panose="020B0200000000000000" pitchFamily="34" charset="-128"/>
                  </a:rPr>
                  <a:t>推定量は効率スコア関数から直接導出される</a:t>
                </a:r>
                <a:endParaRPr lang="en-US" altLang="ja-JP" dirty="0">
                  <a:latin typeface="Noto Sans JP" panose="020B0200000000000000" pitchFamily="34" charset="-128"/>
                  <a:ea typeface="Noto Sans JP" panose="020B0200000000000000" pitchFamily="34" charset="-128"/>
                </a:endParaRPr>
              </a:p>
            </p:txBody>
          </p:sp>
        </mc:Choice>
        <mc:Fallback xmlns="">
          <p:sp>
            <p:nvSpPr>
              <p:cNvPr id="3" name="コンテンツ プレースホルダー 2">
                <a:extLst>
                  <a:ext uri="{FF2B5EF4-FFF2-40B4-BE49-F238E27FC236}">
                    <a16:creationId xmlns:a16="http://schemas.microsoft.com/office/drawing/2014/main" id="{71C59225-709C-F09E-266F-5E2BD9C8169B}"/>
                  </a:ext>
                </a:extLst>
              </p:cNvPr>
              <p:cNvSpPr>
                <a:spLocks noGrp="1" noRot="1" noChangeAspect="1" noMove="1" noResize="1" noEditPoints="1" noAdjustHandles="1" noChangeArrowheads="1" noChangeShapeType="1" noTextEdit="1"/>
              </p:cNvSpPr>
              <p:nvPr>
                <p:ph idx="1"/>
              </p:nvPr>
            </p:nvSpPr>
            <p:spPr>
              <a:blipFill>
                <a:blip r:embed="rId2"/>
                <a:stretch>
                  <a:fillRect l="-483" t="-11111" b="-141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1296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E34B-38B9-C86A-4801-D9FC6B1A75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903368-4807-0C1B-380A-6E44BBBDF37C}"/>
              </a:ext>
            </a:extLst>
          </p:cNvPr>
          <p:cNvSpPr>
            <a:spLocks noGrp="1"/>
          </p:cNvSpPr>
          <p:nvPr>
            <p:ph type="title"/>
          </p:nvPr>
        </p:nvSpPr>
        <p:spPr/>
        <p:txBody>
          <a:bodyPr/>
          <a:lstStyle/>
          <a:p>
            <a:r>
              <a:rPr kumimoji="1" lang="ja-JP" altLang="en-US"/>
              <a:t>理想的な推定量と現実的に実行可能な推定量</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043B449-7F10-F8D0-142B-0D0E5E1EDA95}"/>
                  </a:ext>
                </a:extLst>
              </p:cNvPr>
              <p:cNvSpPr>
                <a:spLocks noGrp="1"/>
              </p:cNvSpPr>
              <p:nvPr>
                <p:ph idx="1"/>
              </p:nvPr>
            </p:nvSpPr>
            <p:spPr/>
            <p:txBody>
              <a:bodyPr>
                <a:normAutofit lnSpcReduction="10000"/>
              </a:bodyPr>
              <a:lstStyle/>
              <a:p>
                <a:r>
                  <a:rPr lang="ja-JP" altLang="en-US"/>
                  <a:t>理想的な推定量（</a:t>
                </a:r>
                <a:r>
                  <a:rPr lang="en-US" altLang="ja-JP" dirty="0">
                    <a:ea typeface="Noto Sans JP" panose="020B0200000000000000" pitchFamily="34" charset="-128"/>
                  </a:rPr>
                  <a:t> </a:t>
                </a:r>
                <a14:m>
                  <m:oMath xmlns:m="http://schemas.openxmlformats.org/officeDocument/2006/math">
                    <m:sSub>
                      <m:sSubPr>
                        <m:ctrlPr>
                          <a:rPr lang="en-US" altLang="ja-JP" i="1">
                            <a:latin typeface="Cambria Math" panose="02040503050406030204" pitchFamily="18" charset="0"/>
                            <a:ea typeface="Noto Sans JP" panose="020B0200000000000000" pitchFamily="34" charset="-128"/>
                          </a:rPr>
                        </m:ctrlPr>
                      </m:sSubPr>
                      <m:e>
                        <m:r>
                          <a:rPr lang="en-US" altLang="ja-JP" i="1">
                            <a:latin typeface="Cambria Math" panose="02040503050406030204" pitchFamily="18" charset="0"/>
                            <a:ea typeface="Noto Sans JP" panose="020B0200000000000000" pitchFamily="34" charset="-128"/>
                          </a:rPr>
                          <m:t>𝑓</m:t>
                        </m:r>
                      </m:e>
                      <m:sub>
                        <m:r>
                          <a:rPr lang="en-US" altLang="ja-JP" i="1">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a:latin typeface="Noto Sans JP" panose="020B0200000000000000" pitchFamily="34" charset="-128"/>
                    <a:ea typeface="Noto Sans JP" panose="020B0200000000000000" pitchFamily="34" charset="-128"/>
                  </a:rPr>
                  <a:t>と </a:t>
                </a:r>
                <a14:m>
                  <m:oMath xmlns:m="http://schemas.openxmlformats.org/officeDocument/2006/math">
                    <m:sSub>
                      <m:sSubPr>
                        <m:ctrlPr>
                          <a:rPr lang="en-US" altLang="ja-JP" i="1">
                            <a:latin typeface="Cambria Math" panose="02040503050406030204" pitchFamily="18" charset="0"/>
                            <a:ea typeface="Noto Sans JP" panose="020B0200000000000000" pitchFamily="34" charset="-128"/>
                          </a:rPr>
                        </m:ctrlPr>
                      </m:sSubPr>
                      <m:e>
                        <m:r>
                          <a:rPr lang="en-US" altLang="ja-JP" i="1">
                            <a:latin typeface="Cambria Math" panose="02040503050406030204" pitchFamily="18" charset="0"/>
                            <a:ea typeface="Noto Sans JP" panose="020B0200000000000000" pitchFamily="34" charset="-128"/>
                          </a:rPr>
                          <m:t>𝑒</m:t>
                        </m:r>
                      </m:e>
                      <m:sub>
                        <m:r>
                          <a:rPr lang="en-US" altLang="ja-JP" i="1">
                            <a:latin typeface="Cambria Math" panose="02040503050406030204" pitchFamily="18" charset="0"/>
                            <a:ea typeface="Noto Sans JP" panose="020B0200000000000000" pitchFamily="34" charset="-128"/>
                          </a:rPr>
                          <m:t>0</m:t>
                        </m:r>
                      </m:sub>
                    </m:sSub>
                  </m:oMath>
                </a14:m>
                <a:r>
                  <a:rPr lang="en-US" altLang="ja-JP" dirty="0">
                    <a:latin typeface="Noto Sans JP" panose="020B0200000000000000" pitchFamily="34" charset="-128"/>
                    <a:ea typeface="Noto Sans JP" panose="020B0200000000000000" pitchFamily="34" charset="-128"/>
                  </a:rPr>
                  <a:t> </a:t>
                </a:r>
                <a:r>
                  <a:rPr lang="ja-JP" altLang="en-US" dirty="0">
                    <a:latin typeface="Noto Sans JP" panose="020B0200000000000000" pitchFamily="34" charset="-128"/>
                    <a:ea typeface="Noto Sans JP" panose="020B0200000000000000" pitchFamily="34" charset="-128"/>
                  </a:rPr>
                  <a:t>が既知</a:t>
                </a:r>
                <a:r>
                  <a:rPr lang="ja-JP" altLang="en-US">
                    <a:latin typeface="Noto Sans JP" panose="020B0200000000000000" pitchFamily="34" charset="-128"/>
                    <a:ea typeface="Noto Sans JP" panose="020B0200000000000000" pitchFamily="34" charset="-128"/>
                  </a:rPr>
                  <a:t>の場合</a:t>
                </a:r>
                <a:r>
                  <a:rPr lang="en-US" altLang="ja-JP" dirty="0">
                    <a:latin typeface="Noto Sans JP" panose="020B0200000000000000" pitchFamily="34" charset="-128"/>
                    <a:ea typeface="Noto Sans JP" panose="020B0200000000000000" pitchFamily="34" charset="-128"/>
                  </a:rPr>
                  <a:t> </a:t>
                </a:r>
                <a:r>
                  <a:rPr lang="ja-JP" altLang="en-US"/>
                  <a:t>）</a:t>
                </a:r>
                <a:endParaRPr lang="en-US" altLang="ja-JP" dirty="0"/>
              </a:p>
              <a:p>
                <a:pPr marL="0" indent="0">
                  <a:buNone/>
                </a:pPr>
                <a14:m>
                  <m:oMathPara xmlns:m="http://schemas.openxmlformats.org/officeDocument/2006/math">
                    <m:oMathParaPr>
                      <m:jc m:val="centerGroup"/>
                    </m:oMathParaPr>
                    <m:oMath xmlns:m="http://schemas.openxmlformats.org/officeDocument/2006/math">
                      <m:sSup>
                        <m:sSupPr>
                          <m:ctrlPr>
                            <a:rPr kumimoji="1" lang="en-US" altLang="ja-JP" b="0" i="1" dirty="0" smtClean="0">
                              <a:latin typeface="Cambria Math" panose="02040503050406030204" pitchFamily="18" charset="0"/>
                            </a:rPr>
                          </m:ctrlPr>
                        </m:sSupPr>
                        <m:e>
                          <m:acc>
                            <m:accPr>
                              <m:chr m:val="̂"/>
                              <m:ctrlPr>
                                <a:rPr kumimoji="1" lang="en-US" altLang="ja-JP" i="1" dirty="0" smtClean="0">
                                  <a:latin typeface="Cambria Math" panose="02040503050406030204" pitchFamily="18" charset="0"/>
                                </a:rPr>
                              </m:ctrlPr>
                            </m:accPr>
                            <m:e>
                              <m:r>
                                <a:rPr kumimoji="1" lang="en-US" altLang="ja-JP" b="0" i="1" dirty="0" smtClean="0">
                                  <a:latin typeface="Cambria Math" panose="02040503050406030204" pitchFamily="18" charset="0"/>
                                </a:rPr>
                                <m:t>𝜃</m:t>
                              </m:r>
                            </m:e>
                          </m:acc>
                        </m:e>
                        <m:sup>
                          <m:r>
                            <a:rPr lang="ja-JP" altLang="en-US" i="1" dirty="0">
                              <a:latin typeface="Cambria Math" panose="02040503050406030204" pitchFamily="18" charset="0"/>
                            </a:rPr>
                            <m:t>理想</m:t>
                          </m:r>
                        </m:sup>
                      </m:sSup>
                      <m:r>
                        <a:rPr kumimoji="1" lang="en-US" altLang="ja-JP" b="0" i="1" dirty="0" smtClean="0">
                          <a:latin typeface="Cambria Math" panose="02040503050406030204" pitchFamily="18" charset="0"/>
                        </a:rPr>
                        <m:t>=</m:t>
                      </m:r>
                      <m:f>
                        <m:fPr>
                          <m:ctrlPr>
                            <a:rPr kumimoji="1" lang="en-US" altLang="ja-JP" b="0" i="1" dirty="0" smtClean="0">
                              <a:latin typeface="Cambria Math" panose="02040503050406030204" pitchFamily="18" charset="0"/>
                            </a:rPr>
                          </m:ctrlPr>
                        </m:fPr>
                        <m:num>
                          <m:r>
                            <a:rPr kumimoji="1" lang="en-US" altLang="ja-JP" b="0" i="1" dirty="0" smtClean="0">
                              <a:latin typeface="Cambria Math" panose="02040503050406030204" pitchFamily="18" charset="0"/>
                            </a:rPr>
                            <m:t>1</m:t>
                          </m:r>
                        </m:num>
                        <m:den>
                          <m:r>
                            <a:rPr kumimoji="1" lang="en-US" altLang="ja-JP" b="0" i="1" dirty="0" smtClean="0">
                              <a:latin typeface="Cambria Math" panose="02040503050406030204" pitchFamily="18" charset="0"/>
                            </a:rPr>
                            <m:t>𝑛</m:t>
                          </m:r>
                        </m:den>
                      </m:f>
                      <m:nary>
                        <m:naryPr>
                          <m:chr m:val="∑"/>
                          <m:ctrlPr>
                            <a:rPr kumimoji="1" lang="en-US" altLang="ja-JP" b="0" i="1" dirty="0" smtClean="0">
                              <a:latin typeface="Cambria Math" panose="02040503050406030204" pitchFamily="18" charset="0"/>
                            </a:rPr>
                          </m:ctrlPr>
                        </m:naryPr>
                        <m:sub>
                          <m:r>
                            <a:rPr kumimoji="1" lang="en-US" altLang="ja-JP" b="0" i="1" dirty="0" smtClean="0">
                              <a:latin typeface="Cambria Math" panose="02040503050406030204" pitchFamily="18" charset="0"/>
                            </a:rPr>
                            <m:t>𝑖</m:t>
                          </m:r>
                          <m:r>
                            <a:rPr kumimoji="1" lang="en-US" altLang="ja-JP" b="0" i="1" dirty="0" smtClean="0">
                              <a:latin typeface="Cambria Math" panose="02040503050406030204" pitchFamily="18" charset="0"/>
                            </a:rPr>
                            <m:t>=1</m:t>
                          </m:r>
                        </m:sub>
                        <m:sup>
                          <m:r>
                            <a:rPr kumimoji="1" lang="en-US" altLang="ja-JP" b="0" i="1" dirty="0" smtClean="0">
                              <a:latin typeface="Cambria Math" panose="02040503050406030204" pitchFamily="18" charset="0"/>
                            </a:rPr>
                            <m:t>𝑛</m:t>
                          </m:r>
                        </m:sup>
                        <m:e>
                          <m:d>
                            <m:dPr>
                              <m:ctrlPr>
                                <a:rPr kumimoji="1" lang="en-US" altLang="ja-JP" b="0" i="1" dirty="0" smtClean="0">
                                  <a:latin typeface="Cambria Math" panose="02040503050406030204" pitchFamily="18" charset="0"/>
                                </a:rPr>
                              </m:ctrlPr>
                            </m:dPr>
                            <m:e>
                              <m:d>
                                <m:dPr>
                                  <m:ctrlPr>
                                    <a:rPr lang="en-US" altLang="ja-JP" i="1" dirty="0">
                                      <a:latin typeface="Cambria Math" panose="02040503050406030204" pitchFamily="18" charset="0"/>
                                    </a:rPr>
                                  </m:ctrlPr>
                                </m:dPr>
                                <m:e>
                                  <m:f>
                                    <m:fPr>
                                      <m:ctrlPr>
                                        <a:rPr lang="en-US" altLang="ja-JP" i="1" dirty="0">
                                          <a:latin typeface="Cambria Math" panose="02040503050406030204" pitchFamily="18" charset="0"/>
                                        </a:rPr>
                                      </m:ctrlPr>
                                    </m:fPr>
                                    <m:num>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𝐷</m:t>
                                          </m:r>
                                        </m:e>
                                        <m:sub>
                                          <m:r>
                                            <a:rPr lang="en-US" altLang="ja-JP" b="0" i="1" dirty="0" smtClean="0">
                                              <a:latin typeface="Cambria Math" panose="02040503050406030204" pitchFamily="18" charset="0"/>
                                            </a:rPr>
                                            <m:t>𝑖</m:t>
                                          </m:r>
                                        </m:sub>
                                      </m:sSub>
                                    </m:num>
                                    <m:den>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𝑒</m:t>
                                          </m:r>
                                        </m:e>
                                        <m:sub>
                                          <m:r>
                                            <a:rPr lang="en-US" altLang="ja-JP" b="0" i="1" dirty="0" smtClean="0">
                                              <a:latin typeface="Cambria Math" panose="02040503050406030204" pitchFamily="18" charset="0"/>
                                            </a:rPr>
                                            <m:t>0</m:t>
                                          </m:r>
                                        </m:sub>
                                      </m:sSub>
                                      <m:r>
                                        <a:rPr lang="en-US" altLang="ja-JP" b="0" i="1" dirty="0" smtClean="0">
                                          <a:latin typeface="Cambria Math" panose="02040503050406030204" pitchFamily="18" charset="0"/>
                                        </a:rPr>
                                        <m:t>(</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𝑋</m:t>
                                          </m:r>
                                        </m:e>
                                        <m:sub>
                                          <m:r>
                                            <a:rPr lang="en-US" altLang="ja-JP" b="0" i="1" dirty="0" smtClean="0">
                                              <a:latin typeface="Cambria Math" panose="02040503050406030204" pitchFamily="18" charset="0"/>
                                            </a:rPr>
                                            <m:t>𝑖</m:t>
                                          </m:r>
                                        </m:sub>
                                      </m:sSub>
                                      <m:r>
                                        <a:rPr lang="en-US" altLang="ja-JP" b="0" i="1" dirty="0" smtClean="0">
                                          <a:latin typeface="Cambria Math" panose="02040503050406030204" pitchFamily="18" charset="0"/>
                                        </a:rPr>
                                        <m:t>)</m:t>
                                      </m:r>
                                    </m:den>
                                  </m:f>
                                  <m:r>
                                    <a:rPr lang="en-US" altLang="ja-JP" b="0"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b="0" i="1" dirty="0" smtClean="0">
                                          <a:latin typeface="Cambria Math" panose="02040503050406030204" pitchFamily="18" charset="0"/>
                                        </a:rPr>
                                        <m:t>1−</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𝐷</m:t>
                                          </m:r>
                                        </m:e>
                                        <m:sub>
                                          <m:r>
                                            <a:rPr lang="en-US" altLang="ja-JP" b="0" i="1" dirty="0" smtClean="0">
                                              <a:latin typeface="Cambria Math" panose="02040503050406030204" pitchFamily="18" charset="0"/>
                                            </a:rPr>
                                            <m:t>𝑖</m:t>
                                          </m:r>
                                        </m:sub>
                                      </m:sSub>
                                    </m:num>
                                    <m:den>
                                      <m:r>
                                        <a:rPr lang="en-US" altLang="ja-JP" b="0" i="1" dirty="0" smtClean="0">
                                          <a:latin typeface="Cambria Math" panose="02040503050406030204" pitchFamily="18" charset="0"/>
                                        </a:rPr>
                                        <m:t>1−</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𝑒</m:t>
                                          </m:r>
                                        </m:e>
                                        <m:sub>
                                          <m:r>
                                            <a:rPr lang="en-US" altLang="ja-JP" i="1" dirty="0">
                                              <a:latin typeface="Cambria Math" panose="02040503050406030204" pitchFamily="18" charset="0"/>
                                            </a:rPr>
                                            <m:t>0</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den>
                                  </m:f>
                                </m:e>
                              </m:d>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𝑌</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e>
                              </m:d>
                              <m:r>
                                <a:rPr lang="en-US" altLang="ja-JP" b="0" i="1" dirty="0" smtClean="0">
                                  <a:latin typeface="Cambria Math" panose="02040503050406030204" pitchFamily="18" charset="0"/>
                                </a:rPr>
                                <m:t>+</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b="0" i="1" dirty="0" smtClean="0">
                                      <a:latin typeface="Cambria Math" panose="02040503050406030204" pitchFamily="18" charset="0"/>
                                    </a:rPr>
                                    <m:t>0</m:t>
                                  </m:r>
                                </m:sub>
                              </m:sSub>
                              <m:d>
                                <m:dPr>
                                  <m:ctrlPr>
                                    <a:rPr lang="en-US" altLang="ja-JP" b="0" i="1" dirty="0" smtClean="0">
                                      <a:latin typeface="Cambria Math" panose="02040503050406030204" pitchFamily="18" charset="0"/>
                                    </a:rPr>
                                  </m:ctrlPr>
                                </m:dPr>
                                <m:e>
                                  <m:r>
                                    <a:rPr lang="en-US" altLang="ja-JP" b="0" i="1" dirty="0" smtClean="0">
                                      <a:latin typeface="Cambria Math" panose="02040503050406030204" pitchFamily="18" charset="0"/>
                                    </a:rPr>
                                    <m:t>1, </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𝑋</m:t>
                                      </m:r>
                                    </m:e>
                                    <m:sub>
                                      <m:r>
                                        <a:rPr lang="en-US" altLang="ja-JP" b="0" i="1" dirty="0" smtClean="0">
                                          <a:latin typeface="Cambria Math" panose="02040503050406030204" pitchFamily="18" charset="0"/>
                                        </a:rPr>
                                        <m:t>𝑖</m:t>
                                      </m:r>
                                    </m:sub>
                                  </m:sSub>
                                </m:e>
                              </m:d>
                              <m:r>
                                <a:rPr lang="en-US" altLang="ja-JP" b="0" i="1" dirty="0" smtClean="0">
                                  <a:latin typeface="Cambria Math" panose="02040503050406030204" pitchFamily="18" charset="0"/>
                                </a:rPr>
                                <m:t>−</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b="0" i="1" dirty="0" smtClean="0">
                                      <a:latin typeface="Cambria Math" panose="02040503050406030204" pitchFamily="18" charset="0"/>
                                    </a:rPr>
                                    <m:t>0</m:t>
                                  </m:r>
                                </m:sub>
                              </m:sSub>
                              <m:d>
                                <m:dPr>
                                  <m:ctrlPr>
                                    <a:rPr lang="en-US" altLang="ja-JP" b="0" i="1" dirty="0" smtClean="0">
                                      <a:latin typeface="Cambria Math" panose="02040503050406030204" pitchFamily="18" charset="0"/>
                                    </a:rPr>
                                  </m:ctrlPr>
                                </m:dPr>
                                <m:e>
                                  <m:r>
                                    <a:rPr lang="en-US" altLang="ja-JP" b="0" i="1" dirty="0" smtClean="0">
                                      <a:latin typeface="Cambria Math" panose="02040503050406030204" pitchFamily="18" charset="0"/>
                                    </a:rPr>
                                    <m:t>0,</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𝑋</m:t>
                                      </m:r>
                                    </m:e>
                                    <m:sub>
                                      <m:r>
                                        <a:rPr lang="en-US" altLang="ja-JP" b="0" i="1" dirty="0" smtClean="0">
                                          <a:latin typeface="Cambria Math" panose="02040503050406030204" pitchFamily="18" charset="0"/>
                                        </a:rPr>
                                        <m:t>𝑖</m:t>
                                      </m:r>
                                    </m:sub>
                                  </m:sSub>
                                </m:e>
                              </m:d>
                            </m:e>
                          </m:d>
                        </m:e>
                      </m:nary>
                    </m:oMath>
                  </m:oMathPara>
                </a14:m>
                <a:endParaRPr kumimoji="1" lang="en-US" altLang="ja-JP" dirty="0"/>
              </a:p>
              <a:p>
                <a:endParaRPr lang="en-US" altLang="ja-JP" dirty="0"/>
              </a:p>
              <a:p>
                <a:pPr lvl="1"/>
                <a:r>
                  <a:rPr kumimoji="1" lang="ja-JP" altLang="en-US" b="0">
                    <a:latin typeface="Cambria Math" panose="02040503050406030204" pitchFamily="18" charset="0"/>
                  </a:rPr>
                  <a:t>定義より、この推定量は効率スコア関数に対して漸近線形：</a:t>
                </a:r>
                <a:endParaRPr kumimoji="1" lang="en-US" altLang="ja-JP" b="0" dirty="0">
                  <a:latin typeface="Cambria Math" panose="02040503050406030204" pitchFamily="18" charset="0"/>
                </a:endParaRPr>
              </a:p>
              <a:p>
                <a:pPr marL="397800" lvl="1" indent="0">
                  <a:buNone/>
                </a:pPr>
                <a14:m>
                  <m:oMathPara xmlns:m="http://schemas.openxmlformats.org/officeDocument/2006/math">
                    <m:oMathParaPr>
                      <m:jc m:val="centerGroup"/>
                    </m:oMathParaPr>
                    <m:oMath xmlns:m="http://schemas.openxmlformats.org/officeDocument/2006/math">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𝑛</m:t>
                          </m:r>
                        </m:e>
                      </m:rad>
                      <m:d>
                        <m:dPr>
                          <m:ctrlPr>
                            <a:rPr kumimoji="1" lang="en-US" altLang="ja-JP" b="0" i="1" smtClean="0">
                              <a:latin typeface="Cambria Math" panose="02040503050406030204" pitchFamily="18" charset="0"/>
                            </a:rPr>
                          </m:ctrlPr>
                        </m:dPr>
                        <m:e>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r>
                            <a:rPr lang="en-US" altLang="ja-JP" b="0" i="1" dirty="0" smtClean="0">
                              <a:latin typeface="Cambria Math" panose="02040503050406030204" pitchFamily="18" charset="0"/>
                            </a:rPr>
                            <m:t>−</m:t>
                          </m:r>
                          <m:sSubSup>
                            <m:sSubSupPr>
                              <m:ctrlPr>
                                <a:rPr lang="en-US" altLang="ja-JP" b="0" i="1" dirty="0" smtClean="0">
                                  <a:latin typeface="Cambria Math" panose="02040503050406030204" pitchFamily="18" charset="0"/>
                                </a:rPr>
                              </m:ctrlPr>
                            </m:sSubSupPr>
                            <m:e>
                              <m:r>
                                <a:rPr lang="en-US" altLang="ja-JP" b="0" i="1" dirty="0" smtClean="0">
                                  <a:latin typeface="Cambria Math" panose="02040503050406030204" pitchFamily="18" charset="0"/>
                                </a:rPr>
                                <m:t>𝜃</m:t>
                              </m:r>
                            </m:e>
                            <m:sub>
                              <m:r>
                                <a:rPr lang="en-US" altLang="ja-JP" b="0" i="1" dirty="0" smtClean="0">
                                  <a:latin typeface="Cambria Math" panose="02040503050406030204" pitchFamily="18" charset="0"/>
                                </a:rPr>
                                <m:t>0</m:t>
                              </m:r>
                            </m:sub>
                            <m:sup>
                              <m:r>
                                <m:rPr>
                                  <m:sty m:val="p"/>
                                </m:rPr>
                                <a:rPr lang="en-US" altLang="ja-JP" b="0" i="0" dirty="0" smtClean="0">
                                  <a:latin typeface="Cambria Math" panose="02040503050406030204" pitchFamily="18" charset="0"/>
                                </a:rPr>
                                <m:t>ATE</m:t>
                              </m:r>
                            </m:sup>
                          </m:sSubSup>
                        </m:e>
                      </m:d>
                      <m:r>
                        <m:rPr>
                          <m:aln/>
                        </m:rPr>
                        <a:rPr kumimoji="1" lang="en-US" altLang="ja-JP" b="0" i="1"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ad>
                            <m:radPr>
                              <m:degHide m:val="on"/>
                              <m:ctrlPr>
                                <a:rPr lang="en-US" altLang="ja-JP" b="0" i="1" dirty="0" smtClean="0">
                                  <a:latin typeface="Cambria Math" panose="02040503050406030204" pitchFamily="18" charset="0"/>
                                </a:rPr>
                              </m:ctrlPr>
                            </m:radPr>
                            <m:deg/>
                            <m:e>
                              <m:r>
                                <a:rPr lang="en-US" altLang="ja-JP" b="0" i="1" dirty="0" smtClean="0">
                                  <a:latin typeface="Cambria Math" panose="02040503050406030204" pitchFamily="18" charset="0"/>
                                </a:rPr>
                                <m:t>𝑛</m:t>
                              </m:r>
                            </m:e>
                          </m:rad>
                        </m:den>
                      </m:f>
                      <m:nary>
                        <m:naryPr>
                          <m:chr m:val="∑"/>
                          <m:ctrlPr>
                            <a:rPr lang="en-US" altLang="ja-JP" i="1" dirty="0">
                              <a:latin typeface="Cambria Math" panose="02040503050406030204" pitchFamily="18" charset="0"/>
                            </a:rPr>
                          </m:ctrlPr>
                        </m:naryPr>
                        <m:sub>
                          <m:r>
                            <a:rPr lang="en-US" altLang="ja-JP" i="1" dirty="0">
                              <a:latin typeface="Cambria Math" panose="02040503050406030204" pitchFamily="18" charset="0"/>
                            </a:rPr>
                            <m:t>𝑖</m:t>
                          </m:r>
                          <m:r>
                            <a:rPr lang="en-US" altLang="ja-JP" i="1" dirty="0">
                              <a:latin typeface="Cambria Math" panose="02040503050406030204" pitchFamily="18" charset="0"/>
                            </a:rPr>
                            <m:t>=1</m:t>
                          </m:r>
                        </m:sub>
                        <m:sup>
                          <m:r>
                            <a:rPr lang="en-US" altLang="ja-JP" i="1" dirty="0">
                              <a:latin typeface="Cambria Math" panose="02040503050406030204" pitchFamily="18" charset="0"/>
                            </a:rPr>
                            <m:t>𝑛</m:t>
                          </m:r>
                        </m:sup>
                        <m:e>
                          <m:d>
                            <m:dPr>
                              <m:ctrlPr>
                                <a:rPr lang="en-US" altLang="ja-JP" i="1" dirty="0">
                                  <a:latin typeface="Cambria Math" panose="02040503050406030204" pitchFamily="18" charset="0"/>
                                </a:rPr>
                              </m:ctrlPr>
                            </m:dPr>
                            <m:e>
                              <m:d>
                                <m:dPr>
                                  <m:ctrlPr>
                                    <a:rPr lang="en-US" altLang="ja-JP" i="1" dirty="0">
                                      <a:latin typeface="Cambria Math" panose="02040503050406030204" pitchFamily="18" charset="0"/>
                                    </a:rPr>
                                  </m:ctrlPr>
                                </m:dPr>
                                <m:e>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num>
                                    <m:den>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𝑒</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num>
                                    <m:den>
                                      <m:r>
                                        <a:rPr lang="en-US" altLang="ja-JP" i="1" dirty="0">
                                          <a:latin typeface="Cambria Math" panose="02040503050406030204" pitchFamily="18" charset="0"/>
                                        </a:rPr>
                                        <m:t>1−</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𝑒</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den>
                                  </m:f>
                                </m:e>
                              </m:d>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𝑌</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e>
                              </m:d>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r>
                                    <a:rPr lang="en-US" altLang="ja-JP" i="1" dirty="0">
                                      <a:latin typeface="Cambria Math" panose="02040503050406030204" pitchFamily="18" charset="0"/>
                                    </a:rPr>
                                    <m:t>1, </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i="1" dirty="0">
                                      <a:latin typeface="Cambria Math" panose="02040503050406030204" pitchFamily="18" charset="0"/>
                                    </a:rPr>
                                    <m:t>0</m:t>
                                  </m:r>
                                </m:sub>
                              </m:sSub>
                              <m:d>
                                <m:dPr>
                                  <m:ctrlPr>
                                    <a:rPr lang="en-US" altLang="ja-JP" i="1" dirty="0">
                                      <a:latin typeface="Cambria Math" panose="02040503050406030204" pitchFamily="18" charset="0"/>
                                    </a:rPr>
                                  </m:ctrlPr>
                                </m:dPr>
                                <m:e>
                                  <m:r>
                                    <a:rPr lang="en-US" altLang="ja-JP" i="1" dirty="0">
                                      <a:latin typeface="Cambria Math" panose="02040503050406030204" pitchFamily="18" charset="0"/>
                                    </a:rPr>
                                    <m:t>0,</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r>
                                <a:rPr lang="en-US" altLang="ja-JP" b="0" i="1" dirty="0" smtClean="0">
                                  <a:latin typeface="Cambria Math" panose="02040503050406030204" pitchFamily="18" charset="0"/>
                                </a:rPr>
                                <m:t>−</m:t>
                              </m:r>
                              <m:sSubSup>
                                <m:sSubSupPr>
                                  <m:ctrlPr>
                                    <a:rPr lang="en-US" altLang="ja-JP" b="0" i="1" dirty="0" smtClean="0">
                                      <a:latin typeface="Cambria Math" panose="02040503050406030204" pitchFamily="18" charset="0"/>
                                    </a:rPr>
                                  </m:ctrlPr>
                                </m:sSubSupPr>
                                <m:e>
                                  <m:r>
                                    <a:rPr lang="en-US" altLang="ja-JP" b="0" i="1" dirty="0" smtClean="0">
                                      <a:latin typeface="Cambria Math" panose="02040503050406030204" pitchFamily="18" charset="0"/>
                                    </a:rPr>
                                    <m:t>𝜃</m:t>
                                  </m:r>
                                </m:e>
                                <m:sub>
                                  <m:r>
                                    <a:rPr lang="en-US" altLang="ja-JP" b="0" i="1" dirty="0" smtClean="0">
                                      <a:latin typeface="Cambria Math" panose="02040503050406030204" pitchFamily="18" charset="0"/>
                                    </a:rPr>
                                    <m:t>0</m:t>
                                  </m:r>
                                </m:sub>
                                <m:sup>
                                  <m:r>
                                    <a:rPr lang="en-US" altLang="ja-JP" b="0" i="1" dirty="0" smtClean="0">
                                      <a:latin typeface="Cambria Math" panose="02040503050406030204" pitchFamily="18" charset="0"/>
                                    </a:rPr>
                                    <m:t>𝐴𝑇𝐸</m:t>
                                  </m:r>
                                  <m:r>
                                    <a:rPr lang="en-US" altLang="ja-JP" b="0" i="1" dirty="0" smtClean="0">
                                      <a:latin typeface="Cambria Math" panose="02040503050406030204" pitchFamily="18" charset="0"/>
                                    </a:rPr>
                                    <m:t> </m:t>
                                  </m:r>
                                </m:sup>
                              </m:sSubSup>
                            </m:e>
                          </m:d>
                        </m:e>
                      </m:nary>
                    </m:oMath>
                    <m:oMath xmlns:m="http://schemas.openxmlformats.org/officeDocument/2006/math">
                      <m:r>
                        <m:rPr>
                          <m:aln/>
                        </m:rPr>
                        <a:rPr lang="en-US" altLang="ja-JP" b="0" i="1"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ad>
                            <m:radPr>
                              <m:degHide m:val="on"/>
                              <m:ctrlPr>
                                <a:rPr lang="en-US" altLang="ja-JP" i="1" dirty="0">
                                  <a:latin typeface="Cambria Math" panose="02040503050406030204" pitchFamily="18" charset="0"/>
                                </a:rPr>
                              </m:ctrlPr>
                            </m:radPr>
                            <m:deg/>
                            <m:e>
                              <m:r>
                                <a:rPr lang="en-US" altLang="ja-JP" i="1" dirty="0">
                                  <a:latin typeface="Cambria Math" panose="02040503050406030204" pitchFamily="18" charset="0"/>
                                </a:rPr>
                                <m:t>𝑛</m:t>
                              </m:r>
                            </m:e>
                          </m:rad>
                        </m:den>
                      </m:f>
                      <m:nary>
                        <m:naryPr>
                          <m:chr m:val="∑"/>
                          <m:ctrlPr>
                            <a:rPr lang="en-US" altLang="ja-JP" i="1" dirty="0">
                              <a:latin typeface="Cambria Math" panose="02040503050406030204" pitchFamily="18" charset="0"/>
                            </a:rPr>
                          </m:ctrlPr>
                        </m:naryPr>
                        <m:sub>
                          <m:r>
                            <a:rPr lang="en-US" altLang="ja-JP" i="1" dirty="0">
                              <a:latin typeface="Cambria Math" panose="02040503050406030204" pitchFamily="18" charset="0"/>
                            </a:rPr>
                            <m:t>𝑖</m:t>
                          </m:r>
                          <m:r>
                            <a:rPr lang="en-US" altLang="ja-JP" i="1" dirty="0">
                              <a:latin typeface="Cambria Math" panose="02040503050406030204" pitchFamily="18" charset="0"/>
                            </a:rPr>
                            <m:t>=1</m:t>
                          </m:r>
                        </m:sub>
                        <m:sup>
                          <m:r>
                            <a:rPr lang="en-US" altLang="ja-JP" i="1" dirty="0">
                              <a:latin typeface="Cambria Math" panose="02040503050406030204" pitchFamily="18" charset="0"/>
                            </a:rPr>
                            <m:t>𝑛</m:t>
                          </m:r>
                        </m:sup>
                        <m:e>
                          <m:r>
                            <a:rPr lang="en-US" altLang="ja-JP" b="0" i="1" dirty="0" smtClean="0">
                              <a:latin typeface="Cambria Math" panose="02040503050406030204" pitchFamily="18" charset="0"/>
                            </a:rPr>
                            <m:t>𝜓</m:t>
                          </m:r>
                          <m:r>
                            <a:rPr lang="en-US" altLang="ja-JP" b="0" i="1" dirty="0" smtClean="0">
                              <a:latin typeface="Cambria Math" panose="02040503050406030204" pitchFamily="18" charset="0"/>
                            </a:rPr>
                            <m:t>(</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𝐷</m:t>
                              </m:r>
                            </m:e>
                            <m:sub>
                              <m:r>
                                <a:rPr lang="en-US" altLang="ja-JP" b="0" i="1" dirty="0" smtClean="0">
                                  <a:latin typeface="Cambria Math" panose="02040503050406030204" pitchFamily="18" charset="0"/>
                                </a:rPr>
                                <m:t>𝑖</m:t>
                              </m:r>
                            </m:sub>
                          </m:sSub>
                          <m:r>
                            <a:rPr lang="en-US" altLang="ja-JP" b="0" i="1" dirty="0" smtClean="0">
                              <a:latin typeface="Cambria Math" panose="02040503050406030204" pitchFamily="18" charset="0"/>
                            </a:rPr>
                            <m:t>, </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𝑋</m:t>
                              </m:r>
                            </m:e>
                            <m:sub>
                              <m:r>
                                <a:rPr lang="en-US" altLang="ja-JP" b="0" i="1" dirty="0" smtClean="0">
                                  <a:latin typeface="Cambria Math" panose="02040503050406030204" pitchFamily="18" charset="0"/>
                                </a:rPr>
                                <m:t>𝑖</m:t>
                              </m:r>
                            </m:sub>
                          </m:sSub>
                          <m:r>
                            <a:rPr lang="en-US" altLang="ja-JP" b="0" i="1" dirty="0" smtClean="0">
                              <a:latin typeface="Cambria Math" panose="02040503050406030204" pitchFamily="18" charset="0"/>
                            </a:rPr>
                            <m:t>, </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𝑌</m:t>
                              </m:r>
                            </m:e>
                            <m:sub>
                              <m:r>
                                <a:rPr lang="en-US" altLang="ja-JP" b="0" i="1" dirty="0" smtClean="0">
                                  <a:latin typeface="Cambria Math" panose="02040503050406030204" pitchFamily="18" charset="0"/>
                                </a:rPr>
                                <m:t>𝑖</m:t>
                              </m:r>
                            </m:sub>
                          </m:sSub>
                          <m:r>
                            <a:rPr lang="en-US" altLang="ja-JP" b="0" i="1" dirty="0" smtClean="0">
                              <a:latin typeface="Cambria Math" panose="02040503050406030204" pitchFamily="18" charset="0"/>
                            </a:rPr>
                            <m:t>;</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𝑓</m:t>
                              </m:r>
                            </m:e>
                            <m:sub>
                              <m:r>
                                <a:rPr lang="en-US" altLang="ja-JP" b="0" i="1" dirty="0" smtClean="0">
                                  <a:latin typeface="Cambria Math" panose="02040503050406030204" pitchFamily="18" charset="0"/>
                                </a:rPr>
                                <m:t>0</m:t>
                              </m:r>
                            </m:sub>
                          </m:sSub>
                          <m:r>
                            <a:rPr lang="en-US" altLang="ja-JP" b="0" i="1" dirty="0" smtClean="0">
                              <a:latin typeface="Cambria Math" panose="02040503050406030204" pitchFamily="18" charset="0"/>
                            </a:rPr>
                            <m:t>, </m:t>
                          </m:r>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𝑒</m:t>
                              </m:r>
                            </m:e>
                            <m:sub>
                              <m:r>
                                <a:rPr lang="en-US" altLang="ja-JP" b="0" i="1" dirty="0" smtClean="0">
                                  <a:latin typeface="Cambria Math" panose="02040503050406030204" pitchFamily="18" charset="0"/>
                                </a:rPr>
                                <m:t>0</m:t>
                              </m:r>
                            </m:sub>
                          </m:sSub>
                          <m:r>
                            <a:rPr lang="en-US" altLang="ja-JP" b="0" i="1" dirty="0" smtClean="0">
                              <a:latin typeface="Cambria Math" panose="02040503050406030204" pitchFamily="18" charset="0"/>
                            </a:rPr>
                            <m:t>)</m:t>
                          </m:r>
                        </m:e>
                      </m:nary>
                    </m:oMath>
                  </m:oMathPara>
                </a14:m>
                <a:br>
                  <a:rPr lang="en-US" altLang="ja-JP" b="0" dirty="0"/>
                </a:br>
                <a:endParaRPr kumimoji="1" lang="en-US" altLang="ja-JP" dirty="0"/>
              </a:p>
              <a:p>
                <a:endParaRPr kumimoji="1" lang="en-US" altLang="ja-JP" dirty="0"/>
              </a:p>
              <a:p>
                <a:r>
                  <a:rPr kumimoji="1" lang="ja-JP" altLang="en-US"/>
                  <a:t>課題： 回帰関数</a:t>
                </a:r>
                <a:r>
                  <a:rPr kumimoji="1" lang="en-US" altLang="ja-JP" dirty="0"/>
                  <a:t>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0</m:t>
                        </m:r>
                      </m:sub>
                    </m:sSub>
                  </m:oMath>
                </a14:m>
                <a:r>
                  <a:rPr kumimoji="1" lang="en-US" altLang="ja-JP" dirty="0"/>
                  <a:t> </a:t>
                </a:r>
                <a:r>
                  <a:rPr kumimoji="1" lang="ja-JP" altLang="en-US" dirty="0"/>
                  <a:t>と</a:t>
                </a:r>
                <a:r>
                  <a:rPr kumimoji="1" lang="ja-JP" altLang="en-US"/>
                  <a:t>傾向スコア</a:t>
                </a:r>
                <a:r>
                  <a:rPr kumimoji="1" lang="en-US" altLang="ja-JP" dirty="0"/>
                  <a:t>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𝑒</m:t>
                        </m:r>
                      </m:e>
                      <m:sub>
                        <m:r>
                          <a:rPr kumimoji="1" lang="en-US" altLang="ja-JP" b="0" i="1" smtClean="0">
                            <a:latin typeface="Cambria Math" panose="02040503050406030204" pitchFamily="18" charset="0"/>
                          </a:rPr>
                          <m:t>0</m:t>
                        </m:r>
                      </m:sub>
                    </m:sSub>
                  </m:oMath>
                </a14:m>
                <a:r>
                  <a:rPr kumimoji="1" lang="en-US" altLang="ja-JP" dirty="0"/>
                  <a:t> </a:t>
                </a:r>
                <a:r>
                  <a:rPr kumimoji="1" lang="ja-JP" altLang="en-US"/>
                  <a:t>は未知</a:t>
                </a:r>
                <a:endParaRPr kumimoji="1" lang="en-US" altLang="ja-JP" dirty="0"/>
              </a:p>
              <a:p>
                <a:pPr lvl="1"/>
                <a:r>
                  <a:rPr kumimoji="1" lang="ja-JP" altLang="en-US"/>
                  <a:t>理想的な推定量は構築不可能</a:t>
                </a:r>
                <a:endParaRPr kumimoji="1" lang="en-US" altLang="ja-JP" dirty="0"/>
              </a:p>
              <a:p>
                <a:pPr lvl="1"/>
                <a:endParaRPr kumimoji="1" lang="en-US" altLang="ja-JP" dirty="0"/>
              </a:p>
              <a:p>
                <a:r>
                  <a:rPr kumimoji="1" lang="ja-JP" altLang="en-US"/>
                  <a:t>実際に構築可能な推定量は以下のような推定量：</a:t>
                </a:r>
                <a:endParaRPr kumimoji="1" lang="en-US" altLang="ja-JP" dirty="0"/>
              </a:p>
              <a:p>
                <a:pPr marL="0" indent="0">
                  <a:buNone/>
                </a:pPr>
                <a14:m>
                  <m:oMathPara xmlns:m="http://schemas.openxmlformats.org/officeDocument/2006/math">
                    <m:oMathParaPr>
                      <m:jc m:val="centerGroup"/>
                    </m:oMathParaPr>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r>
                        <a:rPr lang="en-US" altLang="ja-JP" b="0" i="1"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𝑛</m:t>
                          </m:r>
                        </m:den>
                      </m:f>
                      <m:nary>
                        <m:naryPr>
                          <m:chr m:val="∑"/>
                          <m:ctrlPr>
                            <a:rPr lang="en-US" altLang="ja-JP" i="1" dirty="0">
                              <a:latin typeface="Cambria Math" panose="02040503050406030204" pitchFamily="18" charset="0"/>
                            </a:rPr>
                          </m:ctrlPr>
                        </m:naryPr>
                        <m:sub>
                          <m:r>
                            <a:rPr lang="en-US" altLang="ja-JP" i="1" dirty="0">
                              <a:latin typeface="Cambria Math" panose="02040503050406030204" pitchFamily="18" charset="0"/>
                            </a:rPr>
                            <m:t>𝑖</m:t>
                          </m:r>
                          <m:r>
                            <a:rPr lang="en-US" altLang="ja-JP" i="1" dirty="0">
                              <a:latin typeface="Cambria Math" panose="02040503050406030204" pitchFamily="18" charset="0"/>
                            </a:rPr>
                            <m:t>=1</m:t>
                          </m:r>
                        </m:sub>
                        <m:sup>
                          <m:r>
                            <a:rPr lang="en-US" altLang="ja-JP" i="1" dirty="0">
                              <a:latin typeface="Cambria Math" panose="02040503050406030204" pitchFamily="18" charset="0"/>
                            </a:rPr>
                            <m:t>𝑛</m:t>
                          </m:r>
                        </m:sup>
                        <m:e>
                          <m:d>
                            <m:dPr>
                              <m:ctrlPr>
                                <a:rPr lang="en-US" altLang="ja-JP" i="1" dirty="0">
                                  <a:latin typeface="Cambria Math" panose="02040503050406030204" pitchFamily="18" charset="0"/>
                                </a:rPr>
                              </m:ctrlPr>
                            </m:dPr>
                            <m:e>
                              <m:d>
                                <m:dPr>
                                  <m:ctrlPr>
                                    <a:rPr lang="en-US" altLang="ja-JP" i="1" dirty="0">
                                      <a:latin typeface="Cambria Math" panose="02040503050406030204" pitchFamily="18" charset="0"/>
                                    </a:rPr>
                                  </m:ctrlPr>
                                </m:dPr>
                                <m:e>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num>
                                    <m:den>
                                      <m:acc>
                                        <m:accPr>
                                          <m:chr m:val="̂"/>
                                          <m:ctrlPr>
                                            <a:rPr lang="en-US" altLang="ja-JP" b="0" i="1" dirty="0" smtClean="0">
                                              <a:latin typeface="Cambria Math" panose="02040503050406030204" pitchFamily="18" charset="0"/>
                                            </a:rPr>
                                          </m:ctrlPr>
                                        </m:accPr>
                                        <m:e>
                                          <m:r>
                                            <a:rPr lang="en-US" altLang="ja-JP" b="0" i="1" dirty="0" smtClean="0">
                                              <a:latin typeface="Cambria Math" panose="02040503050406030204" pitchFamily="18" charset="0"/>
                                            </a:rPr>
                                            <m:t>𝑒</m:t>
                                          </m:r>
                                        </m:e>
                                      </m:acc>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num>
                                    <m:den>
                                      <m:r>
                                        <a:rPr lang="en-US" altLang="ja-JP" i="1" dirty="0">
                                          <a:latin typeface="Cambria Math" panose="02040503050406030204" pitchFamily="18" charset="0"/>
                                        </a:rPr>
                                        <m:t>1−</m:t>
                                      </m:r>
                                      <m:acc>
                                        <m:accPr>
                                          <m:chr m:val="̂"/>
                                          <m:ctrlPr>
                                            <a:rPr lang="en-US" altLang="ja-JP" b="0" i="1" dirty="0" smtClean="0">
                                              <a:latin typeface="Cambria Math" panose="02040503050406030204" pitchFamily="18" charset="0"/>
                                            </a:rPr>
                                          </m:ctrlPr>
                                        </m:accPr>
                                        <m:e>
                                          <m:r>
                                            <a:rPr lang="en-US" altLang="ja-JP" b="0" i="1" dirty="0" smtClean="0">
                                              <a:latin typeface="Cambria Math" panose="02040503050406030204" pitchFamily="18" charset="0"/>
                                            </a:rPr>
                                            <m:t>𝑒</m:t>
                                          </m:r>
                                        </m:e>
                                      </m:acc>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den>
                                  </m:f>
                                </m:e>
                              </m:d>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𝑌</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acc>
                                    <m:accPr>
                                      <m:chr m:val="̂"/>
                                      <m:ctrlPr>
                                        <a:rPr lang="en-US" altLang="ja-JP" b="0" i="1" dirty="0" smtClean="0">
                                          <a:latin typeface="Cambria Math" panose="02040503050406030204" pitchFamily="18" charset="0"/>
                                        </a:rPr>
                                      </m:ctrlPr>
                                    </m:accPr>
                                    <m:e>
                                      <m:r>
                                        <a:rPr lang="en-US" altLang="ja-JP" b="0" i="1" dirty="0" smtClean="0">
                                          <a:latin typeface="Cambria Math" panose="02040503050406030204" pitchFamily="18" charset="0"/>
                                        </a:rPr>
                                        <m:t>𝑓</m:t>
                                      </m:r>
                                    </m:e>
                                  </m:acc>
                                  <m:d>
                                    <m:dPr>
                                      <m:ctrlPr>
                                        <a:rPr lang="en-US" altLang="ja-JP" i="1" dirty="0">
                                          <a:latin typeface="Cambria Math" panose="02040503050406030204" pitchFamily="18" charset="0"/>
                                        </a:rPr>
                                      </m:ctrlPr>
                                    </m:dPr>
                                    <m:e>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𝐷</m:t>
                                          </m:r>
                                        </m:e>
                                        <m:sub>
                                          <m:r>
                                            <a:rPr lang="en-US" altLang="ja-JP" i="1" dirty="0">
                                              <a:latin typeface="Cambria Math" panose="02040503050406030204" pitchFamily="18" charset="0"/>
                                            </a:rPr>
                                            <m:t>𝑖</m:t>
                                          </m:r>
                                        </m:sub>
                                      </m:sSub>
                                      <m:r>
                                        <a:rPr lang="en-US" altLang="ja-JP" i="1" dirty="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e>
                              </m:d>
                              <m:r>
                                <a:rPr lang="en-US" altLang="ja-JP" i="1" dirty="0">
                                  <a:latin typeface="Cambria Math" panose="02040503050406030204" pitchFamily="18" charset="0"/>
                                </a:rPr>
                                <m:t>+</m:t>
                              </m:r>
                              <m:acc>
                                <m:accPr>
                                  <m:chr m:val="̂"/>
                                  <m:ctrlPr>
                                    <a:rPr lang="en-US" altLang="ja-JP" i="1" dirty="0">
                                      <a:latin typeface="Cambria Math" panose="02040503050406030204" pitchFamily="18" charset="0"/>
                                    </a:rPr>
                                  </m:ctrlPr>
                                </m:accPr>
                                <m:e>
                                  <m:r>
                                    <a:rPr lang="en-US" altLang="ja-JP" b="0" i="1" dirty="0" smtClean="0">
                                      <a:latin typeface="Cambria Math" panose="02040503050406030204" pitchFamily="18" charset="0"/>
                                    </a:rPr>
                                    <m:t>𝑓</m:t>
                                  </m:r>
                                </m:e>
                              </m:acc>
                              <m:d>
                                <m:dPr>
                                  <m:ctrlPr>
                                    <a:rPr lang="en-US" altLang="ja-JP" i="1" dirty="0">
                                      <a:latin typeface="Cambria Math" panose="02040503050406030204" pitchFamily="18" charset="0"/>
                                    </a:rPr>
                                  </m:ctrlPr>
                                </m:dPr>
                                <m:e>
                                  <m:r>
                                    <a:rPr lang="en-US" altLang="ja-JP" i="1" dirty="0">
                                      <a:latin typeface="Cambria Math" panose="02040503050406030204" pitchFamily="18" charset="0"/>
                                    </a:rPr>
                                    <m:t>1, </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r>
                                <a:rPr lang="en-US" altLang="ja-JP" i="1" dirty="0">
                                  <a:latin typeface="Cambria Math" panose="02040503050406030204" pitchFamily="18" charset="0"/>
                                </a:rPr>
                                <m:t>−</m:t>
                              </m:r>
                              <m:acc>
                                <m:accPr>
                                  <m:chr m:val="̂"/>
                                  <m:ctrlPr>
                                    <a:rPr lang="en-US" altLang="ja-JP" i="1" dirty="0">
                                      <a:latin typeface="Cambria Math" panose="02040503050406030204" pitchFamily="18" charset="0"/>
                                    </a:rPr>
                                  </m:ctrlPr>
                                </m:accPr>
                                <m:e>
                                  <m:r>
                                    <a:rPr lang="en-US" altLang="ja-JP" b="0" i="1" dirty="0" smtClean="0">
                                      <a:latin typeface="Cambria Math" panose="02040503050406030204" pitchFamily="18" charset="0"/>
                                    </a:rPr>
                                    <m:t>𝑓</m:t>
                                  </m:r>
                                </m:e>
                              </m:acc>
                              <m:d>
                                <m:dPr>
                                  <m:ctrlPr>
                                    <a:rPr lang="en-US" altLang="ja-JP" i="1" dirty="0">
                                      <a:latin typeface="Cambria Math" panose="02040503050406030204" pitchFamily="18" charset="0"/>
                                    </a:rPr>
                                  </m:ctrlPr>
                                </m:dPr>
                                <m:e>
                                  <m:r>
                                    <a:rPr lang="en-US" altLang="ja-JP" i="1" dirty="0">
                                      <a:latin typeface="Cambria Math" panose="02040503050406030204" pitchFamily="18" charset="0"/>
                                    </a:rPr>
                                    <m:t>0,</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𝑋</m:t>
                                      </m:r>
                                    </m:e>
                                    <m:sub>
                                      <m:r>
                                        <a:rPr lang="en-US" altLang="ja-JP" i="1" dirty="0">
                                          <a:latin typeface="Cambria Math" panose="02040503050406030204" pitchFamily="18" charset="0"/>
                                        </a:rPr>
                                        <m:t>𝑖</m:t>
                                      </m:r>
                                    </m:sub>
                                  </m:sSub>
                                </m:e>
                              </m:d>
                            </m:e>
                          </m:d>
                        </m:e>
                      </m:nary>
                    </m:oMath>
                  </m:oMathPara>
                </a14:m>
                <a:endParaRPr kumimoji="1" lang="en-US" altLang="ja-JP" dirty="0"/>
              </a:p>
              <a:p>
                <a:endParaRPr kumimoji="1" lang="en-US" altLang="ja-JP" dirty="0"/>
              </a:p>
              <a:p>
                <a:endParaRPr kumimoji="1" lang="ja-JP" altLang="en-US"/>
              </a:p>
            </p:txBody>
          </p:sp>
        </mc:Choice>
        <mc:Fallback xmlns="">
          <p:sp>
            <p:nvSpPr>
              <p:cNvPr id="3" name="コンテンツ プレースホルダー 2">
                <a:extLst>
                  <a:ext uri="{FF2B5EF4-FFF2-40B4-BE49-F238E27FC236}">
                    <a16:creationId xmlns:a16="http://schemas.microsoft.com/office/drawing/2014/main" id="{D043B449-7F10-F8D0-142B-0D0E5E1EDA95}"/>
                  </a:ext>
                </a:extLst>
              </p:cNvPr>
              <p:cNvSpPr>
                <a:spLocks noGrp="1" noRot="1" noChangeAspect="1" noMove="1" noResize="1" noEditPoints="1" noAdjustHandles="1" noChangeArrowheads="1" noChangeShapeType="1" noTextEdit="1"/>
              </p:cNvSpPr>
              <p:nvPr>
                <p:ph idx="1"/>
              </p:nvPr>
            </p:nvSpPr>
            <p:spPr>
              <a:blipFill>
                <a:blip r:embed="rId2"/>
                <a:stretch>
                  <a:fillRect l="-483" t="-11111" b="-2340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582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7DBC-9587-9E8C-A3B7-321C404A5E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86EB3B-F672-AA7B-976B-A35E7ED1E316}"/>
              </a:ext>
            </a:extLst>
          </p:cNvPr>
          <p:cNvSpPr>
            <a:spLocks noGrp="1"/>
          </p:cNvSpPr>
          <p:nvPr>
            <p:ph type="title"/>
          </p:nvPr>
        </p:nvSpPr>
        <p:spPr/>
        <p:txBody>
          <a:bodyPr/>
          <a:lstStyle/>
          <a:p>
            <a:r>
              <a:rPr kumimoji="1" lang="ja-JP" altLang="en-US"/>
              <a:t>ネイマン直交性とバイアスの高速収束</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4C8D078-E54D-66AF-E637-CE23DFE378F8}"/>
                  </a:ext>
                </a:extLst>
              </p:cNvPr>
              <p:cNvSpPr>
                <a:spLocks noGrp="1"/>
              </p:cNvSpPr>
              <p:nvPr>
                <p:ph idx="1"/>
              </p:nvPr>
            </p:nvSpPr>
            <p:spPr/>
            <p:txBody>
              <a:bodyPr/>
              <a:lstStyle/>
              <a:p>
                <a:r>
                  <a:rPr kumimoji="1" lang="ja-JP" altLang="en-US"/>
                  <a:t>局外母数の推定誤差によって生じるバイアス：</a:t>
                </a:r>
                <a:endParaRPr kumimoji="1" lang="en-US" altLang="ja-JP" dirty="0"/>
              </a:p>
              <a:p>
                <a:endParaRPr lang="en-US" altLang="ja-JP" sz="800" dirty="0"/>
              </a:p>
              <a:p>
                <a:pPr marL="0" indent="0">
                  <a:buNone/>
                </a:pPr>
                <a14:m>
                  <m:oMathPara xmlns:m="http://schemas.openxmlformats.org/officeDocument/2006/math">
                    <m:oMathParaPr>
                      <m:jc m:val="centerGroup"/>
                    </m:oMathParaPr>
                    <m:oMath xmlns:m="http://schemas.openxmlformats.org/officeDocument/2006/math">
                      <m:rad>
                        <m:radPr>
                          <m:degHide m:val="on"/>
                          <m:ctrlPr>
                            <a:rPr lang="en-US" altLang="ja-JP" i="1">
                              <a:latin typeface="Cambria Math" panose="02040503050406030204" pitchFamily="18" charset="0"/>
                            </a:rPr>
                          </m:ctrlPr>
                        </m:radPr>
                        <m:deg/>
                        <m:e>
                          <m:r>
                            <a:rPr lang="en-US" altLang="ja-JP" i="1">
                              <a:latin typeface="Cambria Math" panose="02040503050406030204" pitchFamily="18" charset="0"/>
                            </a:rPr>
                            <m:t>𝑛</m:t>
                          </m:r>
                        </m:e>
                      </m:rad>
                      <m:d>
                        <m:dPr>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r>
                            <a:rPr lang="en-US" altLang="ja-JP" i="1" dirty="0">
                              <a:latin typeface="Cambria Math" panose="02040503050406030204" pitchFamily="18" charset="0"/>
                            </a:rPr>
                            <m:t>−</m:t>
                          </m:r>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𝜃</m:t>
                              </m:r>
                            </m:e>
                            <m:sub>
                              <m:r>
                                <a:rPr lang="en-US" altLang="ja-JP" i="1" dirty="0">
                                  <a:latin typeface="Cambria Math" panose="02040503050406030204" pitchFamily="18" charset="0"/>
                                </a:rPr>
                                <m:t>0</m:t>
                              </m:r>
                            </m:sub>
                            <m:sup>
                              <m:r>
                                <m:rPr>
                                  <m:sty m:val="p"/>
                                </m:rPr>
                                <a:rPr lang="en-US" altLang="ja-JP" dirty="0">
                                  <a:latin typeface="Cambria Math" panose="02040503050406030204" pitchFamily="18" charset="0"/>
                                </a:rPr>
                                <m:t>ATE</m:t>
                              </m:r>
                            </m:sup>
                          </m:sSubSup>
                        </m:e>
                      </m:d>
                    </m:oMath>
                    <m:oMath xmlns:m="http://schemas.openxmlformats.org/officeDocument/2006/math">
                      <m:r>
                        <m:rPr>
                          <m:aln/>
                        </m:rPr>
                        <a:rPr lang="en-US" altLang="ja-JP" b="0" i="1" dirty="0" smtClean="0">
                          <a:latin typeface="Cambria Math" panose="02040503050406030204" pitchFamily="18" charset="0"/>
                        </a:rPr>
                        <m:t>=</m:t>
                      </m:r>
                      <m:rad>
                        <m:radPr>
                          <m:degHide m:val="on"/>
                          <m:ctrlPr>
                            <a:rPr lang="en-US" altLang="ja-JP" i="1">
                              <a:latin typeface="Cambria Math" panose="02040503050406030204" pitchFamily="18" charset="0"/>
                            </a:rPr>
                          </m:ctrlPr>
                        </m:radPr>
                        <m:deg/>
                        <m:e>
                          <m:r>
                            <a:rPr lang="en-US" altLang="ja-JP" i="1">
                              <a:latin typeface="Cambria Math" panose="02040503050406030204" pitchFamily="18" charset="0"/>
                            </a:rPr>
                            <m:t>𝑛</m:t>
                          </m:r>
                        </m:e>
                      </m:rad>
                      <m:d>
                        <m:dPr>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r>
                            <a:rPr lang="en-US" altLang="ja-JP" b="0" i="1" smtClean="0">
                              <a:latin typeface="Cambria Math" panose="02040503050406030204" pitchFamily="18" charset="0"/>
                            </a:rPr>
                            <m:t>−</m:t>
                          </m:r>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r>
                            <a:rPr lang="en-US" altLang="ja-JP" b="0" i="1" dirty="0" smtClean="0">
                              <a:latin typeface="Cambria Math" panose="02040503050406030204" pitchFamily="18" charset="0"/>
                            </a:rPr>
                            <m:t>+</m:t>
                          </m:r>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r>
                            <a:rPr lang="en-US" altLang="ja-JP" i="1" dirty="0">
                              <a:latin typeface="Cambria Math" panose="02040503050406030204" pitchFamily="18" charset="0"/>
                            </a:rPr>
                            <m:t>−</m:t>
                          </m:r>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𝜃</m:t>
                              </m:r>
                            </m:e>
                            <m:sub>
                              <m:r>
                                <a:rPr lang="en-US" altLang="ja-JP" i="1" dirty="0">
                                  <a:latin typeface="Cambria Math" panose="02040503050406030204" pitchFamily="18" charset="0"/>
                                </a:rPr>
                                <m:t>0</m:t>
                              </m:r>
                            </m:sub>
                            <m:sup>
                              <m:r>
                                <m:rPr>
                                  <m:sty m:val="p"/>
                                </m:rPr>
                                <a:rPr lang="en-US" altLang="ja-JP" dirty="0">
                                  <a:latin typeface="Cambria Math" panose="02040503050406030204" pitchFamily="18" charset="0"/>
                                </a:rPr>
                                <m:t>ATE</m:t>
                              </m:r>
                            </m:sup>
                          </m:sSubSup>
                        </m:e>
                      </m:d>
                    </m:oMath>
                    <m:oMath xmlns:m="http://schemas.openxmlformats.org/officeDocument/2006/math">
                      <m:r>
                        <m:rPr>
                          <m:aln/>
                        </m:rPr>
                        <a:rPr lang="en-US" altLang="ja-JP" b="0" i="1" smtClean="0">
                          <a:latin typeface="Cambria Math" panose="02040503050406030204" pitchFamily="18" charset="0"/>
                        </a:rPr>
                        <m:t>=</m:t>
                      </m:r>
                      <m:rad>
                        <m:radPr>
                          <m:degHide m:val="on"/>
                          <m:ctrlPr>
                            <a:rPr lang="en-US" altLang="ja-JP" i="1">
                              <a:latin typeface="Cambria Math" panose="02040503050406030204" pitchFamily="18" charset="0"/>
                            </a:rPr>
                          </m:ctrlPr>
                        </m:radPr>
                        <m:deg/>
                        <m:e>
                          <m:r>
                            <a:rPr lang="en-US" altLang="ja-JP" i="1">
                              <a:latin typeface="Cambria Math" panose="02040503050406030204" pitchFamily="18" charset="0"/>
                            </a:rPr>
                            <m:t>𝑛</m:t>
                          </m:r>
                        </m:e>
                      </m:rad>
                      <m:d>
                        <m:dPr>
                          <m:ctrlPr>
                            <a:rPr lang="en-US" altLang="ja-JP" i="1">
                              <a:latin typeface="Cambria Math" panose="02040503050406030204" pitchFamily="18" charset="0"/>
                            </a:rPr>
                          </m:ctrlPr>
                        </m:dPr>
                        <m:e>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r>
                            <a:rPr lang="en-US" altLang="ja-JP" i="1" dirty="0">
                              <a:latin typeface="Cambria Math" panose="02040503050406030204" pitchFamily="18" charset="0"/>
                            </a:rPr>
                            <m:t>−</m:t>
                          </m:r>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𝜃</m:t>
                              </m:r>
                            </m:e>
                            <m:sub>
                              <m:r>
                                <a:rPr lang="en-US" altLang="ja-JP" i="1" dirty="0">
                                  <a:latin typeface="Cambria Math" panose="02040503050406030204" pitchFamily="18" charset="0"/>
                                </a:rPr>
                                <m:t>0</m:t>
                              </m:r>
                            </m:sub>
                            <m:sup>
                              <m:r>
                                <m:rPr>
                                  <m:sty m:val="p"/>
                                </m:rPr>
                                <a:rPr lang="en-US" altLang="ja-JP" dirty="0">
                                  <a:latin typeface="Cambria Math" panose="02040503050406030204" pitchFamily="18" charset="0"/>
                                </a:rPr>
                                <m:t>ATE</m:t>
                              </m:r>
                            </m:sup>
                          </m:sSubSup>
                        </m:e>
                      </m:d>
                      <m:r>
                        <a:rPr lang="en-US" altLang="ja-JP" b="0" i="1" dirty="0" smtClean="0">
                          <a:latin typeface="Cambria Math" panose="02040503050406030204" pitchFamily="18" charset="0"/>
                        </a:rPr>
                        <m:t>+</m:t>
                      </m:r>
                      <m:rad>
                        <m:radPr>
                          <m:degHide m:val="on"/>
                          <m:ctrlPr>
                            <a:rPr lang="en-US" altLang="ja-JP" b="0" i="1" dirty="0" smtClean="0">
                              <a:latin typeface="Cambria Math" panose="02040503050406030204" pitchFamily="18" charset="0"/>
                            </a:rPr>
                          </m:ctrlPr>
                        </m:radPr>
                        <m:deg/>
                        <m:e>
                          <m:r>
                            <a:rPr lang="en-US" altLang="ja-JP" b="0" i="1" dirty="0" smtClean="0">
                              <a:latin typeface="Cambria Math" panose="02040503050406030204" pitchFamily="18" charset="0"/>
                            </a:rPr>
                            <m:t>𝑛</m:t>
                          </m:r>
                        </m:e>
                      </m:rad>
                      <m:d>
                        <m:dPr>
                          <m:ctrlPr>
                            <a:rPr lang="en-US" altLang="ja-JP" b="0" i="1" dirty="0" smtClean="0">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r>
                            <a:rPr lang="en-US" altLang="ja-JP" i="1">
                              <a:latin typeface="Cambria Math" panose="02040503050406030204" pitchFamily="18" charset="0"/>
                            </a:rPr>
                            <m:t>−</m:t>
                          </m:r>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e>
                      </m:d>
                    </m:oMath>
                  </m:oMathPara>
                </a14:m>
                <a:br>
                  <a:rPr lang="en-US" altLang="ja-JP" b="0" dirty="0"/>
                </a:br>
                <a:endParaRPr lang="en-US" altLang="ja-JP" b="0" dirty="0"/>
              </a:p>
              <a:p>
                <a:pPr marL="0" indent="0">
                  <a:buNone/>
                </a:pPr>
                <a:endParaRPr kumimoji="1" lang="en-US" altLang="ja-JP" dirty="0"/>
              </a:p>
              <a:p>
                <a:pPr marL="0" indent="0">
                  <a:buNone/>
                </a:pPr>
                <a:endParaRPr lang="en-US" altLang="ja-JP" dirty="0"/>
              </a:p>
              <a:p>
                <a:pPr marL="0" indent="0">
                  <a:buNone/>
                </a:pPr>
                <a:endParaRPr lang="en-US" altLang="ja-JP" dirty="0"/>
              </a:p>
              <a:p>
                <a:r>
                  <a:rPr lang="ja-JP" altLang="en-US"/>
                  <a:t>バイアス</a:t>
                </a:r>
                <a:r>
                  <a:rPr lang="en-US" altLang="ja-JP" dirty="0"/>
                  <a:t>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i="1" dirty="0">
                            <a:latin typeface="Cambria Math" panose="02040503050406030204" pitchFamily="18" charset="0"/>
                          </a:rPr>
                          <m:t>𝑛</m:t>
                        </m:r>
                      </m:e>
                    </m:rad>
                    <m:d>
                      <m:dPr>
                        <m:ctrlPr>
                          <a:rPr lang="en-US" altLang="ja-JP" i="1" dirty="0">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𝜃</m:t>
                            </m:r>
                          </m:e>
                        </m:acc>
                        <m:r>
                          <a:rPr lang="en-US" altLang="ja-JP" i="1">
                            <a:latin typeface="Cambria Math" panose="02040503050406030204" pitchFamily="18" charset="0"/>
                          </a:rPr>
                          <m:t>−</m:t>
                        </m:r>
                        <m:sSup>
                          <m:sSupPr>
                            <m:ctrlPr>
                              <a:rPr lang="en-US" altLang="ja-JP" i="1" dirty="0">
                                <a:latin typeface="Cambria Math" panose="02040503050406030204" pitchFamily="18" charset="0"/>
                              </a:rPr>
                            </m:ctrlPr>
                          </m:sSupPr>
                          <m:e>
                            <m:acc>
                              <m:accPr>
                                <m:chr m:val="̂"/>
                                <m:ctrlPr>
                                  <a:rPr lang="en-US" altLang="ja-JP" i="1" dirty="0">
                                    <a:latin typeface="Cambria Math" panose="02040503050406030204" pitchFamily="18" charset="0"/>
                                  </a:rPr>
                                </m:ctrlPr>
                              </m:accPr>
                              <m:e>
                                <m:r>
                                  <a:rPr lang="en-US" altLang="ja-JP" i="1" dirty="0">
                                    <a:latin typeface="Cambria Math" panose="02040503050406030204" pitchFamily="18" charset="0"/>
                                  </a:rPr>
                                  <m:t>𝜃</m:t>
                                </m:r>
                              </m:e>
                            </m:acc>
                          </m:e>
                          <m:sup>
                            <m:r>
                              <a:rPr lang="ja-JP" altLang="en-US" i="1" dirty="0">
                                <a:latin typeface="Cambria Math" panose="02040503050406030204" pitchFamily="18" charset="0"/>
                              </a:rPr>
                              <m:t>理想</m:t>
                            </m:r>
                          </m:sup>
                        </m:sSup>
                      </m:e>
                    </m:d>
                  </m:oMath>
                </a14:m>
                <a:endParaRPr lang="en-US" altLang="ja-JP" dirty="0"/>
              </a:p>
              <a:p>
                <a:pPr lvl="1"/>
                <a:r>
                  <a:rPr lang="ja-JP" altLang="en-US"/>
                  <a:t>ここが</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𝑜</m:t>
                        </m:r>
                      </m:e>
                      <m:sub>
                        <m:r>
                          <a:rPr lang="en-US" altLang="ja-JP" b="0" i="1" smtClean="0">
                            <a:latin typeface="Cambria Math" panose="02040503050406030204" pitchFamily="18" charset="0"/>
                          </a:rPr>
                          <m:t>𝑝</m:t>
                        </m:r>
                      </m:sub>
                    </m:sSub>
                    <m:r>
                      <a:rPr lang="en-US" altLang="ja-JP" b="0" i="1" smtClean="0">
                        <a:latin typeface="Cambria Math" panose="02040503050406030204" pitchFamily="18" charset="0"/>
                      </a:rPr>
                      <m:t>(1)</m:t>
                    </m:r>
                  </m:oMath>
                </a14:m>
                <a:r>
                  <a:rPr kumimoji="1" lang="en-US" altLang="ja-JP" dirty="0"/>
                  <a:t> </a:t>
                </a:r>
                <a:r>
                  <a:rPr kumimoji="1" lang="ja-JP" altLang="en-US"/>
                  <a:t>（ゼロに確率収束する）であれば良い</a:t>
                </a:r>
                <a:endParaRPr kumimoji="1" lang="en-US" altLang="ja-JP" dirty="0"/>
              </a:p>
              <a:p>
                <a:pPr lvl="1"/>
                <a:endParaRPr lang="en-US" altLang="ja-JP" dirty="0"/>
              </a:p>
              <a:p>
                <a:r>
                  <a:rPr kumimoji="1" lang="ja-JP" altLang="en-US"/>
                  <a:t>ネイマン直交性</a:t>
                </a:r>
                <a:r>
                  <a:rPr kumimoji="1" lang="en-US" altLang="ja-JP" dirty="0"/>
                  <a:t> </a:t>
                </a:r>
                <a:r>
                  <a:rPr lang="ja-JP" altLang="en-US"/>
                  <a:t>と</a:t>
                </a:r>
                <a:r>
                  <a:rPr kumimoji="1" lang="en-US" altLang="ja-JP" dirty="0"/>
                  <a:t> Donsker </a:t>
                </a:r>
                <a:r>
                  <a:rPr kumimoji="1" lang="ja-JP" altLang="en-US"/>
                  <a:t>条件</a:t>
                </a:r>
                <a:r>
                  <a:rPr kumimoji="1" lang="en-US" altLang="ja-JP" dirty="0"/>
                  <a:t> </a:t>
                </a:r>
                <a:r>
                  <a:rPr lang="ja-JP" altLang="en-US"/>
                  <a:t>もしくは</a:t>
                </a:r>
                <a:r>
                  <a:rPr kumimoji="1" lang="en-US" altLang="ja-JP" dirty="0"/>
                  <a:t> </a:t>
                </a:r>
                <a:r>
                  <a:rPr kumimoji="1" lang="ja-JP" altLang="en-US"/>
                  <a:t>サンプル分割</a:t>
                </a:r>
                <a:r>
                  <a:rPr kumimoji="1" lang="en-US" altLang="ja-JP" dirty="0"/>
                  <a:t> </a:t>
                </a:r>
                <a:r>
                  <a:rPr kumimoji="1" lang="ja-JP" altLang="en-US"/>
                  <a:t>を活用することでバイアスの収束を保証</a:t>
                </a:r>
              </a:p>
            </p:txBody>
          </p:sp>
        </mc:Choice>
        <mc:Fallback xmlns="">
          <p:sp>
            <p:nvSpPr>
              <p:cNvPr id="3" name="コンテンツ プレースホルダー 2">
                <a:extLst>
                  <a:ext uri="{FF2B5EF4-FFF2-40B4-BE49-F238E27FC236}">
                    <a16:creationId xmlns:a16="http://schemas.microsoft.com/office/drawing/2014/main" id="{74C8D078-E54D-66AF-E637-CE23DFE378F8}"/>
                  </a:ext>
                </a:extLst>
              </p:cNvPr>
              <p:cNvSpPr>
                <a:spLocks noGrp="1" noRot="1" noChangeAspect="1" noMove="1" noResize="1" noEditPoints="1" noAdjustHandles="1" noChangeArrowheads="1" noChangeShapeType="1" noTextEdit="1"/>
              </p:cNvSpPr>
              <p:nvPr>
                <p:ph idx="1"/>
              </p:nvPr>
            </p:nvSpPr>
            <p:spPr>
              <a:blipFill>
                <a:blip r:embed="rId2"/>
                <a:stretch>
                  <a:fillRect l="-483" t="-473"/>
                </a:stretch>
              </a:blipFill>
            </p:spPr>
            <p:txBody>
              <a:bodyPr/>
              <a:lstStyle/>
              <a:p>
                <a:r>
                  <a:rPr lang="ja-JP" altLang="en-US">
                    <a:noFill/>
                  </a:rPr>
                  <a:t> </a:t>
                </a:r>
              </a:p>
            </p:txBody>
          </p:sp>
        </mc:Fallback>
      </mc:AlternateContent>
      <p:sp>
        <p:nvSpPr>
          <p:cNvPr id="4" name="右中かっこ 3">
            <a:extLst>
              <a:ext uri="{FF2B5EF4-FFF2-40B4-BE49-F238E27FC236}">
                <a16:creationId xmlns:a16="http://schemas.microsoft.com/office/drawing/2014/main" id="{51687466-E4DB-B0DA-7DFF-07254151A41E}"/>
              </a:ext>
            </a:extLst>
          </p:cNvPr>
          <p:cNvSpPr/>
          <p:nvPr/>
        </p:nvSpPr>
        <p:spPr>
          <a:xfrm rot="5400000">
            <a:off x="7155467" y="2103815"/>
            <a:ext cx="327452" cy="166710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2751E23-FDFE-3FF7-F4C3-2E88C14DB37B}"/>
              </a:ext>
            </a:extLst>
          </p:cNvPr>
          <p:cNvSpPr txBox="1"/>
          <p:nvPr/>
        </p:nvSpPr>
        <p:spPr>
          <a:xfrm>
            <a:off x="6200938" y="3193571"/>
            <a:ext cx="2236510" cy="338554"/>
          </a:xfrm>
          <a:prstGeom prst="rect">
            <a:avLst/>
          </a:prstGeom>
          <a:noFill/>
          <a:ln>
            <a:solidFill>
              <a:schemeClr val="tx1"/>
            </a:solidFill>
          </a:ln>
        </p:spPr>
        <p:txBody>
          <a:bodyPr wrap="none" rtlCol="0">
            <a:spAutoFit/>
          </a:bodyPr>
          <a:lstStyle/>
          <a:p>
            <a:r>
              <a:rPr lang="ja-JP" altLang="en-US" sz="1600">
                <a:latin typeface="Noto Sans JP" panose="020B0200000000000000" pitchFamily="34" charset="-128"/>
                <a:ea typeface="Noto Sans JP" panose="020B0200000000000000" pitchFamily="34" charset="-128"/>
              </a:rPr>
              <a:t>バイアス（余分な項）</a:t>
            </a:r>
            <a:endParaRPr kumimoji="1" lang="ja-JP" altLang="en-US" sz="160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1028989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E1C5-A35A-FACC-EFF8-ECF3299385F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65BA8C8-E788-E336-F482-E6BD939B5BE1}"/>
              </a:ext>
            </a:extLst>
          </p:cNvPr>
          <p:cNvSpPr>
            <a:spLocks noGrp="1"/>
          </p:cNvSpPr>
          <p:nvPr>
            <p:ph type="title"/>
          </p:nvPr>
        </p:nvSpPr>
        <p:spPr/>
        <p:txBody>
          <a:bodyPr>
            <a:normAutofit/>
          </a:bodyPr>
          <a:lstStyle/>
          <a:p>
            <a:r>
              <a:rPr lang="ja-JP" altLang="en-US"/>
              <a:t>漸近正規性に関する定理</a:t>
            </a:r>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E43C8101-3A1C-5A8A-EA88-3F8F1B3846BE}"/>
                  </a:ext>
                </a:extLst>
              </p:cNvPr>
              <p:cNvSpPr>
                <a:spLocks noGrp="1"/>
              </p:cNvSpPr>
              <p:nvPr>
                <p:ph idx="1"/>
              </p:nvPr>
            </p:nvSpPr>
            <p:spPr/>
            <p:txBody>
              <a:bodyPr>
                <a:normAutofit/>
              </a:bodyPr>
              <a:lstStyle/>
              <a:p>
                <a:pPr marL="0" indent="0">
                  <a:buNone/>
                </a:pPr>
                <a:r>
                  <a:rPr lang="ja-JP" altLang="en-US" b="0"/>
                  <a:t>　　定理（漸近正規性）</a:t>
                </a:r>
                <a:endParaRPr lang="en-US" altLang="ja-JP" b="0" dirty="0"/>
              </a:p>
              <a:p>
                <a:pPr marL="0" indent="0">
                  <a:buNone/>
                </a:pPr>
                <a:endParaRPr lang="en-US" altLang="ja-JP" sz="800" b="0" dirty="0"/>
              </a:p>
              <a:p>
                <a:pPr lvl="1"/>
                <a:r>
                  <a:rPr lang="en-US" altLang="ja-JP" dirty="0"/>
                  <a:t>SUTVA</a:t>
                </a:r>
                <a:r>
                  <a:rPr lang="ja-JP" altLang="en-US"/>
                  <a:t>・共通サポート・非交絡性の仮定が満たされているとする</a:t>
                </a:r>
                <a:endParaRPr lang="en-US" altLang="ja-JP" dirty="0"/>
              </a:p>
              <a:p>
                <a:pPr lvl="1"/>
                <a:r>
                  <a:rPr lang="ja-JP" altLang="en-US"/>
                  <a:t>局外母数の推定量</a:t>
                </a:r>
                <a14:m>
                  <m:oMath xmlns:m="http://schemas.openxmlformats.org/officeDocument/2006/math">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𝑓</m:t>
                        </m:r>
                      </m:e>
                    </m:acc>
                  </m:oMath>
                </a14:m>
                <a:r>
                  <a:rPr lang="en-US" altLang="ja-JP" dirty="0"/>
                  <a:t> </a:t>
                </a:r>
                <a:r>
                  <a:rPr lang="ja-JP" altLang="en-US"/>
                  <a:t>と</a:t>
                </a:r>
                <a:r>
                  <a:rPr lang="en-US" altLang="ja-JP" dirty="0"/>
                  <a:t> </a:t>
                </a:r>
                <a14:m>
                  <m:oMath xmlns:m="http://schemas.openxmlformats.org/officeDocument/2006/math">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𝑒</m:t>
                        </m:r>
                      </m:e>
                    </m:acc>
                  </m:oMath>
                </a14:m>
                <a:r>
                  <a:rPr lang="en-US" altLang="ja-JP" dirty="0"/>
                  <a:t> </a:t>
                </a:r>
                <a:r>
                  <a:rPr lang="ja-JP" altLang="en-US" dirty="0"/>
                  <a:t>が</a:t>
                </a:r>
                <a:r>
                  <a:rPr lang="ja-JP" altLang="en-US"/>
                  <a:t>以下を満たす：</a:t>
                </a:r>
                <a:endParaRPr lang="en-US" altLang="ja-JP" dirty="0"/>
              </a:p>
              <a:p>
                <a:pPr lvl="2"/>
                <a:r>
                  <a:rPr lang="ja-JP" altLang="en-US"/>
                  <a:t>サンプル分割を用いて構築されているか、</a:t>
                </a:r>
                <a:r>
                  <a:rPr lang="en-US" altLang="ja-JP" dirty="0"/>
                  <a:t>Donsker</a:t>
                </a:r>
                <a:r>
                  <a:rPr lang="ja-JP" altLang="en-US"/>
                  <a:t>条件を満たす</a:t>
                </a:r>
                <a:endParaRPr lang="en-US" altLang="ja-JP" dirty="0"/>
              </a:p>
              <a:p>
                <a:pPr lvl="2"/>
                <a:r>
                  <a:rPr lang="ja-JP" altLang="en-US"/>
                  <a:t>以下の収束レートを満たす（</a:t>
                </a:r>
                <a:r>
                  <a:rPr lang="en-US" altLang="ja-JP" dirty="0"/>
                  <a:t> </a:t>
                </a:r>
                <a14:m>
                  <m:oMath xmlns:m="http://schemas.openxmlformats.org/officeDocument/2006/math">
                    <m:d>
                      <m:dPr>
                        <m:begChr m:val="‖"/>
                        <m:endChr m:val="‖"/>
                        <m:ctrlPr>
                          <a:rPr lang="en-US" altLang="ja-JP" i="1" smtClean="0">
                            <a:latin typeface="Cambria Math" panose="02040503050406030204" pitchFamily="18" charset="0"/>
                          </a:rPr>
                        </m:ctrlPr>
                      </m:dPr>
                      <m:e>
                        <m:r>
                          <a:rPr lang="en-US" altLang="ja-JP" b="0" i="1" smtClean="0">
                            <a:latin typeface="Cambria Math" panose="02040503050406030204" pitchFamily="18" charset="0"/>
                          </a:rPr>
                          <m:t> ⋅ </m:t>
                        </m:r>
                      </m:e>
                    </m:d>
                  </m:oMath>
                </a14:m>
                <a:r>
                  <a:rPr lang="ja-JP" altLang="en-US"/>
                  <a:t>は適当なノルム</a:t>
                </a:r>
                <a:r>
                  <a:rPr lang="en-US" altLang="ja-JP" dirty="0"/>
                  <a:t> </a:t>
                </a:r>
                <a:r>
                  <a:rPr lang="ja-JP" altLang="en-US"/>
                  <a:t>）：</a:t>
                </a:r>
                <a:endParaRPr lang="en-US" altLang="ja-JP" dirty="0"/>
              </a:p>
              <a:p>
                <a:pPr marL="1312200" lvl="3" indent="0">
                  <a:buNone/>
                </a:pPr>
                <a14:m>
                  <m:oMathPara xmlns:m="http://schemas.openxmlformats.org/officeDocument/2006/math">
                    <m:oMathParaPr>
                      <m:jc m:val="centerGroup"/>
                    </m:oMathParaPr>
                    <m:oMath xmlns:m="http://schemas.openxmlformats.org/officeDocument/2006/math">
                      <m:d>
                        <m:dPr>
                          <m:begChr m:val="‖"/>
                          <m:endChr m:val="‖"/>
                          <m:ctrlPr>
                            <a:rPr lang="en-US" altLang="ja-JP" i="1" smtClean="0">
                              <a:latin typeface="Cambria Math" panose="02040503050406030204" pitchFamily="18" charset="0"/>
                            </a:rPr>
                          </m:ctrlPr>
                        </m:dPr>
                        <m:e>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𝑓</m:t>
                              </m:r>
                            </m:e>
                          </m:acc>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𝑜</m:t>
                          </m:r>
                        </m:e>
                        <m:sub>
                          <m:r>
                            <a:rPr lang="en-US" altLang="ja-JP" b="0" i="1" smtClean="0">
                              <a:latin typeface="Cambria Math" panose="02040503050406030204" pitchFamily="18" charset="0"/>
                            </a:rPr>
                            <m:t>𝑝</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m:t>
                          </m:r>
                        </m:e>
                      </m:d>
                      <m:r>
                        <a:rPr lang="en-US" altLang="ja-JP" b="0" i="1" smtClean="0">
                          <a:latin typeface="Cambria Math" panose="02040503050406030204" pitchFamily="18" charset="0"/>
                        </a:rPr>
                        <m:t>,</m:t>
                      </m:r>
                      <m:r>
                        <a:rPr lang="ja-JP" altLang="en-US" b="0" i="1" smtClean="0">
                          <a:latin typeface="Cambria Math" panose="02040503050406030204" pitchFamily="18" charset="0"/>
                        </a:rPr>
                        <m:t>　</m:t>
                      </m:r>
                      <m:d>
                        <m:dPr>
                          <m:begChr m:val="‖"/>
                          <m:endChr m:val="‖"/>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𝑒</m:t>
                              </m:r>
                            </m:e>
                          </m:acc>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i="1">
                                  <a:latin typeface="Cambria Math" panose="02040503050406030204" pitchFamily="18" charset="0"/>
                                </a:rPr>
                                <m:t>0</m:t>
                              </m:r>
                            </m:sub>
                          </m:sSub>
                        </m:e>
                      </m:d>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𝑜</m:t>
                          </m:r>
                        </m:e>
                        <m:sub>
                          <m:r>
                            <a:rPr lang="en-US" altLang="ja-JP" i="1">
                              <a:latin typeface="Cambria Math" panose="02040503050406030204" pitchFamily="18" charset="0"/>
                            </a:rPr>
                            <m:t>𝑝</m:t>
                          </m:r>
                        </m:sub>
                      </m:sSub>
                      <m:d>
                        <m:dPr>
                          <m:ctrlPr>
                            <a:rPr lang="en-US" altLang="ja-JP" i="1">
                              <a:latin typeface="Cambria Math" panose="02040503050406030204" pitchFamily="18" charset="0"/>
                            </a:rPr>
                          </m:ctrlPr>
                        </m:dPr>
                        <m:e>
                          <m:r>
                            <a:rPr lang="en-US" altLang="ja-JP" i="1">
                              <a:latin typeface="Cambria Math" panose="02040503050406030204" pitchFamily="18" charset="0"/>
                            </a:rPr>
                            <m:t>1</m:t>
                          </m:r>
                        </m:e>
                      </m:d>
                      <m:r>
                        <a:rPr lang="en-US" altLang="ja-JP" b="0" i="1" smtClean="0">
                          <a:latin typeface="Cambria Math" panose="02040503050406030204" pitchFamily="18" charset="0"/>
                        </a:rPr>
                        <m:t>,</m:t>
                      </m:r>
                    </m:oMath>
                    <m:oMath xmlns:m="http://schemas.openxmlformats.org/officeDocument/2006/math">
                      <m:d>
                        <m:dPr>
                          <m:begChr m:val="‖"/>
                          <m:endChr m:val="‖"/>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𝑓</m:t>
                              </m:r>
                            </m:e>
                          </m:acc>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0</m:t>
                              </m:r>
                            </m:sub>
                          </m:sSub>
                        </m:e>
                      </m:d>
                      <m:d>
                        <m:dPr>
                          <m:begChr m:val="‖"/>
                          <m:endChr m:val="‖"/>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𝑒</m:t>
                              </m:r>
                            </m:e>
                          </m:acc>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𝑒</m:t>
                              </m:r>
                            </m:e>
                            <m:sub>
                              <m:r>
                                <a:rPr lang="en-US" altLang="ja-JP" i="1">
                                  <a:latin typeface="Cambria Math" panose="02040503050406030204" pitchFamily="18" charset="0"/>
                                </a:rPr>
                                <m:t>0</m:t>
                              </m:r>
                            </m:sub>
                          </m:sSub>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𝑜</m:t>
                          </m:r>
                        </m:e>
                        <m:sub>
                          <m:r>
                            <a:rPr lang="en-US" altLang="ja-JP" b="0" i="1" smtClean="0">
                              <a:latin typeface="Cambria Math" panose="02040503050406030204" pitchFamily="18" charset="0"/>
                            </a:rPr>
                            <m:t>𝑝</m:t>
                          </m:r>
                        </m:sub>
                      </m:sSub>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ad>
                                <m:radPr>
                                  <m:degHide m:val="on"/>
                                  <m:ctrlPr>
                                    <a:rPr lang="en-US" altLang="ja-JP" b="0" i="1" smtClean="0">
                                      <a:latin typeface="Cambria Math" panose="02040503050406030204" pitchFamily="18" charset="0"/>
                                    </a:rPr>
                                  </m:ctrlPr>
                                </m:radPr>
                                <m:deg/>
                                <m:e>
                                  <m:r>
                                    <a:rPr lang="en-US" altLang="ja-JP" b="0" i="1" smtClean="0">
                                      <a:latin typeface="Cambria Math" panose="02040503050406030204" pitchFamily="18" charset="0"/>
                                    </a:rPr>
                                    <m:t>𝑛</m:t>
                                  </m:r>
                                </m:e>
                              </m:rad>
                            </m:den>
                          </m:f>
                        </m:e>
                      </m:d>
                    </m:oMath>
                  </m:oMathPara>
                </a14:m>
                <a:endParaRPr lang="en-US" altLang="ja-JP" dirty="0"/>
              </a:p>
              <a:p>
                <a:pPr marL="397800" lvl="1" indent="0">
                  <a:buNone/>
                </a:pPr>
                <a:r>
                  <a:rPr lang="ja-JP" altLang="en-US"/>
                  <a:t>このとき、以下の漸近正規性が成立する：</a:t>
                </a:r>
                <a:endParaRPr lang="en-US" altLang="ja-JP" dirty="0"/>
              </a:p>
              <a:p>
                <a:pPr marL="397800" lvl="1" indent="0">
                  <a:buNone/>
                </a:pPr>
                <a:endParaRPr lang="en-US" altLang="ja-JP" sz="800" dirty="0"/>
              </a:p>
              <a:p>
                <a:pPr marL="397800" lvl="1" indent="0">
                  <a:buNone/>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rad>
                            <m:radPr>
                              <m:degHide m:val="on"/>
                              <m:ctrlPr>
                                <a:rPr lang="en-US" altLang="ja-JP" b="0" i="1" smtClean="0">
                                  <a:latin typeface="Cambria Math" panose="02040503050406030204" pitchFamily="18" charset="0"/>
                                </a:rPr>
                              </m:ctrlPr>
                            </m:radPr>
                            <m:deg/>
                            <m:e>
                              <m:r>
                                <a:rPr lang="en-US" altLang="ja-JP" b="0" i="1" smtClean="0">
                                  <a:latin typeface="Cambria Math" panose="02040503050406030204" pitchFamily="18" charset="0"/>
                                </a:rPr>
                                <m:t>𝑛</m:t>
                              </m:r>
                            </m:e>
                          </m:rad>
                          <m:r>
                            <a:rPr lang="en-US" altLang="ja-JP" b="0" i="1" smtClean="0">
                              <a:latin typeface="Cambria Math" panose="02040503050406030204" pitchFamily="18" charset="0"/>
                            </a:rPr>
                            <m:t>(</m:t>
                          </m:r>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𝜃</m:t>
                              </m:r>
                            </m:e>
                          </m:acc>
                        </m:e>
                        <m:sub>
                          <m:r>
                            <a:rPr lang="en-US" altLang="ja-JP" b="0" i="1" smtClean="0">
                              <a:latin typeface="Cambria Math" panose="02040503050406030204" pitchFamily="18" charset="0"/>
                            </a:rPr>
                            <m:t>𝑛</m:t>
                          </m:r>
                        </m:sub>
                        <m:sup>
                          <m:r>
                            <m:rPr>
                              <m:sty m:val="p"/>
                            </m:rPr>
                            <a:rPr lang="en-US" altLang="ja-JP" b="0" i="0" smtClean="0">
                              <a:latin typeface="Cambria Math" panose="02040503050406030204" pitchFamily="18" charset="0"/>
                            </a:rPr>
                            <m:t>AIPW</m:t>
                          </m:r>
                        </m:sup>
                      </m:sSubSup>
                      <m:r>
                        <a:rPr lang="en-US" altLang="ja-JP" b="0" i="0"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𝜃</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groupChr>
                        <m:groupChrPr>
                          <m:chr m:val="→"/>
                          <m:vertJc m:val="bot"/>
                          <m:ctrlPr>
                            <a:rPr lang="en-US" altLang="ja-JP" b="0" i="1" smtClean="0">
                              <a:latin typeface="Cambria Math" panose="02040503050406030204" pitchFamily="18" charset="0"/>
                            </a:rPr>
                          </m:ctrlPr>
                        </m:groupChrPr>
                        <m:e>
                          <m:r>
                            <m:rPr>
                              <m:brk m:alnAt="2"/>
                            </m:rPr>
                            <a:rPr lang="en-US" altLang="ja-JP" b="0" i="1" smtClean="0">
                              <a:latin typeface="Cambria Math" panose="02040503050406030204" pitchFamily="18" charset="0"/>
                            </a:rPr>
                            <m:t>𝑑</m:t>
                          </m:r>
                        </m:e>
                      </m:groupChr>
                      <m:r>
                        <a:rPr lang="en-US" altLang="ja-JP" b="0" i="1" smtClean="0">
                          <a:latin typeface="Cambria Math" panose="02040503050406030204" pitchFamily="18" charset="0"/>
                        </a:rPr>
                        <m:t>𝒩</m:t>
                      </m:r>
                      <m:r>
                        <a:rPr lang="en-US" altLang="ja-JP" b="0" i="1" smtClean="0">
                          <a:latin typeface="Cambria Math" panose="02040503050406030204" pitchFamily="18" charset="0"/>
                        </a:rPr>
                        <m:t>(0, </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𝑉</m:t>
                          </m:r>
                        </m:e>
                        <m:sup>
                          <m:r>
                            <a:rPr lang="en-US" altLang="ja-JP" b="0" i="1" smtClean="0">
                              <a:latin typeface="Cambria Math" panose="02040503050406030204" pitchFamily="18" charset="0"/>
                            </a:rPr>
                            <m:t>∗</m:t>
                          </m:r>
                        </m:sup>
                      </m:sSup>
                      <m:r>
                        <a:rPr lang="en-US" altLang="ja-JP" b="0" i="1" smtClean="0">
                          <a:latin typeface="Cambria Math" panose="02040503050406030204" pitchFamily="18" charset="0"/>
                        </a:rPr>
                        <m:t>).</m:t>
                      </m:r>
                    </m:oMath>
                  </m:oMathPara>
                </a14:m>
                <a:br>
                  <a:rPr lang="en-US" altLang="ja-JP" b="0" dirty="0"/>
                </a:br>
                <a:endParaRPr lang="en-US" altLang="ja-JP" b="0" dirty="0"/>
              </a:p>
              <a:p>
                <a:pPr marL="397800" lvl="1" indent="0">
                  <a:buNone/>
                </a:pPr>
                <a:endParaRPr lang="en-US" altLang="ja-JP" sz="800" b="0" dirty="0"/>
              </a:p>
              <a:p>
                <a:pPr marL="397800" lvl="1" indent="0">
                  <a:buNone/>
                </a:pPr>
                <a:r>
                  <a:rPr lang="ja-JP" altLang="en-US" b="0"/>
                  <a:t>ここ</a:t>
                </a:r>
                <a:r>
                  <a:rPr lang="ja-JP" altLang="en-US" b="0" dirty="0"/>
                  <a:t>で、</a:t>
                </a:r>
                <a:r>
                  <a:rPr lang="en-US" altLang="ja-JP" dirty="0"/>
                  <a:t> </a:t>
                </a:r>
                <a14:m>
                  <m:oMath xmlns:m="http://schemas.openxmlformats.org/officeDocument/2006/math">
                    <m:sSup>
                      <m:sSupPr>
                        <m:ctrlPr>
                          <a:rPr lang="en-US" altLang="ja-JP" i="1">
                            <a:latin typeface="Cambria Math" panose="02040503050406030204" pitchFamily="18" charset="0"/>
                          </a:rPr>
                        </m:ctrlPr>
                      </m:sSupPr>
                      <m:e>
                        <m:r>
                          <a:rPr lang="en-US" altLang="ja-JP" i="1">
                            <a:latin typeface="Cambria Math" panose="02040503050406030204" pitchFamily="18" charset="0"/>
                          </a:rPr>
                          <m:t>𝑉</m:t>
                        </m:r>
                      </m:e>
                      <m:sup>
                        <m:r>
                          <a:rPr lang="en-US" altLang="ja-JP" i="1">
                            <a:latin typeface="Cambria Math" panose="02040503050406030204" pitchFamily="18" charset="0"/>
                          </a:rPr>
                          <m:t>∗</m:t>
                        </m:r>
                      </m:sup>
                    </m:sSup>
                  </m:oMath>
                </a14:m>
                <a:r>
                  <a:rPr lang="en-US" altLang="ja-JP" b="0" dirty="0"/>
                  <a:t> </a:t>
                </a:r>
                <a:r>
                  <a:rPr lang="ja-JP" altLang="en-US" b="0" dirty="0"/>
                  <a:t>は漸近</a:t>
                </a:r>
                <a:r>
                  <a:rPr lang="ja-JP" altLang="en-US" b="0"/>
                  <a:t>効率下限</a:t>
                </a:r>
                <a:endParaRPr lang="en-US" altLang="ja-JP" b="0" dirty="0"/>
              </a:p>
              <a:p>
                <a:pPr marL="0" indent="0">
                  <a:buNone/>
                </a:pPr>
                <a:endParaRPr lang="en-US" altLang="ja-JP" dirty="0"/>
              </a:p>
              <a:p>
                <a:pPr>
                  <a:buFont typeface="Wingdings" pitchFamily="2" charset="2"/>
                  <a:buChar char="Ø"/>
                </a:pPr>
                <a:r>
                  <a:rPr lang="ja-JP" altLang="en-US" sz="1600" b="0"/>
                  <a:t>注意：ランダムフォレストとかは収束レートが示されていなかったりする</a:t>
                </a:r>
                <a:endParaRPr lang="en-US" altLang="ja-JP" sz="1600" b="0" dirty="0"/>
              </a:p>
              <a:p>
                <a:pPr lvl="1"/>
                <a:r>
                  <a:rPr lang="ja-JP" altLang="en-US" sz="1600" b="0"/>
                  <a:t>任意の機械学習的手法を使えるわけではない</a:t>
                </a:r>
                <a:endParaRPr lang="en-US" altLang="ja-JP" sz="1600" b="0" dirty="0"/>
              </a:p>
              <a:p>
                <a:pPr lvl="1"/>
                <a:r>
                  <a:rPr lang="ja-JP" altLang="en-US" sz="1600" b="0"/>
                  <a:t>高次元の場合、そもそもスパース性などがないと望ましい収束レートを得られない</a:t>
                </a:r>
                <a:endParaRPr lang="en-US" altLang="ja-JP" sz="1600" b="0" dirty="0"/>
              </a:p>
            </p:txBody>
          </p:sp>
        </mc:Choice>
        <mc:Fallback xmlns="">
          <p:sp>
            <p:nvSpPr>
              <p:cNvPr id="7" name="コンテンツ プレースホルダー 6">
                <a:extLst>
                  <a:ext uri="{FF2B5EF4-FFF2-40B4-BE49-F238E27FC236}">
                    <a16:creationId xmlns:a16="http://schemas.microsoft.com/office/drawing/2014/main" id="{E43C8101-3A1C-5A8A-EA88-3F8F1B3846BE}"/>
                  </a:ext>
                </a:extLst>
              </p:cNvPr>
              <p:cNvSpPr>
                <a:spLocks noGrp="1" noRot="1" noChangeAspect="1" noMove="1" noResize="1" noEditPoints="1" noAdjustHandles="1" noChangeArrowheads="1" noChangeShapeType="1" noTextEdit="1"/>
              </p:cNvSpPr>
              <p:nvPr>
                <p:ph idx="1"/>
              </p:nvPr>
            </p:nvSpPr>
            <p:spPr>
              <a:blipFill>
                <a:blip r:embed="rId2"/>
                <a:stretch>
                  <a:fillRect l="-362" t="-473"/>
                </a:stretch>
              </a:blipFill>
            </p:spPr>
            <p:txBody>
              <a:bodyPr/>
              <a:lstStyle/>
              <a:p>
                <a:r>
                  <a:rPr lang="ja-JP" altLang="en-US">
                    <a:noFill/>
                  </a:rPr>
                  <a:t> </a:t>
                </a:r>
              </a:p>
            </p:txBody>
          </p:sp>
        </mc:Fallback>
      </mc:AlternateContent>
      <p:sp>
        <p:nvSpPr>
          <p:cNvPr id="8" name="Holder 4">
            <a:extLst>
              <a:ext uri="{FF2B5EF4-FFF2-40B4-BE49-F238E27FC236}">
                <a16:creationId xmlns:a16="http://schemas.microsoft.com/office/drawing/2014/main" id="{A1E1EA4F-26BA-6821-5DE9-CF36F274D0C1}"/>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
        <p:nvSpPr>
          <p:cNvPr id="2" name="正方形/長方形 1">
            <a:extLst>
              <a:ext uri="{FF2B5EF4-FFF2-40B4-BE49-F238E27FC236}">
                <a16:creationId xmlns:a16="http://schemas.microsoft.com/office/drawing/2014/main" id="{CEDE7C77-E5F8-09E3-C639-BEADFA16E556}"/>
              </a:ext>
            </a:extLst>
          </p:cNvPr>
          <p:cNvSpPr/>
          <p:nvPr/>
        </p:nvSpPr>
        <p:spPr>
          <a:xfrm>
            <a:off x="838200" y="1135116"/>
            <a:ext cx="10515600" cy="3967826"/>
          </a:xfrm>
          <a:prstGeom prst="rect">
            <a:avLst/>
          </a:prstGeom>
          <a:noFill/>
          <a:ln w="38100">
            <a:solidFill>
              <a:srgbClr val="F9A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B85887D4-E9AD-F41B-3808-C3F83F3D321C}"/>
              </a:ext>
            </a:extLst>
          </p:cNvPr>
          <p:cNvSpPr/>
          <p:nvPr/>
        </p:nvSpPr>
        <p:spPr>
          <a:xfrm>
            <a:off x="838200" y="1135116"/>
            <a:ext cx="10515600" cy="339723"/>
          </a:xfrm>
          <a:prstGeom prst="rect">
            <a:avLst/>
          </a:prstGeom>
          <a:noFill/>
          <a:ln w="38100">
            <a:solidFill>
              <a:srgbClr val="F9A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8770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D1B8-73CF-84A1-4CF5-27771D468D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10B93A-5E6A-88BD-E9D5-C189874F9C4F}"/>
              </a:ext>
            </a:extLst>
          </p:cNvPr>
          <p:cNvSpPr>
            <a:spLocks noGrp="1"/>
          </p:cNvSpPr>
          <p:nvPr>
            <p:ph type="title"/>
          </p:nvPr>
        </p:nvSpPr>
        <p:spPr/>
        <p:txBody>
          <a:bodyPr/>
          <a:lstStyle/>
          <a:p>
            <a:r>
              <a:rPr lang="ja-JP" altLang="en-US"/>
              <a:t>代表的な推定量・推定方法</a:t>
            </a:r>
            <a:endParaRPr kumimoji="1" lang="ja-JP" altLang="en-US"/>
          </a:p>
        </p:txBody>
      </p:sp>
      <p:sp>
        <p:nvSpPr>
          <p:cNvPr id="3" name="テキスト プレースホルダー 2">
            <a:extLst>
              <a:ext uri="{FF2B5EF4-FFF2-40B4-BE49-F238E27FC236}">
                <a16:creationId xmlns:a16="http://schemas.microsoft.com/office/drawing/2014/main" id="{B6106CF0-FFAD-2005-B614-A4D4FA3D1BC5}"/>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614736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C4EF49-8547-A6B0-EEBF-2EE050A428D1}"/>
              </a:ext>
            </a:extLst>
          </p:cNvPr>
          <p:cNvSpPr>
            <a:spLocks noGrp="1"/>
          </p:cNvSpPr>
          <p:nvPr>
            <p:ph type="title"/>
          </p:nvPr>
        </p:nvSpPr>
        <p:spPr/>
        <p:txBody>
          <a:bodyPr/>
          <a:lstStyle/>
          <a:p>
            <a:r>
              <a:rPr kumimoji="1" lang="ja-JP" altLang="en-US"/>
              <a:t>代表的な推定量・推定方法</a:t>
            </a:r>
          </a:p>
        </p:txBody>
      </p:sp>
      <p:sp>
        <p:nvSpPr>
          <p:cNvPr id="3" name="コンテンツ プレースホルダー 2">
            <a:extLst>
              <a:ext uri="{FF2B5EF4-FFF2-40B4-BE49-F238E27FC236}">
                <a16:creationId xmlns:a16="http://schemas.microsoft.com/office/drawing/2014/main" id="{C3062A1C-1A36-72A6-1936-FEF92CADDD5A}"/>
              </a:ext>
            </a:extLst>
          </p:cNvPr>
          <p:cNvSpPr>
            <a:spLocks noGrp="1"/>
          </p:cNvSpPr>
          <p:nvPr>
            <p:ph idx="1"/>
          </p:nvPr>
        </p:nvSpPr>
        <p:spPr/>
        <p:txBody>
          <a:bodyPr/>
          <a:lstStyle/>
          <a:p>
            <a:r>
              <a:rPr kumimoji="1" lang="en-US" altLang="ja-JP" dirty="0"/>
              <a:t>ATE</a:t>
            </a:r>
            <a:r>
              <a:rPr kumimoji="1" lang="ja-JP" altLang="en-US"/>
              <a:t>の推定にはさまざまな推定量・手法が提案されている：</a:t>
            </a:r>
            <a:endParaRPr kumimoji="1" lang="en-US" altLang="ja-JP" dirty="0"/>
          </a:p>
          <a:p>
            <a:pPr lvl="1"/>
            <a:r>
              <a:rPr kumimoji="1" lang="ja-JP" altLang="en-US"/>
              <a:t>回帰調整推定量</a:t>
            </a:r>
            <a:endParaRPr lang="en-US" altLang="ja-JP" dirty="0"/>
          </a:p>
          <a:p>
            <a:pPr lvl="1"/>
            <a:r>
              <a:rPr kumimoji="1" lang="ja-JP" altLang="en-US"/>
              <a:t>逆確率重みづけ推定量</a:t>
            </a:r>
            <a:endParaRPr lang="en-US" altLang="ja-JP" dirty="0"/>
          </a:p>
          <a:p>
            <a:pPr lvl="1"/>
            <a:r>
              <a:rPr kumimoji="1" lang="ja-JP" altLang="en-US"/>
              <a:t>拡張逆確率重みづけ推定量</a:t>
            </a:r>
            <a:endParaRPr kumimoji="1" lang="en-US" altLang="ja-JP" dirty="0"/>
          </a:p>
          <a:p>
            <a:pPr lvl="1"/>
            <a:r>
              <a:rPr kumimoji="1" lang="ja-JP" altLang="en-US"/>
              <a:t>マッチング推定量</a:t>
            </a:r>
            <a:endParaRPr lang="en-US" altLang="ja-JP" dirty="0"/>
          </a:p>
          <a:p>
            <a:pPr lvl="1"/>
            <a:r>
              <a:rPr kumimoji="1" lang="ja-JP" altLang="en-US"/>
              <a:t>二重機械学習</a:t>
            </a:r>
            <a:endParaRPr lang="en-US" altLang="ja-JP" dirty="0"/>
          </a:p>
          <a:p>
            <a:pPr lvl="1"/>
            <a:r>
              <a:rPr lang="ja-JP" altLang="en-US"/>
              <a:t>標的</a:t>
            </a:r>
            <a:r>
              <a:rPr kumimoji="1" lang="ja-JP" altLang="en-US"/>
              <a:t>最尤推定　</a:t>
            </a:r>
            <a:endParaRPr lang="en-US" altLang="ja-JP" dirty="0"/>
          </a:p>
          <a:p>
            <a:pPr lvl="1"/>
            <a:r>
              <a:rPr kumimoji="1" lang="ja-JP" altLang="en-US"/>
              <a:t>共変量</a:t>
            </a:r>
            <a:r>
              <a:rPr lang="ja-JP" altLang="en-US"/>
              <a:t>バランシング　（前回講義で説明）</a:t>
            </a:r>
            <a:endParaRPr lang="en-US" altLang="ja-JP" dirty="0"/>
          </a:p>
          <a:p>
            <a:pPr lvl="1"/>
            <a:r>
              <a:rPr lang="ja-JP" altLang="en-US"/>
              <a:t>リース回帰　（</a:t>
            </a:r>
            <a:r>
              <a:rPr kumimoji="1" lang="ja-JP" altLang="en-US"/>
              <a:t>前回講義で説明）</a:t>
            </a:r>
            <a:endParaRPr kumimoji="1" lang="en-US" altLang="ja-JP" dirty="0"/>
          </a:p>
          <a:p>
            <a:pPr lvl="1"/>
            <a:r>
              <a:rPr lang="ja-JP" altLang="en-US"/>
              <a:t>密度比推定　（前回講義で説明）</a:t>
            </a:r>
            <a:endParaRPr kumimoji="1" lang="en-US" altLang="ja-JP" dirty="0"/>
          </a:p>
          <a:p>
            <a:pPr lvl="1"/>
            <a:r>
              <a:rPr lang="ja-JP" altLang="en-US"/>
              <a:t>キャリブレーション</a:t>
            </a:r>
            <a:endParaRPr lang="en-US" altLang="ja-JP" dirty="0"/>
          </a:p>
          <a:p>
            <a:pPr lvl="1"/>
            <a:endParaRPr kumimoji="1" lang="en-US" altLang="ja-JP" dirty="0"/>
          </a:p>
          <a:p>
            <a:r>
              <a:rPr lang="en-US" altLang="ja-JP" dirty="0"/>
              <a:t>ATE</a:t>
            </a:r>
            <a:r>
              <a:rPr lang="ja-JP" altLang="en-US"/>
              <a:t>の推定量の構築方法だけでなく、回帰関数や傾向スコアの推定の仕方でも違いが生じる</a:t>
            </a:r>
            <a:endParaRPr kumimoji="1" lang="ja-JP" altLang="en-US"/>
          </a:p>
        </p:txBody>
      </p:sp>
    </p:spTree>
    <p:extLst>
      <p:ext uri="{BB962C8B-B14F-4D97-AF65-F5344CB8AC3E}">
        <p14:creationId xmlns:p14="http://schemas.microsoft.com/office/powerpoint/2010/main" val="2000402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BB2A1-997C-E6DC-A46D-74056F16B580}"/>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CA2AD38F-6C1B-1731-BCB5-6131DBEA0FE0}"/>
              </a:ext>
            </a:extLst>
          </p:cNvPr>
          <p:cNvSpPr>
            <a:spLocks noGrp="1"/>
          </p:cNvSpPr>
          <p:nvPr>
            <p:ph type="title"/>
          </p:nvPr>
        </p:nvSpPr>
        <p:spPr/>
        <p:txBody>
          <a:bodyPr>
            <a:normAutofit/>
          </a:bodyPr>
          <a:lstStyle/>
          <a:p>
            <a:r>
              <a:rPr lang="ja-JP" altLang="en-US"/>
              <a:t>回帰調整推定量</a:t>
            </a:r>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3FE3DBFD-35B7-02B7-DE6B-CC155520DC6A}"/>
                  </a:ext>
                </a:extLst>
              </p:cNvPr>
              <p:cNvSpPr>
                <a:spLocks noGrp="1"/>
              </p:cNvSpPr>
              <p:nvPr>
                <p:ph idx="1"/>
              </p:nvPr>
            </p:nvSpPr>
            <p:spPr/>
            <p:txBody>
              <a:bodyPr>
                <a:normAutofit/>
              </a:bodyPr>
              <a:lstStyle/>
              <a:p>
                <a:pPr>
                  <a:buFont typeface="Wingdings" pitchFamily="2" charset="2"/>
                  <a:buChar char="Ø"/>
                </a:pPr>
                <a:r>
                  <a:rPr lang="ja-JP" altLang="en-US"/>
                  <a:t>回帰調整（</a:t>
                </a:r>
                <a:r>
                  <a:rPr lang="en-US" altLang="ja-JP" dirty="0"/>
                  <a:t>Regression Adjustment</a:t>
                </a:r>
                <a:r>
                  <a:rPr lang="ja-JP" altLang="en-US"/>
                  <a:t>）推定量は以下のように定義される：</a:t>
                </a:r>
                <a:endParaRPr lang="en-US" altLang="ja-JP" dirty="0"/>
              </a:p>
              <a:p>
                <a:pPr>
                  <a:buFont typeface="Wingdings" pitchFamily="2" charset="2"/>
                  <a:buChar char="Ø"/>
                </a:pPr>
                <a:endParaRPr lang="en-US" altLang="ja-JP" sz="800" dirty="0"/>
              </a:p>
              <a:p>
                <a:pPr marL="0" indent="0">
                  <a:buNone/>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𝜃</m:t>
                              </m:r>
                            </m:e>
                          </m:acc>
                        </m:e>
                        <m:sub>
                          <m:r>
                            <a:rPr lang="en-US" altLang="ja-JP" b="0" i="1" smtClean="0">
                              <a:latin typeface="Cambria Math" panose="02040503050406030204" pitchFamily="18" charset="0"/>
                            </a:rPr>
                            <m:t>𝑛</m:t>
                          </m:r>
                        </m:sub>
                        <m:sup>
                          <m:r>
                            <m:rPr>
                              <m:sty m:val="p"/>
                            </m:rPr>
                            <a:rPr lang="en-US" altLang="ja-JP" b="0" i="0" smtClean="0">
                              <a:latin typeface="Cambria Math" panose="02040503050406030204" pitchFamily="18" charset="0"/>
                            </a:rPr>
                            <m:t>RA</m:t>
                          </m:r>
                        </m:sup>
                      </m:sSubSup>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𝑛</m:t>
                          </m:r>
                        </m:den>
                      </m:f>
                      <m:nary>
                        <m:naryPr>
                          <m:chr m:val="∑"/>
                          <m:ctrlPr>
                            <a:rPr lang="en-US" altLang="ja-JP" b="0" i="1" smtClean="0">
                              <a:latin typeface="Cambria Math" panose="02040503050406030204" pitchFamily="18" charset="0"/>
                            </a:rPr>
                          </m:ctrlPr>
                        </m:naryPr>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𝑛</m:t>
                          </m:r>
                        </m:sup>
                        <m:e>
                          <m:d>
                            <m:dPr>
                              <m:ctrlPr>
                                <a:rPr lang="en-US" altLang="ja-JP" b="0" i="1" smtClean="0">
                                  <a:latin typeface="Cambria Math" panose="02040503050406030204" pitchFamily="18" charset="0"/>
                                </a:rPr>
                              </m:ctrlPr>
                            </m:dPr>
                            <m:e>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i="1">
                                      <a:latin typeface="Cambria Math" panose="02040503050406030204" pitchFamily="18" charset="0"/>
                                    </a:rPr>
                                    <m:t>1, 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e>
                              </m:d>
                              <m:r>
                                <m:rPr>
                                  <m:nor/>
                                </m:rPr>
                                <a:rPr lang="en-US" altLang="ja-JP" dirty="0"/>
                                <m:t> </m:t>
                              </m:r>
                              <m:r>
                                <m:rPr>
                                  <m:nor/>
                                </m:rPr>
                                <a:rPr lang="en-US" altLang="ja-JP" b="0" i="0" dirty="0" smtClean="0"/>
                                <m:t>−</m:t>
                              </m:r>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b="0" i="1" smtClean="0">
                                      <a:latin typeface="Cambria Math" panose="02040503050406030204" pitchFamily="18" charset="0"/>
                                    </a:rPr>
                                    <m:t>0,</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𝑖</m:t>
                                      </m:r>
                                    </m:sub>
                                  </m:sSub>
                                </m:e>
                              </m:d>
                            </m:e>
                          </m:d>
                        </m:e>
                      </m:nary>
                    </m:oMath>
                  </m:oMathPara>
                </a14:m>
                <a:endParaRPr lang="en-US" altLang="ja-JP" b="0" dirty="0"/>
              </a:p>
              <a:p>
                <a:pPr marL="0" indent="0">
                  <a:buNone/>
                </a:pPr>
                <a:endParaRPr lang="en-US" altLang="ja-JP" sz="800" b="0" dirty="0"/>
              </a:p>
              <a:p>
                <a:pPr lvl="1"/>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𝑓</m:t>
                        </m:r>
                      </m:e>
                    </m:acc>
                    <m:r>
                      <a:rPr lang="en-US" altLang="ja-JP" b="0" i="1" smtClean="0">
                        <a:latin typeface="Cambria Math" panose="02040503050406030204" pitchFamily="18" charset="0"/>
                      </a:rPr>
                      <m:t>(</m:t>
                    </m:r>
                    <m:r>
                      <a:rPr lang="en-US" altLang="ja-JP" b="0" i="1" smtClean="0">
                        <a:latin typeface="Cambria Math" panose="02040503050406030204" pitchFamily="18" charset="0"/>
                      </a:rPr>
                      <m:t>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en-US" altLang="ja-JP" dirty="0"/>
                  <a:t> </a:t>
                </a:r>
                <a:r>
                  <a:rPr lang="ja-JP" altLang="en-US"/>
                  <a:t>は回帰関数</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e>
                    </m:d>
                    <m:r>
                      <a:rPr lang="en-US" altLang="ja-JP" b="0" i="1" smtClean="0">
                        <a:latin typeface="Cambria Math" panose="02040503050406030204" pitchFamily="18" charset="0"/>
                      </a:rPr>
                      <m:t>=</m:t>
                    </m:r>
                    <m:r>
                      <a:rPr lang="en-US" altLang="ja-JP" i="1">
                        <a:latin typeface="Cambria Math" panose="02040503050406030204" pitchFamily="18" charset="0"/>
                      </a:rPr>
                      <m:t>𝔼</m:t>
                    </m:r>
                    <m:d>
                      <m:dPr>
                        <m:begChr m:val="["/>
                        <m:endChr m:val="]"/>
                        <m:sepChr m:val="∣"/>
                        <m:ctrlPr>
                          <a:rPr lang="en-US" altLang="ja-JP" i="1">
                            <a:latin typeface="Cambria Math" panose="02040503050406030204" pitchFamily="18" charset="0"/>
                          </a:rPr>
                        </m:ctrlPr>
                      </m:dPr>
                      <m:e>
                        <m:r>
                          <a:rPr lang="en-US" altLang="ja-JP" i="1">
                            <a:latin typeface="Cambria Math" panose="02040503050406030204" pitchFamily="18" charset="0"/>
                          </a:rPr>
                          <m:t>𝑌</m:t>
                        </m:r>
                      </m:e>
                      <m:e>
                        <m:r>
                          <a:rPr lang="en-US" altLang="ja-JP" i="1">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𝑑</m:t>
                        </m:r>
                        <m:r>
                          <a:rPr lang="en-US" altLang="ja-JP" i="1">
                            <a:latin typeface="Cambria Math" panose="02040503050406030204" pitchFamily="18" charset="0"/>
                          </a:rPr>
                          <m:t>,</m:t>
                        </m:r>
                        <m:r>
                          <a:rPr lang="en-US" altLang="ja-JP" i="1">
                            <a:latin typeface="Cambria Math" panose="02040503050406030204" pitchFamily="18" charset="0"/>
                          </a:rPr>
                          <m:t>𝑋</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e>
                    </m:d>
                  </m:oMath>
                </a14:m>
                <a:r>
                  <a:rPr lang="en-US" altLang="ja-JP" dirty="0"/>
                  <a:t> </a:t>
                </a:r>
                <a:r>
                  <a:rPr lang="ja-JP" altLang="en-US" dirty="0"/>
                  <a:t>の推定量</a:t>
                </a:r>
                <a:endParaRPr lang="en-US" altLang="ja-JP" dirty="0"/>
              </a:p>
              <a:p>
                <a:pPr lvl="1"/>
                <a:r>
                  <a:rPr lang="ja-JP" altLang="en-US"/>
                  <a:t>プラグイン推定量（</a:t>
                </a:r>
                <a:r>
                  <a:rPr lang="en-US" altLang="ja-JP" dirty="0"/>
                  <a:t>Plug-in estimator</a:t>
                </a:r>
                <a:r>
                  <a:rPr lang="ja-JP" altLang="en-US"/>
                  <a:t>）や直接法（</a:t>
                </a:r>
                <a:r>
                  <a:rPr lang="en-US" altLang="ja-JP" dirty="0"/>
                  <a:t>Direct Method; DM</a:t>
                </a:r>
                <a:r>
                  <a:rPr lang="ja-JP" altLang="en-US"/>
                  <a:t>）推定量とも呼ばれる</a:t>
                </a:r>
                <a:endParaRPr lang="en-US" altLang="ja-JP" dirty="0"/>
              </a:p>
            </p:txBody>
          </p:sp>
        </mc:Choice>
        <mc:Fallback xmlns="">
          <p:sp>
            <p:nvSpPr>
              <p:cNvPr id="7" name="コンテンツ プレースホルダー 6">
                <a:extLst>
                  <a:ext uri="{FF2B5EF4-FFF2-40B4-BE49-F238E27FC236}">
                    <a16:creationId xmlns:a16="http://schemas.microsoft.com/office/drawing/2014/main" id="{3FE3DBFD-35B7-02B7-DE6B-CC155520DC6A}"/>
                  </a:ext>
                </a:extLst>
              </p:cNvPr>
              <p:cNvSpPr>
                <a:spLocks noGrp="1" noRot="1" noChangeAspect="1" noMove="1" noResize="1" noEditPoints="1" noAdjustHandles="1" noChangeArrowheads="1" noChangeShapeType="1" noTextEdit="1"/>
              </p:cNvSpPr>
              <p:nvPr>
                <p:ph idx="1"/>
              </p:nvPr>
            </p:nvSpPr>
            <p:spPr>
              <a:blipFill>
                <a:blip r:embed="rId2"/>
                <a:stretch>
                  <a:fillRect l="-483" t="-7801"/>
                </a:stretch>
              </a:blipFill>
            </p:spPr>
            <p:txBody>
              <a:bodyPr/>
              <a:lstStyle/>
              <a:p>
                <a:r>
                  <a:rPr lang="ja-JP" altLang="en-US">
                    <a:noFill/>
                  </a:rPr>
                  <a:t> </a:t>
                </a:r>
              </a:p>
            </p:txBody>
          </p:sp>
        </mc:Fallback>
      </mc:AlternateContent>
      <p:sp>
        <p:nvSpPr>
          <p:cNvPr id="8" name="Holder 4">
            <a:extLst>
              <a:ext uri="{FF2B5EF4-FFF2-40B4-BE49-F238E27FC236}">
                <a16:creationId xmlns:a16="http://schemas.microsoft.com/office/drawing/2014/main" id="{AC2FCC17-2557-23D7-7904-7AC31ED98E13}"/>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
        <p:nvSpPr>
          <p:cNvPr id="2" name="正方形/長方形 1">
            <a:extLst>
              <a:ext uri="{FF2B5EF4-FFF2-40B4-BE49-F238E27FC236}">
                <a16:creationId xmlns:a16="http://schemas.microsoft.com/office/drawing/2014/main" id="{288D0C5E-8069-0EC0-F84D-57E4A0328789}"/>
              </a:ext>
            </a:extLst>
          </p:cNvPr>
          <p:cNvSpPr/>
          <p:nvPr/>
        </p:nvSpPr>
        <p:spPr>
          <a:xfrm>
            <a:off x="4295699" y="1572375"/>
            <a:ext cx="3600601" cy="802115"/>
          </a:xfrm>
          <a:prstGeom prst="rect">
            <a:avLst/>
          </a:prstGeom>
          <a:solidFill>
            <a:srgbClr val="FFD012">
              <a:alpha val="1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31962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7409-4C8F-533B-BD69-B9B9AE1F617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AD08CE2-947F-6474-E78E-DDFA0475B8A4}"/>
              </a:ext>
            </a:extLst>
          </p:cNvPr>
          <p:cNvSpPr>
            <a:spLocks noGrp="1"/>
          </p:cNvSpPr>
          <p:nvPr>
            <p:ph type="title"/>
          </p:nvPr>
        </p:nvSpPr>
        <p:spPr/>
        <p:txBody>
          <a:bodyPr>
            <a:normAutofit/>
          </a:bodyPr>
          <a:lstStyle/>
          <a:p>
            <a:r>
              <a:rPr lang="ja-JP" altLang="en-US">
                <a:latin typeface="Cambria Math" panose="02040503050406030204" pitchFamily="18" charset="0"/>
              </a:rPr>
              <a:t>逆確率重み付け推定量</a:t>
            </a:r>
            <a:endParaRPr lang="ja-JP" altLang="en-US"/>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DC02D283-1783-655F-F729-C5C59F98A433}"/>
                  </a:ext>
                </a:extLst>
              </p:cNvPr>
              <p:cNvSpPr>
                <a:spLocks noGrp="1"/>
              </p:cNvSpPr>
              <p:nvPr>
                <p:ph idx="1"/>
              </p:nvPr>
            </p:nvSpPr>
            <p:spPr/>
            <p:txBody>
              <a:bodyPr>
                <a:normAutofit/>
              </a:bodyPr>
              <a:lstStyle/>
              <a:p>
                <a:pPr>
                  <a:buFont typeface="Wingdings" pitchFamily="2" charset="2"/>
                  <a:buChar char="Ø"/>
                </a:pPr>
                <a:r>
                  <a:rPr lang="ja-JP" altLang="en-US"/>
                  <a:t>逆確率重み付け（</a:t>
                </a:r>
                <a:r>
                  <a:rPr lang="en-US" altLang="ja-JP" dirty="0"/>
                  <a:t>Inverse Probability Weighting</a:t>
                </a:r>
                <a:r>
                  <a:rPr lang="ja-JP" altLang="en-US"/>
                  <a:t>；</a:t>
                </a:r>
                <a:r>
                  <a:rPr lang="en-US" altLang="ja-JP" dirty="0"/>
                  <a:t>IPW</a:t>
                </a:r>
                <a:r>
                  <a:rPr lang="ja-JP" altLang="en-US"/>
                  <a:t>）推定量：</a:t>
                </a:r>
                <a:endParaRPr lang="en-US" altLang="ja-JP" dirty="0"/>
              </a:p>
              <a:p>
                <a:pPr marL="0" indent="0">
                  <a:buNone/>
                </a:pPr>
                <a:endParaRPr lang="en-US" altLang="ja-JP" sz="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ea typeface="Cambria Math" panose="02040503050406030204" pitchFamily="18" charset="0"/>
                            </a:rPr>
                          </m:ctrlPr>
                        </m:sSubSupPr>
                        <m:e>
                          <m:acc>
                            <m:accPr>
                              <m:chr m:val="̂"/>
                              <m:ctrlPr>
                                <a:rPr lang="en-US" altLang="ja-JP" i="1">
                                  <a:latin typeface="Cambria Math" panose="02040503050406030204" pitchFamily="18" charset="0"/>
                                  <a:ea typeface="Cambria Math" panose="02040503050406030204" pitchFamily="18" charset="0"/>
                                </a:rPr>
                              </m:ctrlPr>
                            </m:accPr>
                            <m:e>
                              <m:r>
                                <a:rPr lang="en-US" altLang="ja-JP" i="1">
                                  <a:latin typeface="Cambria Math" panose="02040503050406030204" pitchFamily="18" charset="0"/>
                                  <a:ea typeface="Cambria Math" panose="02040503050406030204" pitchFamily="18" charset="0"/>
                                </a:rPr>
                                <m:t>𝜃</m:t>
                              </m:r>
                            </m:e>
                          </m:acc>
                        </m:e>
                        <m:sub>
                          <m:r>
                            <a:rPr lang="en-US" altLang="ja-JP" b="0" i="1" smtClean="0">
                              <a:latin typeface="Cambria Math" panose="02040503050406030204" pitchFamily="18" charset="0"/>
                              <a:ea typeface="Cambria Math" panose="02040503050406030204" pitchFamily="18" charset="0"/>
                            </a:rPr>
                            <m:t>𝑛</m:t>
                          </m:r>
                        </m:sub>
                        <m:sup>
                          <m:r>
                            <m:rPr>
                              <m:sty m:val="p"/>
                            </m:rPr>
                            <a:rPr lang="en-US" altLang="ja-JP" b="0" i="0" smtClean="0">
                              <a:latin typeface="Cambria Math" panose="02040503050406030204" pitchFamily="18" charset="0"/>
                              <a:ea typeface="Cambria Math" panose="02040503050406030204" pitchFamily="18" charset="0"/>
                            </a:rPr>
                            <m:t>IPW</m:t>
                          </m:r>
                        </m:sup>
                      </m:sSubSup>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𝑛</m:t>
                          </m:r>
                        </m:den>
                      </m:f>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d>
                            <m:dPr>
                              <m:ctrlPr>
                                <a:rPr lang="en-US" altLang="ja-JP" i="1">
                                  <a:latin typeface="Cambria Math" panose="02040503050406030204" pitchFamily="18" charset="0"/>
                                  <a:ea typeface="Cambria Math" panose="02040503050406030204" pitchFamily="18" charset="0"/>
                                </a:rPr>
                              </m:ctrlPr>
                            </m:dPr>
                            <m:e>
                              <m:f>
                                <m:fPr>
                                  <m:ctrlPr>
                                    <a:rPr lang="en-US" altLang="ja-JP" i="1" dirty="0">
                                      <a:latin typeface="Cambria Math" panose="02040503050406030204" pitchFamily="18" charset="0"/>
                                      <a:ea typeface="Cambria Math" panose="02040503050406030204" pitchFamily="18" charset="0"/>
                                    </a:rPr>
                                  </m:ctrlPr>
                                </m:fPr>
                                <m:num>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𝐷</m:t>
                                      </m:r>
                                    </m:e>
                                    <m:sub>
                                      <m:r>
                                        <a:rPr lang="en-US" altLang="ja-JP" i="1" dirty="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 </m:t>
                                  </m:r>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num>
                                <m:den>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r>
                                <m:rPr>
                                  <m:nor/>
                                </m:rPr>
                                <a:rPr lang="en-US" altLang="ja-JP" dirty="0">
                                  <a:latin typeface="Cambria Math" panose="02040503050406030204" pitchFamily="18" charset="0"/>
                                  <a:ea typeface="Cambria Math" panose="02040503050406030204" pitchFamily="18" charset="0"/>
                                </a:rPr>
                                <m:t>−</m:t>
                              </m:r>
                              <m:f>
                                <m:fPr>
                                  <m:ctrlPr>
                                    <a:rPr lang="en-US" altLang="ja-JP" i="1" dirty="0">
                                      <a:latin typeface="Cambria Math" panose="02040503050406030204" pitchFamily="18" charset="0"/>
                                      <a:ea typeface="Cambria Math" panose="02040503050406030204" pitchFamily="18" charset="0"/>
                                    </a:rPr>
                                  </m:ctrlPr>
                                </m:fPr>
                                <m:num>
                                  <m:d>
                                    <m:dPr>
                                      <m:ctrlPr>
                                        <a:rPr lang="en-US" altLang="ja-JP" b="0" i="1" dirty="0" smtClean="0">
                                          <a:latin typeface="Cambria Math" panose="02040503050406030204" pitchFamily="18" charset="0"/>
                                          <a:ea typeface="Cambria Math" panose="02040503050406030204" pitchFamily="18" charset="0"/>
                                        </a:rPr>
                                      </m:ctrlPr>
                                    </m:dPr>
                                    <m:e>
                                      <m:r>
                                        <a:rPr lang="en-US" altLang="ja-JP" b="0" i="1" dirty="0" smtClean="0">
                                          <a:latin typeface="Cambria Math" panose="02040503050406030204" pitchFamily="18" charset="0"/>
                                          <a:ea typeface="Cambria Math" panose="02040503050406030204" pitchFamily="18" charset="0"/>
                                        </a:rPr>
                                        <m:t>1−</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e>
                                  </m:d>
                                  <m:r>
                                    <a:rPr lang="en-US" altLang="ja-JP" b="0" i="1" dirty="0" smtClean="0">
                                      <a:latin typeface="Cambria Math" panose="02040503050406030204" pitchFamily="18" charset="0"/>
                                      <a:ea typeface="Cambria Math" panose="02040503050406030204" pitchFamily="18" charset="0"/>
                                    </a:rPr>
                                    <m:t> </m:t>
                                  </m:r>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num>
                                <m:den>
                                  <m:r>
                                    <a:rPr lang="en-US" altLang="ja-JP" i="1" dirty="0">
                                      <a:latin typeface="Cambria Math" panose="02040503050406030204" pitchFamily="18" charset="0"/>
                                      <a:ea typeface="Cambria Math" panose="02040503050406030204" pitchFamily="18" charset="0"/>
                                    </a:rPr>
                                    <m:t>1−</m:t>
                                  </m:r>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dirty="0">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e>
                          </m:d>
                        </m:e>
                      </m:nary>
                      <m:r>
                        <a:rPr lang="en-US" altLang="ja-JP" i="1">
                          <a:latin typeface="Cambria Math" panose="02040503050406030204" pitchFamily="18" charset="0"/>
                          <a:ea typeface="Cambria Math" panose="02040503050406030204" pitchFamily="18" charset="0"/>
                        </a:rPr>
                        <m:t>.</m:t>
                      </m:r>
                    </m:oMath>
                  </m:oMathPara>
                </a14:m>
                <a:endParaRPr lang="en-US" altLang="ja-JP" dirty="0">
                  <a:latin typeface="Cambria Math" panose="02040503050406030204" pitchFamily="18" charset="0"/>
                  <a:ea typeface="Cambria Math" panose="02040503050406030204" pitchFamily="18" charset="0"/>
                </a:endParaRPr>
              </a:p>
              <a:p>
                <a:pPr lvl="1"/>
                <a:endParaRPr lang="en-US" altLang="ja-JP" sz="800" i="1" dirty="0">
                  <a:latin typeface="Cambria Math" panose="02040503050406030204" pitchFamily="18" charset="0"/>
                  <a:ea typeface="Cambria Math" panose="02040503050406030204" pitchFamily="18" charset="0"/>
                </a:endParaRPr>
              </a:p>
              <a:p>
                <a:pPr lvl="1"/>
                <a14:m>
                  <m:oMath xmlns:m="http://schemas.openxmlformats.org/officeDocument/2006/math">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oMath>
                </a14:m>
                <a:r>
                  <a:rPr lang="ja-JP" altLang="en-US"/>
                  <a:t>は傾向スコア（</a:t>
                </a:r>
                <a14:m>
                  <m:oMath xmlns:m="http://schemas.openxmlformats.org/officeDocument/2006/math">
                    <m:r>
                      <a:rPr lang="en-US" altLang="ja-JP" i="1">
                        <a:latin typeface="Cambria Math" panose="02040503050406030204" pitchFamily="18" charset="0"/>
                      </a:rPr>
                      <m:t>𝐷</m:t>
                    </m:r>
                    <m:r>
                      <a:rPr lang="en-US" altLang="ja-JP" i="1">
                        <a:latin typeface="Cambria Math" panose="02040503050406030204" pitchFamily="18" charset="0"/>
                      </a:rPr>
                      <m:t>=1</m:t>
                    </m:r>
                  </m:oMath>
                </a14:m>
                <a:r>
                  <a:rPr lang="ja-JP" altLang="en-US"/>
                  <a:t>である確率）</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𝑒</m:t>
                        </m:r>
                      </m:e>
                      <m:sub>
                        <m:r>
                          <a:rPr lang="en-US" altLang="ja-JP" i="1">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𝑍</m:t>
                        </m:r>
                      </m:e>
                    </m:d>
                    <m:r>
                      <a:rPr lang="en-US" altLang="ja-JP" i="1">
                        <a:latin typeface="Cambria Math" panose="02040503050406030204" pitchFamily="18" charset="0"/>
                      </a:rPr>
                      <m:t>≔</m:t>
                    </m:r>
                    <m:r>
                      <a:rPr lang="en-US" altLang="ja-JP" i="1">
                        <a:latin typeface="Cambria Math" panose="02040503050406030204" pitchFamily="18" charset="0"/>
                      </a:rPr>
                      <m:t>𝑃</m:t>
                    </m:r>
                    <m:r>
                      <a:rPr lang="en-US" altLang="ja-JP" i="1">
                        <a:latin typeface="Cambria Math" panose="02040503050406030204" pitchFamily="18" charset="0"/>
                      </a:rPr>
                      <m:t>(</m:t>
                    </m:r>
                    <m:r>
                      <a:rPr lang="en-US" altLang="ja-JP" i="1">
                        <a:latin typeface="Cambria Math" panose="02040503050406030204" pitchFamily="18" charset="0"/>
                      </a:rPr>
                      <m:t>𝐷</m:t>
                    </m:r>
                    <m:r>
                      <a:rPr lang="en-US" altLang="ja-JP" i="1">
                        <a:latin typeface="Cambria Math" panose="02040503050406030204" pitchFamily="18" charset="0"/>
                      </a:rPr>
                      <m:t>=1∣</m:t>
                    </m:r>
                    <m:r>
                      <a:rPr lang="en-US" altLang="ja-JP" i="1">
                        <a:latin typeface="Cambria Math" panose="02040503050406030204" pitchFamily="18" charset="0"/>
                      </a:rPr>
                      <m:t>𝑍</m:t>
                    </m:r>
                    <m:r>
                      <a:rPr lang="en-US" altLang="ja-JP" i="1">
                        <a:latin typeface="Cambria Math" panose="02040503050406030204" pitchFamily="18" charset="0"/>
                      </a:rPr>
                      <m:t>)</m:t>
                    </m:r>
                  </m:oMath>
                </a14:m>
                <a:r>
                  <a:rPr lang="ja-JP" altLang="en-US" dirty="0"/>
                  <a:t>の推定量</a:t>
                </a:r>
                <a:endParaRPr lang="en-US" altLang="ja-JP" dirty="0"/>
              </a:p>
              <a:p>
                <a:pPr lvl="1"/>
                <a:r>
                  <a:rPr lang="en-US" altLang="ja-JP" dirty="0"/>
                  <a:t>Horvitz-Thompson</a:t>
                </a:r>
                <a:r>
                  <a:rPr lang="ja-JP" altLang="en-US"/>
                  <a:t>推定量とも呼ばれる</a:t>
                </a:r>
                <a:endParaRPr lang="en-US" altLang="ja-JP" dirty="0"/>
              </a:p>
              <a:p>
                <a:pPr lvl="1"/>
                <a:endParaRPr lang="en-US" altLang="ja-JP" dirty="0"/>
              </a:p>
              <a:p>
                <a:pPr lvl="1"/>
                <a:r>
                  <a:rPr lang="ja-JP" altLang="en-US"/>
                  <a:t>拡張として、以下の</a:t>
                </a:r>
                <a:r>
                  <a:rPr lang="en-US" altLang="ja-JP" dirty="0"/>
                  <a:t>Hayek</a:t>
                </a:r>
                <a:r>
                  <a:rPr lang="ja-JP" altLang="en-US"/>
                  <a:t>推定量も知られている：</a:t>
                </a:r>
                <a:endParaRPr lang="en-US" altLang="ja-JP" dirty="0"/>
              </a:p>
              <a:p>
                <a:pPr lvl="1"/>
                <a:endParaRPr lang="en-US" altLang="ja-JP" sz="800" dirty="0"/>
              </a:p>
              <a:p>
                <a:pPr marL="397800" lvl="1" indent="0">
                  <a:buNone/>
                </a:pPr>
                <a14:m>
                  <m:oMathPara xmlns:m="http://schemas.openxmlformats.org/officeDocument/2006/math">
                    <m:oMathParaPr>
                      <m:jc m:val="centerGroup"/>
                    </m:oMathParaPr>
                    <m:oMath xmlns:m="http://schemas.openxmlformats.org/officeDocument/2006/math">
                      <m:acc>
                        <m:accPr>
                          <m:chr m:val="̂"/>
                          <m:ctrlPr>
                            <a:rPr lang="en-US" altLang="ja-JP" i="1">
                              <a:latin typeface="Cambria Math" panose="02040503050406030204" pitchFamily="18" charset="0"/>
                              <a:ea typeface="Cambria Math" panose="02040503050406030204" pitchFamily="18" charset="0"/>
                            </a:rPr>
                          </m:ctrlPr>
                        </m:accPr>
                        <m:e>
                          <m:r>
                            <a:rPr lang="en-US" altLang="ja-JP" i="1">
                              <a:latin typeface="Cambria Math" panose="02040503050406030204" pitchFamily="18" charset="0"/>
                              <a:ea typeface="Cambria Math" panose="02040503050406030204" pitchFamily="18" charset="0"/>
                            </a:rPr>
                            <m:t>𝜃</m:t>
                          </m:r>
                        </m:e>
                      </m:acc>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f>
                                <m:fPr>
                                  <m:ctrlPr>
                                    <a:rPr lang="en-US" altLang="ja-JP" i="1" dirty="0">
                                      <a:latin typeface="Cambria Math" panose="02040503050406030204" pitchFamily="18" charset="0"/>
                                      <a:ea typeface="Cambria Math" panose="02040503050406030204" pitchFamily="18" charset="0"/>
                                    </a:rPr>
                                  </m:ctrlPr>
                                </m:fPr>
                                <m:num>
                                  <m:r>
                                    <m:rPr>
                                      <m:nor/>
                                    </m:rPr>
                                    <a:rPr lang="en-US" altLang="ja-JP" dirty="0">
                                      <a:latin typeface="Cambria Math" panose="02040503050406030204" pitchFamily="18" charset="0"/>
                                      <a:ea typeface="Cambria Math" panose="02040503050406030204" pitchFamily="18" charset="0"/>
                                    </a:rPr>
                                    <m:t> </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 </m:t>
                                  </m:r>
                                </m:num>
                                <m:den>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e>
                          </m:nary>
                        </m:den>
                      </m:f>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f>
                            <m:fPr>
                              <m:ctrlPr>
                                <a:rPr lang="en-US" altLang="ja-JP" i="1" dirty="0">
                                  <a:latin typeface="Cambria Math" panose="02040503050406030204" pitchFamily="18" charset="0"/>
                                  <a:ea typeface="Cambria Math" panose="02040503050406030204" pitchFamily="18" charset="0"/>
                                </a:rPr>
                              </m:ctrlPr>
                            </m:fPr>
                            <m:num>
                              <m:r>
                                <m:rPr>
                                  <m:nor/>
                                </m:rPr>
                                <a:rPr lang="en-US" altLang="ja-JP" dirty="0">
                                  <a:latin typeface="Cambria Math" panose="02040503050406030204" pitchFamily="18" charset="0"/>
                                  <a:ea typeface="Cambria Math" panose="02040503050406030204" pitchFamily="18" charset="0"/>
                                </a:rPr>
                                <m:t> </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 </m:t>
                              </m:r>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num>
                            <m:den>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e>
                      </m:nary>
                      <m:r>
                        <a:rPr lang="en-US" altLang="ja-JP" b="0" i="1" smtClean="0">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f>
                                <m:fPr>
                                  <m:ctrlPr>
                                    <a:rPr lang="en-US" altLang="ja-JP" i="1" dirty="0">
                                      <a:latin typeface="Cambria Math" panose="02040503050406030204" pitchFamily="18" charset="0"/>
                                      <a:ea typeface="Cambria Math" panose="02040503050406030204" pitchFamily="18" charset="0"/>
                                    </a:rPr>
                                  </m:ctrlPr>
                                </m:fPr>
                                <m:num>
                                  <m:r>
                                    <m:rPr>
                                      <m:nor/>
                                    </m:rPr>
                                    <a:rPr lang="en-US" altLang="ja-JP" dirty="0">
                                      <a:latin typeface="Cambria Math" panose="02040503050406030204" pitchFamily="18" charset="0"/>
                                      <a:ea typeface="Cambria Math" panose="02040503050406030204" pitchFamily="18" charset="0"/>
                                    </a:rPr>
                                    <m:t> </m:t>
                                  </m:r>
                                  <m:r>
                                    <a:rPr lang="en-US" altLang="ja-JP" b="0" i="1" dirty="0" smtClean="0">
                                      <a:latin typeface="Cambria Math" panose="02040503050406030204" pitchFamily="18" charset="0"/>
                                      <a:ea typeface="Cambria Math" panose="02040503050406030204" pitchFamily="18" charset="0"/>
                                    </a:rPr>
                                    <m:t>1−</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num>
                                <m:den>
                                  <m:r>
                                    <a:rPr lang="en-US" altLang="ja-JP" i="1" dirty="0">
                                      <a:latin typeface="Cambria Math" panose="02040503050406030204" pitchFamily="18" charset="0"/>
                                      <a:ea typeface="Cambria Math" panose="02040503050406030204" pitchFamily="18" charset="0"/>
                                    </a:rPr>
                                    <m:t>1−</m:t>
                                  </m:r>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e>
                          </m:nary>
                        </m:den>
                      </m:f>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f>
                            <m:fPr>
                              <m:ctrlPr>
                                <a:rPr lang="en-US" altLang="ja-JP" i="1" dirty="0">
                                  <a:latin typeface="Cambria Math" panose="02040503050406030204" pitchFamily="18" charset="0"/>
                                  <a:ea typeface="Cambria Math" panose="02040503050406030204" pitchFamily="18" charset="0"/>
                                </a:rPr>
                              </m:ctrlPr>
                            </m:fPr>
                            <m:num>
                              <m:r>
                                <m:rPr>
                                  <m:nor/>
                                </m:rPr>
                                <a:rPr lang="en-US" altLang="ja-JP" dirty="0">
                                  <a:latin typeface="Cambria Math" panose="02040503050406030204" pitchFamily="18" charset="0"/>
                                  <a:ea typeface="Cambria Math" panose="02040503050406030204" pitchFamily="18" charset="0"/>
                                </a:rPr>
                                <m:t> </m:t>
                              </m:r>
                              <m:r>
                                <a:rPr lang="en-US" altLang="ja-JP" b="0" i="1" dirty="0" smtClean="0">
                                  <a:latin typeface="Cambria Math" panose="02040503050406030204" pitchFamily="18" charset="0"/>
                                  <a:ea typeface="Cambria Math" panose="02040503050406030204" pitchFamily="18" charset="0"/>
                                </a:rPr>
                                <m:t>(1−</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m:t>
                              </m:r>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num>
                            <m:den>
                              <m:r>
                                <a:rPr lang="en-US" altLang="ja-JP" i="1" dirty="0">
                                  <a:latin typeface="Cambria Math" panose="02040503050406030204" pitchFamily="18" charset="0"/>
                                  <a:ea typeface="Cambria Math" panose="02040503050406030204" pitchFamily="18" charset="0"/>
                                </a:rPr>
                                <m:t>1−</m:t>
                              </m:r>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e>
                      </m:nary>
                      <m:r>
                        <a:rPr lang="en-US" altLang="ja-JP" i="1">
                          <a:latin typeface="Cambria Math" panose="02040503050406030204" pitchFamily="18" charset="0"/>
                          <a:ea typeface="Cambria Math" panose="02040503050406030204" pitchFamily="18" charset="0"/>
                        </a:rPr>
                        <m:t>.</m:t>
                      </m:r>
                    </m:oMath>
                  </m:oMathPara>
                </a14:m>
                <a:endParaRPr lang="en-US" altLang="ja-JP" dirty="0">
                  <a:latin typeface="Cambria Math" panose="02040503050406030204" pitchFamily="18" charset="0"/>
                  <a:ea typeface="Cambria Math" panose="02040503050406030204" pitchFamily="18" charset="0"/>
                </a:endParaRPr>
              </a:p>
              <a:p>
                <a:pPr lvl="1"/>
                <a:endParaRPr lang="en-US" altLang="ja-JP" dirty="0"/>
              </a:p>
            </p:txBody>
          </p:sp>
        </mc:Choice>
        <mc:Fallback xmlns="">
          <p:sp>
            <p:nvSpPr>
              <p:cNvPr id="7" name="コンテンツ プレースホルダー 6">
                <a:extLst>
                  <a:ext uri="{FF2B5EF4-FFF2-40B4-BE49-F238E27FC236}">
                    <a16:creationId xmlns:a16="http://schemas.microsoft.com/office/drawing/2014/main" id="{DC02D283-1783-655F-F729-C5C59F98A433}"/>
                  </a:ext>
                </a:extLst>
              </p:cNvPr>
              <p:cNvSpPr>
                <a:spLocks noGrp="1" noRot="1" noChangeAspect="1" noMove="1" noResize="1" noEditPoints="1" noAdjustHandles="1" noChangeArrowheads="1" noChangeShapeType="1" noTextEdit="1"/>
              </p:cNvSpPr>
              <p:nvPr>
                <p:ph idx="1"/>
              </p:nvPr>
            </p:nvSpPr>
            <p:spPr>
              <a:blipFill>
                <a:blip r:embed="rId2"/>
                <a:stretch>
                  <a:fillRect l="-483" t="-7801"/>
                </a:stretch>
              </a:blipFill>
            </p:spPr>
            <p:txBody>
              <a:bodyPr/>
              <a:lstStyle/>
              <a:p>
                <a:r>
                  <a:rPr lang="ja-JP" altLang="en-US">
                    <a:noFill/>
                  </a:rPr>
                  <a:t> </a:t>
                </a:r>
              </a:p>
            </p:txBody>
          </p:sp>
        </mc:Fallback>
      </mc:AlternateContent>
      <p:sp>
        <p:nvSpPr>
          <p:cNvPr id="8" name="Holder 4">
            <a:extLst>
              <a:ext uri="{FF2B5EF4-FFF2-40B4-BE49-F238E27FC236}">
                <a16:creationId xmlns:a16="http://schemas.microsoft.com/office/drawing/2014/main" id="{D150F78A-017D-3FA2-9CF9-E5BC03D5C8A7}"/>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
        <p:nvSpPr>
          <p:cNvPr id="2" name="正方形/長方形 1">
            <a:extLst>
              <a:ext uri="{FF2B5EF4-FFF2-40B4-BE49-F238E27FC236}">
                <a16:creationId xmlns:a16="http://schemas.microsoft.com/office/drawing/2014/main" id="{5B06B573-0EE0-3AA6-7345-C64760764A90}"/>
              </a:ext>
            </a:extLst>
          </p:cNvPr>
          <p:cNvSpPr/>
          <p:nvPr/>
        </p:nvSpPr>
        <p:spPr>
          <a:xfrm>
            <a:off x="4200832" y="1533832"/>
            <a:ext cx="3790335" cy="958647"/>
          </a:xfrm>
          <a:prstGeom prst="rect">
            <a:avLst/>
          </a:prstGeom>
          <a:solidFill>
            <a:srgbClr val="FFD012">
              <a:alpha val="1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441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6507-2AAC-4997-3A67-EE46D9FE173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60ED4E9-2B80-ADDA-32EA-09FA7DCD57C0}"/>
              </a:ext>
            </a:extLst>
          </p:cNvPr>
          <p:cNvSpPr>
            <a:spLocks noGrp="1"/>
          </p:cNvSpPr>
          <p:nvPr>
            <p:ph type="title"/>
          </p:nvPr>
        </p:nvSpPr>
        <p:spPr/>
        <p:txBody>
          <a:bodyPr>
            <a:normAutofit/>
          </a:bodyPr>
          <a:lstStyle/>
          <a:p>
            <a:r>
              <a:rPr lang="ja-JP" altLang="en-US">
                <a:latin typeface="Cambria Math" panose="02040503050406030204" pitchFamily="18" charset="0"/>
              </a:rPr>
              <a:t>拡張逆確率重み付け推定量</a:t>
            </a:r>
            <a:endParaRPr lang="ja-JP" altLang="en-US"/>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3F189AC0-8235-C335-A4B0-D17252CD113A}"/>
                  </a:ext>
                </a:extLst>
              </p:cNvPr>
              <p:cNvSpPr>
                <a:spLocks noGrp="1"/>
              </p:cNvSpPr>
              <p:nvPr>
                <p:ph idx="1"/>
              </p:nvPr>
            </p:nvSpPr>
            <p:spPr/>
            <p:txBody>
              <a:bodyPr>
                <a:normAutofit/>
              </a:bodyPr>
              <a:lstStyle/>
              <a:p>
                <a:pPr>
                  <a:buFont typeface="Wingdings" pitchFamily="2" charset="2"/>
                  <a:buChar char="Ø"/>
                </a:pPr>
                <a:r>
                  <a:rPr lang="ja-JP" altLang="en-US"/>
                  <a:t>拡張逆確率重み付け（</a:t>
                </a:r>
                <a:r>
                  <a:rPr lang="en-US" altLang="ja-JP" dirty="0"/>
                  <a:t>Augmented IPW estimator; AIPW</a:t>
                </a:r>
                <a:r>
                  <a:rPr lang="ja-JP" altLang="en-US"/>
                  <a:t>）推定量：</a:t>
                </a:r>
                <a:r>
                  <a:rPr lang="en-US" altLang="ja-JP" dirty="0"/>
                  <a:t> </a:t>
                </a:r>
              </a:p>
              <a:p>
                <a:pPr marL="0" indent="0">
                  <a:buNone/>
                </a:pPr>
                <a:endParaRPr lang="en-US" altLang="ja-JP" sz="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ea typeface="Cambria Math" panose="02040503050406030204" pitchFamily="18" charset="0"/>
                            </a:rPr>
                          </m:ctrlPr>
                        </m:sSubSupPr>
                        <m:e>
                          <m:acc>
                            <m:accPr>
                              <m:chr m:val="̂"/>
                              <m:ctrlPr>
                                <a:rPr lang="en-US" altLang="ja-JP" i="1">
                                  <a:latin typeface="Cambria Math" panose="02040503050406030204" pitchFamily="18" charset="0"/>
                                  <a:ea typeface="Cambria Math" panose="02040503050406030204" pitchFamily="18" charset="0"/>
                                </a:rPr>
                              </m:ctrlPr>
                            </m:accPr>
                            <m:e>
                              <m:r>
                                <a:rPr lang="en-US" altLang="ja-JP" i="1">
                                  <a:latin typeface="Cambria Math" panose="02040503050406030204" pitchFamily="18" charset="0"/>
                                  <a:ea typeface="Cambria Math" panose="02040503050406030204" pitchFamily="18" charset="0"/>
                                </a:rPr>
                                <m:t>𝜃</m:t>
                              </m:r>
                            </m:e>
                          </m:acc>
                        </m:e>
                        <m:sub>
                          <m:r>
                            <a:rPr lang="en-US" altLang="ja-JP" b="0" i="1" smtClean="0">
                              <a:latin typeface="Cambria Math" panose="02040503050406030204" pitchFamily="18" charset="0"/>
                              <a:ea typeface="Cambria Math" panose="02040503050406030204" pitchFamily="18" charset="0"/>
                            </a:rPr>
                            <m:t>𝑛</m:t>
                          </m:r>
                        </m:sub>
                        <m:sup>
                          <m:r>
                            <m:rPr>
                              <m:sty m:val="p"/>
                            </m:rPr>
                            <a:rPr lang="en-US" altLang="ja-JP" b="0" i="0" smtClean="0">
                              <a:latin typeface="Cambria Math" panose="02040503050406030204" pitchFamily="18" charset="0"/>
                              <a:ea typeface="Cambria Math" panose="02040503050406030204" pitchFamily="18" charset="0"/>
                            </a:rPr>
                            <m:t>AIPW</m:t>
                          </m:r>
                        </m:sup>
                      </m:sSubSup>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𝑛</m:t>
                          </m:r>
                        </m:den>
                      </m:f>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d>
                            <m:dPr>
                              <m:ctrlPr>
                                <a:rPr lang="en-US" altLang="ja-JP" i="1">
                                  <a:latin typeface="Cambria Math" panose="02040503050406030204" pitchFamily="18" charset="0"/>
                                  <a:ea typeface="Cambria Math" panose="02040503050406030204" pitchFamily="18" charset="0"/>
                                </a:rPr>
                              </m:ctrlPr>
                            </m:dPr>
                            <m:e>
                              <m:f>
                                <m:fPr>
                                  <m:ctrlPr>
                                    <a:rPr lang="en-US" altLang="ja-JP" i="1" dirty="0">
                                      <a:latin typeface="Cambria Math" panose="02040503050406030204" pitchFamily="18" charset="0"/>
                                      <a:ea typeface="Cambria Math" panose="02040503050406030204" pitchFamily="18" charset="0"/>
                                    </a:rPr>
                                  </m:ctrlPr>
                                </m:fPr>
                                <m:num>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𝐷</m:t>
                                      </m:r>
                                    </m:e>
                                    <m:sub>
                                      <m:r>
                                        <a:rPr lang="en-US" altLang="ja-JP" i="1" dirty="0">
                                          <a:latin typeface="Cambria Math" panose="02040503050406030204" pitchFamily="18" charset="0"/>
                                          <a:ea typeface="Cambria Math" panose="02040503050406030204" pitchFamily="18" charset="0"/>
                                        </a:rPr>
                                        <m:t>𝑖</m:t>
                                      </m:r>
                                    </m:sub>
                                  </m:sSub>
                                  <m:d>
                                    <m:dPr>
                                      <m:ctrlPr>
                                        <a:rPr lang="en-US" altLang="ja-JP" b="0" i="1" dirty="0" smtClean="0">
                                          <a:latin typeface="Cambria Math" panose="02040503050406030204" pitchFamily="18" charset="0"/>
                                          <a:ea typeface="Cambria Math" panose="02040503050406030204" pitchFamily="18" charset="0"/>
                                        </a:rPr>
                                      </m:ctrlPr>
                                    </m:dPr>
                                    <m:e>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m:t>
                                      </m:r>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i="1">
                                              <a:latin typeface="Cambria Math" panose="02040503050406030204" pitchFamily="18" charset="0"/>
                                            </a:rPr>
                                            <m:t>1, 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𝑍</m:t>
                                              </m:r>
                                            </m:e>
                                            <m:sub>
                                              <m:r>
                                                <a:rPr lang="en-US" altLang="ja-JP" i="1">
                                                  <a:latin typeface="Cambria Math" panose="02040503050406030204" pitchFamily="18" charset="0"/>
                                                </a:rPr>
                                                <m:t>𝑖</m:t>
                                              </m:r>
                                            </m:sub>
                                          </m:sSub>
                                        </m:e>
                                      </m:d>
                                    </m:e>
                                  </m:d>
                                </m:num>
                                <m:den>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dirty="0">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r>
                                <m:rPr>
                                  <m:nor/>
                                </m:rPr>
                                <a:rPr lang="en-US" altLang="ja-JP" dirty="0">
                                  <a:latin typeface="Cambria Math" panose="02040503050406030204" pitchFamily="18" charset="0"/>
                                  <a:ea typeface="Cambria Math" panose="02040503050406030204" pitchFamily="18" charset="0"/>
                                </a:rPr>
                                <m:t>−</m:t>
                              </m:r>
                              <m:f>
                                <m:fPr>
                                  <m:ctrlPr>
                                    <a:rPr lang="en-US" altLang="ja-JP" i="1" dirty="0">
                                      <a:latin typeface="Cambria Math" panose="02040503050406030204" pitchFamily="18" charset="0"/>
                                      <a:ea typeface="Cambria Math" panose="02040503050406030204" pitchFamily="18" charset="0"/>
                                    </a:rPr>
                                  </m:ctrlPr>
                                </m:fPr>
                                <m:num>
                                  <m:d>
                                    <m:dPr>
                                      <m:ctrlPr>
                                        <a:rPr lang="en-US" altLang="ja-JP" b="0" i="1" dirty="0" smtClean="0">
                                          <a:latin typeface="Cambria Math" panose="02040503050406030204" pitchFamily="18" charset="0"/>
                                          <a:ea typeface="Cambria Math" panose="02040503050406030204" pitchFamily="18" charset="0"/>
                                        </a:rPr>
                                      </m:ctrlPr>
                                    </m:dPr>
                                    <m:e>
                                      <m:r>
                                        <a:rPr lang="en-US" altLang="ja-JP" b="0" i="1" dirty="0" smtClean="0">
                                          <a:latin typeface="Cambria Math" panose="02040503050406030204" pitchFamily="18" charset="0"/>
                                          <a:ea typeface="Cambria Math" panose="02040503050406030204" pitchFamily="18" charset="0"/>
                                        </a:rPr>
                                        <m:t>1−</m:t>
                                      </m:r>
                                      <m:sSub>
                                        <m:sSubPr>
                                          <m:ctrlPr>
                                            <a:rPr lang="en-US" altLang="ja-JP" b="0" i="1" dirty="0" smtClean="0">
                                              <a:latin typeface="Cambria Math" panose="02040503050406030204" pitchFamily="18" charset="0"/>
                                              <a:ea typeface="Cambria Math" panose="02040503050406030204" pitchFamily="18" charset="0"/>
                                            </a:rPr>
                                          </m:ctrlPr>
                                        </m:sSubPr>
                                        <m:e>
                                          <m:r>
                                            <a:rPr lang="en-US" altLang="ja-JP" b="0" i="1" dirty="0" smtClean="0">
                                              <a:latin typeface="Cambria Math" panose="02040503050406030204" pitchFamily="18" charset="0"/>
                                              <a:ea typeface="Cambria Math" panose="02040503050406030204" pitchFamily="18" charset="0"/>
                                            </a:rPr>
                                            <m:t>𝐷</m:t>
                                          </m:r>
                                        </m:e>
                                        <m:sub>
                                          <m:r>
                                            <a:rPr lang="en-US" altLang="ja-JP" b="0" i="1" dirty="0" smtClean="0">
                                              <a:latin typeface="Cambria Math" panose="02040503050406030204" pitchFamily="18" charset="0"/>
                                              <a:ea typeface="Cambria Math" panose="02040503050406030204" pitchFamily="18" charset="0"/>
                                            </a:rPr>
                                            <m:t>𝑖</m:t>
                                          </m:r>
                                        </m:sub>
                                      </m:sSub>
                                    </m:e>
                                  </m:d>
                                  <m:d>
                                    <m:dPr>
                                      <m:ctrlPr>
                                        <a:rPr lang="en-US" altLang="ja-JP" b="0" i="1" dirty="0" smtClean="0">
                                          <a:latin typeface="Cambria Math" panose="02040503050406030204" pitchFamily="18" charset="0"/>
                                          <a:ea typeface="Cambria Math" panose="02040503050406030204" pitchFamily="18" charset="0"/>
                                        </a:rPr>
                                      </m:ctrlPr>
                                    </m:dPr>
                                    <m:e>
                                      <m:sSub>
                                        <m:sSubPr>
                                          <m:ctrlPr>
                                            <a:rPr lang="en-US" altLang="ja-JP" i="1" dirty="0">
                                              <a:latin typeface="Cambria Math" panose="02040503050406030204" pitchFamily="18" charset="0"/>
                                              <a:ea typeface="Cambria Math" panose="02040503050406030204" pitchFamily="18" charset="0"/>
                                            </a:rPr>
                                          </m:ctrlPr>
                                        </m:sSubPr>
                                        <m:e>
                                          <m:r>
                                            <a:rPr lang="en-US" altLang="ja-JP" i="1" dirty="0">
                                              <a:latin typeface="Cambria Math" panose="02040503050406030204" pitchFamily="18" charset="0"/>
                                              <a:ea typeface="Cambria Math" panose="02040503050406030204" pitchFamily="18" charset="0"/>
                                            </a:rPr>
                                            <m:t>𝑌</m:t>
                                          </m:r>
                                        </m:e>
                                        <m:sub>
                                          <m:r>
                                            <a:rPr lang="en-US" altLang="ja-JP" i="1" dirty="0">
                                              <a:latin typeface="Cambria Math" panose="02040503050406030204" pitchFamily="18" charset="0"/>
                                              <a:ea typeface="Cambria Math" panose="02040503050406030204" pitchFamily="18" charset="0"/>
                                            </a:rPr>
                                            <m:t>𝑖</m:t>
                                          </m:r>
                                        </m:sub>
                                      </m:sSub>
                                      <m:r>
                                        <a:rPr lang="en-US" altLang="ja-JP" b="0" i="1" dirty="0" smtClean="0">
                                          <a:latin typeface="Cambria Math" panose="02040503050406030204" pitchFamily="18" charset="0"/>
                                          <a:ea typeface="Cambria Math" panose="02040503050406030204" pitchFamily="18" charset="0"/>
                                        </a:rPr>
                                        <m:t>−</m:t>
                                      </m:r>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b="0" i="1" smtClean="0">
                                              <a:latin typeface="Cambria Math" panose="02040503050406030204" pitchFamily="18" charset="0"/>
                                            </a:rPr>
                                            <m:t>0</m:t>
                                          </m:r>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i="1">
                                                  <a:latin typeface="Cambria Math" panose="02040503050406030204" pitchFamily="18" charset="0"/>
                                                </a:rPr>
                                                <m:t>𝑖</m:t>
                                              </m:r>
                                            </m:sub>
                                          </m:sSub>
                                        </m:e>
                                      </m:d>
                                    </m:e>
                                  </m:d>
                                </m:num>
                                <m:den>
                                  <m:r>
                                    <a:rPr lang="en-US" altLang="ja-JP" i="1" dirty="0">
                                      <a:latin typeface="Cambria Math" panose="02040503050406030204" pitchFamily="18" charset="0"/>
                                      <a:ea typeface="Cambria Math" panose="02040503050406030204" pitchFamily="18" charset="0"/>
                                    </a:rPr>
                                    <m:t>1−</m:t>
                                  </m:r>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d>
                                    <m:dPr>
                                      <m:ctrlPr>
                                        <a:rPr lang="en-US" altLang="ja-JP" i="1" dirty="0">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0" i="1" smtClean="0">
                                              <a:latin typeface="Cambria Math" panose="02040503050406030204" pitchFamily="18" charset="0"/>
                                              <a:ea typeface="Cambria Math" panose="02040503050406030204" pitchFamily="18" charset="0"/>
                                            </a:rPr>
                                            <m:t>𝑋</m:t>
                                          </m:r>
                                        </m:e>
                                        <m:sub>
                                          <m:r>
                                            <a:rPr lang="en-US" altLang="ja-JP" i="1">
                                              <a:latin typeface="Cambria Math" panose="02040503050406030204" pitchFamily="18" charset="0"/>
                                              <a:ea typeface="Cambria Math" panose="02040503050406030204" pitchFamily="18" charset="0"/>
                                            </a:rPr>
                                            <m:t>𝑖</m:t>
                                          </m:r>
                                        </m:sub>
                                      </m:sSub>
                                    </m:e>
                                  </m:d>
                                </m:den>
                              </m:f>
                              <m:r>
                                <a:rPr lang="en-US" altLang="ja-JP" b="0" i="1" smtClean="0">
                                  <a:latin typeface="Cambria Math" panose="02040503050406030204" pitchFamily="18" charset="0"/>
                                  <a:ea typeface="Cambria Math" panose="02040503050406030204" pitchFamily="18" charset="0"/>
                                </a:rPr>
                                <m:t>+</m:t>
                              </m:r>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i="1">
                                      <a:latin typeface="Cambria Math" panose="02040503050406030204" pitchFamily="18" charset="0"/>
                                    </a:rPr>
                                    <m:t>1, </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i="1">
                                          <a:latin typeface="Cambria Math" panose="02040503050406030204" pitchFamily="18" charset="0"/>
                                        </a:rPr>
                                        <m:t>𝑖</m:t>
                                      </m:r>
                                    </m:sub>
                                  </m:sSub>
                                </m:e>
                              </m:d>
                              <m:r>
                                <a:rPr lang="en-US" altLang="ja-JP" b="0" i="1" smtClean="0">
                                  <a:latin typeface="Cambria Math" panose="02040503050406030204" pitchFamily="18" charset="0"/>
                                </a:rPr>
                                <m:t>−</m:t>
                              </m:r>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𝑓</m:t>
                                  </m:r>
                                </m:e>
                              </m:acc>
                              <m:d>
                                <m:dPr>
                                  <m:ctrlPr>
                                    <a:rPr lang="en-US" altLang="ja-JP" i="1">
                                      <a:latin typeface="Cambria Math" panose="02040503050406030204" pitchFamily="18" charset="0"/>
                                    </a:rPr>
                                  </m:ctrlPr>
                                </m:dPr>
                                <m:e>
                                  <m:r>
                                    <a:rPr lang="en-US" altLang="ja-JP" b="0" i="1" smtClean="0">
                                      <a:latin typeface="Cambria Math" panose="02040503050406030204" pitchFamily="18" charset="0"/>
                                    </a:rPr>
                                    <m:t>0,</m:t>
                                  </m:r>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i="1">
                                          <a:latin typeface="Cambria Math" panose="02040503050406030204" pitchFamily="18" charset="0"/>
                                        </a:rPr>
                                        <m:t>𝑖</m:t>
                                      </m:r>
                                    </m:sub>
                                  </m:sSub>
                                </m:e>
                              </m:d>
                            </m:e>
                          </m:d>
                        </m:e>
                      </m:nary>
                      <m:r>
                        <a:rPr lang="en-US" altLang="ja-JP" b="0" i="1" smtClean="0">
                          <a:latin typeface="Cambria Math" panose="02040503050406030204" pitchFamily="18" charset="0"/>
                          <a:ea typeface="Cambria Math" panose="02040503050406030204" pitchFamily="18" charset="0"/>
                        </a:rPr>
                        <m:t>.</m:t>
                      </m:r>
                    </m:oMath>
                  </m:oMathPara>
                </a14:m>
                <a:endParaRPr lang="en-US" altLang="ja-JP" dirty="0"/>
              </a:p>
              <a:p>
                <a:pPr lvl="1"/>
                <a:endParaRPr lang="en-US" altLang="ja-JP" sz="800" dirty="0"/>
              </a:p>
              <a:p>
                <a:pPr lvl="1"/>
                <a:r>
                  <a:rPr lang="ja-JP" altLang="en-US"/>
                  <a:t>二重に頑健な（</a:t>
                </a:r>
                <a:r>
                  <a:rPr lang="en-US" altLang="ja-JP" dirty="0"/>
                  <a:t>Doubly Robust; DR</a:t>
                </a:r>
                <a:r>
                  <a:rPr lang="ja-JP" altLang="en-US"/>
                  <a:t>）推定量とも呼ばれる</a:t>
                </a:r>
                <a:endParaRPr lang="en-US" altLang="ja-JP" dirty="0"/>
              </a:p>
              <a:p>
                <a:pPr lvl="2"/>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𝑓</m:t>
                        </m:r>
                      </m:e>
                    </m:acc>
                  </m:oMath>
                </a14:m>
                <a:r>
                  <a:rPr lang="en-US" altLang="ja-JP" dirty="0"/>
                  <a:t> </a:t>
                </a:r>
                <a:r>
                  <a:rPr lang="ja-JP" altLang="en-US" dirty="0"/>
                  <a:t>か</a:t>
                </a:r>
                <a:r>
                  <a:rPr lang="en-US" altLang="ja-JP" dirty="0"/>
                  <a:t> </a:t>
                </a:r>
                <a14:m>
                  <m:oMath xmlns:m="http://schemas.openxmlformats.org/officeDocument/2006/math">
                    <m:acc>
                      <m:accPr>
                        <m:chr m:val="̂"/>
                        <m:ctrlPr>
                          <a:rPr lang="en-US" altLang="ja-JP" i="1" dirty="0">
                            <a:latin typeface="Cambria Math" panose="02040503050406030204" pitchFamily="18" charset="0"/>
                            <a:ea typeface="Cambria Math" panose="02040503050406030204" pitchFamily="18" charset="0"/>
                          </a:rPr>
                        </m:ctrlPr>
                      </m:accPr>
                      <m:e>
                        <m:r>
                          <a:rPr lang="en-US" altLang="ja-JP" i="1" dirty="0">
                            <a:latin typeface="Cambria Math" panose="02040503050406030204" pitchFamily="18" charset="0"/>
                            <a:ea typeface="Cambria Math" panose="02040503050406030204" pitchFamily="18" charset="0"/>
                          </a:rPr>
                          <m:t>𝑒</m:t>
                        </m:r>
                      </m:e>
                    </m:acc>
                  </m:oMath>
                </a14:m>
                <a:r>
                  <a:rPr lang="en-US" altLang="ja-JP" dirty="0"/>
                  <a:t> </a:t>
                </a:r>
                <a:r>
                  <a:rPr lang="ja-JP" altLang="en-US" dirty="0"/>
                  <a:t>の</a:t>
                </a:r>
                <a:r>
                  <a:rPr lang="ja-JP" altLang="en-US"/>
                  <a:t>少なくともどれか一つが正しく推定されていれば、</a:t>
                </a:r>
                <a:r>
                  <a:rPr lang="en-US" altLang="ja-JP" dirty="0">
                    <a:ea typeface="Cambria Math" panose="02040503050406030204" pitchFamily="18" charset="0"/>
                  </a:rPr>
                  <a:t> </a:t>
                </a:r>
                <a14:m>
                  <m:oMath xmlns:m="http://schemas.openxmlformats.org/officeDocument/2006/math">
                    <m:sSubSup>
                      <m:sSubSupPr>
                        <m:ctrlPr>
                          <a:rPr lang="en-US" altLang="ja-JP" i="1">
                            <a:latin typeface="Cambria Math" panose="02040503050406030204" pitchFamily="18" charset="0"/>
                            <a:ea typeface="Cambria Math" panose="02040503050406030204" pitchFamily="18" charset="0"/>
                          </a:rPr>
                        </m:ctrlPr>
                      </m:sSubSupPr>
                      <m:e>
                        <m:acc>
                          <m:accPr>
                            <m:chr m:val="̂"/>
                            <m:ctrlPr>
                              <a:rPr lang="en-US" altLang="ja-JP" i="1">
                                <a:latin typeface="Cambria Math" panose="02040503050406030204" pitchFamily="18" charset="0"/>
                                <a:ea typeface="Cambria Math" panose="02040503050406030204" pitchFamily="18" charset="0"/>
                              </a:rPr>
                            </m:ctrlPr>
                          </m:accPr>
                          <m:e>
                            <m:r>
                              <a:rPr lang="en-US" altLang="ja-JP" i="1">
                                <a:latin typeface="Cambria Math" panose="02040503050406030204" pitchFamily="18" charset="0"/>
                                <a:ea typeface="Cambria Math" panose="02040503050406030204" pitchFamily="18" charset="0"/>
                              </a:rPr>
                              <m:t>𝜃</m:t>
                            </m:r>
                          </m:e>
                        </m:acc>
                      </m:e>
                      <m:sub>
                        <m:r>
                          <a:rPr lang="en-US" altLang="ja-JP" i="1">
                            <a:latin typeface="Cambria Math" panose="02040503050406030204" pitchFamily="18" charset="0"/>
                            <a:ea typeface="Cambria Math" panose="02040503050406030204" pitchFamily="18" charset="0"/>
                          </a:rPr>
                          <m:t>𝑛</m:t>
                        </m:r>
                      </m:sub>
                      <m:sup>
                        <m:r>
                          <m:rPr>
                            <m:sty m:val="p"/>
                          </m:rPr>
                          <a:rPr lang="en-US" altLang="ja-JP">
                            <a:latin typeface="Cambria Math" panose="02040503050406030204" pitchFamily="18" charset="0"/>
                            <a:ea typeface="Cambria Math" panose="02040503050406030204" pitchFamily="18" charset="0"/>
                          </a:rPr>
                          <m:t>AIPW</m:t>
                        </m:r>
                      </m:sup>
                    </m:sSubSup>
                  </m:oMath>
                </a14:m>
                <a:r>
                  <a:rPr lang="en-US" altLang="ja-JP" dirty="0"/>
                  <a:t> </a:t>
                </a:r>
                <a:r>
                  <a:rPr lang="ja-JP" altLang="en-US"/>
                  <a:t>は</a:t>
                </a:r>
                <a:r>
                  <a:rPr lang="en-US" altLang="ja-JP" dirty="0"/>
                  <a:t> </a:t>
                </a:r>
                <a14:m>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𝜃</m:t>
                        </m:r>
                      </m:e>
                      <m:sub>
                        <m:r>
                          <a:rPr lang="en-US" altLang="ja-JP" b="0" i="1" smtClean="0">
                            <a:latin typeface="Cambria Math" panose="02040503050406030204" pitchFamily="18" charset="0"/>
                          </a:rPr>
                          <m:t>0</m:t>
                        </m:r>
                      </m:sub>
                      <m:sup>
                        <m:r>
                          <m:rPr>
                            <m:sty m:val="p"/>
                          </m:rPr>
                          <a:rPr lang="en-US" altLang="ja-JP" b="0" i="0" smtClean="0">
                            <a:latin typeface="Cambria Math" panose="02040503050406030204" pitchFamily="18" charset="0"/>
                          </a:rPr>
                          <m:t>ATE</m:t>
                        </m:r>
                      </m:sup>
                    </m:sSubSup>
                  </m:oMath>
                </a14:m>
                <a:r>
                  <a:rPr lang="en-US" altLang="ja-JP" dirty="0"/>
                  <a:t> </a:t>
                </a:r>
                <a:r>
                  <a:rPr lang="ja-JP" altLang="en-US"/>
                  <a:t>に収束</a:t>
                </a:r>
                <a:endParaRPr lang="en-US" altLang="ja-JP" dirty="0"/>
              </a:p>
              <a:p>
                <a:pPr lvl="2"/>
                <a:endParaRPr lang="en-US" altLang="ja-JP" dirty="0"/>
              </a:p>
              <a:p>
                <a:pPr marL="397800" lvl="1" indent="0">
                  <a:buNone/>
                </a:pPr>
                <a:endParaRPr lang="ja-JP" altLang="en-US"/>
              </a:p>
            </p:txBody>
          </p:sp>
        </mc:Choice>
        <mc:Fallback xmlns="">
          <p:sp>
            <p:nvSpPr>
              <p:cNvPr id="7" name="コンテンツ プレースホルダー 6">
                <a:extLst>
                  <a:ext uri="{FF2B5EF4-FFF2-40B4-BE49-F238E27FC236}">
                    <a16:creationId xmlns:a16="http://schemas.microsoft.com/office/drawing/2014/main" id="{3F189AC0-8235-C335-A4B0-D17252CD113A}"/>
                  </a:ext>
                </a:extLst>
              </p:cNvPr>
              <p:cNvSpPr>
                <a:spLocks noGrp="1" noRot="1" noChangeAspect="1" noMove="1" noResize="1" noEditPoints="1" noAdjustHandles="1" noChangeArrowheads="1" noChangeShapeType="1" noTextEdit="1"/>
              </p:cNvSpPr>
              <p:nvPr>
                <p:ph idx="1"/>
              </p:nvPr>
            </p:nvSpPr>
            <p:spPr>
              <a:blipFill>
                <a:blip r:embed="rId2"/>
                <a:stretch>
                  <a:fillRect l="-483" t="-4728"/>
                </a:stretch>
              </a:blipFill>
            </p:spPr>
            <p:txBody>
              <a:bodyPr/>
              <a:lstStyle/>
              <a:p>
                <a:r>
                  <a:rPr lang="ja-JP" altLang="en-US">
                    <a:noFill/>
                  </a:rPr>
                  <a:t> </a:t>
                </a:r>
              </a:p>
            </p:txBody>
          </p:sp>
        </mc:Fallback>
      </mc:AlternateContent>
      <p:sp>
        <p:nvSpPr>
          <p:cNvPr id="8" name="Holder 4">
            <a:extLst>
              <a:ext uri="{FF2B5EF4-FFF2-40B4-BE49-F238E27FC236}">
                <a16:creationId xmlns:a16="http://schemas.microsoft.com/office/drawing/2014/main" id="{A245347B-178F-AEAB-A549-66D19789485A}"/>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
        <p:nvSpPr>
          <p:cNvPr id="2" name="正方形/長方形 1">
            <a:extLst>
              <a:ext uri="{FF2B5EF4-FFF2-40B4-BE49-F238E27FC236}">
                <a16:creationId xmlns:a16="http://schemas.microsoft.com/office/drawing/2014/main" id="{2EC510BA-E197-8759-10EC-767CFC202026}"/>
              </a:ext>
            </a:extLst>
          </p:cNvPr>
          <p:cNvSpPr/>
          <p:nvPr/>
        </p:nvSpPr>
        <p:spPr>
          <a:xfrm>
            <a:off x="1985511" y="1591574"/>
            <a:ext cx="8220978" cy="993845"/>
          </a:xfrm>
          <a:prstGeom prst="rect">
            <a:avLst/>
          </a:prstGeom>
          <a:solidFill>
            <a:srgbClr val="FFD012">
              <a:alpha val="1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42372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DF4B8-3F26-CF37-BD1F-EB25BBDCD8B5}"/>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786654B-ECFF-5E1B-BC23-2303196BBFBD}"/>
              </a:ext>
            </a:extLst>
          </p:cNvPr>
          <p:cNvSpPr>
            <a:spLocks noGrp="1"/>
          </p:cNvSpPr>
          <p:nvPr>
            <p:ph type="title"/>
          </p:nvPr>
        </p:nvSpPr>
        <p:spPr/>
        <p:txBody>
          <a:bodyPr>
            <a:normAutofit/>
          </a:bodyPr>
          <a:lstStyle/>
          <a:p>
            <a:r>
              <a:rPr lang="ja-JP" altLang="en-US">
                <a:latin typeface="Cambria Math" panose="02040503050406030204" pitchFamily="18" charset="0"/>
              </a:rPr>
              <a:t>マッチング推定量</a:t>
            </a:r>
            <a:endParaRPr lang="ja-JP" altLang="en-US"/>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7B8FED8A-3D49-564B-1E0A-DAB27B92480C}"/>
                  </a:ext>
                </a:extLst>
              </p:cNvPr>
              <p:cNvSpPr>
                <a:spLocks noGrp="1"/>
              </p:cNvSpPr>
              <p:nvPr>
                <p:ph idx="1"/>
              </p:nvPr>
            </p:nvSpPr>
            <p:spPr/>
            <p:txBody>
              <a:bodyPr>
                <a:normAutofit/>
              </a:bodyPr>
              <a:lstStyle/>
              <a:p>
                <a:pPr>
                  <a:buFont typeface="Wingdings" pitchFamily="2" charset="2"/>
                  <a:buChar char="Ø"/>
                </a:pPr>
                <a:r>
                  <a:rPr lang="ja-JP" altLang="en-US">
                    <a:latin typeface="Cambria Math" panose="02040503050406030204" pitchFamily="18" charset="0"/>
                  </a:rPr>
                  <a:t>マッチング推定量：</a:t>
                </a:r>
                <a:endParaRPr lang="en-US" altLang="ja-JP" dirty="0">
                  <a:latin typeface="Cambria Math" panose="02040503050406030204" pitchFamily="18" charset="0"/>
                </a:endParaRPr>
              </a:p>
              <a:p>
                <a:pPr lvl="1"/>
                <a:r>
                  <a:rPr lang="ja-JP" altLang="en-US">
                    <a:latin typeface="Cambria Math" panose="02040503050406030204" pitchFamily="18" charset="0"/>
                  </a:rPr>
                  <a:t>似た個体同士を「マッチング」させることで未観測アウトカムを補完．</a:t>
                </a:r>
                <a:endParaRPr lang="en-US" altLang="ja-JP" dirty="0">
                  <a:latin typeface="Cambria Math" panose="02040503050406030204" pitchFamily="18" charset="0"/>
                </a:endParaRPr>
              </a:p>
              <a:p>
                <a:pPr lvl="1"/>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𝐽</m:t>
                        </m:r>
                      </m:e>
                      <m:sub>
                        <m:r>
                          <a:rPr lang="en-US" altLang="ja-JP" b="0" i="1" smtClean="0">
                            <a:latin typeface="Cambria Math" panose="02040503050406030204" pitchFamily="18" charset="0"/>
                          </a:rPr>
                          <m:t>𝑀</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𝑖</m:t>
                    </m:r>
                    <m:r>
                      <a:rPr lang="en-US" altLang="ja-JP" b="0" i="1" smtClean="0">
                        <a:latin typeface="Cambria Math" panose="02040503050406030204" pitchFamily="18" charset="0"/>
                      </a:rPr>
                      <m:t>)</m:t>
                    </m:r>
                  </m:oMath>
                </a14:m>
                <a:r>
                  <a:rPr lang="ja-JP" altLang="en-US"/>
                  <a:t>を以下のような条件を満たす</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𝑍</m:t>
                        </m:r>
                      </m:e>
                      <m:sub>
                        <m:r>
                          <a:rPr lang="en-US" altLang="ja-JP" b="0" i="1" smtClean="0">
                            <a:latin typeface="Cambria Math" panose="02040503050406030204" pitchFamily="18" charset="0"/>
                          </a:rPr>
                          <m:t>𝑖</m:t>
                        </m:r>
                      </m:sub>
                    </m:sSub>
                  </m:oMath>
                </a14:m>
                <a:r>
                  <a:rPr lang="ja-JP" altLang="en-US" dirty="0"/>
                  <a:t>の</a:t>
                </a:r>
                <a:r>
                  <a:rPr lang="ja-JP" altLang="en-US"/>
                  <a:t>近傍の個体</a:t>
                </a:r>
                <a14:m>
                  <m:oMath xmlns:m="http://schemas.openxmlformats.org/officeDocument/2006/math">
                    <m:r>
                      <a:rPr lang="en-US" altLang="ja-JP" i="1">
                        <a:latin typeface="Cambria Math" panose="02040503050406030204" pitchFamily="18" charset="0"/>
                      </a:rPr>
                      <m:t>𝑗</m:t>
                    </m:r>
                  </m:oMath>
                </a14:m>
                <a:r>
                  <a:rPr lang="ja-JP" altLang="en-US" dirty="0"/>
                  <a:t>を</a:t>
                </a:r>
                <a14:m>
                  <m:oMath xmlns:m="http://schemas.openxmlformats.org/officeDocument/2006/math">
                    <m:r>
                      <a:rPr lang="en-US" altLang="ja-JP" b="0" i="1" dirty="0" smtClean="0">
                        <a:latin typeface="Cambria Math" panose="02040503050406030204" pitchFamily="18" charset="0"/>
                      </a:rPr>
                      <m:t>𝑀</m:t>
                    </m:r>
                  </m:oMath>
                </a14:m>
                <a:r>
                  <a:rPr lang="ja-JP" altLang="en-US"/>
                  <a:t>個集めた集合とする：</a:t>
                </a:r>
                <a:endParaRPr lang="en-US" altLang="ja-JP" dirty="0"/>
              </a:p>
              <a:p>
                <a:pPr lvl="2"/>
                <a:r>
                  <a:rPr lang="ja-JP" altLang="en-US"/>
                  <a:t>個体</a:t>
                </a:r>
                <a14:m>
                  <m:oMath xmlns:m="http://schemas.openxmlformats.org/officeDocument/2006/math">
                    <m:r>
                      <a:rPr lang="en-US" altLang="ja-JP" i="1">
                        <a:latin typeface="Cambria Math" panose="02040503050406030204" pitchFamily="18" charset="0"/>
                      </a:rPr>
                      <m:t>𝑗</m:t>
                    </m:r>
                  </m:oMath>
                </a14:m>
                <a:r>
                  <a:rPr lang="ja-JP" altLang="en-US" b="0"/>
                  <a:t>は</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𝑍</m:t>
                        </m:r>
                      </m:e>
                      <m:sub>
                        <m:r>
                          <a:rPr lang="en-US" altLang="ja-JP" b="0" i="1" smtClean="0">
                            <a:latin typeface="Cambria Math" panose="02040503050406030204" pitchFamily="18" charset="0"/>
                          </a:rPr>
                          <m:t>𝑖</m:t>
                        </m:r>
                      </m:sub>
                    </m:sSub>
                  </m:oMath>
                </a14:m>
                <a:r>
                  <a:rPr lang="ja-JP" altLang="en-US" b="0">
                    <a:latin typeface="Cambria Math" panose="02040503050406030204" pitchFamily="18" charset="0"/>
                  </a:rPr>
                  <a:t>と近い共変量を持ち，</a:t>
                </a:r>
                <a:endParaRPr lang="en-US" altLang="ja-JP" b="0" dirty="0">
                  <a:latin typeface="Cambria Math" panose="02040503050406030204" pitchFamily="18" charset="0"/>
                </a:endParaRPr>
              </a:p>
              <a:p>
                <a:pPr lvl="2"/>
                <a14:m>
                  <m:oMath xmlns:m="http://schemas.openxmlformats.org/officeDocument/2006/math">
                    <m:r>
                      <a:rPr lang="en-US" altLang="ja-JP" b="0" i="1" smtClean="0">
                        <a:latin typeface="Cambria Math" panose="02040503050406030204" pitchFamily="18" charset="0"/>
                      </a:rPr>
                      <m:t>𝑖</m:t>
                    </m:r>
                  </m:oMath>
                </a14:m>
                <a:r>
                  <a:rPr lang="ja-JP" altLang="en-US"/>
                  <a:t>とは異なる処置を受けている（</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𝑗</m:t>
                        </m:r>
                      </m:sub>
                    </m:sSub>
                    <m:r>
                      <a:rPr lang="en-US" altLang="ja-JP" i="1">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oMath>
                </a14:m>
                <a:r>
                  <a:rPr lang="ja-JP" altLang="en-US"/>
                  <a:t>）．</a:t>
                </a:r>
                <a:endParaRPr lang="en-US" altLang="ja-JP" dirty="0"/>
              </a:p>
              <a:p>
                <a:pPr lvl="1"/>
                <a:r>
                  <a:rPr lang="ja-JP" altLang="en-US"/>
                  <a:t>このとき，潜在アウトカムの推定量を以下のように定義する：</a:t>
                </a:r>
                <a:endParaRPr lang="en-US" altLang="ja-JP"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rPr>
                          </m:ctrlPr>
                        </m:sSubPr>
                        <m:e>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𝑌</m:t>
                              </m:r>
                            </m:e>
                          </m:acc>
                        </m:e>
                        <m:sub>
                          <m:r>
                            <a:rPr lang="en-US" altLang="ja-JP" b="0" i="1" smtClean="0">
                              <a:latin typeface="Cambria Math" panose="02040503050406030204" pitchFamily="18" charset="0"/>
                            </a:rPr>
                            <m:t>𝑖</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m:t>
                          </m:r>
                        </m:e>
                      </m:d>
                      <m:r>
                        <a:rPr lang="en-US" altLang="ja-JP" b="0" i="1" smtClean="0">
                          <a:latin typeface="Cambria Math" panose="02040503050406030204" pitchFamily="18" charset="0"/>
                        </a:rPr>
                        <m:t>=</m:t>
                      </m:r>
                      <m:d>
                        <m:dPr>
                          <m:begChr m:val="{"/>
                          <m:endChr m:val=""/>
                          <m:ctrlPr>
                            <a:rPr lang="en-US" altLang="ja-JP" b="0" i="1" smtClean="0">
                              <a:latin typeface="Cambria Math" panose="02040503050406030204" pitchFamily="18" charset="0"/>
                            </a:rPr>
                          </m:ctrlPr>
                        </m:dPr>
                        <m:e>
                          <m:eqArr>
                            <m:eqArrPr>
                              <m:ctrlPr>
                                <a:rPr lang="en-US" altLang="ja-JP" b="0" i="1" smtClean="0">
                                  <a:latin typeface="Cambria Math" panose="02040503050406030204" pitchFamily="18" charset="0"/>
                                </a:rPr>
                              </m:ctrlPr>
                            </m:eqArr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𝑌</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𝐷</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=1</m:t>
                              </m:r>
                            </m:e>
                            <m:e>
                              <m:r>
                                <a:rPr lang="en-US" altLang="ja-JP" b="0" i="1" smtClean="0">
                                  <a:latin typeface="Cambria Math" panose="02040503050406030204" pitchFamily="18" charset="0"/>
                                </a:rPr>
                                <m:t>&amp;</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𝑀</m:t>
                                  </m:r>
                                </m:den>
                              </m:f>
                              <m:nary>
                                <m:naryPr>
                                  <m:chr m:val="∑"/>
                                  <m:supHide m:val="on"/>
                                  <m:ctrlPr>
                                    <a:rPr lang="en-US" altLang="ja-JP" b="0" i="1" smtClean="0">
                                      <a:latin typeface="Cambria Math" panose="02040503050406030204" pitchFamily="18" charset="0"/>
                                    </a:rPr>
                                  </m:ctrlPr>
                                </m:naryPr>
                                <m:sub>
                                  <m:r>
                                    <a:rPr lang="en-US" altLang="ja-JP" b="0" i="1" smtClean="0">
                                      <a:latin typeface="Cambria Math" panose="02040503050406030204" pitchFamily="18" charset="0"/>
                                    </a:rPr>
                                    <m:t>𝑗</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𝐽</m:t>
                                      </m:r>
                                    </m:e>
                                    <m:sub>
                                      <m:r>
                                        <a:rPr lang="en-US" altLang="ja-JP" b="0" i="1" smtClean="0">
                                          <a:latin typeface="Cambria Math" panose="02040503050406030204" pitchFamily="18" charset="0"/>
                                        </a:rPr>
                                        <m:t>𝑀</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𝑖</m:t>
                                      </m:r>
                                    </m:e>
                                  </m:d>
                                </m:sub>
                                <m:sup/>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𝑌</m:t>
                                      </m:r>
                                    </m:e>
                                    <m:sub>
                                      <m:r>
                                        <a:rPr lang="en-US" altLang="ja-JP" b="0" i="1" smtClean="0">
                                          <a:latin typeface="Cambria Math" panose="02040503050406030204" pitchFamily="18" charset="0"/>
                                        </a:rPr>
                                        <m:t>𝑗</m:t>
                                      </m:r>
                                    </m:sub>
                                  </m:sSub>
                                </m:e>
                              </m:nary>
                              <m:r>
                                <a:rPr lang="en-US" altLang="ja-JP" b="0" i="1" smtClean="0">
                                  <a:latin typeface="Cambria Math" panose="02040503050406030204" pitchFamily="18" charset="0"/>
                                </a:rPr>
                                <m:t>,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𝐷</m:t>
                                  </m:r>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=0</m:t>
                              </m:r>
                            </m:e>
                          </m:eqArr>
                        </m:e>
                      </m:d>
                      <m:r>
                        <a:rPr lang="en-US" altLang="ja-JP" b="0" i="1" smtClean="0">
                          <a:latin typeface="Cambria Math" panose="02040503050406030204" pitchFamily="18" charset="0"/>
                        </a:rPr>
                        <m:t>,  </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𝑌</m:t>
                              </m:r>
                            </m:e>
                          </m:acc>
                        </m:e>
                        <m:sub>
                          <m:r>
                            <a:rPr lang="en-US" altLang="ja-JP" i="1">
                              <a:latin typeface="Cambria Math" panose="02040503050406030204" pitchFamily="18" charset="0"/>
                            </a:rPr>
                            <m:t>𝑖</m:t>
                          </m:r>
                        </m:sub>
                      </m:sSub>
                      <m:d>
                        <m:dPr>
                          <m:ctrlPr>
                            <a:rPr lang="en-US" altLang="ja-JP" i="1">
                              <a:latin typeface="Cambria Math" panose="02040503050406030204" pitchFamily="18" charset="0"/>
                            </a:rPr>
                          </m:ctrlPr>
                        </m:dPr>
                        <m:e>
                          <m:r>
                            <a:rPr lang="en-US" altLang="ja-JP" b="0" i="1" smtClean="0">
                              <a:latin typeface="Cambria Math" panose="02040503050406030204" pitchFamily="18" charset="0"/>
                            </a:rPr>
                            <m:t>0</m:t>
                          </m:r>
                        </m:e>
                      </m:d>
                      <m:r>
                        <a:rPr lang="en-US" altLang="ja-JP" i="1">
                          <a:latin typeface="Cambria Math" panose="02040503050406030204" pitchFamily="18" charset="0"/>
                        </a:rPr>
                        <m:t>=</m:t>
                      </m:r>
                      <m:d>
                        <m:dPr>
                          <m:begChr m:val="{"/>
                          <m:endChr m:val=""/>
                          <m:ctrlPr>
                            <a:rPr lang="en-US" altLang="ja-JP" i="1">
                              <a:latin typeface="Cambria Math" panose="02040503050406030204" pitchFamily="18" charset="0"/>
                            </a:rPr>
                          </m:ctrlPr>
                        </m:dPr>
                        <m:e>
                          <m:eqArr>
                            <m:eqArrPr>
                              <m:ctrlPr>
                                <a:rPr lang="en-US" altLang="ja-JP" i="1">
                                  <a:latin typeface="Cambria Math" panose="02040503050406030204" pitchFamily="18" charset="0"/>
                                </a:rPr>
                              </m:ctrlPr>
                            </m:eqArrPr>
                            <m:e>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i="1">
                                      <a:latin typeface="Cambria Math" panose="02040503050406030204" pitchFamily="18" charset="0"/>
                                    </a:rPr>
                                    <m:t>𝑀</m:t>
                                  </m:r>
                                </m:den>
                              </m:f>
                              <m:nary>
                                <m:naryPr>
                                  <m:chr m:val="∑"/>
                                  <m:supHide m:val="on"/>
                                  <m:ctrlPr>
                                    <a:rPr lang="en-US" altLang="ja-JP" i="1">
                                      <a:latin typeface="Cambria Math" panose="02040503050406030204" pitchFamily="18" charset="0"/>
                                    </a:rPr>
                                  </m:ctrlPr>
                                </m:naryPr>
                                <m:sub>
                                  <m:r>
                                    <a:rPr lang="en-US" altLang="ja-JP" i="1">
                                      <a:latin typeface="Cambria Math" panose="02040503050406030204" pitchFamily="18" charset="0"/>
                                    </a:rPr>
                                    <m:t>𝑗</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𝐽</m:t>
                                      </m:r>
                                    </m:e>
                                    <m:sub>
                                      <m:r>
                                        <a:rPr lang="en-US" altLang="ja-JP" i="1">
                                          <a:latin typeface="Cambria Math" panose="02040503050406030204" pitchFamily="18" charset="0"/>
                                        </a:rPr>
                                        <m:t>𝑀</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𝑖</m:t>
                                      </m:r>
                                    </m:e>
                                  </m:d>
                                </m:sub>
                                <m:sup/>
                                <m:e>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𝑗</m:t>
                                      </m:r>
                                    </m:sub>
                                  </m:sSub>
                                </m:e>
                              </m:nary>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0" i="1" smtClean="0">
                                  <a:latin typeface="Cambria Math" panose="02040503050406030204" pitchFamily="18" charset="0"/>
                                </a:rPr>
                                <m:t>1</m:t>
                              </m:r>
                            </m:e>
                            <m:e>
                              <m:r>
                                <a:rPr lang="en-US" altLang="ja-JP" i="1">
                                  <a:latin typeface="Cambria Math" panose="02040503050406030204" pitchFamily="18" charset="0"/>
                                </a:rPr>
                                <m:t>&amp;</m:t>
                              </m:r>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𝑖</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𝐷</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0" i="1" smtClean="0">
                                  <a:latin typeface="Cambria Math" panose="02040503050406030204" pitchFamily="18" charset="0"/>
                                </a:rPr>
                                <m:t>0</m:t>
                              </m:r>
                            </m:e>
                          </m:eqArr>
                        </m:e>
                      </m:d>
                      <m:r>
                        <a:rPr lang="en-US" altLang="ja-JP" b="0" i="1" smtClean="0">
                          <a:latin typeface="Cambria Math" panose="02040503050406030204" pitchFamily="18" charset="0"/>
                        </a:rPr>
                        <m:t>.</m:t>
                      </m:r>
                    </m:oMath>
                  </m:oMathPara>
                </a14:m>
                <a:endParaRPr lang="en-US" altLang="ja-JP" dirty="0"/>
              </a:p>
              <a:p>
                <a:pPr lvl="1"/>
                <a:r>
                  <a:rPr lang="ja-JP" altLang="en-US"/>
                  <a:t>処置効果を以下のように推定する：</a:t>
                </a:r>
                <a:endParaRPr lang="en-US" altLang="ja-JP" dirty="0"/>
              </a:p>
              <a:p>
                <a:pPr marL="457200" lvl="1" indent="0">
                  <a:buNone/>
                </a:pPr>
                <a14:m>
                  <m:oMathPara xmlns:m="http://schemas.openxmlformats.org/officeDocument/2006/math">
                    <m:oMathParaPr>
                      <m:jc m:val="centerGroup"/>
                    </m:oMathParaPr>
                    <m:oMath xmlns:m="http://schemas.openxmlformats.org/officeDocument/2006/math">
                      <m:acc>
                        <m:accPr>
                          <m:chr m:val="̂"/>
                          <m:ctrlPr>
                            <a:rPr lang="en-US" altLang="ja-JP" i="1">
                              <a:latin typeface="Cambria Math" panose="02040503050406030204" pitchFamily="18" charset="0"/>
                              <a:ea typeface="Cambria Math" panose="02040503050406030204" pitchFamily="18" charset="0"/>
                            </a:rPr>
                          </m:ctrlPr>
                        </m:accPr>
                        <m:e>
                          <m:r>
                            <a:rPr lang="en-US" altLang="ja-JP" i="1">
                              <a:latin typeface="Cambria Math" panose="02040503050406030204" pitchFamily="18" charset="0"/>
                              <a:ea typeface="Cambria Math" panose="02040503050406030204" pitchFamily="18" charset="0"/>
                            </a:rPr>
                            <m:t>𝜃</m:t>
                          </m:r>
                        </m:e>
                      </m:acc>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𝑛</m:t>
                          </m:r>
                        </m:den>
                      </m:f>
                      <m:nary>
                        <m:naryPr>
                          <m:chr m:val="∑"/>
                          <m:ctrlPr>
                            <a:rPr lang="en-US" altLang="ja-JP" i="1">
                              <a:latin typeface="Cambria Math" panose="02040503050406030204" pitchFamily="18" charset="0"/>
                              <a:ea typeface="Cambria Math" panose="02040503050406030204" pitchFamily="18" charset="0"/>
                            </a:rPr>
                          </m:ctrlPr>
                        </m:naryPr>
                        <m:sub>
                          <m:r>
                            <a:rPr lang="en-US" altLang="ja-JP" i="1">
                              <a:latin typeface="Cambria Math" panose="02040503050406030204" pitchFamily="18" charset="0"/>
                              <a:ea typeface="Cambria Math" panose="02040503050406030204" pitchFamily="18" charset="0"/>
                            </a:rPr>
                            <m:t>𝑖</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𝑌</m:t>
                                      </m:r>
                                    </m:e>
                                  </m:acc>
                                </m:e>
                                <m:sub>
                                  <m:r>
                                    <a:rPr lang="en-US" altLang="ja-JP" i="1">
                                      <a:latin typeface="Cambria Math" panose="02040503050406030204" pitchFamily="18" charset="0"/>
                                    </a:rPr>
                                    <m:t>𝑖</m:t>
                                  </m:r>
                                </m:sub>
                              </m:sSub>
                              <m:d>
                                <m:dPr>
                                  <m:ctrlPr>
                                    <a:rPr lang="en-US" altLang="ja-JP" i="1">
                                      <a:latin typeface="Cambria Math" panose="02040503050406030204" pitchFamily="18" charset="0"/>
                                    </a:rPr>
                                  </m:ctrlPr>
                                </m:dPr>
                                <m:e>
                                  <m:r>
                                    <a:rPr lang="en-US" altLang="ja-JP" i="1">
                                      <a:latin typeface="Cambria Math" panose="02040503050406030204" pitchFamily="18" charset="0"/>
                                    </a:rPr>
                                    <m:t>1</m:t>
                                  </m:r>
                                </m:e>
                              </m:d>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𝑌</m:t>
                                      </m:r>
                                    </m:e>
                                  </m:acc>
                                </m:e>
                                <m:sub>
                                  <m:r>
                                    <a:rPr lang="en-US" altLang="ja-JP" i="1">
                                      <a:latin typeface="Cambria Math" panose="02040503050406030204" pitchFamily="18" charset="0"/>
                                    </a:rPr>
                                    <m:t>𝑖</m:t>
                                  </m:r>
                                </m:sub>
                              </m:sSub>
                              <m:d>
                                <m:dPr>
                                  <m:ctrlPr>
                                    <a:rPr lang="en-US" altLang="ja-JP" i="1">
                                      <a:latin typeface="Cambria Math" panose="02040503050406030204" pitchFamily="18" charset="0"/>
                                    </a:rPr>
                                  </m:ctrlPr>
                                </m:dPr>
                                <m:e>
                                  <m:r>
                                    <a:rPr lang="en-US" altLang="ja-JP" b="0" i="1" smtClean="0">
                                      <a:latin typeface="Cambria Math" panose="02040503050406030204" pitchFamily="18" charset="0"/>
                                    </a:rPr>
                                    <m:t>0</m:t>
                                  </m:r>
                                </m:e>
                              </m:d>
                            </m:e>
                          </m:d>
                        </m:e>
                      </m:nary>
                      <m:r>
                        <a:rPr lang="en-US" altLang="ja-JP" b="0" i="1" smtClean="0">
                          <a:latin typeface="Cambria Math" panose="02040503050406030204" pitchFamily="18" charset="0"/>
                          <a:ea typeface="Cambria Math" panose="02040503050406030204" pitchFamily="18" charset="0"/>
                        </a:rPr>
                        <m:t>.</m:t>
                      </m:r>
                    </m:oMath>
                  </m:oMathPara>
                </a14:m>
                <a:endParaRPr lang="en-US" altLang="ja-JP" dirty="0"/>
              </a:p>
            </p:txBody>
          </p:sp>
        </mc:Choice>
        <mc:Fallback xmlns="">
          <p:sp>
            <p:nvSpPr>
              <p:cNvPr id="7" name="コンテンツ プレースホルダー 6">
                <a:extLst>
                  <a:ext uri="{FF2B5EF4-FFF2-40B4-BE49-F238E27FC236}">
                    <a16:creationId xmlns:a16="http://schemas.microsoft.com/office/drawing/2014/main" id="{7B8FED8A-3D49-564B-1E0A-DAB27B92480C}"/>
                  </a:ext>
                </a:extLst>
              </p:cNvPr>
              <p:cNvSpPr>
                <a:spLocks noGrp="1" noRot="1" noChangeAspect="1" noMove="1" noResize="1" noEditPoints="1" noAdjustHandles="1" noChangeArrowheads="1" noChangeShapeType="1" noTextEdit="1"/>
              </p:cNvSpPr>
              <p:nvPr>
                <p:ph idx="1"/>
              </p:nvPr>
            </p:nvSpPr>
            <p:spPr>
              <a:blipFill>
                <a:blip r:embed="rId2"/>
                <a:stretch>
                  <a:fillRect l="-483" t="-946" b="-473"/>
                </a:stretch>
              </a:blipFill>
            </p:spPr>
            <p:txBody>
              <a:bodyPr/>
              <a:lstStyle/>
              <a:p>
                <a:r>
                  <a:rPr lang="ja-JP" altLang="en-US">
                    <a:noFill/>
                  </a:rPr>
                  <a:t> </a:t>
                </a:r>
              </a:p>
            </p:txBody>
          </p:sp>
        </mc:Fallback>
      </mc:AlternateContent>
      <p:sp>
        <p:nvSpPr>
          <p:cNvPr id="8" name="Holder 4">
            <a:extLst>
              <a:ext uri="{FF2B5EF4-FFF2-40B4-BE49-F238E27FC236}">
                <a16:creationId xmlns:a16="http://schemas.microsoft.com/office/drawing/2014/main" id="{F3067B7C-4B38-6155-DE03-DFFA15A27C24}"/>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Tree>
    <p:extLst>
      <p:ext uri="{BB962C8B-B14F-4D97-AF65-F5344CB8AC3E}">
        <p14:creationId xmlns:p14="http://schemas.microsoft.com/office/powerpoint/2010/main" val="2878814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9A717-A1CB-776F-5957-E670474BE9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ADE1CD-1165-3292-CC0A-AF493238B198}"/>
              </a:ext>
            </a:extLst>
          </p:cNvPr>
          <p:cNvSpPr>
            <a:spLocks noGrp="1"/>
          </p:cNvSpPr>
          <p:nvPr>
            <p:ph type="title"/>
          </p:nvPr>
        </p:nvSpPr>
        <p:spPr/>
        <p:txBody>
          <a:bodyPr/>
          <a:lstStyle/>
          <a:p>
            <a:r>
              <a:rPr kumimoji="1" lang="ja-JP" altLang="en-US"/>
              <a:t>代表的な推定量・推定方法（整理）</a:t>
            </a:r>
          </a:p>
        </p:txBody>
      </p:sp>
      <p:sp>
        <p:nvSpPr>
          <p:cNvPr id="3" name="コンテンツ プレースホルダー 2">
            <a:extLst>
              <a:ext uri="{FF2B5EF4-FFF2-40B4-BE49-F238E27FC236}">
                <a16:creationId xmlns:a16="http://schemas.microsoft.com/office/drawing/2014/main" id="{E21F87C5-3DDF-0A80-BFEA-49C678DA174F}"/>
              </a:ext>
            </a:extLst>
          </p:cNvPr>
          <p:cNvSpPr>
            <a:spLocks noGrp="1"/>
          </p:cNvSpPr>
          <p:nvPr>
            <p:ph idx="1"/>
          </p:nvPr>
        </p:nvSpPr>
        <p:spPr/>
        <p:txBody>
          <a:bodyPr/>
          <a:lstStyle/>
          <a:p>
            <a:r>
              <a:rPr kumimoji="1" lang="en-US" altLang="ja-JP" dirty="0"/>
              <a:t>ATE</a:t>
            </a:r>
            <a:r>
              <a:rPr kumimoji="1" lang="ja-JP" altLang="en-US"/>
              <a:t>の推定量の構築（最終形）</a:t>
            </a:r>
            <a:endParaRPr kumimoji="1" lang="en-US" altLang="ja-JP" dirty="0"/>
          </a:p>
          <a:p>
            <a:pPr lvl="1"/>
            <a:r>
              <a:rPr kumimoji="1" lang="ja-JP" altLang="en-US"/>
              <a:t>回帰調整推定量</a:t>
            </a:r>
            <a:endParaRPr lang="en-US" altLang="ja-JP" dirty="0"/>
          </a:p>
          <a:p>
            <a:pPr lvl="1"/>
            <a:r>
              <a:rPr kumimoji="1" lang="ja-JP" altLang="en-US"/>
              <a:t>逆確率重みづけ推定量</a:t>
            </a:r>
            <a:endParaRPr lang="en-US" altLang="ja-JP" dirty="0"/>
          </a:p>
          <a:p>
            <a:pPr lvl="1"/>
            <a:r>
              <a:rPr kumimoji="1" lang="ja-JP" altLang="en-US"/>
              <a:t>拡張逆確率重みづけ推定量</a:t>
            </a:r>
            <a:endParaRPr kumimoji="1" lang="en-US" altLang="ja-JP" dirty="0"/>
          </a:p>
          <a:p>
            <a:endParaRPr lang="en-US" altLang="ja-JP" dirty="0"/>
          </a:p>
          <a:p>
            <a:r>
              <a:rPr lang="ja-JP" altLang="en-US"/>
              <a:t>回帰関数と傾向スコアの推定方法</a:t>
            </a:r>
            <a:endParaRPr lang="en-US" altLang="ja-JP" dirty="0"/>
          </a:p>
          <a:p>
            <a:pPr lvl="1"/>
            <a:r>
              <a:rPr lang="ja-JP" altLang="en-US"/>
              <a:t>傾向スコアの推定方法</a:t>
            </a:r>
            <a:endParaRPr lang="en-US" altLang="ja-JP" dirty="0"/>
          </a:p>
          <a:p>
            <a:pPr lvl="2"/>
            <a:r>
              <a:rPr lang="ja-JP" altLang="en-US"/>
              <a:t>マッチング推定</a:t>
            </a:r>
            <a:endParaRPr lang="en-US" altLang="ja-JP" dirty="0"/>
          </a:p>
          <a:p>
            <a:pPr lvl="2"/>
            <a:r>
              <a:rPr lang="ja-JP" altLang="en-US"/>
              <a:t>リース回帰</a:t>
            </a:r>
            <a:endParaRPr lang="en-US" altLang="ja-JP" dirty="0"/>
          </a:p>
          <a:p>
            <a:pPr lvl="2"/>
            <a:r>
              <a:rPr lang="ja-JP" altLang="en-US"/>
              <a:t>共変量バランシング</a:t>
            </a:r>
            <a:endParaRPr lang="en-US" altLang="ja-JP" dirty="0"/>
          </a:p>
          <a:p>
            <a:pPr lvl="1"/>
            <a:r>
              <a:rPr lang="ja-JP" altLang="en-US"/>
              <a:t>回帰関数の推定方法</a:t>
            </a:r>
            <a:endParaRPr lang="en-US" altLang="ja-JP" dirty="0"/>
          </a:p>
          <a:p>
            <a:pPr lvl="2"/>
            <a:r>
              <a:rPr lang="ja-JP" altLang="en-US"/>
              <a:t>標的最尤推定</a:t>
            </a:r>
            <a:endParaRPr lang="en-US" altLang="ja-JP" dirty="0"/>
          </a:p>
          <a:p>
            <a:endParaRPr lang="en-US" altLang="ja-JP" dirty="0"/>
          </a:p>
          <a:p>
            <a:endParaRPr kumimoji="1" lang="ja-JP" altLang="en-US"/>
          </a:p>
        </p:txBody>
      </p:sp>
    </p:spTree>
    <p:extLst>
      <p:ext uri="{BB962C8B-B14F-4D97-AF65-F5344CB8AC3E}">
        <p14:creationId xmlns:p14="http://schemas.microsoft.com/office/powerpoint/2010/main" val="2893355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AD9D-9F6B-C7D9-5F66-A796030829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5027E9-4AC1-E70E-8A35-FA73BA5E5CCC}"/>
              </a:ext>
            </a:extLst>
          </p:cNvPr>
          <p:cNvSpPr>
            <a:spLocks noGrp="1"/>
          </p:cNvSpPr>
          <p:nvPr>
            <p:ph type="title"/>
          </p:nvPr>
        </p:nvSpPr>
        <p:spPr/>
        <p:txBody>
          <a:bodyPr/>
          <a:lstStyle/>
          <a:p>
            <a:r>
              <a:rPr lang="ja-JP" altLang="en-US"/>
              <a:t>もっとも基礎的な推定量</a:t>
            </a:r>
            <a:endParaRPr kumimoji="1" lang="ja-JP" altLang="en-US"/>
          </a:p>
        </p:txBody>
      </p:sp>
      <p:sp>
        <p:nvSpPr>
          <p:cNvPr id="3" name="コンテンツ プレースホルダー 2">
            <a:extLst>
              <a:ext uri="{FF2B5EF4-FFF2-40B4-BE49-F238E27FC236}">
                <a16:creationId xmlns:a16="http://schemas.microsoft.com/office/drawing/2014/main" id="{42BD7565-5D34-B704-A50A-E7E63997CFF2}"/>
              </a:ext>
            </a:extLst>
          </p:cNvPr>
          <p:cNvSpPr>
            <a:spLocks noGrp="1"/>
          </p:cNvSpPr>
          <p:nvPr>
            <p:ph idx="1"/>
          </p:nvPr>
        </p:nvSpPr>
        <p:spPr/>
        <p:txBody>
          <a:bodyPr/>
          <a:lstStyle/>
          <a:p>
            <a:r>
              <a:rPr lang="ja-JP" altLang="en-US"/>
              <a:t>個人的には、以下のように考えている：</a:t>
            </a:r>
            <a:endParaRPr lang="en-US" altLang="ja-JP" dirty="0"/>
          </a:p>
          <a:p>
            <a:endParaRPr lang="en-US" altLang="ja-JP" dirty="0"/>
          </a:p>
          <a:p>
            <a:pPr lvl="1"/>
            <a:r>
              <a:rPr lang="ja-JP" altLang="en-US"/>
              <a:t>最尤推定・漸近効率性の観点でもっとも基礎的な推定量は</a:t>
            </a:r>
            <a:endParaRPr lang="en-US" altLang="ja-JP" dirty="0"/>
          </a:p>
          <a:p>
            <a:pPr lvl="1"/>
            <a:endParaRPr kumimoji="1" lang="en-US" altLang="ja-JP" dirty="0"/>
          </a:p>
          <a:p>
            <a:pPr marL="397800" lvl="1" indent="0" algn="ctr">
              <a:buNone/>
            </a:pPr>
            <a:r>
              <a:rPr kumimoji="1" lang="en-US" altLang="ja-JP" dirty="0"/>
              <a:t>AIPW</a:t>
            </a:r>
            <a:r>
              <a:rPr kumimoji="1" lang="ja-JP" altLang="en-US"/>
              <a:t>推定量（二重に頑健な推定量）</a:t>
            </a:r>
            <a:endParaRPr kumimoji="1" lang="en-US" altLang="ja-JP" dirty="0"/>
          </a:p>
          <a:p>
            <a:pPr lvl="1"/>
            <a:endParaRPr lang="en-US" altLang="ja-JP" dirty="0"/>
          </a:p>
          <a:p>
            <a:pPr lvl="1"/>
            <a:r>
              <a:rPr kumimoji="1" lang="ja-JP" altLang="en-US"/>
              <a:t>回帰分析の観点でもっとも基礎的な推定量は</a:t>
            </a:r>
            <a:endParaRPr kumimoji="1" lang="en-US" altLang="ja-JP" dirty="0"/>
          </a:p>
          <a:p>
            <a:pPr lvl="1"/>
            <a:endParaRPr lang="en-US" altLang="ja-JP" dirty="0"/>
          </a:p>
          <a:p>
            <a:pPr marL="397800" lvl="1" indent="0" algn="ctr">
              <a:buNone/>
            </a:pPr>
            <a:r>
              <a:rPr lang="ja-JP" altLang="en-US"/>
              <a:t>回帰調整推定量</a:t>
            </a:r>
            <a:endParaRPr lang="en-US" altLang="ja-JP" dirty="0"/>
          </a:p>
          <a:p>
            <a:pPr lvl="1"/>
            <a:endParaRPr kumimoji="1" lang="en-US" altLang="ja-JP" dirty="0"/>
          </a:p>
          <a:p>
            <a:pPr lvl="1"/>
            <a:r>
              <a:rPr kumimoji="1" lang="ja-JP" altLang="en-US"/>
              <a:t>選択バイアスの観点でもっとも基礎的な推定量は</a:t>
            </a:r>
            <a:endParaRPr kumimoji="1" lang="en-US" altLang="ja-JP" dirty="0"/>
          </a:p>
          <a:p>
            <a:pPr marL="397800" lvl="1" indent="0">
              <a:buNone/>
            </a:pPr>
            <a:endParaRPr lang="en-US" altLang="ja-JP" dirty="0"/>
          </a:p>
          <a:p>
            <a:pPr marL="397800" lvl="1" indent="0" algn="ctr">
              <a:buNone/>
            </a:pPr>
            <a:r>
              <a:rPr kumimoji="1" lang="en-US" altLang="ja-JP" dirty="0"/>
              <a:t>IPW</a:t>
            </a:r>
            <a:r>
              <a:rPr kumimoji="1" lang="ja-JP" altLang="en-US"/>
              <a:t>推定量</a:t>
            </a:r>
            <a:endParaRPr lang="en-US" altLang="ja-JP" dirty="0"/>
          </a:p>
          <a:p>
            <a:pPr lvl="1"/>
            <a:endParaRPr lang="en-US" altLang="ja-JP" dirty="0"/>
          </a:p>
          <a:p>
            <a:r>
              <a:rPr lang="ja-JP" altLang="en-US"/>
              <a:t>基本的には</a:t>
            </a:r>
            <a:r>
              <a:rPr lang="en-US" altLang="ja-JP" dirty="0"/>
              <a:t>AIPW</a:t>
            </a:r>
            <a:r>
              <a:rPr lang="ja-JP" altLang="en-US"/>
              <a:t>推定量を軸に考えるべき</a:t>
            </a:r>
            <a:endParaRPr lang="en-US" altLang="ja-JP" dirty="0"/>
          </a:p>
          <a:p>
            <a:pPr lvl="1"/>
            <a:r>
              <a:rPr lang="ja-JP" altLang="en-US"/>
              <a:t>漸近効率性（正確な推定）の観点では、回帰調整推定量や</a:t>
            </a:r>
            <a:r>
              <a:rPr lang="en-US" altLang="ja-JP" dirty="0"/>
              <a:t>IPW</a:t>
            </a:r>
            <a:r>
              <a:rPr lang="ja-JP" altLang="en-US"/>
              <a:t>はその特殊系</a:t>
            </a:r>
            <a:endParaRPr lang="en-US" altLang="ja-JP" dirty="0"/>
          </a:p>
          <a:p>
            <a:pPr lvl="2"/>
            <a:r>
              <a:rPr lang="ja-JP" altLang="en-US"/>
              <a:t>解釈性や局外母数の推定に伴う「コスト」を考慮して使い分ける</a:t>
            </a:r>
            <a:endParaRPr lang="en-US" altLang="ja-JP" dirty="0"/>
          </a:p>
          <a:p>
            <a:pPr algn="ctr"/>
            <a:endParaRPr kumimoji="1" lang="ja-JP" altLang="en-US"/>
          </a:p>
        </p:txBody>
      </p:sp>
    </p:spTree>
    <p:extLst>
      <p:ext uri="{BB962C8B-B14F-4D97-AF65-F5344CB8AC3E}">
        <p14:creationId xmlns:p14="http://schemas.microsoft.com/office/powerpoint/2010/main" val="403731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CE82-90D2-94B4-5205-E6562CA49F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C3D842-A92B-B8D8-4E5C-938C7D25F2B0}"/>
              </a:ext>
            </a:extLst>
          </p:cNvPr>
          <p:cNvSpPr>
            <a:spLocks noGrp="1"/>
          </p:cNvSpPr>
          <p:nvPr>
            <p:ph type="title"/>
          </p:nvPr>
        </p:nvSpPr>
        <p:spPr/>
        <p:txBody>
          <a:bodyPr/>
          <a:lstStyle/>
          <a:p>
            <a:r>
              <a:rPr lang="ja-JP" altLang="en-US"/>
              <a:t>様々な手法の関係性</a:t>
            </a:r>
            <a:endParaRPr kumimoji="1" lang="ja-JP" altLang="en-US"/>
          </a:p>
        </p:txBody>
      </p:sp>
      <p:sp>
        <p:nvSpPr>
          <p:cNvPr id="3" name="テキスト プレースホルダー 2">
            <a:extLst>
              <a:ext uri="{FF2B5EF4-FFF2-40B4-BE49-F238E27FC236}">
                <a16:creationId xmlns:a16="http://schemas.microsoft.com/office/drawing/2014/main" id="{54BED23C-0598-FA81-C032-90ABA9EFA1EE}"/>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434178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FB3F3-3AD3-EB59-190D-35207E7DF37A}"/>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D43282C8-2150-11F3-4450-A2C152845357}"/>
              </a:ext>
            </a:extLst>
          </p:cNvPr>
          <p:cNvSpPr>
            <a:spLocks noGrp="1"/>
          </p:cNvSpPr>
          <p:nvPr>
            <p:ph type="title"/>
          </p:nvPr>
        </p:nvSpPr>
        <p:spPr/>
        <p:txBody>
          <a:bodyPr>
            <a:normAutofit/>
          </a:bodyPr>
          <a:lstStyle/>
          <a:p>
            <a:r>
              <a:rPr lang="en-US" altLang="ja-JP" dirty="0"/>
              <a:t>RA </a:t>
            </a:r>
            <a:r>
              <a:rPr lang="ja-JP" altLang="en-US"/>
              <a:t>推定量と</a:t>
            </a:r>
            <a:r>
              <a:rPr lang="en-US" altLang="ja-JP" dirty="0"/>
              <a:t> IPW</a:t>
            </a:r>
            <a:r>
              <a:rPr lang="ja-JP" altLang="en-US"/>
              <a:t>推定量の比較</a:t>
            </a:r>
          </a:p>
        </p:txBody>
      </p:sp>
      <p:sp>
        <p:nvSpPr>
          <p:cNvPr id="7" name="コンテンツ プレースホルダー 6">
            <a:extLst>
              <a:ext uri="{FF2B5EF4-FFF2-40B4-BE49-F238E27FC236}">
                <a16:creationId xmlns:a16="http://schemas.microsoft.com/office/drawing/2014/main" id="{504E415F-2C4D-BBD7-EAD5-9FD6D5DE8487}"/>
              </a:ext>
            </a:extLst>
          </p:cNvPr>
          <p:cNvSpPr>
            <a:spLocks noGrp="1"/>
          </p:cNvSpPr>
          <p:nvPr>
            <p:ph idx="1"/>
          </p:nvPr>
        </p:nvSpPr>
        <p:spPr>
          <a:xfrm>
            <a:off x="6277895" y="2875328"/>
            <a:ext cx="4990411" cy="3617546"/>
          </a:xfrm>
          <a:ln>
            <a:solidFill>
              <a:schemeClr val="tx1"/>
            </a:solidFill>
          </a:ln>
        </p:spPr>
        <p:txBody>
          <a:bodyPr>
            <a:normAutofit/>
          </a:bodyPr>
          <a:lstStyle/>
          <a:p>
            <a:r>
              <a:rPr lang="en-US" altLang="ja-JP" dirty="0"/>
              <a:t>IPW </a:t>
            </a:r>
            <a:r>
              <a:rPr lang="ja-JP" altLang="en-US"/>
              <a:t>推定量</a:t>
            </a:r>
            <a:endParaRPr lang="en-US" altLang="ja-JP" dirty="0"/>
          </a:p>
        </p:txBody>
      </p:sp>
      <p:sp>
        <p:nvSpPr>
          <p:cNvPr id="2" name="コンテンツ プレースホルダー 6">
            <a:extLst>
              <a:ext uri="{FF2B5EF4-FFF2-40B4-BE49-F238E27FC236}">
                <a16:creationId xmlns:a16="http://schemas.microsoft.com/office/drawing/2014/main" id="{AE928732-D439-1CD5-9F29-3D16B8F2DC36}"/>
              </a:ext>
            </a:extLst>
          </p:cNvPr>
          <p:cNvSpPr txBox="1">
            <a:spLocks/>
          </p:cNvSpPr>
          <p:nvPr/>
        </p:nvSpPr>
        <p:spPr>
          <a:xfrm>
            <a:off x="927350" y="2875328"/>
            <a:ext cx="4990410" cy="2344067"/>
          </a:xfrm>
          <a:prstGeom prst="rect">
            <a:avLst/>
          </a:prstGeom>
          <a:ln>
            <a:solidFill>
              <a:schemeClr val="tx1"/>
            </a:solidFill>
          </a:ln>
        </p:spPr>
        <p:txBody>
          <a:bodyPr vert="horz" lIns="91440" tIns="45720" rIns="91440" bIns="45720" rtlCol="0">
            <a:normAutofit/>
          </a:bodyPr>
          <a:lstStyle>
            <a:lvl1pPr marL="288000" indent="-288000" algn="l" defTabSz="914400" rtl="0" eaLnBrk="1" latinLnBrk="0" hangingPunct="1">
              <a:lnSpc>
                <a:spcPct val="100000"/>
              </a:lnSpc>
              <a:spcBef>
                <a:spcPts val="0"/>
              </a:spcBef>
              <a:spcAft>
                <a:spcPts val="200"/>
              </a:spcAft>
              <a:buClr>
                <a:srgbClr val="FFC000"/>
              </a:buClr>
              <a:buFont typeface="Wingdings" pitchFamily="2" charset="2"/>
              <a:buChar char="n"/>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1pPr>
            <a:lvl2pPr marL="685800" indent="-288000" algn="l" defTabSz="914400" rtl="0" eaLnBrk="1" latinLnBrk="0" hangingPunct="1">
              <a:lnSpc>
                <a:spcPct val="100000"/>
              </a:lnSpc>
              <a:spcBef>
                <a:spcPts val="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2pPr>
            <a:lvl3pPr marL="1143000" indent="-288000" algn="l" defTabSz="914400" rtl="0" eaLnBrk="1" latinLnBrk="0" hangingPunct="1">
              <a:lnSpc>
                <a:spcPct val="100000"/>
              </a:lnSpc>
              <a:spcBef>
                <a:spcPts val="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3pPr>
            <a:lvl4pPr marL="1600200" indent="-288000" algn="l" defTabSz="914400" rtl="0" eaLnBrk="1" latinLnBrk="0" hangingPunct="1">
              <a:lnSpc>
                <a:spcPct val="100000"/>
              </a:lnSpc>
              <a:spcBef>
                <a:spcPts val="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4pPr>
            <a:lvl5pPr marL="2057400" indent="-288000" algn="l" defTabSz="914400" rtl="0" eaLnBrk="1" latinLnBrk="0" hangingPunct="1">
              <a:lnSpc>
                <a:spcPct val="100000"/>
              </a:lnSpc>
              <a:spcBef>
                <a:spcPts val="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RA </a:t>
            </a:r>
            <a:r>
              <a:rPr lang="ja-JP" altLang="en-US"/>
              <a:t>推定量</a:t>
            </a:r>
            <a:endParaRPr lang="en-US" altLang="ja-JP" dirty="0"/>
          </a:p>
        </p:txBody>
      </p:sp>
      <p:sp>
        <p:nvSpPr>
          <p:cNvPr id="5" name="テキスト ボックス 4">
            <a:extLst>
              <a:ext uri="{FF2B5EF4-FFF2-40B4-BE49-F238E27FC236}">
                <a16:creationId xmlns:a16="http://schemas.microsoft.com/office/drawing/2014/main" id="{0815F969-05D7-F147-9203-64CB7B15BF85}"/>
              </a:ext>
            </a:extLst>
          </p:cNvPr>
          <p:cNvSpPr txBox="1"/>
          <p:nvPr/>
        </p:nvSpPr>
        <p:spPr>
          <a:xfrm>
            <a:off x="1239765" y="1638605"/>
            <a:ext cx="1934497" cy="646331"/>
          </a:xfrm>
          <a:prstGeom prst="rect">
            <a:avLst/>
          </a:prstGeom>
          <a:noFill/>
          <a:ln w="25400">
            <a:solidFill>
              <a:schemeClr val="accent1"/>
            </a:solidFill>
          </a:ln>
        </p:spPr>
        <p:txBody>
          <a:bodyPr wrap="square" rtlCol="0">
            <a:spAutoFit/>
          </a:bodyPr>
          <a:lstStyle/>
          <a:p>
            <a:pPr algn="ctr"/>
            <a:r>
              <a:rPr lang="ja-JP" altLang="en-US">
                <a:latin typeface="Noto Sans JP" panose="020B0200000000000000" pitchFamily="34" charset="-128"/>
                <a:ea typeface="Noto Sans JP" panose="020B0200000000000000" pitchFamily="34" charset="-128"/>
              </a:rPr>
              <a:t>処置群</a:t>
            </a:r>
            <a:br>
              <a:rPr lang="en-US" altLang="ja-JP" dirty="0">
                <a:latin typeface="Noto Sans JP" panose="020B0200000000000000" pitchFamily="34" charset="-128"/>
                <a:ea typeface="Noto Sans JP" panose="020B0200000000000000" pitchFamily="34" charset="-128"/>
              </a:rPr>
            </a:br>
            <a:r>
              <a:rPr lang="ja-JP" altLang="en-US">
                <a:latin typeface="Noto Sans JP" panose="020B0200000000000000" pitchFamily="34" charset="-128"/>
                <a:ea typeface="Noto Sans JP" panose="020B0200000000000000" pitchFamily="34" charset="-128"/>
              </a:rPr>
              <a:t>の共変量の分布</a:t>
            </a:r>
          </a:p>
        </p:txBody>
      </p:sp>
      <p:sp>
        <p:nvSpPr>
          <p:cNvPr id="9" name="テキスト ボックス 8">
            <a:extLst>
              <a:ext uri="{FF2B5EF4-FFF2-40B4-BE49-F238E27FC236}">
                <a16:creationId xmlns:a16="http://schemas.microsoft.com/office/drawing/2014/main" id="{0C42E6F2-29C5-6EE7-EAED-5823A64431FB}"/>
              </a:ext>
            </a:extLst>
          </p:cNvPr>
          <p:cNvSpPr txBox="1"/>
          <p:nvPr/>
        </p:nvSpPr>
        <p:spPr>
          <a:xfrm>
            <a:off x="8826712" y="1638605"/>
            <a:ext cx="1981800" cy="646331"/>
          </a:xfrm>
          <a:prstGeom prst="rect">
            <a:avLst/>
          </a:prstGeom>
          <a:noFill/>
          <a:ln w="25400">
            <a:solidFill>
              <a:srgbClr val="FFC000"/>
            </a:solidFill>
          </a:ln>
        </p:spPr>
        <p:txBody>
          <a:bodyPr wrap="square" rtlCol="0">
            <a:spAutoFit/>
          </a:bodyPr>
          <a:lstStyle/>
          <a:p>
            <a:pPr algn="ctr"/>
            <a:r>
              <a:rPr lang="ja-JP" altLang="en-US">
                <a:latin typeface="Noto Sans JP" panose="020B0200000000000000" pitchFamily="34" charset="-128"/>
                <a:ea typeface="Noto Sans JP" panose="020B0200000000000000" pitchFamily="34" charset="-128"/>
              </a:rPr>
              <a:t>対照群</a:t>
            </a:r>
            <a:br>
              <a:rPr lang="en-US" altLang="ja-JP" dirty="0">
                <a:latin typeface="Noto Sans JP" panose="020B0200000000000000" pitchFamily="34" charset="-128"/>
                <a:ea typeface="Noto Sans JP" panose="020B0200000000000000" pitchFamily="34" charset="-128"/>
              </a:rPr>
            </a:br>
            <a:r>
              <a:rPr lang="ja-JP" altLang="en-US">
                <a:latin typeface="Noto Sans JP" panose="020B0200000000000000" pitchFamily="34" charset="-128"/>
                <a:ea typeface="Noto Sans JP" panose="020B0200000000000000" pitchFamily="34" charset="-128"/>
              </a:rPr>
              <a:t>の共変量の分布</a:t>
            </a:r>
          </a:p>
        </p:txBody>
      </p:sp>
      <p:sp>
        <p:nvSpPr>
          <p:cNvPr id="10" name="フリーフォーム 9">
            <a:extLst>
              <a:ext uri="{FF2B5EF4-FFF2-40B4-BE49-F238E27FC236}">
                <a16:creationId xmlns:a16="http://schemas.microsoft.com/office/drawing/2014/main" id="{C35CD8BD-9115-4F54-3346-6635D0DD1FC3}"/>
              </a:ext>
            </a:extLst>
          </p:cNvPr>
          <p:cNvSpPr/>
          <p:nvPr/>
        </p:nvSpPr>
        <p:spPr>
          <a:xfrm>
            <a:off x="3363129" y="2009431"/>
            <a:ext cx="5368620" cy="742854"/>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
        <p:nvSpPr>
          <p:cNvPr id="11" name="フリーフォーム 10">
            <a:extLst>
              <a:ext uri="{FF2B5EF4-FFF2-40B4-BE49-F238E27FC236}">
                <a16:creationId xmlns:a16="http://schemas.microsoft.com/office/drawing/2014/main" id="{BD1995B0-56B9-9FE9-CBF5-DD6D0DA3A533}"/>
              </a:ext>
            </a:extLst>
          </p:cNvPr>
          <p:cNvSpPr/>
          <p:nvPr/>
        </p:nvSpPr>
        <p:spPr>
          <a:xfrm>
            <a:off x="4951143" y="1560331"/>
            <a:ext cx="2983490" cy="1113930"/>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
        <p:nvSpPr>
          <p:cNvPr id="12" name="フリーフォーム 11">
            <a:extLst>
              <a:ext uri="{FF2B5EF4-FFF2-40B4-BE49-F238E27FC236}">
                <a16:creationId xmlns:a16="http://schemas.microsoft.com/office/drawing/2014/main" id="{D003BAF5-E182-EA7A-D9A2-1FC965CB3609}"/>
              </a:ext>
            </a:extLst>
          </p:cNvPr>
          <p:cNvSpPr/>
          <p:nvPr/>
        </p:nvSpPr>
        <p:spPr>
          <a:xfrm>
            <a:off x="6340875" y="3281121"/>
            <a:ext cx="3158970" cy="683090"/>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
        <p:nvSpPr>
          <p:cNvPr id="13" name="テキスト ボックス 12">
            <a:extLst>
              <a:ext uri="{FF2B5EF4-FFF2-40B4-BE49-F238E27FC236}">
                <a16:creationId xmlns:a16="http://schemas.microsoft.com/office/drawing/2014/main" id="{3ADB5437-BDDF-6F00-0B72-67233C50601D}"/>
              </a:ext>
            </a:extLst>
          </p:cNvPr>
          <p:cNvSpPr txBox="1"/>
          <p:nvPr/>
        </p:nvSpPr>
        <p:spPr>
          <a:xfrm>
            <a:off x="6889054" y="877240"/>
            <a:ext cx="3702445" cy="369332"/>
          </a:xfrm>
          <a:prstGeom prst="rect">
            <a:avLst/>
          </a:prstGeom>
          <a:noFill/>
          <a:ln w="25400">
            <a:solidFill>
              <a:schemeClr val="bg1">
                <a:lumMod val="50000"/>
              </a:schemeClr>
            </a:solidFill>
          </a:ln>
        </p:spPr>
        <p:txBody>
          <a:bodyPr wrap="square" rtlCol="0">
            <a:spAutoFit/>
          </a:bodyPr>
          <a:lstStyle/>
          <a:p>
            <a:pPr algn="ctr"/>
            <a:r>
              <a:rPr lang="en-US" altLang="ja-JP" dirty="0">
                <a:latin typeface="Noto Sans JP" panose="020B0200000000000000" pitchFamily="34" charset="-128"/>
                <a:ea typeface="Noto Sans JP" panose="020B0200000000000000" pitchFamily="34" charset="-128"/>
              </a:rPr>
              <a:t>ATE </a:t>
            </a:r>
            <a:r>
              <a:rPr lang="ja-JP" altLang="en-US">
                <a:latin typeface="Noto Sans JP" panose="020B0200000000000000" pitchFamily="34" charset="-128"/>
                <a:ea typeface="Noto Sans JP" panose="020B0200000000000000" pitchFamily="34" charset="-128"/>
              </a:rPr>
              <a:t>推定で関心のある母集団</a:t>
            </a:r>
          </a:p>
        </p:txBody>
      </p:sp>
      <p:sp>
        <p:nvSpPr>
          <p:cNvPr id="14" name="フリーフォーム 13">
            <a:extLst>
              <a:ext uri="{FF2B5EF4-FFF2-40B4-BE49-F238E27FC236}">
                <a16:creationId xmlns:a16="http://schemas.microsoft.com/office/drawing/2014/main" id="{41BE023B-61A2-AA5E-13D0-660AC1535176}"/>
              </a:ext>
            </a:extLst>
          </p:cNvPr>
          <p:cNvSpPr/>
          <p:nvPr/>
        </p:nvSpPr>
        <p:spPr>
          <a:xfrm>
            <a:off x="6096000" y="5628974"/>
            <a:ext cx="5368620" cy="742854"/>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
        <p:nvSpPr>
          <p:cNvPr id="15" name="フリーフォーム 14">
            <a:extLst>
              <a:ext uri="{FF2B5EF4-FFF2-40B4-BE49-F238E27FC236}">
                <a16:creationId xmlns:a16="http://schemas.microsoft.com/office/drawing/2014/main" id="{BCFC513B-F1D7-B3B0-9604-DB976B2997BA}"/>
              </a:ext>
            </a:extLst>
          </p:cNvPr>
          <p:cNvSpPr/>
          <p:nvPr/>
        </p:nvSpPr>
        <p:spPr>
          <a:xfrm>
            <a:off x="3647768" y="2007639"/>
            <a:ext cx="3158970" cy="683090"/>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
        <p:nvSpPr>
          <p:cNvPr id="18" name="下矢印 17">
            <a:extLst>
              <a:ext uri="{FF2B5EF4-FFF2-40B4-BE49-F238E27FC236}">
                <a16:creationId xmlns:a16="http://schemas.microsoft.com/office/drawing/2014/main" id="{6586F612-BB85-A8D8-662E-5E4C29E45250}"/>
              </a:ext>
            </a:extLst>
          </p:cNvPr>
          <p:cNvSpPr/>
          <p:nvPr/>
        </p:nvSpPr>
        <p:spPr>
          <a:xfrm>
            <a:off x="6656946" y="4347292"/>
            <a:ext cx="178703" cy="647395"/>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下矢印 18">
            <a:extLst>
              <a:ext uri="{FF2B5EF4-FFF2-40B4-BE49-F238E27FC236}">
                <a16:creationId xmlns:a16="http://schemas.microsoft.com/office/drawing/2014/main" id="{6273FF6D-9673-6238-6D82-6354C58E6DC3}"/>
              </a:ext>
            </a:extLst>
          </p:cNvPr>
          <p:cNvSpPr/>
          <p:nvPr/>
        </p:nvSpPr>
        <p:spPr>
          <a:xfrm>
            <a:off x="7199440" y="4347292"/>
            <a:ext cx="178703" cy="647395"/>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下矢印 19">
            <a:extLst>
              <a:ext uri="{FF2B5EF4-FFF2-40B4-BE49-F238E27FC236}">
                <a16:creationId xmlns:a16="http://schemas.microsoft.com/office/drawing/2014/main" id="{B8E63D25-7FFA-BEC4-5FEC-3B10830F865D}"/>
              </a:ext>
            </a:extLst>
          </p:cNvPr>
          <p:cNvSpPr/>
          <p:nvPr/>
        </p:nvSpPr>
        <p:spPr>
          <a:xfrm>
            <a:off x="7741934" y="4347293"/>
            <a:ext cx="178703" cy="647395"/>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a:extLst>
              <a:ext uri="{FF2B5EF4-FFF2-40B4-BE49-F238E27FC236}">
                <a16:creationId xmlns:a16="http://schemas.microsoft.com/office/drawing/2014/main" id="{B9521D81-52A2-92CC-E850-6723F5E0F402}"/>
              </a:ext>
            </a:extLst>
          </p:cNvPr>
          <p:cNvSpPr/>
          <p:nvPr/>
        </p:nvSpPr>
        <p:spPr>
          <a:xfrm>
            <a:off x="8284428" y="4347292"/>
            <a:ext cx="178703" cy="647395"/>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下矢印 21">
            <a:extLst>
              <a:ext uri="{FF2B5EF4-FFF2-40B4-BE49-F238E27FC236}">
                <a16:creationId xmlns:a16="http://schemas.microsoft.com/office/drawing/2014/main" id="{1B0FC9DC-504B-69D0-4FA3-CD9F0D63C3CB}"/>
              </a:ext>
            </a:extLst>
          </p:cNvPr>
          <p:cNvSpPr/>
          <p:nvPr/>
        </p:nvSpPr>
        <p:spPr>
          <a:xfrm>
            <a:off x="8886246" y="4347292"/>
            <a:ext cx="178703" cy="647395"/>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91C401F-1B84-D276-8C2C-116DFA9E0677}"/>
              </a:ext>
            </a:extLst>
          </p:cNvPr>
          <p:cNvSpPr txBox="1"/>
          <p:nvPr/>
        </p:nvSpPr>
        <p:spPr>
          <a:xfrm>
            <a:off x="9583494" y="4339023"/>
            <a:ext cx="1569660" cy="646331"/>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重みを載せて</a:t>
            </a:r>
            <a:br>
              <a:rPr kumimoji="1" lang="en-US" altLang="ja-JP" dirty="0">
                <a:latin typeface="Noto Sans JP" panose="020B0200000000000000" pitchFamily="34" charset="-128"/>
                <a:ea typeface="Noto Sans JP" panose="020B0200000000000000" pitchFamily="34" charset="-128"/>
              </a:rPr>
            </a:br>
            <a:r>
              <a:rPr kumimoji="1" lang="ja-JP" altLang="en-US">
                <a:latin typeface="Noto Sans JP" panose="020B0200000000000000" pitchFamily="34" charset="-128"/>
                <a:ea typeface="Noto Sans JP" panose="020B0200000000000000" pitchFamily="34" charset="-128"/>
              </a:rPr>
              <a:t>分布を復元</a:t>
            </a:r>
          </a:p>
        </p:txBody>
      </p:sp>
      <p:sp>
        <p:nvSpPr>
          <p:cNvPr id="24" name="フリーフォーム 23">
            <a:extLst>
              <a:ext uri="{FF2B5EF4-FFF2-40B4-BE49-F238E27FC236}">
                <a16:creationId xmlns:a16="http://schemas.microsoft.com/office/drawing/2014/main" id="{9EB87F42-B528-35C7-90A1-18775E16F752}"/>
              </a:ext>
            </a:extLst>
          </p:cNvPr>
          <p:cNvSpPr/>
          <p:nvPr/>
        </p:nvSpPr>
        <p:spPr>
          <a:xfrm>
            <a:off x="838200" y="3643523"/>
            <a:ext cx="5368620" cy="742854"/>
          </a:xfrm>
          <a:custGeom>
            <a:avLst/>
            <a:gdLst>
              <a:gd name="csX0" fmla="*/ 1828800 w 3657600"/>
              <a:gd name="csY0" fmla="*/ 0 h 3657600"/>
              <a:gd name="csX1" fmla="*/ 3657600 w 3657600"/>
              <a:gd name="csY1" fmla="*/ 1828800 h 3657600"/>
              <a:gd name="csX2" fmla="*/ 1828800 w 3657600"/>
              <a:gd name="csY2" fmla="*/ 3657600 h 3657600"/>
              <a:gd name="csX3" fmla="*/ 0 w 3657600"/>
              <a:gd name="csY3" fmla="*/ 1828800 h 3657600"/>
              <a:gd name="csX4" fmla="*/ 1828800 w 3657600"/>
              <a:gd name="csY4" fmla="*/ 0 h 3657600"/>
              <a:gd name="csX0" fmla="*/ 1747157 w 3575957"/>
              <a:gd name="csY0" fmla="*/ 12 h 3657612"/>
              <a:gd name="csX1" fmla="*/ 3575957 w 3575957"/>
              <a:gd name="csY1" fmla="*/ 1828812 h 3657612"/>
              <a:gd name="csX2" fmla="*/ 1747157 w 3575957"/>
              <a:gd name="csY2" fmla="*/ 3657612 h 3657612"/>
              <a:gd name="csX3" fmla="*/ 0 w 3575957"/>
              <a:gd name="csY3" fmla="*/ 1861470 h 3657612"/>
              <a:gd name="csX4" fmla="*/ 1747157 w 3575957"/>
              <a:gd name="csY4" fmla="*/ 12 h 3657612"/>
              <a:gd name="csX0" fmla="*/ 1747157 w 3667397"/>
              <a:gd name="csY0" fmla="*/ 3657612 h 3657612"/>
              <a:gd name="csX1" fmla="*/ 0 w 3667397"/>
              <a:gd name="csY1" fmla="*/ 1861470 h 3657612"/>
              <a:gd name="csX2" fmla="*/ 1747157 w 3667397"/>
              <a:gd name="csY2" fmla="*/ 12 h 3657612"/>
              <a:gd name="csX3" fmla="*/ 3667397 w 3667397"/>
              <a:gd name="csY3" fmla="*/ 1920252 h 3657612"/>
              <a:gd name="csX0" fmla="*/ 0 w 3667397"/>
              <a:gd name="csY0" fmla="*/ 1861470 h 1920252"/>
              <a:gd name="csX1" fmla="*/ 1747157 w 3667397"/>
              <a:gd name="csY1" fmla="*/ 12 h 1920252"/>
              <a:gd name="csX2" fmla="*/ 3667397 w 3667397"/>
              <a:gd name="csY2" fmla="*/ 1920252 h 1920252"/>
            </a:gdLst>
            <a:ahLst/>
            <a:cxnLst>
              <a:cxn ang="0">
                <a:pos x="csX0" y="csY0"/>
              </a:cxn>
              <a:cxn ang="0">
                <a:pos x="csX1" y="csY1"/>
              </a:cxn>
              <a:cxn ang="0">
                <a:pos x="csX2" y="csY2"/>
              </a:cxn>
            </a:cxnLst>
            <a:rect l="l" t="t" r="r" b="b"/>
            <a:pathLst>
              <a:path w="3667397" h="1920252">
                <a:moveTo>
                  <a:pt x="0" y="1861470"/>
                </a:moveTo>
                <a:cubicBezTo>
                  <a:pt x="1010018" y="1861470"/>
                  <a:pt x="1151164" y="5455"/>
                  <a:pt x="1747157" y="12"/>
                </a:cubicBezTo>
                <a:cubicBezTo>
                  <a:pt x="2343150" y="-5431"/>
                  <a:pt x="2565939" y="1828812"/>
                  <a:pt x="3667397" y="1920252"/>
                </a:cubicBezTo>
              </a:path>
            </a:pathLst>
          </a:custGeom>
          <a:noFill/>
          <a:ln w="6350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E33DF65-6FEC-50B8-4341-2BC1DDA06707}"/>
                  </a:ext>
                </a:extLst>
              </p:cNvPr>
              <p:cNvSpPr txBox="1"/>
              <p:nvPr/>
            </p:nvSpPr>
            <p:spPr>
              <a:xfrm>
                <a:off x="1977357" y="4360935"/>
                <a:ext cx="2817631" cy="646331"/>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各</a:t>
                </a:r>
                <a14:m>
                  <m:oMath xmlns:m="http://schemas.openxmlformats.org/officeDocument/2006/math">
                    <m:r>
                      <a:rPr kumimoji="1" lang="en-US" altLang="ja-JP" b="0" i="1" smtClean="0">
                        <a:latin typeface="Cambria Math" panose="02040503050406030204" pitchFamily="18" charset="0"/>
                        <a:ea typeface="Noto Sans JP" panose="020B0200000000000000" pitchFamily="34" charset="-128"/>
                      </a:rPr>
                      <m:t>𝑋</m:t>
                    </m:r>
                  </m:oMath>
                </a14:m>
                <a:r>
                  <a:rPr kumimoji="1" lang="en-US" altLang="ja-JP" dirty="0">
                    <a:latin typeface="Noto Sans JP" panose="020B0200000000000000" pitchFamily="34" charset="-128"/>
                    <a:ea typeface="Noto Sans JP" panose="020B0200000000000000" pitchFamily="34" charset="-128"/>
                  </a:rPr>
                  <a:t> </a:t>
                </a:r>
                <a:r>
                  <a:rPr kumimoji="1" lang="ja-JP" altLang="en-US">
                    <a:latin typeface="Noto Sans JP" panose="020B0200000000000000" pitchFamily="34" charset="-128"/>
                    <a:ea typeface="Noto Sans JP" panose="020B0200000000000000" pitchFamily="34" charset="-128"/>
                  </a:rPr>
                  <a:t>ごとに</a:t>
                </a:r>
                <a:r>
                  <a:rPr kumimoji="1" lang="en-US" altLang="ja-JP" dirty="0">
                    <a:latin typeface="Noto Sans JP" panose="020B0200000000000000" pitchFamily="34" charset="-128"/>
                    <a:ea typeface="Noto Sans JP" panose="020B0200000000000000" pitchFamily="34" charset="-128"/>
                  </a:rPr>
                  <a:t> </a:t>
                </a:r>
                <a14:m>
                  <m:oMath xmlns:m="http://schemas.openxmlformats.org/officeDocument/2006/math">
                    <m:sSub>
                      <m:sSubPr>
                        <m:ctrlPr>
                          <a:rPr kumimoji="1" lang="en-US" altLang="ja-JP" b="0" i="1" smtClean="0">
                            <a:latin typeface="Cambria Math" panose="02040503050406030204" pitchFamily="18" charset="0"/>
                            <a:ea typeface="Noto Sans JP" panose="020B0200000000000000" pitchFamily="34" charset="-128"/>
                          </a:rPr>
                        </m:ctrlPr>
                      </m:sSubPr>
                      <m:e>
                        <m:r>
                          <a:rPr kumimoji="1" lang="en-US" altLang="ja-JP" b="0" i="1" smtClean="0">
                            <a:latin typeface="Cambria Math" panose="02040503050406030204" pitchFamily="18" charset="0"/>
                            <a:ea typeface="Noto Sans JP" panose="020B0200000000000000" pitchFamily="34" charset="-128"/>
                          </a:rPr>
                          <m:t>𝑓</m:t>
                        </m:r>
                      </m:e>
                      <m:sub>
                        <m:r>
                          <a:rPr kumimoji="1" lang="en-US" altLang="ja-JP" b="0" i="1" smtClean="0">
                            <a:latin typeface="Cambria Math" panose="02040503050406030204" pitchFamily="18" charset="0"/>
                            <a:ea typeface="Noto Sans JP" panose="020B0200000000000000" pitchFamily="34" charset="-128"/>
                          </a:rPr>
                          <m:t>0</m:t>
                        </m:r>
                      </m:sub>
                    </m:sSub>
                    <m:r>
                      <a:rPr kumimoji="1" lang="en-US" altLang="ja-JP" b="0" i="1" smtClean="0">
                        <a:latin typeface="Cambria Math" panose="02040503050406030204" pitchFamily="18" charset="0"/>
                        <a:ea typeface="Noto Sans JP" panose="020B0200000000000000" pitchFamily="34" charset="-128"/>
                      </a:rPr>
                      <m:t>(1,</m:t>
                    </m:r>
                    <m:r>
                      <a:rPr kumimoji="1" lang="en-US" altLang="ja-JP" b="0" i="1" smtClean="0">
                        <a:latin typeface="Cambria Math" panose="02040503050406030204" pitchFamily="18" charset="0"/>
                        <a:ea typeface="Noto Sans JP" panose="020B0200000000000000" pitchFamily="34" charset="-128"/>
                      </a:rPr>
                      <m:t>𝑋</m:t>
                    </m:r>
                    <m:r>
                      <a:rPr kumimoji="1" lang="en-US" altLang="ja-JP" b="0" i="1" smtClean="0">
                        <a:latin typeface="Cambria Math" panose="02040503050406030204" pitchFamily="18" charset="0"/>
                        <a:ea typeface="Noto Sans JP" panose="020B0200000000000000" pitchFamily="34" charset="-128"/>
                      </a:rPr>
                      <m:t>)</m:t>
                    </m:r>
                  </m:oMath>
                </a14:m>
                <a:r>
                  <a:rPr kumimoji="1" lang="ja-JP" altLang="en-US">
                    <a:latin typeface="Noto Sans JP" panose="020B0200000000000000" pitchFamily="34" charset="-128"/>
                    <a:ea typeface="Noto Sans JP" panose="020B0200000000000000" pitchFamily="34" charset="-128"/>
                  </a:rPr>
                  <a:t>を推定</a:t>
                </a:r>
                <a:endParaRPr kumimoji="1" lang="en-US" altLang="ja-JP" dirty="0">
                  <a:latin typeface="Noto Sans JP" panose="020B0200000000000000" pitchFamily="34" charset="-128"/>
                  <a:ea typeface="Noto Sans JP" panose="020B0200000000000000" pitchFamily="34" charset="-128"/>
                </a:endParaRPr>
              </a:p>
              <a:p>
                <a:r>
                  <a:rPr kumimoji="1" lang="ja-JP" altLang="en-US">
                    <a:latin typeface="Noto Sans JP" panose="020B0200000000000000" pitchFamily="34" charset="-128"/>
                    <a:ea typeface="Noto Sans JP" panose="020B0200000000000000" pitchFamily="34" charset="-128"/>
                  </a:rPr>
                  <a:t>その上から期待値を取る</a:t>
                </a:r>
              </a:p>
            </p:txBody>
          </p:sp>
        </mc:Choice>
        <mc:Fallback xmlns="">
          <p:sp>
            <p:nvSpPr>
              <p:cNvPr id="25" name="テキスト ボックス 24">
                <a:extLst>
                  <a:ext uri="{FF2B5EF4-FFF2-40B4-BE49-F238E27FC236}">
                    <a16:creationId xmlns:a16="http://schemas.microsoft.com/office/drawing/2014/main" id="{CE33DF65-6FEC-50B8-4341-2BC1DDA06707}"/>
                  </a:ext>
                </a:extLst>
              </p:cNvPr>
              <p:cNvSpPr txBox="1">
                <a:spLocks noRot="1" noChangeAspect="1" noMove="1" noResize="1" noEditPoints="1" noAdjustHandles="1" noChangeArrowheads="1" noChangeShapeType="1" noTextEdit="1"/>
              </p:cNvSpPr>
              <p:nvPr/>
            </p:nvSpPr>
            <p:spPr>
              <a:xfrm>
                <a:off x="1977357" y="4360935"/>
                <a:ext cx="2817631" cy="646331"/>
              </a:xfrm>
              <a:prstGeom prst="rect">
                <a:avLst/>
              </a:prstGeom>
              <a:blipFill>
                <a:blip r:embed="rId2"/>
                <a:stretch>
                  <a:fillRect l="-1786" t="-1887" r="-446" b="-13208"/>
                </a:stretch>
              </a:blipFill>
              <a:ln>
                <a:solidFill>
                  <a:schemeClr val="accent1">
                    <a:shade val="15000"/>
                  </a:schemeClr>
                </a:solidFill>
              </a:ln>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47AAE868-E997-736F-3B25-B552DBB08B46}"/>
              </a:ext>
            </a:extLst>
          </p:cNvPr>
          <p:cNvSpPr txBox="1"/>
          <p:nvPr/>
        </p:nvSpPr>
        <p:spPr>
          <a:xfrm>
            <a:off x="923694" y="5787467"/>
            <a:ext cx="5032147" cy="646331"/>
          </a:xfrm>
          <a:prstGeom prst="rect">
            <a:avLst/>
          </a:prstGeom>
          <a:noFill/>
          <a:ln>
            <a:no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処置群の方のみを例にして手法の違いを可視化</a:t>
            </a:r>
            <a:endParaRPr kumimoji="1" lang="en-US" altLang="ja-JP" dirty="0">
              <a:latin typeface="Noto Sans JP" panose="020B0200000000000000" pitchFamily="34" charset="-128"/>
              <a:ea typeface="Noto Sans JP" panose="020B0200000000000000" pitchFamily="34" charset="-128"/>
            </a:endParaRPr>
          </a:p>
          <a:p>
            <a:r>
              <a:rPr kumimoji="1" lang="ja-JP" altLang="en-US">
                <a:latin typeface="Noto Sans JP" panose="020B0200000000000000" pitchFamily="34" charset="-128"/>
                <a:ea typeface="Noto Sans JP" panose="020B0200000000000000" pitchFamily="34" charset="-128"/>
              </a:rPr>
              <a:t>対照群も同様</a:t>
            </a:r>
          </a:p>
        </p:txBody>
      </p:sp>
    </p:spTree>
    <p:extLst>
      <p:ext uri="{BB962C8B-B14F-4D97-AF65-F5344CB8AC3E}">
        <p14:creationId xmlns:p14="http://schemas.microsoft.com/office/powerpoint/2010/main" val="106895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920A0-A2C3-BDA8-2304-69058CAB1F79}"/>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718A8A9-FD8C-84EA-888A-BCFA3BFF3FD5}"/>
              </a:ext>
            </a:extLst>
          </p:cNvPr>
          <p:cNvSpPr>
            <a:spLocks noGrp="1"/>
          </p:cNvSpPr>
          <p:nvPr>
            <p:ph type="title"/>
          </p:nvPr>
        </p:nvSpPr>
        <p:spPr/>
        <p:txBody>
          <a:bodyPr>
            <a:normAutofit/>
          </a:bodyPr>
          <a:lstStyle/>
          <a:p>
            <a:r>
              <a:rPr lang="ja-JP" altLang="en-US"/>
              <a:t>どの推定量が基本か</a:t>
            </a:r>
          </a:p>
        </p:txBody>
      </p:sp>
      <p:sp>
        <p:nvSpPr>
          <p:cNvPr id="7" name="コンテンツ プレースホルダー 6">
            <a:extLst>
              <a:ext uri="{FF2B5EF4-FFF2-40B4-BE49-F238E27FC236}">
                <a16:creationId xmlns:a16="http://schemas.microsoft.com/office/drawing/2014/main" id="{F6886442-E42F-27A9-B4E7-4F46ED30237A}"/>
              </a:ext>
            </a:extLst>
          </p:cNvPr>
          <p:cNvSpPr>
            <a:spLocks noGrp="1"/>
          </p:cNvSpPr>
          <p:nvPr>
            <p:ph idx="1"/>
          </p:nvPr>
        </p:nvSpPr>
        <p:spPr/>
        <p:txBody>
          <a:bodyPr>
            <a:normAutofit/>
          </a:bodyPr>
          <a:lstStyle/>
          <a:p>
            <a:r>
              <a:rPr lang="ja-JP" altLang="en-US" sz="2000"/>
              <a:t>個人的には、以下のように考えている：</a:t>
            </a:r>
            <a:endParaRPr lang="en-US" altLang="ja-JP" sz="2000" dirty="0"/>
          </a:p>
          <a:p>
            <a:pPr lvl="1"/>
            <a:r>
              <a:rPr lang="ja-JP" altLang="en-US" sz="2000"/>
              <a:t>最尤推定・漸近効率性の観点でもっとも基本的な推定量は</a:t>
            </a:r>
            <a:endParaRPr lang="en-US" altLang="ja-JP" sz="2000" dirty="0"/>
          </a:p>
          <a:p>
            <a:pPr lvl="1"/>
            <a:endParaRPr lang="en-US" altLang="ja-JP" sz="800" dirty="0"/>
          </a:p>
          <a:p>
            <a:pPr marL="397800" lvl="1" indent="0" algn="ctr">
              <a:buNone/>
            </a:pPr>
            <a:r>
              <a:rPr lang="en-US" altLang="ja-JP" sz="2000" b="1" dirty="0"/>
              <a:t>AIPW</a:t>
            </a:r>
            <a:r>
              <a:rPr lang="ja-JP" altLang="en-US" sz="2000" b="1"/>
              <a:t>推定量</a:t>
            </a:r>
            <a:endParaRPr lang="en-US" altLang="ja-JP" sz="2000" b="1" dirty="0"/>
          </a:p>
          <a:p>
            <a:pPr marL="397800" lvl="1" indent="0" algn="ctr">
              <a:buNone/>
            </a:pPr>
            <a:endParaRPr lang="en-US" altLang="ja-JP" sz="800" dirty="0"/>
          </a:p>
          <a:p>
            <a:pPr lvl="1"/>
            <a:r>
              <a:rPr lang="ja-JP" altLang="en-US" sz="2000"/>
              <a:t>回帰分析の観点でもっとも基本的な推定量は</a:t>
            </a:r>
            <a:endParaRPr lang="en-US" altLang="ja-JP" sz="2000" dirty="0"/>
          </a:p>
          <a:p>
            <a:pPr lvl="1"/>
            <a:endParaRPr lang="en-US" altLang="ja-JP" sz="800" dirty="0"/>
          </a:p>
          <a:p>
            <a:pPr marL="397800" lvl="1" indent="0" algn="ctr">
              <a:buNone/>
            </a:pPr>
            <a:r>
              <a:rPr lang="ja-JP" altLang="en-US" sz="2000" b="1"/>
              <a:t>回帰調整推定量</a:t>
            </a:r>
            <a:endParaRPr lang="en-US" altLang="ja-JP" sz="2000" b="1" dirty="0"/>
          </a:p>
          <a:p>
            <a:pPr marL="397800" lvl="1" indent="0" algn="ctr">
              <a:buNone/>
            </a:pPr>
            <a:endParaRPr lang="en-US" altLang="ja-JP" sz="800" dirty="0"/>
          </a:p>
          <a:p>
            <a:pPr lvl="1"/>
            <a:r>
              <a:rPr lang="ja-JP" altLang="en-US" sz="2000"/>
              <a:t>選択バイアスの観点でもっとも基本的な推定量は</a:t>
            </a:r>
            <a:endParaRPr lang="en-US" altLang="ja-JP" sz="2000" dirty="0"/>
          </a:p>
          <a:p>
            <a:pPr lvl="1"/>
            <a:endParaRPr lang="en-US" altLang="ja-JP" sz="800" dirty="0"/>
          </a:p>
          <a:p>
            <a:pPr marL="397800" lvl="1" indent="0" algn="ctr">
              <a:buNone/>
            </a:pPr>
            <a:r>
              <a:rPr lang="en-US" altLang="ja-JP" sz="2000" b="1" dirty="0"/>
              <a:t>IPW</a:t>
            </a:r>
            <a:r>
              <a:rPr lang="ja-JP" altLang="en-US" sz="2000" b="1"/>
              <a:t>推定量</a:t>
            </a:r>
            <a:endParaRPr lang="en-US" altLang="ja-JP" sz="2000" b="1" dirty="0"/>
          </a:p>
          <a:p>
            <a:pPr marL="397800" lvl="1" indent="0" algn="ctr">
              <a:buNone/>
            </a:pPr>
            <a:endParaRPr lang="en-US" altLang="ja-JP" sz="800" dirty="0"/>
          </a:p>
          <a:p>
            <a:r>
              <a:rPr lang="ja-JP" altLang="en-US" sz="2000"/>
              <a:t>基本的には</a:t>
            </a:r>
            <a:r>
              <a:rPr lang="en-US" altLang="ja-JP" sz="2000" dirty="0"/>
              <a:t>AIPW</a:t>
            </a:r>
            <a:r>
              <a:rPr lang="ja-JP" altLang="en-US" sz="2000"/>
              <a:t>推定量を軸に考えるべき</a:t>
            </a:r>
            <a:endParaRPr lang="en-US" altLang="ja-JP" sz="2000" dirty="0"/>
          </a:p>
          <a:p>
            <a:pPr lvl="1"/>
            <a:r>
              <a:rPr lang="ja-JP" altLang="en-US" sz="2000"/>
              <a:t>漸近効率性（正確な推定）の観点では、回帰調整推定量や</a:t>
            </a:r>
            <a:r>
              <a:rPr lang="en-US" altLang="ja-JP" sz="2000" dirty="0"/>
              <a:t>IPW</a:t>
            </a:r>
            <a:r>
              <a:rPr lang="ja-JP" altLang="en-US" sz="2000"/>
              <a:t>はその特殊系</a:t>
            </a:r>
            <a:endParaRPr lang="en-US" altLang="ja-JP" sz="2000" dirty="0"/>
          </a:p>
          <a:p>
            <a:pPr lvl="2"/>
            <a:r>
              <a:rPr lang="ja-JP" altLang="en-US" sz="2000"/>
              <a:t>解釈性や局外母数の推定に伴う「コスト」を考慮して使い分ける</a:t>
            </a:r>
            <a:endParaRPr lang="en-US" altLang="ja-JP" sz="2000" dirty="0"/>
          </a:p>
          <a:p>
            <a:pPr algn="ctr"/>
            <a:endParaRPr lang="ja-JP" altLang="en-US" sz="2000"/>
          </a:p>
          <a:p>
            <a:endParaRPr lang="en-US" altLang="ja-JP" dirty="0"/>
          </a:p>
        </p:txBody>
      </p:sp>
    </p:spTree>
    <p:extLst>
      <p:ext uri="{BB962C8B-B14F-4D97-AF65-F5344CB8AC3E}">
        <p14:creationId xmlns:p14="http://schemas.microsoft.com/office/powerpoint/2010/main" val="592057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84998D-B01E-45F6-D850-A25940A86CBB}"/>
              </a:ext>
            </a:extLst>
          </p:cNvPr>
          <p:cNvSpPr>
            <a:spLocks noGrp="1"/>
          </p:cNvSpPr>
          <p:nvPr>
            <p:ph type="title"/>
          </p:nvPr>
        </p:nvSpPr>
        <p:spPr/>
        <p:txBody>
          <a:bodyPr>
            <a:normAutofit/>
          </a:bodyPr>
          <a:lstStyle/>
          <a:p>
            <a:r>
              <a:rPr lang="ja-JP" altLang="en-US"/>
              <a:t>拡張</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AF11C53-2D81-872A-EDB4-B74CF026A53F}"/>
                  </a:ext>
                </a:extLst>
              </p:cNvPr>
              <p:cNvSpPr>
                <a:spLocks noGrp="1"/>
              </p:cNvSpPr>
              <p:nvPr>
                <p:ph idx="1"/>
              </p:nvPr>
            </p:nvSpPr>
            <p:spPr/>
            <p:txBody>
              <a:bodyPr>
                <a:normAutofit lnSpcReduction="10000"/>
              </a:bodyPr>
              <a:lstStyle/>
              <a:p>
                <a:r>
                  <a:rPr lang="ja-JP" altLang="en-US" sz="2000"/>
                  <a:t>適当な条件下では</a:t>
                </a:r>
                <a:endParaRPr lang="en-US" altLang="ja-JP" sz="2000" dirty="0"/>
              </a:p>
              <a:p>
                <a:pPr indent="0" algn="ctr">
                  <a:buNone/>
                </a:pPr>
                <a:r>
                  <a:rPr lang="ja-JP" altLang="en-US" sz="2000"/>
                  <a:t>回帰調整推定量</a:t>
                </a:r>
                <a:r>
                  <a:rPr lang="en-US" altLang="ja-JP" sz="2000" dirty="0"/>
                  <a:t> = IPW </a:t>
                </a:r>
                <a:r>
                  <a:rPr lang="ja-JP" altLang="en-US" sz="2000"/>
                  <a:t>推定量</a:t>
                </a:r>
                <a:r>
                  <a:rPr lang="en-US" altLang="ja-JP" sz="2000" dirty="0"/>
                  <a:t> = AIPW </a:t>
                </a:r>
                <a:r>
                  <a:rPr lang="ja-JP" altLang="en-US" sz="2000"/>
                  <a:t>推定量</a:t>
                </a:r>
                <a:endParaRPr lang="en-US" altLang="ja-JP" sz="2000" dirty="0"/>
              </a:p>
              <a:p>
                <a:endParaRPr lang="en-US" altLang="ja-JP" sz="800" dirty="0"/>
              </a:p>
              <a:p>
                <a:pPr lvl="1"/>
                <a:r>
                  <a:rPr lang="ja-JP" altLang="en-US" sz="2000"/>
                  <a:t>この条件こそがリース回帰</a:t>
                </a:r>
                <a:r>
                  <a:rPr lang="en-US" altLang="ja-JP" sz="2000" dirty="0"/>
                  <a:t> = </a:t>
                </a:r>
                <a:r>
                  <a:rPr lang="ja-JP" altLang="en-US" sz="2000"/>
                  <a:t>共変量バランシングでもある</a:t>
                </a:r>
                <a:endParaRPr lang="en-US" altLang="ja-JP" sz="2000" dirty="0"/>
              </a:p>
              <a:p>
                <a:pPr lvl="1"/>
                <a:endParaRPr lang="en-US" altLang="ja-JP" sz="800" dirty="0"/>
              </a:p>
              <a:p>
                <a:r>
                  <a:rPr lang="ja-JP" altLang="en-US" sz="2000" b="1"/>
                  <a:t>標的最尤推定（</a:t>
                </a:r>
                <a:r>
                  <a:rPr lang="en-US" altLang="ja-JP" sz="2000" b="1" dirty="0"/>
                  <a:t>Targeted Maximum Likelihood</a:t>
                </a:r>
                <a:r>
                  <a:rPr lang="ja-JP" altLang="en-US" sz="2000" b="1"/>
                  <a:t>；</a:t>
                </a:r>
                <a:r>
                  <a:rPr lang="en-US" altLang="ja-JP" sz="2000" b="1" dirty="0"/>
                  <a:t>TMLE</a:t>
                </a:r>
                <a:r>
                  <a:rPr lang="ja-JP" altLang="en-US" sz="2000" b="1"/>
                  <a:t>）</a:t>
                </a:r>
                <a:endParaRPr lang="en-US" altLang="ja-JP" sz="2000" b="1" dirty="0"/>
              </a:p>
              <a:p>
                <a:pPr lvl="1"/>
                <a:r>
                  <a:rPr lang="ja-JP" altLang="en-US" sz="2000"/>
                  <a:t>回帰調整推定量</a:t>
                </a:r>
                <a:r>
                  <a:rPr lang="en-US" altLang="ja-JP" sz="2000" dirty="0"/>
                  <a:t> </a:t>
                </a:r>
                <a14:m>
                  <m:oMath xmlns:m="http://schemas.openxmlformats.org/officeDocument/2006/math">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𝜃</m:t>
                            </m:r>
                          </m:e>
                        </m:acc>
                      </m:e>
                      <m:sub>
                        <m:r>
                          <a:rPr lang="en-US" altLang="ja-JP" sz="2000" i="1">
                            <a:latin typeface="Cambria Math" panose="02040503050406030204" pitchFamily="18" charset="0"/>
                          </a:rPr>
                          <m:t>𝑛</m:t>
                        </m:r>
                      </m:sub>
                      <m:sup>
                        <m:r>
                          <m:rPr>
                            <m:sty m:val="p"/>
                          </m:rPr>
                          <a:rPr lang="en-US" altLang="ja-JP" sz="2000">
                            <a:latin typeface="Cambria Math" panose="02040503050406030204" pitchFamily="18" charset="0"/>
                          </a:rPr>
                          <m:t>RA</m:t>
                        </m:r>
                      </m:sup>
                    </m:sSubSup>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𝑛</m:t>
                        </m:r>
                      </m:den>
                    </m:f>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m:rPr>
                                <m:nor/>
                              </m:rPr>
                              <a:rPr lang="en-US" altLang="ja-JP" sz="2000" dirty="0"/>
                              <m:t> −</m:t>
                            </m:r>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e>
                        </m:d>
                      </m:e>
                    </m:nary>
                  </m:oMath>
                </a14:m>
                <a:r>
                  <a:rPr lang="en-US" altLang="ja-JP" sz="2000" dirty="0"/>
                  <a:t> </a:t>
                </a:r>
                <a:r>
                  <a:rPr lang="ja-JP" altLang="en-US" sz="2000"/>
                  <a:t>における</a:t>
                </a:r>
                <a14:m>
                  <m:oMath xmlns:m="http://schemas.openxmlformats.org/officeDocument/2006/math">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oMath>
                </a14:m>
                <a:r>
                  <a:rPr lang="en-US" altLang="ja-JP" sz="2000" dirty="0"/>
                  <a:t> </a:t>
                </a:r>
                <a:r>
                  <a:rPr lang="ja-JP" altLang="en-US" sz="2000" dirty="0"/>
                  <a:t>に</a:t>
                </a:r>
                <a:r>
                  <a:rPr lang="ja-JP" altLang="en-US" sz="2000"/>
                  <a:t>補正をかけて漸近効率性を実現</a:t>
                </a:r>
                <a:endParaRPr lang="en-US" altLang="ja-JP" sz="2000" dirty="0"/>
              </a:p>
              <a:p>
                <a:pPr lvl="1"/>
                <a:r>
                  <a:rPr lang="ja-JP" altLang="en-US" sz="2000"/>
                  <a:t>補正をかけた回帰関数の推定量を</a:t>
                </a:r>
                <a:r>
                  <a:rPr lang="en-US" altLang="ja-JP" sz="2000" dirty="0"/>
                  <a:t> </a:t>
                </a:r>
                <a14:m>
                  <m:oMath xmlns:m="http://schemas.openxmlformats.org/officeDocument/2006/math">
                    <m:sSup>
                      <m:sSupPr>
                        <m:ctrlPr>
                          <a:rPr lang="en-US" altLang="ja-JP" sz="2000" i="1">
                            <a:latin typeface="Cambria Math" panose="02040503050406030204" pitchFamily="18" charset="0"/>
                          </a:rPr>
                        </m:ctrlPr>
                      </m:s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e>
                      <m:sup>
                        <m:r>
                          <a:rPr lang="en-US" altLang="ja-JP" sz="2000" i="1">
                            <a:latin typeface="Cambria Math" panose="02040503050406030204" pitchFamily="18" charset="0"/>
                          </a:rPr>
                          <m:t>(1)</m:t>
                        </m:r>
                      </m:sup>
                    </m:sSup>
                  </m:oMath>
                </a14:m>
                <a:r>
                  <a:rPr lang="en-US" altLang="ja-JP" sz="2000" dirty="0"/>
                  <a:t> </a:t>
                </a:r>
                <a:r>
                  <a:rPr lang="ja-JP" altLang="en-US" sz="2000" dirty="0"/>
                  <a:t>とする</a:t>
                </a:r>
                <a:r>
                  <a:rPr lang="ja-JP" altLang="en-US" sz="2000"/>
                  <a:t>と、推定量の形式は以下のようになる：</a:t>
                </a:r>
                <a:endParaRPr lang="en-US" altLang="ja-JP" sz="2000" dirty="0"/>
              </a:p>
              <a:p>
                <a:pPr marL="396000" lvl="1"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𝜃</m:t>
                              </m:r>
                            </m:e>
                          </m:acc>
                        </m:e>
                        <m:sub>
                          <m:r>
                            <a:rPr lang="en-US" altLang="ja-JP" sz="2000" i="1">
                              <a:latin typeface="Cambria Math" panose="02040503050406030204" pitchFamily="18" charset="0"/>
                            </a:rPr>
                            <m:t>𝑛</m:t>
                          </m:r>
                        </m:sub>
                        <m:sup>
                          <m:r>
                            <m:rPr>
                              <m:sty m:val="p"/>
                            </m:rPr>
                            <a:rPr lang="en-US" altLang="ja-JP" sz="2000">
                              <a:latin typeface="Cambria Math" panose="02040503050406030204" pitchFamily="18" charset="0"/>
                            </a:rPr>
                            <m:t>TMLE</m:t>
                          </m:r>
                        </m:sup>
                      </m:sSubSup>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𝑛</m:t>
                          </m:r>
                        </m:den>
                      </m:f>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d>
                            <m:dPr>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m:rPr>
                                  <m:nor/>
                                </m:rPr>
                                <a:rPr lang="en-US" altLang="ja-JP" sz="2000" dirty="0"/>
                                <m:t> −</m:t>
                              </m:r>
                              <m:sSup>
                                <m:sSupPr>
                                  <m:ctrlPr>
                                    <a:rPr lang="en-US" altLang="ja-JP" sz="2000" i="1">
                                      <a:latin typeface="Cambria Math" panose="02040503050406030204" pitchFamily="18" charset="0"/>
                                    </a:rPr>
                                  </m:ctrlPr>
                                </m:s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e>
                          </m:d>
                        </m:e>
                      </m:nary>
                    </m:oMath>
                  </m:oMathPara>
                </a14:m>
                <a:endParaRPr lang="en-US" altLang="ja-JP" sz="2000" dirty="0"/>
              </a:p>
              <a:p>
                <a:endParaRPr lang="en-US" altLang="ja-JP" sz="800" dirty="0"/>
              </a:p>
              <a:p>
                <a:r>
                  <a:rPr lang="ja-JP" altLang="en-US" sz="2000"/>
                  <a:t>マッチング推定量</a:t>
                </a:r>
                <a:endParaRPr lang="en-US" altLang="ja-JP" sz="2000" dirty="0"/>
              </a:p>
              <a:p>
                <a:pPr lvl="1"/>
                <a:r>
                  <a:rPr lang="ja-JP" altLang="en-US" sz="2000"/>
                  <a:t>似ているユニットを集めて処置群と対照群のアウトカムを比較</a:t>
                </a:r>
                <a:endParaRPr lang="en-US" altLang="ja-JP" sz="2000" dirty="0"/>
              </a:p>
              <a:p>
                <a:pPr lvl="1"/>
                <a:r>
                  <a:rPr lang="ja-JP" altLang="en-US" sz="2000"/>
                  <a:t>回帰調整推定量や</a:t>
                </a:r>
                <a:r>
                  <a:rPr lang="en-US" altLang="ja-JP" sz="2000" dirty="0"/>
                  <a:t>IPW</a:t>
                </a:r>
                <a:r>
                  <a:rPr lang="ja-JP" altLang="en-US" sz="2000"/>
                  <a:t>推定量や</a:t>
                </a:r>
                <a:r>
                  <a:rPr lang="en-US" altLang="ja-JP" sz="2000" dirty="0"/>
                  <a:t>AIPW</a:t>
                </a:r>
                <a:r>
                  <a:rPr lang="ja-JP" altLang="en-US" sz="2000"/>
                  <a:t>推定量としても解釈可能（上記の等号が成り立つ）</a:t>
                </a:r>
                <a:endParaRPr lang="en-US" altLang="ja-JP" sz="2000" dirty="0"/>
              </a:p>
            </p:txBody>
          </p:sp>
        </mc:Choice>
        <mc:Fallback>
          <p:sp>
            <p:nvSpPr>
              <p:cNvPr id="3" name="コンテンツ プレースホルダー 2">
                <a:extLst>
                  <a:ext uri="{FF2B5EF4-FFF2-40B4-BE49-F238E27FC236}">
                    <a16:creationId xmlns:a16="http://schemas.microsoft.com/office/drawing/2014/main" id="{6AF11C53-2D81-872A-EDB4-B74CF026A53F}"/>
                  </a:ext>
                </a:extLst>
              </p:cNvPr>
              <p:cNvSpPr>
                <a:spLocks noGrp="1" noRot="1" noChangeAspect="1" noMove="1" noResize="1" noEditPoints="1" noAdjustHandles="1" noChangeArrowheads="1" noChangeShapeType="1" noTextEdit="1"/>
              </p:cNvSpPr>
              <p:nvPr>
                <p:ph idx="1"/>
              </p:nvPr>
            </p:nvSpPr>
            <p:spPr>
              <a:blipFill>
                <a:blip r:embed="rId2"/>
                <a:stretch>
                  <a:fillRect l="-603" t="-118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41464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84B8-4B61-2A35-88F1-18C116A0C771}"/>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95E268A-4B86-24AB-2BDE-F4C034AF4549}"/>
              </a:ext>
            </a:extLst>
          </p:cNvPr>
          <p:cNvSpPr>
            <a:spLocks noGrp="1"/>
          </p:cNvSpPr>
          <p:nvPr>
            <p:ph type="title"/>
          </p:nvPr>
        </p:nvSpPr>
        <p:spPr/>
        <p:txBody>
          <a:bodyPr>
            <a:normAutofit/>
          </a:bodyPr>
          <a:lstStyle/>
          <a:p>
            <a:r>
              <a:rPr lang="ja-JP" altLang="en-US"/>
              <a:t>基底を用いる推定</a:t>
            </a:r>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CAAD3472-4108-506B-D195-1AFD012CC8A5}"/>
                  </a:ext>
                </a:extLst>
              </p:cNvPr>
              <p:cNvSpPr>
                <a:spLocks noGrp="1"/>
              </p:cNvSpPr>
              <p:nvPr>
                <p:ph idx="1"/>
              </p:nvPr>
            </p:nvSpPr>
            <p:spPr/>
            <p:txBody>
              <a:bodyPr>
                <a:normAutofit/>
              </a:bodyPr>
              <a:lstStyle/>
              <a:p>
                <a:r>
                  <a:rPr lang="ja-JP" altLang="en-US"/>
                  <a:t>基底</a:t>
                </a:r>
                <a:r>
                  <a:rPr lang="en-US" altLang="ja-JP" dirty="0"/>
                  <a:t> </a:t>
                </a:r>
                <a14:m>
                  <m:oMath xmlns:m="http://schemas.openxmlformats.org/officeDocument/2006/math">
                    <m:r>
                      <a:rPr lang="en-US" altLang="ja-JP" b="0" i="1" smtClean="0">
                        <a:latin typeface="Cambria Math" panose="02040503050406030204" pitchFamily="18" charset="0"/>
                      </a:rPr>
                      <m:t>𝜓</m:t>
                    </m:r>
                    <m:r>
                      <a:rPr lang="en-US" altLang="ja-JP" b="0" i="1" smtClean="0">
                        <a:latin typeface="Cambria Math" panose="02040503050406030204" pitchFamily="18" charset="0"/>
                      </a:rPr>
                      <m:t>:</m:t>
                    </m:r>
                    <m:r>
                      <a:rPr lang="en-US" altLang="ja-JP" b="0" i="1" smtClean="0">
                        <a:latin typeface="Cambria Math" panose="02040503050406030204" pitchFamily="18" charset="0"/>
                      </a:rPr>
                      <m:t>𝒳</m:t>
                    </m:r>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ℝ</m:t>
                        </m:r>
                      </m:e>
                      <m:sup>
                        <m:r>
                          <a:rPr lang="en-US" altLang="ja-JP" b="0" i="1" smtClean="0">
                            <a:latin typeface="Cambria Math" panose="02040503050406030204" pitchFamily="18" charset="0"/>
                          </a:rPr>
                          <m:t>𝑝</m:t>
                        </m:r>
                      </m:sup>
                    </m:sSup>
                  </m:oMath>
                </a14:m>
                <a:r>
                  <a:rPr lang="en-US" altLang="ja-JP" dirty="0"/>
                  <a:t> </a:t>
                </a:r>
                <a:r>
                  <a:rPr lang="ja-JP" altLang="en-US"/>
                  <a:t>を用いてさまざまな関数を表現できる：</a:t>
                </a:r>
                <a:endParaRPr lang="en-US" altLang="ja-JP" dirty="0"/>
              </a:p>
              <a:p>
                <a:endParaRPr lang="en-US" altLang="ja-JP" sz="800" dirty="0"/>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𝑔</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𝛽</m:t>
                          </m:r>
                        </m:e>
                        <m:sup>
                          <m:r>
                            <a:rPr lang="en-US" altLang="ja-JP" i="1">
                              <a:latin typeface="Cambria Math" panose="02040503050406030204" pitchFamily="18" charset="0"/>
                            </a:rPr>
                            <m:t>⊤</m:t>
                          </m:r>
                        </m:sup>
                      </m:sSup>
                      <m:r>
                        <a:rPr lang="en-US" altLang="ja-JP" i="1">
                          <a:latin typeface="Cambria Math" panose="02040503050406030204" pitchFamily="18" charset="0"/>
                        </a:rPr>
                        <m:t>𝜓</m:t>
                      </m:r>
                      <m:d>
                        <m:dPr>
                          <m:ctrlPr>
                            <a:rPr lang="en-US" altLang="ja-JP" i="1">
                              <a:latin typeface="Cambria Math" panose="02040503050406030204" pitchFamily="18" charset="0"/>
                            </a:rPr>
                          </m:ctrlPr>
                        </m:dPr>
                        <m:e>
                          <m:r>
                            <a:rPr lang="en-US" altLang="ja-JP" i="1">
                              <a:latin typeface="Cambria Math" panose="02040503050406030204" pitchFamily="18" charset="0"/>
                            </a:rPr>
                            <m:t>𝑋</m:t>
                          </m:r>
                        </m:e>
                      </m:d>
                      <m:r>
                        <a:rPr lang="en-US" altLang="ja-JP" b="0" i="0" smtClean="0">
                          <a:latin typeface="Cambria Math" panose="02040503050406030204" pitchFamily="18" charset="0"/>
                        </a:rPr>
                        <m:t>=</m:t>
                      </m:r>
                      <m:nary>
                        <m:naryPr>
                          <m:chr m:val="∑"/>
                          <m:ctrlPr>
                            <a:rPr lang="en-US" altLang="ja-JP" b="0" i="1" smtClean="0">
                              <a:latin typeface="Cambria Math" panose="02040503050406030204" pitchFamily="18" charset="0"/>
                            </a:rPr>
                          </m:ctrlPr>
                        </m:naryPr>
                        <m:sub>
                          <m:r>
                            <a:rPr lang="en-US" altLang="ja-JP" b="0" i="1" smtClean="0">
                              <a:latin typeface="Cambria Math" panose="02040503050406030204" pitchFamily="18" charset="0"/>
                            </a:rPr>
                            <m:t>𝑗</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𝑝</m:t>
                          </m:r>
                        </m:sup>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𝛽</m:t>
                              </m:r>
                            </m:e>
                            <m:sub>
                              <m:r>
                                <a:rPr lang="en-US" altLang="ja-JP" b="0" i="1" smtClean="0">
                                  <a:latin typeface="Cambria Math" panose="02040503050406030204" pitchFamily="18" charset="0"/>
                                </a:rPr>
                                <m:t>𝑗</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𝜓</m:t>
                              </m:r>
                            </m:e>
                            <m:sub>
                              <m:r>
                                <a:rPr lang="en-US" altLang="ja-JP" b="0" i="1" smtClean="0">
                                  <a:latin typeface="Cambria Math" panose="02040503050406030204" pitchFamily="18" charset="0"/>
                                </a:rPr>
                                <m:t>𝑗</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𝑋</m:t>
                              </m:r>
                            </m:e>
                          </m:d>
                        </m:e>
                      </m:nary>
                    </m:oMath>
                  </m:oMathPara>
                </a14:m>
                <a:endParaRPr lang="en-US" altLang="ja-JP" dirty="0"/>
              </a:p>
              <a:p>
                <a:pPr lvl="1"/>
                <a:endParaRPr lang="en-US" altLang="ja-JP" sz="800" dirty="0"/>
              </a:p>
              <a:p>
                <a:pPr lvl="1"/>
                <a:r>
                  <a:rPr lang="ja-JP" altLang="en-US"/>
                  <a:t>基底の線型結合で任意の関数を表現可能（万能近似定理）</a:t>
                </a:r>
                <a:endParaRPr lang="en-US" altLang="ja-JP" dirty="0"/>
              </a:p>
              <a:p>
                <a:pPr lvl="1"/>
                <a:r>
                  <a:rPr lang="ja-JP" altLang="en-US"/>
                  <a:t>例：テイラー展開、フーリエ展開、再生核ヒルベルト空間、ニューラルタンジェントカーネル</a:t>
                </a:r>
                <a:endParaRPr lang="en-US" altLang="ja-JP" dirty="0"/>
              </a:p>
              <a:p>
                <a:endParaRPr lang="en-US" altLang="ja-JP" dirty="0"/>
              </a:p>
              <a:p>
                <a:r>
                  <a:rPr lang="ja-JP" altLang="en-US"/>
                  <a:t>推定したい対象：</a:t>
                </a:r>
                <a:endParaRPr lang="en-US" altLang="ja-JP" dirty="0"/>
              </a:p>
              <a:p>
                <a:pPr lvl="1"/>
                <a:r>
                  <a:rPr lang="ja-JP" altLang="en-US"/>
                  <a:t>回帰関数</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 </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𝔼</m:t>
                    </m:r>
                    <m:r>
                      <a:rPr lang="en-US" altLang="ja-JP" b="0" i="1" smtClean="0">
                        <a:latin typeface="Cambria Math" panose="02040503050406030204" pitchFamily="18" charset="0"/>
                      </a:rPr>
                      <m:t>[</m:t>
                    </m:r>
                    <m:r>
                      <a:rPr lang="en-US" altLang="ja-JP" b="0" i="1" smtClean="0">
                        <a:latin typeface="Cambria Math" panose="02040503050406030204" pitchFamily="18" charset="0"/>
                      </a:rPr>
                      <m:t>𝑌</m:t>
                    </m:r>
                    <m:r>
                      <a:rPr lang="en-US" altLang="ja-JP" b="0" i="1" smtClean="0">
                        <a:latin typeface="Cambria Math" panose="02040503050406030204" pitchFamily="18" charset="0"/>
                      </a:rPr>
                      <m:t>∣</m:t>
                    </m:r>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r>
                      <a:rPr lang="en-US" altLang="ja-JP" b="0" i="1" smtClean="0">
                        <a:latin typeface="Cambria Math" panose="02040503050406030204" pitchFamily="18" charset="0"/>
                      </a:rPr>
                      <m:t>]</m:t>
                    </m:r>
                  </m:oMath>
                </a14:m>
                <a:endParaRPr lang="en-US" altLang="ja-JP" dirty="0"/>
              </a:p>
              <a:p>
                <a:pPr lvl="1"/>
                <a:r>
                  <a:rPr lang="ja-JP" altLang="en-US"/>
                  <a:t>リース表現量</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𝛼</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𝐷</m:t>
                        </m:r>
                      </m:num>
                      <m:den>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𝑋</m:t>
                            </m:r>
                          </m:e>
                        </m:d>
                      </m:den>
                    </m:f>
                    <m:r>
                      <a:rPr lang="en-US" altLang="ja-JP" b="0" i="1" smtClean="0">
                        <a:latin typeface="Cambria Math" panose="02040503050406030204" pitchFamily="18" charset="0"/>
                      </a:rPr>
                      <m:t>−</m:t>
                    </m:r>
                    <m:f>
                      <m:fPr>
                        <m:ctrlPr>
                          <a:rPr lang="en-US" altLang="ja-JP" i="1">
                            <a:latin typeface="Cambria Math" panose="02040503050406030204" pitchFamily="18" charset="0"/>
                          </a:rPr>
                        </m:ctrlPr>
                      </m:fPr>
                      <m:num>
                        <m:r>
                          <a:rPr lang="en-US" altLang="ja-JP" b="0" i="1" smtClean="0">
                            <a:latin typeface="Cambria Math" panose="02040503050406030204" pitchFamily="18" charset="0"/>
                          </a:rPr>
                          <m:t>1−</m:t>
                        </m:r>
                        <m:r>
                          <a:rPr lang="en-US" altLang="ja-JP" i="1">
                            <a:latin typeface="Cambria Math" panose="02040503050406030204" pitchFamily="18" charset="0"/>
                          </a:rPr>
                          <m:t>𝐷</m:t>
                        </m:r>
                      </m:num>
                      <m:den>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1−</m:t>
                            </m:r>
                            <m:r>
                              <a:rPr lang="en-US" altLang="ja-JP" i="1">
                                <a:latin typeface="Cambria Math" panose="02040503050406030204" pitchFamily="18" charset="0"/>
                              </a:rPr>
                              <m:t>𝑒</m:t>
                            </m:r>
                          </m:e>
                          <m:sub>
                            <m:r>
                              <a:rPr lang="en-US" altLang="ja-JP" i="1">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𝑋</m:t>
                            </m:r>
                          </m:e>
                        </m:d>
                      </m:den>
                    </m:f>
                  </m:oMath>
                </a14:m>
                <a:endParaRPr lang="en-US" altLang="ja-JP" dirty="0"/>
              </a:p>
            </p:txBody>
          </p:sp>
        </mc:Choice>
        <mc:Fallback xmlns="">
          <p:sp>
            <p:nvSpPr>
              <p:cNvPr id="7" name="コンテンツ プレースホルダー 6">
                <a:extLst>
                  <a:ext uri="{FF2B5EF4-FFF2-40B4-BE49-F238E27FC236}">
                    <a16:creationId xmlns:a16="http://schemas.microsoft.com/office/drawing/2014/main" id="{CAAD3472-4108-506B-D195-1AFD012CC8A5}"/>
                  </a:ext>
                </a:extLst>
              </p:cNvPr>
              <p:cNvSpPr>
                <a:spLocks noGrp="1" noRot="1" noChangeAspect="1" noMove="1" noResize="1" noEditPoints="1" noAdjustHandles="1" noChangeArrowheads="1" noChangeShapeType="1" noTextEdit="1"/>
              </p:cNvSpPr>
              <p:nvPr>
                <p:ph idx="1"/>
              </p:nvPr>
            </p:nvSpPr>
            <p:spPr>
              <a:blipFill>
                <a:blip r:embed="rId2"/>
                <a:stretch>
                  <a:fillRect l="-483" t="-78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47396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0510-08A0-A77A-8BAA-A3AD723A7143}"/>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841EF8B-5813-E3E4-1734-7A16B53B0F0B}"/>
              </a:ext>
            </a:extLst>
          </p:cNvPr>
          <p:cNvSpPr>
            <a:spLocks noGrp="1"/>
          </p:cNvSpPr>
          <p:nvPr>
            <p:ph type="title"/>
          </p:nvPr>
        </p:nvSpPr>
        <p:spPr/>
        <p:txBody>
          <a:bodyPr>
            <a:normAutofit/>
          </a:bodyPr>
          <a:lstStyle/>
          <a:p>
            <a:r>
              <a:rPr lang="ja-JP" altLang="en-US"/>
              <a:t>推定量間の同値性</a:t>
            </a:r>
          </a:p>
        </p:txBody>
      </p:sp>
      <mc:AlternateContent xmlns:mc="http://schemas.openxmlformats.org/markup-compatibility/2006">
        <mc:Choice xmlns:a14="http://schemas.microsoft.com/office/drawing/2010/main" Requires="a14">
          <p:sp>
            <p:nvSpPr>
              <p:cNvPr id="7" name="コンテンツ プレースホルダー 6">
                <a:extLst>
                  <a:ext uri="{FF2B5EF4-FFF2-40B4-BE49-F238E27FC236}">
                    <a16:creationId xmlns:a16="http://schemas.microsoft.com/office/drawing/2014/main" id="{0CC71E9E-02CB-1AC9-0942-C3B7266EA4DA}"/>
                  </a:ext>
                </a:extLst>
              </p:cNvPr>
              <p:cNvSpPr>
                <a:spLocks noGrp="1"/>
              </p:cNvSpPr>
              <p:nvPr>
                <p:ph idx="1"/>
              </p:nvPr>
            </p:nvSpPr>
            <p:spPr/>
            <p:txBody>
              <a:bodyPr>
                <a:normAutofit/>
              </a:bodyPr>
              <a:lstStyle/>
              <a:p>
                <a:r>
                  <a:rPr lang="ja-JP" altLang="en-US" sz="2000"/>
                  <a:t>基底</a:t>
                </a:r>
                <a:r>
                  <a:rPr lang="en-US" altLang="ja-JP" sz="2000" dirty="0"/>
                  <a:t> </a:t>
                </a:r>
                <a14:m>
                  <m:oMath xmlns:m="http://schemas.openxmlformats.org/officeDocument/2006/math">
                    <m:r>
                      <a:rPr lang="en-US" altLang="ja-JP" sz="2000" i="1">
                        <a:latin typeface="Cambria Math" panose="02040503050406030204" pitchFamily="18" charset="0"/>
                      </a:rPr>
                      <m:t>𝜓</m:t>
                    </m:r>
                    <m:r>
                      <a:rPr lang="en-US" altLang="ja-JP" sz="2000" i="1">
                        <a:latin typeface="Cambria Math" panose="02040503050406030204" pitchFamily="18" charset="0"/>
                      </a:rPr>
                      <m:t>:</m:t>
                    </m:r>
                    <m:r>
                      <a:rPr lang="en-US" altLang="ja-JP" sz="2000" i="1">
                        <a:latin typeface="Cambria Math" panose="02040503050406030204" pitchFamily="18" charset="0"/>
                      </a:rPr>
                      <m:t>𝒳</m:t>
                    </m:r>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ℝ</m:t>
                        </m:r>
                      </m:e>
                      <m:sup>
                        <m:r>
                          <a:rPr lang="en-US" altLang="ja-JP" sz="2000" i="1">
                            <a:latin typeface="Cambria Math" panose="02040503050406030204" pitchFamily="18" charset="0"/>
                          </a:rPr>
                          <m:t>𝑝</m:t>
                        </m:r>
                      </m:sup>
                    </m:sSup>
                  </m:oMath>
                </a14:m>
                <a:r>
                  <a:rPr lang="en-US" altLang="ja-JP" sz="2000" dirty="0"/>
                  <a:t> </a:t>
                </a:r>
                <a:r>
                  <a:rPr lang="ja-JP" altLang="en-US" sz="2000"/>
                  <a:t>を用いてさまざまな関数を表現できる</a:t>
                </a:r>
                <a:endParaRPr lang="en-US" altLang="ja-JP" sz="800" dirty="0"/>
              </a:p>
              <a:p>
                <a:r>
                  <a:rPr lang="ja-JP" altLang="en-US" sz="2000"/>
                  <a:t>回帰関数</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𝑓</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sep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e>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oMath>
                </a14:m>
                <a:r>
                  <a:rPr lang="ja-JP" altLang="en-US" sz="2000"/>
                  <a:t>とリース表現量</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𝛼</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𝐷</m:t>
                        </m:r>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𝑋</m:t>
                            </m:r>
                          </m:e>
                        </m:d>
                      </m:den>
                    </m:f>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r>
                          <a:rPr lang="en-US" altLang="ja-JP" sz="2000" i="1">
                            <a:latin typeface="Cambria Math" panose="02040503050406030204" pitchFamily="18" charset="0"/>
                          </a:rPr>
                          <m:t>𝐷</m:t>
                        </m:r>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1−</m:t>
                            </m:r>
                            <m:r>
                              <a:rPr lang="en-US" altLang="ja-JP" sz="2000" i="1">
                                <a:latin typeface="Cambria Math" panose="02040503050406030204" pitchFamily="18" charset="0"/>
                              </a:rPr>
                              <m:t>𝑒</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𝑋</m:t>
                            </m:r>
                          </m:e>
                        </m:d>
                      </m:den>
                    </m:f>
                  </m:oMath>
                </a14:m>
                <a:r>
                  <a:rPr lang="ja-JP" altLang="en-US" sz="2000"/>
                  <a:t>を同じ基底で表現可能</a:t>
                </a:r>
                <a:br>
                  <a:rPr lang="en-US" altLang="ja-JP" sz="2000" dirty="0"/>
                </a:br>
                <a:endParaRPr lang="en-US" altLang="ja-JP" sz="800" dirty="0"/>
              </a:p>
              <a:p>
                <a:pPr lvl="1"/>
                <a:r>
                  <a:rPr lang="ja-JP" altLang="en-US" sz="2000"/>
                  <a:t>つまり，適当なパラメータ</a:t>
                </a:r>
                <a:r>
                  <a:rPr lang="en-US" altLang="ja-JP" sz="2000" dirty="0"/>
                  <a:t> </a:t>
                </a:r>
                <a14:m>
                  <m:oMath xmlns:m="http://schemas.openxmlformats.org/officeDocument/2006/math">
                    <m:r>
                      <a:rPr lang="en-US" altLang="ja-JP" sz="2000" i="1">
                        <a:latin typeface="Cambria Math" panose="02040503050406030204" pitchFamily="18" charset="0"/>
                      </a:rPr>
                      <m:t>𝛼</m:t>
                    </m:r>
                  </m:oMath>
                </a14:m>
                <a:r>
                  <a:rPr lang="en-US" altLang="ja-JP" sz="2000" dirty="0"/>
                  <a:t> </a:t>
                </a:r>
                <a:r>
                  <a:rPr lang="ja-JP" altLang="en-US" sz="2000"/>
                  <a:t>と</a:t>
                </a:r>
                <a:r>
                  <a:rPr lang="en-US" altLang="ja-JP" sz="2000" dirty="0"/>
                  <a:t> </a:t>
                </a:r>
                <a14:m>
                  <m:oMath xmlns:m="http://schemas.openxmlformats.org/officeDocument/2006/math">
                    <m:r>
                      <a:rPr lang="en-US" altLang="ja-JP" sz="2000" i="1">
                        <a:latin typeface="Cambria Math" panose="02040503050406030204" pitchFamily="18" charset="0"/>
                      </a:rPr>
                      <m:t>𝛽</m:t>
                    </m:r>
                  </m:oMath>
                </a14:m>
                <a:r>
                  <a:rPr lang="en-US" altLang="ja-JP" sz="2000" dirty="0"/>
                  <a:t> </a:t>
                </a:r>
                <a:r>
                  <a:rPr lang="ja-JP" altLang="en-US" sz="2000" dirty="0"/>
                  <a:t>が</a:t>
                </a:r>
                <a:r>
                  <a:rPr lang="ja-JP" altLang="en-US" sz="2000"/>
                  <a:t>存在し、</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𝑓</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𝛼</m:t>
                        </m:r>
                      </m:e>
                      <m:sup>
                        <m:r>
                          <a:rPr lang="en-US" altLang="ja-JP" sz="2000" i="1">
                            <a:latin typeface="Cambria Math" panose="02040503050406030204" pitchFamily="18" charset="0"/>
                          </a:rPr>
                          <m:t>⊤</m:t>
                        </m:r>
                      </m:sup>
                    </m:sSup>
                    <m:r>
                      <a:rPr lang="en-US" altLang="ja-JP" sz="2000" i="1">
                        <a:latin typeface="Cambria Math" panose="02040503050406030204" pitchFamily="18" charset="0"/>
                      </a:rPr>
                      <m:t>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𝑋</m:t>
                        </m:r>
                      </m:e>
                    </m:d>
                  </m:oMath>
                </a14:m>
                <a:r>
                  <a:rPr lang="en-US" altLang="ja-JP" sz="2000" dirty="0"/>
                  <a:t> </a:t>
                </a:r>
                <a:r>
                  <a:rPr lang="ja-JP" altLang="en-US" sz="2000"/>
                  <a:t>と</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𝛼</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r>
                      <a:rPr lang="en-US" altLang="ja-JP" sz="2000" i="1">
                        <a:latin typeface="Cambria Math" panose="02040503050406030204" pitchFamily="18" charset="0"/>
                      </a:rPr>
                      <m:t>𝜓</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𝑋</m:t>
                        </m:r>
                      </m:e>
                    </m:d>
                  </m:oMath>
                </a14:m>
                <a:r>
                  <a:rPr lang="en-US" altLang="ja-JP" sz="2000" dirty="0"/>
                  <a:t> </a:t>
                </a:r>
                <a:r>
                  <a:rPr lang="ja-JP" altLang="en-US" sz="2000" dirty="0"/>
                  <a:t>が成立</a:t>
                </a:r>
                <a:endParaRPr lang="en-US" altLang="ja-JP" sz="2000" dirty="0"/>
              </a:p>
              <a:p>
                <a:endParaRPr lang="en-US" altLang="ja-JP" sz="2000" dirty="0"/>
              </a:p>
              <a:p>
                <a:r>
                  <a:rPr lang="ja-JP" altLang="en-US" sz="2000"/>
                  <a:t>このとき、リース表現量</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𝛼</m:t>
                        </m:r>
                      </m:e>
                      <m:sub>
                        <m:r>
                          <a:rPr lang="en-US" altLang="ja-JP" sz="2000" i="1">
                            <a:latin typeface="Cambria Math" panose="02040503050406030204" pitchFamily="18" charset="0"/>
                          </a:rPr>
                          <m:t>0</m:t>
                        </m:r>
                      </m:sub>
                    </m:sSub>
                  </m:oMath>
                </a14:m>
                <a:r>
                  <a:rPr lang="en-US" altLang="ja-JP" sz="2000" dirty="0"/>
                  <a:t> </a:t>
                </a:r>
                <a:r>
                  <a:rPr lang="ja-JP" altLang="en-US" sz="2000" dirty="0"/>
                  <a:t>を（</a:t>
                </a:r>
                <a:r>
                  <a:rPr lang="ja-JP" altLang="en-US" sz="2000"/>
                  <a:t>正則化なしの）リース回帰で推定すれば、以下が成り立つ：</a:t>
                </a:r>
                <a:br>
                  <a:rPr lang="en-US" altLang="ja-JP" sz="2000" dirty="0"/>
                </a:br>
                <a:endParaRPr lang="en-US" altLang="ja-JP" sz="2000" dirty="0"/>
              </a:p>
              <a:p>
                <a:pPr indent="0" algn="ctr">
                  <a:buNone/>
                </a:pPr>
                <a:r>
                  <a:rPr lang="ja-JP" altLang="en-US" sz="2000"/>
                  <a:t>回帰調整推定量推定量</a:t>
                </a:r>
                <a:r>
                  <a:rPr lang="en-US" altLang="ja-JP" sz="2000" dirty="0"/>
                  <a:t> = IPW </a:t>
                </a:r>
                <a:r>
                  <a:rPr lang="ja-JP" altLang="en-US" sz="2000"/>
                  <a:t>推定量</a:t>
                </a:r>
                <a:r>
                  <a:rPr lang="en-US" altLang="ja-JP" sz="2000" dirty="0"/>
                  <a:t> = AIPW </a:t>
                </a:r>
                <a:r>
                  <a:rPr lang="ja-JP" altLang="en-US" sz="2000"/>
                  <a:t>推定量</a:t>
                </a:r>
                <a:endParaRPr lang="en-US" altLang="ja-JP" sz="2000" dirty="0"/>
              </a:p>
              <a:p>
                <a:endParaRPr lang="en-US" altLang="ja-JP" sz="2000" dirty="0"/>
              </a:p>
              <a:p>
                <a:pPr lvl="1"/>
                <a:r>
                  <a:rPr lang="ja-JP" altLang="en-US" sz="2000"/>
                  <a:t>ただし、回帰関数</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𝑓</m:t>
                        </m:r>
                      </m:e>
                      <m:sub>
                        <m:r>
                          <a:rPr lang="en-US" altLang="ja-JP" sz="2000" i="1">
                            <a:latin typeface="Cambria Math" panose="02040503050406030204" pitchFamily="18" charset="0"/>
                          </a:rPr>
                          <m:t>0</m:t>
                        </m:r>
                      </m:sub>
                    </m:sSub>
                  </m:oMath>
                </a14:m>
                <a:r>
                  <a:rPr lang="en-US" altLang="ja-JP" sz="2000" dirty="0"/>
                  <a:t> </a:t>
                </a:r>
                <a:r>
                  <a:rPr lang="ja-JP" altLang="en-US" sz="2000"/>
                  <a:t>と</a:t>
                </a:r>
                <a:r>
                  <a:rPr lang="en-US" altLang="ja-JP" sz="2000" dirty="0"/>
                  <a:t> </a:t>
                </a:r>
                <a:r>
                  <a:rPr lang="ja-JP" altLang="en-US" sz="2000"/>
                  <a:t>リース表現量</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𝛼</m:t>
                        </m:r>
                      </m:e>
                      <m:sub>
                        <m:r>
                          <a:rPr lang="en-US" altLang="ja-JP" sz="2000" i="1">
                            <a:latin typeface="Cambria Math" panose="02040503050406030204" pitchFamily="18" charset="0"/>
                          </a:rPr>
                          <m:t>0</m:t>
                        </m:r>
                      </m:sub>
                    </m:sSub>
                  </m:oMath>
                </a14:m>
                <a:r>
                  <a:rPr lang="en-US" altLang="ja-JP" sz="2000" dirty="0"/>
                  <a:t> </a:t>
                </a:r>
                <a:r>
                  <a:rPr lang="ja-JP" altLang="en-US" sz="2000" dirty="0"/>
                  <a:t>は</a:t>
                </a:r>
                <a:r>
                  <a:rPr lang="ja-JP" altLang="en-US" sz="2000"/>
                  <a:t>同じ基底の線形モデルを用いる</a:t>
                </a:r>
                <a:endParaRPr lang="en-US" altLang="ja-JP" sz="2000" dirty="0"/>
              </a:p>
              <a:p>
                <a:pPr lvl="1"/>
                <a:r>
                  <a:rPr lang="ja-JP" altLang="en-US" sz="2000"/>
                  <a:t>共変量バランシングと同値</a:t>
                </a:r>
                <a:endParaRPr lang="en-US" altLang="ja-JP" sz="2000" dirty="0"/>
              </a:p>
              <a:p>
                <a:endParaRPr lang="en-US" altLang="ja-JP" dirty="0"/>
              </a:p>
            </p:txBody>
          </p:sp>
        </mc:Choice>
        <mc:Fallback>
          <p:sp>
            <p:nvSpPr>
              <p:cNvPr id="7" name="コンテンツ プレースホルダー 6">
                <a:extLst>
                  <a:ext uri="{FF2B5EF4-FFF2-40B4-BE49-F238E27FC236}">
                    <a16:creationId xmlns:a16="http://schemas.microsoft.com/office/drawing/2014/main" id="{0CC71E9E-02CB-1AC9-0942-C3B7266EA4DA}"/>
                  </a:ext>
                </a:extLst>
              </p:cNvPr>
              <p:cNvSpPr>
                <a:spLocks noGrp="1" noRot="1" noChangeAspect="1" noMove="1" noResize="1" noEditPoints="1" noAdjustHandles="1" noChangeArrowheads="1" noChangeShapeType="1" noTextEdit="1"/>
              </p:cNvSpPr>
              <p:nvPr>
                <p:ph idx="1"/>
              </p:nvPr>
            </p:nvSpPr>
            <p:spPr>
              <a:blipFill>
                <a:blip r:embed="rId2"/>
                <a:stretch>
                  <a:fillRect l="-603" t="-709" r="-48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3820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4E0A-51F5-F115-42B7-0D84B95D9EFE}"/>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4E27A85-8698-4C14-A008-A2C2986E4247}"/>
              </a:ext>
            </a:extLst>
          </p:cNvPr>
          <p:cNvSpPr>
            <a:spLocks noGrp="1"/>
          </p:cNvSpPr>
          <p:nvPr>
            <p:ph type="title"/>
          </p:nvPr>
        </p:nvSpPr>
        <p:spPr/>
        <p:txBody>
          <a:bodyPr>
            <a:normAutofit/>
          </a:bodyPr>
          <a:lstStyle/>
          <a:p>
            <a:r>
              <a:rPr lang="en-US" altLang="ja-JP" dirty="0"/>
              <a:t>OLS </a:t>
            </a:r>
            <a:r>
              <a:rPr lang="ja-JP" altLang="en-US"/>
              <a:t>推定量は「二重に頑健」</a:t>
            </a:r>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2F6838C0-51DD-EB2E-0E48-6DEA142CA372}"/>
                  </a:ext>
                </a:extLst>
              </p:cNvPr>
              <p:cNvSpPr>
                <a:spLocks noGrp="1"/>
              </p:cNvSpPr>
              <p:nvPr>
                <p:ph idx="1"/>
              </p:nvPr>
            </p:nvSpPr>
            <p:spPr/>
            <p:txBody>
              <a:bodyPr>
                <a:normAutofit/>
              </a:bodyPr>
              <a:lstStyle/>
              <a:p>
                <a:r>
                  <a:rPr lang="ja-JP" altLang="en-US"/>
                  <a:t>仮定：</a:t>
                </a:r>
                <a:br>
                  <a:rPr lang="en-US" altLang="ja-JP" dirty="0"/>
                </a:br>
                <a:endParaRPr lang="en-US" altLang="ja-JP" dirty="0"/>
              </a:p>
              <a:p>
                <a:pPr marL="0" indent="0" algn="ctr">
                  <a:buNone/>
                </a:pPr>
                <a:r>
                  <a:rPr lang="ja-JP" altLang="en-US"/>
                  <a:t>回帰関数</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 </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𝔼</m:t>
                    </m:r>
                    <m:d>
                      <m:dPr>
                        <m:begChr m:val="["/>
                        <m:endChr m:val="]"/>
                        <m:sepChr m:val="∣"/>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𝑌</m:t>
                        </m:r>
                      </m:e>
                      <m:e>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e>
                    </m:d>
                  </m:oMath>
                </a14:m>
                <a:r>
                  <a:rPr lang="ja-JP" altLang="en-US"/>
                  <a:t>とリース表現量</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𝛼</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𝐷</m:t>
                        </m:r>
                      </m:num>
                      <m:den>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𝑋</m:t>
                            </m:r>
                          </m:e>
                        </m:d>
                      </m:den>
                    </m:f>
                    <m:r>
                      <a:rPr lang="en-US" altLang="ja-JP" b="0" i="1" smtClean="0">
                        <a:latin typeface="Cambria Math" panose="02040503050406030204" pitchFamily="18" charset="0"/>
                      </a:rPr>
                      <m:t>−</m:t>
                    </m:r>
                    <m:f>
                      <m:fPr>
                        <m:ctrlPr>
                          <a:rPr lang="en-US" altLang="ja-JP" i="1">
                            <a:latin typeface="Cambria Math" panose="02040503050406030204" pitchFamily="18" charset="0"/>
                          </a:rPr>
                        </m:ctrlPr>
                      </m:fPr>
                      <m:num>
                        <m:r>
                          <a:rPr lang="en-US" altLang="ja-JP" b="0" i="1" smtClean="0">
                            <a:latin typeface="Cambria Math" panose="02040503050406030204" pitchFamily="18" charset="0"/>
                          </a:rPr>
                          <m:t>1−</m:t>
                        </m:r>
                        <m:r>
                          <a:rPr lang="en-US" altLang="ja-JP" i="1">
                            <a:latin typeface="Cambria Math" panose="02040503050406030204" pitchFamily="18" charset="0"/>
                          </a:rPr>
                          <m:t>𝐷</m:t>
                        </m:r>
                      </m:num>
                      <m:den>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1−</m:t>
                            </m:r>
                            <m:r>
                              <a:rPr lang="en-US" altLang="ja-JP" i="1">
                                <a:latin typeface="Cambria Math" panose="02040503050406030204" pitchFamily="18" charset="0"/>
                              </a:rPr>
                              <m:t>𝑒</m:t>
                            </m:r>
                          </m:e>
                          <m:sub>
                            <m:r>
                              <a:rPr lang="en-US" altLang="ja-JP" i="1">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𝑋</m:t>
                            </m:r>
                          </m:e>
                        </m:d>
                      </m:den>
                    </m:f>
                  </m:oMath>
                </a14:m>
                <a:r>
                  <a:rPr lang="ja-JP" altLang="en-US"/>
                  <a:t>を同じ基底で表現可能</a:t>
                </a:r>
                <a:br>
                  <a:rPr lang="en-US" altLang="ja-JP" dirty="0"/>
                </a:br>
                <a:endParaRPr lang="en-US" altLang="ja-JP" dirty="0"/>
              </a:p>
              <a:p>
                <a:pPr lvl="1"/>
                <a:r>
                  <a:rPr lang="ja-JP" altLang="en-US"/>
                  <a:t>つまり，適当なパラメータ</a:t>
                </a:r>
                <a:r>
                  <a:rPr lang="en-US" altLang="ja-JP" dirty="0"/>
                  <a:t> </a:t>
                </a:r>
                <a14:m>
                  <m:oMath xmlns:m="http://schemas.openxmlformats.org/officeDocument/2006/math">
                    <m:r>
                      <a:rPr lang="en-US" altLang="ja-JP" b="0" i="1" smtClean="0">
                        <a:latin typeface="Cambria Math" panose="02040503050406030204" pitchFamily="18" charset="0"/>
                      </a:rPr>
                      <m:t>𝛼</m:t>
                    </m:r>
                  </m:oMath>
                </a14:m>
                <a:r>
                  <a:rPr lang="en-US" altLang="ja-JP" dirty="0"/>
                  <a:t> </a:t>
                </a:r>
                <a:r>
                  <a:rPr lang="ja-JP" altLang="en-US"/>
                  <a:t>と</a:t>
                </a:r>
                <a:r>
                  <a:rPr lang="en-US" altLang="ja-JP" dirty="0"/>
                  <a:t> </a:t>
                </a:r>
                <a14:m>
                  <m:oMath xmlns:m="http://schemas.openxmlformats.org/officeDocument/2006/math">
                    <m:r>
                      <a:rPr lang="en-US" altLang="ja-JP" b="0" i="1" smtClean="0">
                        <a:latin typeface="Cambria Math" panose="02040503050406030204" pitchFamily="18" charset="0"/>
                      </a:rPr>
                      <m:t>𝛽</m:t>
                    </m:r>
                  </m:oMath>
                </a14:m>
                <a:r>
                  <a:rPr lang="en-US" altLang="ja-JP" dirty="0"/>
                  <a:t> </a:t>
                </a:r>
                <a:r>
                  <a:rPr lang="ja-JP" altLang="en-US" dirty="0"/>
                  <a:t>が</a:t>
                </a:r>
                <a:r>
                  <a:rPr lang="ja-JP" altLang="en-US"/>
                  <a:t>存在し、</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sSup>
                      <m:sSupPr>
                        <m:ctrlPr>
                          <a:rPr lang="en-US" altLang="ja-JP" i="1">
                            <a:latin typeface="Cambria Math" panose="02040503050406030204" pitchFamily="18" charset="0"/>
                          </a:rPr>
                        </m:ctrlPr>
                      </m:sSupPr>
                      <m:e>
                        <m:r>
                          <a:rPr lang="en-US" altLang="ja-JP" b="0" i="1" smtClean="0">
                            <a:latin typeface="Cambria Math" panose="02040503050406030204" pitchFamily="18" charset="0"/>
                          </a:rPr>
                          <m:t>𝛼</m:t>
                        </m:r>
                      </m:e>
                      <m:sup>
                        <m:r>
                          <a:rPr lang="en-US" altLang="ja-JP" i="1">
                            <a:latin typeface="Cambria Math" panose="02040503050406030204" pitchFamily="18" charset="0"/>
                          </a:rPr>
                          <m:t>⊤</m:t>
                        </m:r>
                      </m:sup>
                    </m:sSup>
                    <m:r>
                      <a:rPr lang="en-US" altLang="ja-JP" i="1">
                        <a:latin typeface="Cambria Math" panose="02040503050406030204" pitchFamily="18" charset="0"/>
                      </a:rPr>
                      <m:t>𝜓</m:t>
                    </m:r>
                    <m:d>
                      <m:dPr>
                        <m:ctrlPr>
                          <a:rPr lang="en-US" altLang="ja-JP" i="1">
                            <a:latin typeface="Cambria Math" panose="02040503050406030204" pitchFamily="18" charset="0"/>
                          </a:rPr>
                        </m:ctrlPr>
                      </m:dPr>
                      <m:e>
                        <m:r>
                          <a:rPr lang="en-US" altLang="ja-JP" i="1">
                            <a:latin typeface="Cambria Math" panose="02040503050406030204" pitchFamily="18" charset="0"/>
                          </a:rPr>
                          <m:t>𝑋</m:t>
                        </m:r>
                      </m:e>
                    </m:d>
                  </m:oMath>
                </a14:m>
                <a:r>
                  <a:rPr lang="en-US" altLang="ja-JP" dirty="0"/>
                  <a:t> </a:t>
                </a:r>
                <a:r>
                  <a:rPr lang="ja-JP" altLang="en-US"/>
                  <a:t>と</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𝛼</m:t>
                        </m:r>
                      </m:e>
                      <m:sub>
                        <m:r>
                          <a:rPr lang="en-US" altLang="ja-JP" b="0" i="1" smtClean="0">
                            <a:latin typeface="Cambria Math" panose="02040503050406030204" pitchFamily="18" charset="0"/>
                          </a:rPr>
                          <m:t>0</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𝐷</m:t>
                        </m:r>
                        <m:r>
                          <a:rPr lang="en-US" altLang="ja-JP" b="0" i="1" smtClean="0">
                            <a:latin typeface="Cambria Math" panose="02040503050406030204" pitchFamily="18" charset="0"/>
                          </a:rPr>
                          <m:t>,</m:t>
                        </m:r>
                        <m:r>
                          <a:rPr lang="en-US" altLang="ja-JP" b="0" i="1" smtClean="0">
                            <a:latin typeface="Cambria Math" panose="02040503050406030204" pitchFamily="18" charset="0"/>
                          </a:rPr>
                          <m:t>𝑋</m:t>
                        </m:r>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𝛽</m:t>
                        </m:r>
                      </m:e>
                      <m:sup>
                        <m:r>
                          <a:rPr lang="en-US" altLang="ja-JP" b="0" i="1" smtClean="0">
                            <a:latin typeface="Cambria Math" panose="02040503050406030204" pitchFamily="18" charset="0"/>
                          </a:rPr>
                          <m:t>⊤</m:t>
                        </m:r>
                      </m:sup>
                    </m:sSup>
                    <m:r>
                      <a:rPr lang="en-US" altLang="ja-JP" i="1">
                        <a:latin typeface="Cambria Math" panose="02040503050406030204" pitchFamily="18" charset="0"/>
                      </a:rPr>
                      <m:t>𝜓</m:t>
                    </m:r>
                    <m:d>
                      <m:dPr>
                        <m:ctrlPr>
                          <a:rPr lang="en-US" altLang="ja-JP" i="1">
                            <a:latin typeface="Cambria Math" panose="02040503050406030204" pitchFamily="18" charset="0"/>
                          </a:rPr>
                        </m:ctrlPr>
                      </m:dPr>
                      <m:e>
                        <m:r>
                          <a:rPr lang="en-US" altLang="ja-JP" i="1">
                            <a:latin typeface="Cambria Math" panose="02040503050406030204" pitchFamily="18" charset="0"/>
                          </a:rPr>
                          <m:t>𝑋</m:t>
                        </m:r>
                      </m:e>
                    </m:d>
                  </m:oMath>
                </a14:m>
                <a:r>
                  <a:rPr lang="en-US" altLang="ja-JP" dirty="0"/>
                  <a:t> </a:t>
                </a:r>
                <a:r>
                  <a:rPr lang="ja-JP" altLang="en-US" dirty="0"/>
                  <a:t>が成立</a:t>
                </a:r>
                <a:endParaRPr lang="en-US" altLang="ja-JP" dirty="0"/>
              </a:p>
              <a:p>
                <a:endParaRPr lang="en-US" altLang="ja-JP" dirty="0"/>
              </a:p>
              <a:p>
                <a:r>
                  <a:rPr lang="ja-JP" altLang="en-US"/>
                  <a:t>このとき、以下が成り立つ：</a:t>
                </a:r>
                <a:br>
                  <a:rPr lang="en-US" altLang="ja-JP" dirty="0"/>
                </a:br>
                <a:endParaRPr lang="en-US" altLang="ja-JP" dirty="0"/>
              </a:p>
              <a:p>
                <a:pPr marL="0" indent="0" algn="ctr">
                  <a:buNone/>
                </a:pPr>
                <a:r>
                  <a:rPr lang="en-US" altLang="ja-JP" dirty="0"/>
                  <a:t>RA</a:t>
                </a:r>
                <a:r>
                  <a:rPr lang="ja-JP" altLang="en-US"/>
                  <a:t>推定量</a:t>
                </a:r>
                <a:r>
                  <a:rPr lang="en-US" altLang="ja-JP" dirty="0"/>
                  <a:t> = IPW </a:t>
                </a:r>
                <a:r>
                  <a:rPr lang="ja-JP" altLang="en-US"/>
                  <a:t>推定量</a:t>
                </a:r>
                <a:r>
                  <a:rPr lang="en-US" altLang="ja-JP" dirty="0"/>
                  <a:t> = AIPW </a:t>
                </a:r>
                <a:r>
                  <a:rPr lang="ja-JP" altLang="en-US"/>
                  <a:t>推定量</a:t>
                </a:r>
                <a:endParaRPr lang="en-US" altLang="ja-JP" dirty="0"/>
              </a:p>
              <a:p>
                <a:endParaRPr lang="en-US" altLang="ja-JP" dirty="0"/>
              </a:p>
              <a:p>
                <a:pPr lvl="1"/>
                <a:r>
                  <a:rPr lang="ja-JP" altLang="en-US"/>
                  <a:t>ただし、回帰関数</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0</m:t>
                        </m:r>
                      </m:sub>
                    </m:sSub>
                  </m:oMath>
                </a14:m>
                <a:r>
                  <a:rPr lang="en-US" altLang="ja-JP" dirty="0"/>
                  <a:t> </a:t>
                </a:r>
                <a:r>
                  <a:rPr lang="ja-JP" altLang="en-US"/>
                  <a:t>と</a:t>
                </a:r>
                <a:r>
                  <a:rPr lang="en-US" altLang="ja-JP" dirty="0"/>
                  <a:t> </a:t>
                </a:r>
                <a:r>
                  <a:rPr lang="ja-JP" altLang="en-US"/>
                  <a:t>リース表現量</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𝛼</m:t>
                        </m:r>
                      </m:e>
                      <m:sub>
                        <m:r>
                          <a:rPr lang="en-US" altLang="ja-JP" b="0" i="1" smtClean="0">
                            <a:latin typeface="Cambria Math" panose="02040503050406030204" pitchFamily="18" charset="0"/>
                          </a:rPr>
                          <m:t>0</m:t>
                        </m:r>
                      </m:sub>
                    </m:sSub>
                  </m:oMath>
                </a14:m>
                <a:r>
                  <a:rPr lang="en-US" altLang="ja-JP" dirty="0"/>
                  <a:t> </a:t>
                </a:r>
                <a:r>
                  <a:rPr lang="ja-JP" altLang="en-US" dirty="0"/>
                  <a:t>は</a:t>
                </a:r>
                <a:r>
                  <a:rPr lang="ja-JP" altLang="en-US"/>
                  <a:t>基底を用いる</a:t>
                </a:r>
                <a:r>
                  <a:rPr lang="en-US" altLang="ja-JP" dirty="0"/>
                  <a:t>OLS</a:t>
                </a:r>
                <a:r>
                  <a:rPr lang="ja-JP" altLang="en-US"/>
                  <a:t>で推定する（推定するなら）</a:t>
                </a:r>
                <a:endParaRPr lang="en-US" altLang="ja-JP" dirty="0"/>
              </a:p>
              <a:p>
                <a:pPr lvl="2"/>
                <a:r>
                  <a:rPr lang="en-US" altLang="ja-JP" dirty="0"/>
                  <a:t>RA </a:t>
                </a:r>
                <a:r>
                  <a:rPr lang="ja-JP" altLang="en-US"/>
                  <a:t>推定量ではリース表現量を実際に推定する必要なく、</a:t>
                </a:r>
                <a:endParaRPr lang="en-US" altLang="ja-JP" dirty="0"/>
              </a:p>
              <a:p>
                <a:pPr lvl="2"/>
                <a:r>
                  <a:rPr lang="en-US" altLang="ja-JP" dirty="0"/>
                  <a:t>IPW </a:t>
                </a:r>
                <a:r>
                  <a:rPr lang="ja-JP" altLang="en-US"/>
                  <a:t>推定量では回帰関数を実際に推定する必要はない</a:t>
                </a:r>
                <a:endParaRPr lang="en-US" altLang="ja-JP" dirty="0"/>
              </a:p>
              <a:p>
                <a:pPr lvl="3"/>
                <a:r>
                  <a:rPr lang="ja-JP" altLang="en-US"/>
                  <a:t>仮想的に</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𝐷</m:t>
                        </m:r>
                        <m:r>
                          <a:rPr lang="en-US" altLang="ja-JP" i="1">
                            <a:latin typeface="Cambria Math" panose="02040503050406030204" pitchFamily="18" charset="0"/>
                          </a:rPr>
                          <m:t>,</m:t>
                        </m:r>
                        <m:r>
                          <a:rPr lang="en-US" altLang="ja-JP" i="1">
                            <a:latin typeface="Cambria Math" panose="02040503050406030204" pitchFamily="18" charset="0"/>
                          </a:rPr>
                          <m:t>𝑋</m:t>
                        </m:r>
                      </m:e>
                    </m:d>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𝛼</m:t>
                        </m:r>
                      </m:e>
                      <m:sup>
                        <m:r>
                          <a:rPr lang="en-US" altLang="ja-JP" i="1">
                            <a:latin typeface="Cambria Math" panose="02040503050406030204" pitchFamily="18" charset="0"/>
                          </a:rPr>
                          <m:t>⊤</m:t>
                        </m:r>
                      </m:sup>
                    </m:sSup>
                    <m:r>
                      <a:rPr lang="en-US" altLang="ja-JP" i="1">
                        <a:latin typeface="Cambria Math" panose="02040503050406030204" pitchFamily="18" charset="0"/>
                      </a:rPr>
                      <m:t>𝜓</m:t>
                    </m:r>
                    <m:d>
                      <m:dPr>
                        <m:ctrlPr>
                          <a:rPr lang="en-US" altLang="ja-JP" i="1">
                            <a:latin typeface="Cambria Math" panose="02040503050406030204" pitchFamily="18" charset="0"/>
                          </a:rPr>
                        </m:ctrlPr>
                      </m:dPr>
                      <m:e>
                        <m:r>
                          <a:rPr lang="en-US" altLang="ja-JP" i="1">
                            <a:latin typeface="Cambria Math" panose="02040503050406030204" pitchFamily="18" charset="0"/>
                          </a:rPr>
                          <m:t>𝑋</m:t>
                        </m:r>
                      </m:e>
                    </m:d>
                  </m:oMath>
                </a14:m>
                <a:r>
                  <a:rPr lang="en-US" altLang="ja-JP" dirty="0"/>
                  <a:t> </a:t>
                </a:r>
                <a:r>
                  <a:rPr lang="ja-JP" altLang="en-US"/>
                  <a:t>と</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0</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𝐷</m:t>
                        </m:r>
                        <m:r>
                          <a:rPr lang="en-US" altLang="ja-JP" i="1">
                            <a:latin typeface="Cambria Math" panose="02040503050406030204" pitchFamily="18" charset="0"/>
                          </a:rPr>
                          <m:t>,</m:t>
                        </m:r>
                        <m:r>
                          <a:rPr lang="en-US" altLang="ja-JP" i="1">
                            <a:latin typeface="Cambria Math" panose="02040503050406030204" pitchFamily="18" charset="0"/>
                          </a:rPr>
                          <m:t>𝑋</m:t>
                        </m:r>
                      </m:e>
                    </m:d>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𝛽</m:t>
                        </m:r>
                      </m:e>
                      <m:sup>
                        <m:r>
                          <a:rPr lang="en-US" altLang="ja-JP" i="1">
                            <a:latin typeface="Cambria Math" panose="02040503050406030204" pitchFamily="18" charset="0"/>
                          </a:rPr>
                          <m:t>⊤</m:t>
                        </m:r>
                      </m:sup>
                    </m:sSup>
                    <m:r>
                      <a:rPr lang="en-US" altLang="ja-JP" i="1">
                        <a:latin typeface="Cambria Math" panose="02040503050406030204" pitchFamily="18" charset="0"/>
                      </a:rPr>
                      <m:t>𝜓</m:t>
                    </m:r>
                    <m:d>
                      <m:dPr>
                        <m:ctrlPr>
                          <a:rPr lang="en-US" altLang="ja-JP" i="1">
                            <a:latin typeface="Cambria Math" panose="02040503050406030204" pitchFamily="18" charset="0"/>
                          </a:rPr>
                        </m:ctrlPr>
                      </m:dPr>
                      <m:e>
                        <m:r>
                          <a:rPr lang="en-US" altLang="ja-JP" i="1">
                            <a:latin typeface="Cambria Math" panose="02040503050406030204" pitchFamily="18" charset="0"/>
                          </a:rPr>
                          <m:t>𝑋</m:t>
                        </m:r>
                      </m:e>
                    </m:d>
                  </m:oMath>
                </a14:m>
                <a:r>
                  <a:rPr lang="en-US" altLang="ja-JP" dirty="0"/>
                  <a:t> </a:t>
                </a:r>
                <a:r>
                  <a:rPr lang="ja-JP" altLang="en-US" dirty="0"/>
                  <a:t>で</a:t>
                </a:r>
                <a:r>
                  <a:rPr lang="ja-JP" altLang="en-US"/>
                  <a:t>あれば良い</a:t>
                </a:r>
                <a:endParaRPr lang="en-US" altLang="ja-JP" dirty="0"/>
              </a:p>
              <a:p>
                <a:pPr lvl="2"/>
                <a:endParaRPr lang="en-US" altLang="ja-JP" dirty="0"/>
              </a:p>
            </p:txBody>
          </p:sp>
        </mc:Choice>
        <mc:Fallback xmlns="">
          <p:sp>
            <p:nvSpPr>
              <p:cNvPr id="7" name="コンテンツ プレースホルダー 6">
                <a:extLst>
                  <a:ext uri="{FF2B5EF4-FFF2-40B4-BE49-F238E27FC236}">
                    <a16:creationId xmlns:a16="http://schemas.microsoft.com/office/drawing/2014/main" id="{2F6838C0-51DD-EB2E-0E48-6DEA142CA372}"/>
                  </a:ext>
                </a:extLst>
              </p:cNvPr>
              <p:cNvSpPr>
                <a:spLocks noGrp="1" noRot="1" noChangeAspect="1" noMove="1" noResize="1" noEditPoints="1" noAdjustHandles="1" noChangeArrowheads="1" noChangeShapeType="1" noTextEdit="1"/>
              </p:cNvSpPr>
              <p:nvPr>
                <p:ph idx="1"/>
              </p:nvPr>
            </p:nvSpPr>
            <p:spPr>
              <a:blipFill>
                <a:blip r:embed="rId2"/>
                <a:stretch>
                  <a:fillRect l="-483" t="-47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06430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BE67B-8395-B24B-9F63-48AE7B21604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6F19221-4C06-40E8-38BA-3F39B984519D}"/>
              </a:ext>
            </a:extLst>
          </p:cNvPr>
          <p:cNvSpPr>
            <a:spLocks noGrp="1"/>
          </p:cNvSpPr>
          <p:nvPr>
            <p:ph type="title"/>
          </p:nvPr>
        </p:nvSpPr>
        <p:spPr/>
        <p:txBody>
          <a:bodyPr>
            <a:normAutofit/>
          </a:bodyPr>
          <a:lstStyle/>
          <a:p>
            <a:r>
              <a:rPr lang="ja-JP" altLang="en-US"/>
              <a:t>標的最尤推定</a:t>
            </a:r>
            <a:endParaRPr lang="ja-JP" altLang="en-US">
              <a:latin typeface="Noto Sans JP" panose="020B0200000000000000" pitchFamily="34" charset="-128"/>
            </a:endParaRPr>
          </a:p>
        </p:txBody>
      </p:sp>
      <mc:AlternateContent xmlns:mc="http://schemas.openxmlformats.org/markup-compatibility/2006">
        <mc:Choice xmlns:a14="http://schemas.microsoft.com/office/drawing/2010/main" Requires="a14">
          <p:sp>
            <p:nvSpPr>
              <p:cNvPr id="7" name="コンテンツ プレースホルダー 6">
                <a:extLst>
                  <a:ext uri="{FF2B5EF4-FFF2-40B4-BE49-F238E27FC236}">
                    <a16:creationId xmlns:a16="http://schemas.microsoft.com/office/drawing/2014/main" id="{54586E7A-9177-0C27-A285-888985018ED5}"/>
                  </a:ext>
                </a:extLst>
              </p:cNvPr>
              <p:cNvSpPr>
                <a:spLocks noGrp="1"/>
              </p:cNvSpPr>
              <p:nvPr>
                <p:ph idx="1"/>
              </p:nvPr>
            </p:nvSpPr>
            <p:spPr/>
            <p:txBody>
              <a:bodyPr>
                <a:normAutofit/>
              </a:bodyPr>
              <a:lstStyle/>
              <a:p>
                <a:pPr>
                  <a:buFont typeface="Wingdings" pitchFamily="2" charset="2"/>
                  <a:buChar char="Ø"/>
                </a:pPr>
                <a:r>
                  <a:rPr lang="ja-JP" altLang="en-US" sz="2000" b="1"/>
                  <a:t>標的最尤推定（</a:t>
                </a:r>
                <a:r>
                  <a:rPr lang="en-US" altLang="ja-JP" sz="2000" b="1" dirty="0"/>
                  <a:t>Targeted Maximum Likelihood</a:t>
                </a:r>
                <a:r>
                  <a:rPr lang="ja-JP" altLang="en-US" sz="2000" b="1"/>
                  <a:t>；</a:t>
                </a:r>
                <a:r>
                  <a:rPr lang="en-US" altLang="ja-JP" sz="2000" b="1" dirty="0"/>
                  <a:t>TMLE</a:t>
                </a:r>
                <a:r>
                  <a:rPr lang="ja-JP" altLang="en-US" sz="2000" b="1"/>
                  <a:t>）</a:t>
                </a:r>
                <a:endParaRPr lang="en-US" altLang="ja-JP" sz="2000" b="1" dirty="0"/>
              </a:p>
              <a:p>
                <a:pPr lvl="1">
                  <a:buClr>
                    <a:schemeClr val="tx1"/>
                  </a:buClr>
                </a:pPr>
                <a:r>
                  <a:rPr lang="ja-JP" altLang="en-US" sz="2000"/>
                  <a:t>ステップ１．回帰調整推定量を構築：</a:t>
                </a:r>
                <a:endParaRPr lang="en-US" altLang="ja-JP" sz="2000" dirty="0"/>
              </a:p>
              <a:p>
                <a:pPr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𝜃</m:t>
                              </m:r>
                            </m:e>
                          </m:acc>
                        </m:e>
                        <m:sub>
                          <m:r>
                            <a:rPr lang="en-US" altLang="ja-JP" sz="2000" i="1">
                              <a:latin typeface="Cambria Math" panose="02040503050406030204" pitchFamily="18" charset="0"/>
                            </a:rPr>
                            <m:t>𝑛</m:t>
                          </m:r>
                        </m:sub>
                        <m:sup>
                          <m:r>
                            <m:rPr>
                              <m:sty m:val="p"/>
                            </m:rPr>
                            <a:rPr lang="en-US" altLang="ja-JP" sz="2000">
                              <a:latin typeface="Cambria Math" panose="02040503050406030204" pitchFamily="18" charset="0"/>
                            </a:rPr>
                            <m:t>RA</m:t>
                          </m:r>
                        </m:sup>
                      </m:sSubSup>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𝑛</m:t>
                          </m:r>
                        </m:den>
                      </m:f>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d>
                                <m:dPr>
                                  <m:ctrlPr>
                                    <a:rPr lang="en-US" altLang="ja-JP" sz="2000" i="1">
                                      <a:latin typeface="Cambria Math" panose="02040503050406030204" pitchFamily="18" charset="0"/>
                                    </a:rPr>
                                  </m:ctrlPr>
                                </m:dPr>
                                <m:e>
                                  <m:r>
                                    <a:rPr lang="en-US" altLang="ja-JP" sz="2000" i="1">
                                      <a:latin typeface="Cambria Math" panose="02040503050406030204" pitchFamily="18" charset="0"/>
                                    </a:rPr>
                                    <m:t>1, 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m:rPr>
                                  <m:nor/>
                                </m:rPr>
                                <a:rPr lang="en-US" altLang="ja-JP" sz="2000" dirty="0"/>
                                <m:t> −</m:t>
                              </m:r>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e>
                          </m:d>
                        </m:e>
                      </m:nary>
                      <m:r>
                        <a:rPr lang="en-US" altLang="ja-JP" sz="2000" i="1">
                          <a:latin typeface="Cambria Math" panose="02040503050406030204" pitchFamily="18" charset="0"/>
                        </a:rPr>
                        <m:t>.</m:t>
                      </m:r>
                    </m:oMath>
                  </m:oMathPara>
                </a14:m>
                <a:endParaRPr lang="en-US" altLang="ja-JP" sz="2000" dirty="0"/>
              </a:p>
              <a:p>
                <a:pPr lvl="1"/>
                <a:r>
                  <a:rPr lang="ja-JP" altLang="en-US" sz="2000"/>
                  <a:t>ステップ２．標的化更新</a:t>
                </a:r>
                <a:endParaRPr lang="en-US" altLang="ja-JP" sz="2000" dirty="0"/>
              </a:p>
              <a:p>
                <a:pPr lvl="1"/>
                <a:endParaRPr lang="en-US" altLang="ja-JP" sz="2000" dirty="0"/>
              </a:p>
              <a:p>
                <a:pPr marL="397800" lvl="1" indent="0">
                  <a:buNone/>
                </a:pPr>
                <a14:m>
                  <m:oMathPara xmlns:m="http://schemas.openxmlformats.org/officeDocument/2006/math">
                    <m:oMathParaPr>
                      <m:jc m:val="centerGroup"/>
                    </m:oMathParaPr>
                    <m:oMath xmlns:m="http://schemas.openxmlformats.org/officeDocument/2006/math">
                      <m:sSup>
                        <m:sSupPr>
                          <m:ctrlPr>
                            <a:rPr lang="en-US" altLang="ja-JP" sz="2000" i="1">
                              <a:latin typeface="Cambria Math" panose="02040503050406030204" pitchFamily="18" charset="0"/>
                            </a:rPr>
                          </m:ctrlPr>
                        </m:s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𝑑</m:t>
                          </m:r>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a:rPr lang="ja-JP" altLang="en-US" sz="2000" i="1">
                          <a:latin typeface="Cambria Math" panose="02040503050406030204" pitchFamily="18" charset="0"/>
                        </a:rPr>
                        <m:t>←</m:t>
                      </m:r>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𝑓</m:t>
                          </m:r>
                        </m:e>
                      </m:acc>
                      <m:d>
                        <m:dPr>
                          <m:ctrlPr>
                            <a:rPr lang="en-US" altLang="ja-JP" sz="2000" i="1">
                              <a:latin typeface="Cambria Math" panose="02040503050406030204" pitchFamily="18" charset="0"/>
                            </a:rPr>
                          </m:ctrlPr>
                        </m:dPr>
                        <m:e>
                          <m:r>
                            <a:rPr lang="en-US" altLang="ja-JP" sz="2000" i="1">
                              <a:latin typeface="Cambria Math" panose="02040503050406030204" pitchFamily="18" charset="0"/>
                            </a:rPr>
                            <m:t>𝑑</m:t>
                          </m:r>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e>
                      </m:d>
                      <m:r>
                        <a:rPr lang="en-US" altLang="ja-JP" sz="2000" i="1">
                          <a:latin typeface="Cambria Math" panose="02040503050406030204" pitchFamily="18" charset="0"/>
                        </a:rPr>
                        <m:t>+</m:t>
                      </m:r>
                      <m:r>
                        <a:rPr lang="en-US" altLang="ja-JP" sz="2000" i="1">
                          <a:latin typeface="Cambria Math" panose="02040503050406030204" pitchFamily="18" charset="0"/>
                        </a:rPr>
                        <m:t>𝜉</m:t>
                      </m:r>
                      <m:r>
                        <a:rPr lang="en-US" altLang="ja-JP" sz="2000" i="1">
                          <a:latin typeface="Cambria Math" panose="02040503050406030204" pitchFamily="18" charset="0"/>
                        </a:rPr>
                        <m:t>(</m:t>
                      </m:r>
                      <m:r>
                        <a:rPr lang="en-US" altLang="ja-JP" sz="2000" i="1">
                          <a:latin typeface="Cambria Math" panose="02040503050406030204" pitchFamily="18" charset="0"/>
                        </a:rPr>
                        <m:t>𝑑</m:t>
                      </m:r>
                      <m:r>
                        <a:rPr lang="en-US" altLang="ja-JP" sz="2000" i="1">
                          <a:latin typeface="Cambria Math" panose="02040503050406030204" pitchFamily="18" charset="0"/>
                        </a:rPr>
                        <m:t>)</m:t>
                      </m:r>
                    </m:oMath>
                  </m:oMathPara>
                </a14:m>
                <a:endParaRPr lang="en-US" altLang="ja-JP" sz="2000" dirty="0"/>
              </a:p>
              <a:p>
                <a:pPr marL="397800" lvl="1" indent="0">
                  <a:buNone/>
                </a:pPr>
                <a:endParaRPr lang="en-US" altLang="ja-JP" sz="2000" dirty="0"/>
              </a:p>
              <a:p>
                <a:pPr lvl="2"/>
                <a14:m>
                  <m:oMath xmlns:m="http://schemas.openxmlformats.org/officeDocument/2006/math">
                    <m:r>
                      <a:rPr lang="en-US" altLang="ja-JP" sz="2000" i="1">
                        <a:latin typeface="Cambria Math" panose="02040503050406030204" pitchFamily="18" charset="0"/>
                      </a:rPr>
                      <m:t>𝜉</m:t>
                    </m:r>
                    <m:r>
                      <a:rPr lang="en-US" altLang="ja-JP" sz="2000" i="1">
                        <a:latin typeface="Cambria Math" panose="02040503050406030204" pitchFamily="18" charset="0"/>
                      </a:rPr>
                      <m:t>(</m:t>
                    </m:r>
                    <m:r>
                      <a:rPr lang="en-US" altLang="ja-JP" sz="2000" i="1">
                        <a:latin typeface="Cambria Math" panose="02040503050406030204" pitchFamily="18" charset="0"/>
                      </a:rPr>
                      <m:t>𝑑</m:t>
                    </m:r>
                    <m:r>
                      <a:rPr lang="en-US" altLang="ja-JP" sz="2000" i="1">
                        <a:latin typeface="Cambria Math" panose="02040503050406030204" pitchFamily="18" charset="0"/>
                      </a:rPr>
                      <m:t>)</m:t>
                    </m:r>
                  </m:oMath>
                </a14:m>
                <a:r>
                  <a:rPr lang="ja-JP" altLang="en-US" sz="2000" dirty="0"/>
                  <a:t>はネイマン直交性を満たす</a:t>
                </a:r>
                <a:r>
                  <a:rPr lang="ja-JP" altLang="en-US" sz="2000"/>
                  <a:t>ように追加される</a:t>
                </a:r>
                <a:endParaRPr lang="en-US" altLang="ja-JP" sz="2000" dirty="0"/>
              </a:p>
              <a:p>
                <a:endParaRPr lang="ja-JP" altLang="en-US" sz="2000"/>
              </a:p>
            </p:txBody>
          </p:sp>
        </mc:Choice>
        <mc:Fallback>
          <p:sp>
            <p:nvSpPr>
              <p:cNvPr id="7" name="コンテンツ プレースホルダー 6">
                <a:extLst>
                  <a:ext uri="{FF2B5EF4-FFF2-40B4-BE49-F238E27FC236}">
                    <a16:creationId xmlns:a16="http://schemas.microsoft.com/office/drawing/2014/main" id="{54586E7A-9177-0C27-A285-888985018ED5}"/>
                  </a:ext>
                </a:extLst>
              </p:cNvPr>
              <p:cNvSpPr>
                <a:spLocks noGrp="1" noRot="1" noChangeAspect="1" noMove="1" noResize="1" noEditPoints="1" noAdjustHandles="1" noChangeArrowheads="1" noChangeShapeType="1" noTextEdit="1"/>
              </p:cNvSpPr>
              <p:nvPr>
                <p:ph idx="1"/>
              </p:nvPr>
            </p:nvSpPr>
            <p:spPr>
              <a:blipFill>
                <a:blip r:embed="rId2"/>
                <a:stretch>
                  <a:fillRect l="-603" t="-591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05427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E067-EA8C-4F14-0C38-9CE65D5032B2}"/>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812045F7-507D-9879-A9E7-7ABFDBF78EB9}"/>
              </a:ext>
            </a:extLst>
          </p:cNvPr>
          <p:cNvSpPr>
            <a:spLocks noGrp="1"/>
          </p:cNvSpPr>
          <p:nvPr>
            <p:ph type="title"/>
          </p:nvPr>
        </p:nvSpPr>
        <p:spPr/>
        <p:txBody>
          <a:bodyPr>
            <a:normAutofit/>
          </a:bodyPr>
          <a:lstStyle/>
          <a:p>
            <a:r>
              <a:rPr lang="ja-JP" altLang="en-US">
                <a:latin typeface="Noto Sans JP" panose="020B0200000000000000" pitchFamily="34" charset="-128"/>
              </a:rPr>
              <a:t>マッチング推定量</a:t>
            </a:r>
          </a:p>
        </p:txBody>
      </p:sp>
      <mc:AlternateContent xmlns:mc="http://schemas.openxmlformats.org/markup-compatibility/2006">
        <mc:Choice xmlns:a14="http://schemas.microsoft.com/office/drawing/2010/main" Requires="a14">
          <p:sp>
            <p:nvSpPr>
              <p:cNvPr id="7" name="コンテンツ プレースホルダー 6">
                <a:extLst>
                  <a:ext uri="{FF2B5EF4-FFF2-40B4-BE49-F238E27FC236}">
                    <a16:creationId xmlns:a16="http://schemas.microsoft.com/office/drawing/2014/main" id="{6EB54490-0257-6572-1DEB-B7C0C2977822}"/>
                  </a:ext>
                </a:extLst>
              </p:cNvPr>
              <p:cNvSpPr>
                <a:spLocks noGrp="1"/>
              </p:cNvSpPr>
              <p:nvPr>
                <p:ph idx="1"/>
              </p:nvPr>
            </p:nvSpPr>
            <p:spPr/>
            <p:txBody>
              <a:bodyPr>
                <a:normAutofit/>
              </a:bodyPr>
              <a:lstStyle/>
              <a:p>
                <a:pPr>
                  <a:buFont typeface="Wingdings" pitchFamily="2" charset="2"/>
                  <a:buChar char="Ø"/>
                </a:pPr>
                <a:r>
                  <a:rPr lang="ja-JP" altLang="en-US" sz="2000">
                    <a:latin typeface="Cambria Math" panose="02040503050406030204" pitchFamily="18" charset="0"/>
                  </a:rPr>
                  <a:t>マッチング推定量：</a:t>
                </a:r>
                <a:endParaRPr lang="en-US" altLang="ja-JP" sz="2000" dirty="0">
                  <a:latin typeface="Cambria Math" panose="02040503050406030204" pitchFamily="18" charset="0"/>
                </a:endParaRPr>
              </a:p>
              <a:p>
                <a:pPr lvl="1"/>
                <a:r>
                  <a:rPr lang="ja-JP" altLang="en-US" sz="2000">
                    <a:latin typeface="Cambria Math" panose="02040503050406030204" pitchFamily="18" charset="0"/>
                  </a:rPr>
                  <a:t>似た個体同士を「マッチング」させることで未観測アウトカムを補完．</a:t>
                </a:r>
                <a:endParaRPr lang="en-US" altLang="ja-JP" sz="2000" dirty="0">
                  <a:latin typeface="Cambria Math" panose="02040503050406030204" pitchFamily="18" charset="0"/>
                </a:endParaRPr>
              </a:p>
              <a:p>
                <a:pPr lvl="1"/>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𝐽</m:t>
                        </m:r>
                      </m:e>
                      <m:sub>
                        <m:r>
                          <a:rPr lang="en-US" altLang="ja-JP" sz="2000" i="1">
                            <a:latin typeface="Cambria Math" panose="02040503050406030204" pitchFamily="18" charset="0"/>
                          </a:rPr>
                          <m:t>𝑀</m:t>
                        </m:r>
                      </m:sub>
                    </m:sSub>
                    <m:r>
                      <a:rPr lang="en-US" altLang="ja-JP" sz="2000" i="1">
                        <a:latin typeface="Cambria Math" panose="02040503050406030204" pitchFamily="18" charset="0"/>
                      </a:rPr>
                      <m:t>(</m:t>
                    </m:r>
                    <m:r>
                      <a:rPr lang="en-US" altLang="ja-JP" sz="2000" i="1">
                        <a:latin typeface="Cambria Math" panose="02040503050406030204" pitchFamily="18" charset="0"/>
                      </a:rPr>
                      <m:t>𝑖</m:t>
                    </m:r>
                    <m:r>
                      <a:rPr lang="en-US" altLang="ja-JP" sz="2000" i="1">
                        <a:latin typeface="Cambria Math" panose="02040503050406030204" pitchFamily="18" charset="0"/>
                      </a:rPr>
                      <m:t>)</m:t>
                    </m:r>
                  </m:oMath>
                </a14:m>
                <a:r>
                  <a:rPr lang="ja-JP" altLang="en-US" sz="2000"/>
                  <a:t>を以下のような条件を満たす</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𝑍</m:t>
                        </m:r>
                      </m:e>
                      <m:sub>
                        <m:r>
                          <a:rPr lang="en-US" altLang="ja-JP" sz="2000" i="1">
                            <a:latin typeface="Cambria Math" panose="02040503050406030204" pitchFamily="18" charset="0"/>
                          </a:rPr>
                          <m:t>𝑖</m:t>
                        </m:r>
                      </m:sub>
                    </m:sSub>
                  </m:oMath>
                </a14:m>
                <a:r>
                  <a:rPr lang="ja-JP" altLang="en-US" sz="2000" dirty="0"/>
                  <a:t>の</a:t>
                </a:r>
                <a:r>
                  <a:rPr lang="ja-JP" altLang="en-US" sz="2000"/>
                  <a:t>近傍の個体</a:t>
                </a:r>
                <a14:m>
                  <m:oMath xmlns:m="http://schemas.openxmlformats.org/officeDocument/2006/math">
                    <m:r>
                      <a:rPr lang="en-US" altLang="ja-JP" sz="2000" i="1">
                        <a:latin typeface="Cambria Math" panose="02040503050406030204" pitchFamily="18" charset="0"/>
                      </a:rPr>
                      <m:t>𝑗</m:t>
                    </m:r>
                  </m:oMath>
                </a14:m>
                <a:r>
                  <a:rPr lang="ja-JP" altLang="en-US" sz="2000" dirty="0"/>
                  <a:t>を</a:t>
                </a:r>
                <a14:m>
                  <m:oMath xmlns:m="http://schemas.openxmlformats.org/officeDocument/2006/math">
                    <m:r>
                      <a:rPr lang="en-US" altLang="ja-JP" sz="2000" i="1" dirty="0">
                        <a:latin typeface="Cambria Math" panose="02040503050406030204" pitchFamily="18" charset="0"/>
                      </a:rPr>
                      <m:t>𝑀</m:t>
                    </m:r>
                  </m:oMath>
                </a14:m>
                <a:r>
                  <a:rPr lang="ja-JP" altLang="en-US" sz="2000"/>
                  <a:t>個集めた集合とする：</a:t>
                </a:r>
                <a:endParaRPr lang="en-US" altLang="ja-JP" sz="2000" dirty="0"/>
              </a:p>
              <a:p>
                <a:pPr lvl="2"/>
                <a:r>
                  <a:rPr lang="ja-JP" altLang="en-US" sz="2000"/>
                  <a:t>個体</a:t>
                </a:r>
                <a14:m>
                  <m:oMath xmlns:m="http://schemas.openxmlformats.org/officeDocument/2006/math">
                    <m:r>
                      <a:rPr lang="en-US" altLang="ja-JP" sz="2000" i="1">
                        <a:latin typeface="Cambria Math" panose="02040503050406030204" pitchFamily="18" charset="0"/>
                      </a:rPr>
                      <m:t>𝑗</m:t>
                    </m:r>
                  </m:oMath>
                </a14:m>
                <a:r>
                  <a:rPr lang="ja-JP" altLang="en-US" sz="2000"/>
                  <a:t>は</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𝑍</m:t>
                        </m:r>
                      </m:e>
                      <m:sub>
                        <m:r>
                          <a:rPr lang="en-US" altLang="ja-JP" sz="2000" i="1">
                            <a:latin typeface="Cambria Math" panose="02040503050406030204" pitchFamily="18" charset="0"/>
                          </a:rPr>
                          <m:t>𝑖</m:t>
                        </m:r>
                      </m:sub>
                    </m:sSub>
                  </m:oMath>
                </a14:m>
                <a:r>
                  <a:rPr lang="ja-JP" altLang="en-US" sz="2000">
                    <a:latin typeface="Cambria Math" panose="02040503050406030204" pitchFamily="18" charset="0"/>
                  </a:rPr>
                  <a:t>と近い共変量を持ち，</a:t>
                </a:r>
                <a:endParaRPr lang="en-US" altLang="ja-JP" sz="2000" dirty="0">
                  <a:latin typeface="Cambria Math" panose="02040503050406030204" pitchFamily="18" charset="0"/>
                </a:endParaRPr>
              </a:p>
              <a:p>
                <a:pPr lvl="2"/>
                <a14:m>
                  <m:oMath xmlns:m="http://schemas.openxmlformats.org/officeDocument/2006/math">
                    <m:r>
                      <a:rPr lang="en-US" altLang="ja-JP" sz="2000" i="1">
                        <a:latin typeface="Cambria Math" panose="02040503050406030204" pitchFamily="18" charset="0"/>
                      </a:rPr>
                      <m:t>𝑖</m:t>
                    </m:r>
                  </m:oMath>
                </a14:m>
                <a:r>
                  <a:rPr lang="ja-JP" altLang="en-US" sz="2000"/>
                  <a:t>とは異なる処置を受けている（</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𝑗</m:t>
                        </m:r>
                      </m:sub>
                    </m:sSub>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oMath>
                </a14:m>
                <a:r>
                  <a:rPr lang="ja-JP" altLang="en-US" sz="2000"/>
                  <a:t>）．</a:t>
                </a:r>
                <a:endParaRPr lang="en-US" altLang="ja-JP" sz="2000" dirty="0"/>
              </a:p>
              <a:p>
                <a:pPr lvl="1"/>
                <a:r>
                  <a:rPr lang="ja-JP" altLang="en-US" sz="2000"/>
                  <a:t>このとき，潜在アウトカムの推定量を以下のように定義する：</a:t>
                </a:r>
                <a:endParaRPr lang="en-US" altLang="ja-JP" sz="2000"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𝑌</m:t>
                              </m:r>
                            </m:e>
                          </m:acc>
                        </m:e>
                        <m:sub>
                          <m:r>
                            <a:rPr lang="en-US" altLang="ja-JP" sz="2000" i="1">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d>
                        <m:dPr>
                          <m:begChr m:val="{"/>
                          <m:endChr m:val=""/>
                          <m:ctrlPr>
                            <a:rPr lang="en-US" altLang="ja-JP" sz="2000" i="1">
                              <a:latin typeface="Cambria Math" panose="02040503050406030204" pitchFamily="18" charset="0"/>
                            </a:rPr>
                          </m:ctrlPr>
                        </m:dPr>
                        <m:e>
                          <m:eqArr>
                            <m:eqArrPr>
                              <m:ctrlPr>
                                <a:rPr lang="en-US" altLang="ja-JP" sz="2000" i="1">
                                  <a:latin typeface="Cambria Math" panose="02040503050406030204" pitchFamily="18" charset="0"/>
                                </a:rPr>
                              </m:ctrlPr>
                            </m:eqArr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e>
                            <m:e>
                              <m:r>
                                <a:rPr lang="en-US" altLang="ja-JP" sz="2000" i="1">
                                  <a:latin typeface="Cambria Math" panose="02040503050406030204" pitchFamily="18" charset="0"/>
                                </a:rPr>
                                <m:t>&amp;</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𝑀</m:t>
                                  </m:r>
                                </m:den>
                              </m:f>
                              <m:nary>
                                <m:naryPr>
                                  <m:chr m:val="∑"/>
                                  <m:supHide m:val="on"/>
                                  <m:ctrlPr>
                                    <a:rPr lang="en-US" altLang="ja-JP" sz="2000" i="1">
                                      <a:latin typeface="Cambria Math" panose="02040503050406030204" pitchFamily="18" charset="0"/>
                                    </a:rPr>
                                  </m:ctrlPr>
                                </m:naryPr>
                                <m:sub>
                                  <m:r>
                                    <a:rPr lang="en-US" altLang="ja-JP" sz="2000" i="1">
                                      <a:latin typeface="Cambria Math" panose="02040503050406030204" pitchFamily="18" charset="0"/>
                                    </a:rPr>
                                    <m:t>𝑗</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𝐽</m:t>
                                      </m:r>
                                    </m:e>
                                    <m:sub>
                                      <m:r>
                                        <a:rPr lang="en-US" altLang="ja-JP" sz="2000" i="1">
                                          <a:latin typeface="Cambria Math" panose="02040503050406030204" pitchFamily="18" charset="0"/>
                                        </a:rPr>
                                        <m:t>𝑀</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𝑖</m:t>
                                      </m:r>
                                    </m:e>
                                  </m:d>
                                </m:sub>
                                <m:sup/>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𝑗</m:t>
                                      </m:r>
                                    </m:sub>
                                  </m:sSub>
                                </m:e>
                              </m:nary>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=0</m:t>
                              </m:r>
                            </m:e>
                          </m:eqArr>
                        </m:e>
                      </m:d>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𝑌</m:t>
                              </m:r>
                            </m:e>
                          </m:acc>
                        </m:e>
                        <m:sub>
                          <m:r>
                            <a:rPr lang="en-US" altLang="ja-JP" sz="2000" i="1">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r>
                        <a:rPr lang="en-US" altLang="ja-JP" sz="2000" i="1">
                          <a:latin typeface="Cambria Math" panose="02040503050406030204" pitchFamily="18" charset="0"/>
                        </a:rPr>
                        <m:t>=</m:t>
                      </m:r>
                      <m:d>
                        <m:dPr>
                          <m:begChr m:val="{"/>
                          <m:endChr m:val=""/>
                          <m:ctrlPr>
                            <a:rPr lang="en-US" altLang="ja-JP" sz="2000" i="1">
                              <a:latin typeface="Cambria Math" panose="02040503050406030204" pitchFamily="18" charset="0"/>
                            </a:rPr>
                          </m:ctrlPr>
                        </m:dPr>
                        <m:e>
                          <m:eqArr>
                            <m:eqArrPr>
                              <m:ctrlPr>
                                <a:rPr lang="en-US" altLang="ja-JP" sz="2000" i="1">
                                  <a:latin typeface="Cambria Math" panose="02040503050406030204" pitchFamily="18" charset="0"/>
                                </a:rPr>
                              </m:ctrlPr>
                            </m:eqArr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𝑀</m:t>
                                  </m:r>
                                </m:den>
                              </m:f>
                              <m:nary>
                                <m:naryPr>
                                  <m:chr m:val="∑"/>
                                  <m:supHide m:val="on"/>
                                  <m:ctrlPr>
                                    <a:rPr lang="en-US" altLang="ja-JP" sz="2000" i="1">
                                      <a:latin typeface="Cambria Math" panose="02040503050406030204" pitchFamily="18" charset="0"/>
                                    </a:rPr>
                                  </m:ctrlPr>
                                </m:naryPr>
                                <m:sub>
                                  <m:r>
                                    <a:rPr lang="en-US" altLang="ja-JP" sz="2000" i="1">
                                      <a:latin typeface="Cambria Math" panose="02040503050406030204" pitchFamily="18" charset="0"/>
                                    </a:rPr>
                                    <m:t>𝑗</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𝐽</m:t>
                                      </m:r>
                                    </m:e>
                                    <m:sub>
                                      <m:r>
                                        <a:rPr lang="en-US" altLang="ja-JP" sz="2000" i="1">
                                          <a:latin typeface="Cambria Math" panose="02040503050406030204" pitchFamily="18" charset="0"/>
                                        </a:rPr>
                                        <m:t>𝑀</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𝑖</m:t>
                                      </m:r>
                                    </m:e>
                                  </m:d>
                                </m:sub>
                                <m:sup/>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𝑗</m:t>
                                      </m:r>
                                    </m:sub>
                                  </m:sSub>
                                </m:e>
                              </m:nary>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e>
                            <m:e>
                              <m:r>
                                <a:rPr lang="en-US" altLang="ja-JP" sz="2000" i="1">
                                  <a:latin typeface="Cambria Math" panose="02040503050406030204" pitchFamily="18" charset="0"/>
                                </a:rPr>
                                <m:t>&amp;</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=0</m:t>
                              </m:r>
                            </m:e>
                          </m:eqArr>
                        </m:e>
                      </m:d>
                      <m:r>
                        <a:rPr lang="en-US" altLang="ja-JP" sz="2000" i="1">
                          <a:latin typeface="Cambria Math" panose="02040503050406030204" pitchFamily="18" charset="0"/>
                        </a:rPr>
                        <m:t>.</m:t>
                      </m:r>
                    </m:oMath>
                  </m:oMathPara>
                </a14:m>
                <a:endParaRPr lang="en-US" altLang="ja-JP" sz="2000" dirty="0"/>
              </a:p>
              <a:p>
                <a:pPr lvl="1"/>
                <a:r>
                  <a:rPr lang="ja-JP" altLang="en-US" sz="2000"/>
                  <a:t>処置効果を以下のように推定する：</a:t>
                </a:r>
                <a:endParaRPr lang="en-US" altLang="ja-JP" sz="2000" dirty="0"/>
              </a:p>
              <a:p>
                <a:pPr marL="457200" lvl="1" indent="0">
                  <a:buNone/>
                </a:pPr>
                <a14:m>
                  <m:oMathPara xmlns:m="http://schemas.openxmlformats.org/officeDocument/2006/math">
                    <m:oMathParaPr>
                      <m:jc m:val="centerGroup"/>
                    </m:oMathParaPr>
                    <m:oMath xmlns:m="http://schemas.openxmlformats.org/officeDocument/2006/math">
                      <m:acc>
                        <m:accPr>
                          <m:chr m:val="̂"/>
                          <m:ctrlPr>
                            <a:rPr lang="en-US" altLang="ja-JP" sz="2000" i="1">
                              <a:latin typeface="Cambria Math" panose="02040503050406030204" pitchFamily="18" charset="0"/>
                              <a:ea typeface="Cambria Math" panose="02040503050406030204" pitchFamily="18" charset="0"/>
                            </a:rPr>
                          </m:ctrlPr>
                        </m:accPr>
                        <m:e>
                          <m:r>
                            <a:rPr lang="en-US" altLang="ja-JP" sz="2000" i="1">
                              <a:latin typeface="Cambria Math" panose="02040503050406030204" pitchFamily="18" charset="0"/>
                              <a:ea typeface="Cambria Math" panose="02040503050406030204" pitchFamily="18" charset="0"/>
                            </a:rPr>
                            <m:t>𝜃</m:t>
                          </m:r>
                        </m:e>
                      </m:acc>
                      <m:r>
                        <a:rPr lang="en-US" altLang="ja-JP" sz="2000" i="1">
                          <a:latin typeface="Cambria Math" panose="02040503050406030204" pitchFamily="18" charset="0"/>
                          <a:ea typeface="Cambria Math" panose="02040503050406030204" pitchFamily="18" charset="0"/>
                        </a:rPr>
                        <m:t>≔</m:t>
                      </m:r>
                      <m:f>
                        <m:fPr>
                          <m:ctrlPr>
                            <a:rPr lang="en-US" altLang="ja-JP" sz="2000" i="1">
                              <a:latin typeface="Cambria Math" panose="02040503050406030204" pitchFamily="18" charset="0"/>
                              <a:ea typeface="Cambria Math" panose="02040503050406030204" pitchFamily="18" charset="0"/>
                            </a:rPr>
                          </m:ctrlPr>
                        </m:fPr>
                        <m:num>
                          <m:r>
                            <a:rPr lang="en-US" altLang="ja-JP" sz="2000" i="1">
                              <a:latin typeface="Cambria Math" panose="02040503050406030204" pitchFamily="18" charset="0"/>
                              <a:ea typeface="Cambria Math" panose="02040503050406030204" pitchFamily="18" charset="0"/>
                            </a:rPr>
                            <m:t>1</m:t>
                          </m:r>
                        </m:num>
                        <m:den>
                          <m:r>
                            <a:rPr lang="en-US" altLang="ja-JP" sz="2000" i="1">
                              <a:latin typeface="Cambria Math" panose="02040503050406030204" pitchFamily="18" charset="0"/>
                              <a:ea typeface="Cambria Math" panose="02040503050406030204" pitchFamily="18" charset="0"/>
                            </a:rPr>
                            <m:t>𝑛</m:t>
                          </m:r>
                        </m:den>
                      </m:f>
                      <m:nary>
                        <m:naryPr>
                          <m:chr m:val="∑"/>
                          <m:ctrlPr>
                            <a:rPr lang="en-US" altLang="ja-JP" sz="2000" i="1">
                              <a:latin typeface="Cambria Math" panose="02040503050406030204" pitchFamily="18" charset="0"/>
                              <a:ea typeface="Cambria Math" panose="02040503050406030204" pitchFamily="18" charset="0"/>
                            </a:rPr>
                          </m:ctrlPr>
                        </m:naryPr>
                        <m:sub>
                          <m:r>
                            <a:rPr lang="en-US" altLang="ja-JP" sz="2000" i="1">
                              <a:latin typeface="Cambria Math" panose="02040503050406030204" pitchFamily="18" charset="0"/>
                              <a:ea typeface="Cambria Math" panose="02040503050406030204" pitchFamily="18" charset="0"/>
                            </a:rPr>
                            <m:t>𝑖</m:t>
                          </m:r>
                          <m:r>
                            <a:rPr lang="en-US" altLang="ja-JP" sz="2000" i="1">
                              <a:latin typeface="Cambria Math" panose="02040503050406030204" pitchFamily="18" charset="0"/>
                              <a:ea typeface="Cambria Math" panose="02040503050406030204" pitchFamily="18" charset="0"/>
                            </a:rPr>
                            <m:t>=1</m:t>
                          </m:r>
                        </m:sub>
                        <m:sup>
                          <m:r>
                            <a:rPr lang="en-US" altLang="ja-JP" sz="2000" i="1">
                              <a:latin typeface="Cambria Math" panose="02040503050406030204" pitchFamily="18" charset="0"/>
                              <a:ea typeface="Cambria Math" panose="02040503050406030204" pitchFamily="18" charset="0"/>
                            </a:rPr>
                            <m:t>𝑛</m:t>
                          </m:r>
                        </m:sup>
                        <m:e>
                          <m:d>
                            <m:dPr>
                              <m:ctrlPr>
                                <a:rPr lang="en-US" altLang="ja-JP" sz="2000" i="1">
                                  <a:latin typeface="Cambria Math" panose="02040503050406030204" pitchFamily="18" charset="0"/>
                                  <a:ea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𝑌</m:t>
                                      </m:r>
                                    </m:e>
                                  </m:acc>
                                </m:e>
                                <m:sub>
                                  <m:r>
                                    <a:rPr lang="en-US" altLang="ja-JP" sz="2000" i="1">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𝑌</m:t>
                                      </m:r>
                                    </m:e>
                                  </m:acc>
                                </m:e>
                                <m:sub>
                                  <m:r>
                                    <a:rPr lang="en-US" altLang="ja-JP" sz="2000" i="1">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e>
                          </m:d>
                        </m:e>
                      </m:nary>
                      <m:r>
                        <a:rPr lang="en-US" altLang="ja-JP" sz="2000" i="1">
                          <a:latin typeface="Cambria Math" panose="02040503050406030204" pitchFamily="18" charset="0"/>
                          <a:ea typeface="Cambria Math" panose="02040503050406030204" pitchFamily="18" charset="0"/>
                        </a:rPr>
                        <m:t>.</m:t>
                      </m:r>
                    </m:oMath>
                  </m:oMathPara>
                </a14:m>
                <a:endParaRPr lang="en-US" altLang="ja-JP" sz="2000" dirty="0"/>
              </a:p>
              <a:p>
                <a:endParaRPr lang="ja-JP" altLang="en-US" sz="2000"/>
              </a:p>
            </p:txBody>
          </p:sp>
        </mc:Choice>
        <mc:Fallback>
          <p:sp>
            <p:nvSpPr>
              <p:cNvPr id="7" name="コンテンツ プレースホルダー 6">
                <a:extLst>
                  <a:ext uri="{FF2B5EF4-FFF2-40B4-BE49-F238E27FC236}">
                    <a16:creationId xmlns:a16="http://schemas.microsoft.com/office/drawing/2014/main" id="{6EB54490-0257-6572-1DEB-B7C0C2977822}"/>
                  </a:ext>
                </a:extLst>
              </p:cNvPr>
              <p:cNvSpPr>
                <a:spLocks noGrp="1" noRot="1" noChangeAspect="1" noMove="1" noResize="1" noEditPoints="1" noAdjustHandles="1" noChangeArrowheads="1" noChangeShapeType="1" noTextEdit="1"/>
              </p:cNvSpPr>
              <p:nvPr>
                <p:ph idx="1"/>
              </p:nvPr>
            </p:nvSpPr>
            <p:spPr>
              <a:blipFill>
                <a:blip r:embed="rId2"/>
                <a:stretch>
                  <a:fillRect l="-603" t="-709" b="-1111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16602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3034-7E34-AE90-71D0-98B9CB100DD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4CA5E2BC-47B3-FCB4-E703-B815FE9242AC}"/>
              </a:ext>
            </a:extLst>
          </p:cNvPr>
          <p:cNvSpPr>
            <a:spLocks noGrp="1"/>
          </p:cNvSpPr>
          <p:nvPr>
            <p:ph type="title"/>
          </p:nvPr>
        </p:nvSpPr>
        <p:spPr/>
        <p:txBody>
          <a:bodyPr>
            <a:normAutofit/>
          </a:bodyPr>
          <a:lstStyle/>
          <a:p>
            <a:r>
              <a:rPr lang="ja-JP" altLang="en-US">
                <a:latin typeface="Noto Sans JP" panose="020B0200000000000000" pitchFamily="34" charset="-128"/>
              </a:rPr>
              <a:t>マッチング推定量</a:t>
            </a:r>
          </a:p>
        </p:txBody>
      </p:sp>
      <p:sp>
        <p:nvSpPr>
          <p:cNvPr id="7" name="コンテンツ プレースホルダー 6">
            <a:extLst>
              <a:ext uri="{FF2B5EF4-FFF2-40B4-BE49-F238E27FC236}">
                <a16:creationId xmlns:a16="http://schemas.microsoft.com/office/drawing/2014/main" id="{A1689E12-26E3-D9E2-3593-27F1A99AA5BA}"/>
              </a:ext>
            </a:extLst>
          </p:cNvPr>
          <p:cNvSpPr>
            <a:spLocks noGrp="1"/>
          </p:cNvSpPr>
          <p:nvPr>
            <p:ph idx="1"/>
          </p:nvPr>
        </p:nvSpPr>
        <p:spPr/>
        <p:txBody>
          <a:bodyPr>
            <a:normAutofit/>
          </a:bodyPr>
          <a:lstStyle/>
          <a:p>
            <a:r>
              <a:rPr lang="ja-JP" altLang="en-US" sz="2000"/>
              <a:t>最近傍マッチングと基底</a:t>
            </a:r>
            <a:endParaRPr lang="en-US" altLang="ja-JP" sz="2000" dirty="0"/>
          </a:p>
          <a:p>
            <a:pPr lvl="1"/>
            <a:r>
              <a:rPr lang="ja-JP" altLang="en-US" sz="2000"/>
              <a:t>最近傍マッチングは特殊な回帰関数・傾向スコアの推定方法として解釈可能</a:t>
            </a:r>
            <a:endParaRPr lang="en-US" altLang="ja-JP" sz="2000" dirty="0"/>
          </a:p>
          <a:p>
            <a:pPr lvl="2"/>
            <a:r>
              <a:rPr lang="ja-JP" altLang="en-US" sz="2000"/>
              <a:t>リース表現量を特殊なカーネルを用いて推定していると解釈可能</a:t>
            </a:r>
            <a:endParaRPr lang="en-US" altLang="ja-JP" sz="2000" dirty="0"/>
          </a:p>
          <a:p>
            <a:pPr lvl="2"/>
            <a:r>
              <a:rPr lang="ja-JP" altLang="en-US" sz="2000"/>
              <a:t>また、回帰関数を特殊なカーネルを用いて推定していると解釈可能</a:t>
            </a:r>
            <a:endParaRPr lang="en-US" altLang="ja-JP" sz="2000" dirty="0"/>
          </a:p>
          <a:p>
            <a:pPr lvl="1"/>
            <a:r>
              <a:rPr lang="ja-JP" altLang="en-US" sz="2000"/>
              <a:t>以下が成り立つ：</a:t>
            </a:r>
            <a:endParaRPr lang="en-US" altLang="ja-JP" sz="2000" dirty="0"/>
          </a:p>
          <a:p>
            <a:endParaRPr lang="en-US" altLang="ja-JP" sz="800" dirty="0"/>
          </a:p>
          <a:p>
            <a:pPr indent="0" algn="ctr">
              <a:buNone/>
            </a:pPr>
            <a:r>
              <a:rPr lang="ja-JP" altLang="en-US" sz="2000"/>
              <a:t>マッチング推定量</a:t>
            </a:r>
            <a:r>
              <a:rPr lang="en-US" altLang="ja-JP" sz="2000" dirty="0"/>
              <a:t> = RA</a:t>
            </a:r>
            <a:r>
              <a:rPr lang="ja-JP" altLang="en-US" sz="2000"/>
              <a:t>推定量</a:t>
            </a:r>
            <a:r>
              <a:rPr lang="en-US" altLang="ja-JP" sz="2000" dirty="0"/>
              <a:t> = IPW </a:t>
            </a:r>
            <a:r>
              <a:rPr lang="ja-JP" altLang="en-US" sz="2000"/>
              <a:t>推定量</a:t>
            </a:r>
            <a:r>
              <a:rPr lang="en-US" altLang="ja-JP" sz="2000" dirty="0"/>
              <a:t> = AIPW </a:t>
            </a:r>
            <a:r>
              <a:rPr lang="ja-JP" altLang="en-US" sz="2000"/>
              <a:t>推定量</a:t>
            </a:r>
            <a:endParaRPr lang="en-US" altLang="ja-JP" sz="2000" dirty="0"/>
          </a:p>
          <a:p>
            <a:endParaRPr lang="en-US" altLang="ja-JP" sz="2000" dirty="0"/>
          </a:p>
          <a:p>
            <a:endParaRPr lang="en-US" altLang="ja-JP" sz="2000" dirty="0"/>
          </a:p>
          <a:p>
            <a:endParaRPr lang="en-US" altLang="ja-JP" sz="2000" dirty="0"/>
          </a:p>
          <a:p>
            <a:pPr lvl="1"/>
            <a:endParaRPr lang="en-US" altLang="ja-JP" sz="2000" dirty="0"/>
          </a:p>
          <a:p>
            <a:endParaRPr lang="ja-JP" altLang="en-US" sz="2000"/>
          </a:p>
        </p:txBody>
      </p:sp>
    </p:spTree>
    <p:extLst>
      <p:ext uri="{BB962C8B-B14F-4D97-AF65-F5344CB8AC3E}">
        <p14:creationId xmlns:p14="http://schemas.microsoft.com/office/powerpoint/2010/main" val="15786347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55280</TotalTime>
  <Words>2402</Words>
  <Application>Microsoft Macintosh PowerPoint</Application>
  <PresentationFormat>ワイド画面</PresentationFormat>
  <Paragraphs>304</Paragraphs>
  <Slides>29</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29</vt:i4>
      </vt:variant>
    </vt:vector>
  </HeadingPairs>
  <TitlesOfParts>
    <vt:vector size="36" baseType="lpstr">
      <vt:lpstr>Noto Sans JP</vt:lpstr>
      <vt:lpstr>游ゴシック</vt:lpstr>
      <vt:lpstr>Arial</vt:lpstr>
      <vt:lpstr>Calibri</vt:lpstr>
      <vt:lpstr>Cambria Math</vt:lpstr>
      <vt:lpstr>Wingdings</vt:lpstr>
      <vt:lpstr>Office テーマ</vt:lpstr>
      <vt:lpstr>「機械学習と因果推論」入門  ④処置効果のさまざまな推定方法</vt:lpstr>
      <vt:lpstr>「機械学習と因果推論」入門</vt:lpstr>
      <vt:lpstr>本講義のポイント</vt:lpstr>
      <vt:lpstr>復習</vt:lpstr>
      <vt:lpstr>漸近効率下限と漸近効率な推定量</vt:lpstr>
      <vt:lpstr>AIPW推定量</vt:lpstr>
      <vt:lpstr>ネイマン直交性</vt:lpstr>
      <vt:lpstr>推定方程式アプローチ</vt:lpstr>
      <vt:lpstr>理想的な推定量と現実的に実行可能な推定量</vt:lpstr>
      <vt:lpstr>ネイマン直交性とバイアスの高速収束</vt:lpstr>
      <vt:lpstr>漸近正規性に関する定理</vt:lpstr>
      <vt:lpstr>代表的な推定量・推定方法</vt:lpstr>
      <vt:lpstr>代表的な推定量・推定方法</vt:lpstr>
      <vt:lpstr>回帰調整推定量</vt:lpstr>
      <vt:lpstr>逆確率重み付け推定量</vt:lpstr>
      <vt:lpstr>拡張逆確率重み付け推定量</vt:lpstr>
      <vt:lpstr>マッチング推定量</vt:lpstr>
      <vt:lpstr>代表的な推定量・推定方法（整理）</vt:lpstr>
      <vt:lpstr>もっとも基礎的な推定量</vt:lpstr>
      <vt:lpstr>様々な手法の関係性</vt:lpstr>
      <vt:lpstr>RA 推定量と IPW推定量の比較</vt:lpstr>
      <vt:lpstr>どの推定量が基本か</vt:lpstr>
      <vt:lpstr>拡張</vt:lpstr>
      <vt:lpstr>基底を用いる推定</vt:lpstr>
      <vt:lpstr>推定量間の同値性</vt:lpstr>
      <vt:lpstr>OLS 推定量は「二重に頑健」</vt:lpstr>
      <vt:lpstr>標的最尤推定</vt:lpstr>
      <vt:lpstr>マッチング推定量</vt:lpstr>
      <vt:lpstr>マッチング推定量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加藤真大</dc:creator>
  <cp:lastModifiedBy>加藤　真大</cp:lastModifiedBy>
  <cp:revision>526</cp:revision>
  <cp:lastPrinted>2025-05-18T19:28:46Z</cp:lastPrinted>
  <dcterms:created xsi:type="dcterms:W3CDTF">2023-04-02T16:55:48Z</dcterms:created>
  <dcterms:modified xsi:type="dcterms:W3CDTF">2026-04-14T20:00:57Z</dcterms:modified>
</cp:coreProperties>
</file>