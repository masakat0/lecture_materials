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1262" r:id="rId2"/>
    <p:sldId id="1299" r:id="rId3"/>
    <p:sldId id="1290" r:id="rId4"/>
    <p:sldId id="1280" r:id="rId5"/>
    <p:sldId id="1284" r:id="rId6"/>
    <p:sldId id="1302" r:id="rId7"/>
    <p:sldId id="1307" r:id="rId8"/>
    <p:sldId id="1306" r:id="rId9"/>
    <p:sldId id="1281" r:id="rId10"/>
    <p:sldId id="1285" r:id="rId11"/>
    <p:sldId id="1286" r:id="rId12"/>
    <p:sldId id="1287" r:id="rId13"/>
    <p:sldId id="1295" r:id="rId14"/>
    <p:sldId id="1297" r:id="rId1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92"/>
    <p:restoredTop sz="95785"/>
  </p:normalViewPr>
  <p:slideViewPr>
    <p:cSldViewPr snapToGrid="0">
      <p:cViewPr varScale="1">
        <p:scale>
          <a:sx n="114" d="100"/>
          <a:sy n="114" d="100"/>
        </p:scale>
        <p:origin x="1040" y="17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013FDF-AD6D-D044-9473-4EF57EA7D013}" type="datetimeFigureOut">
              <a:rPr kumimoji="1" lang="ja-JP" altLang="en-US" smtClean="0"/>
              <a:t>2026/4/5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486D82-5BE7-0F48-9C8D-382CDFB51FA5}" type="slidenum">
              <a:rPr kumimoji="1" lang="ja-JP" altLang="en-US" smtClean="0"/>
              <a:t>‹#›</a:t>
            </a:fld>
            <a:endParaRPr kumimoji="1" lang="ja-JP" altLang="en-US"/>
          </a:p>
        </p:txBody>
      </p:sp>
    </p:spTree>
    <p:extLst>
      <p:ext uri="{BB962C8B-B14F-4D97-AF65-F5344CB8AC3E}">
        <p14:creationId xmlns:p14="http://schemas.microsoft.com/office/powerpoint/2010/main" val="83014032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440B73-CA8B-244F-465D-90B28BB58857}"/>
              </a:ext>
            </a:extLst>
          </p:cNvPr>
          <p:cNvSpPr>
            <a:spLocks noGrp="1"/>
          </p:cNvSpPr>
          <p:nvPr>
            <p:ph type="ctrTitle"/>
          </p:nvPr>
        </p:nvSpPr>
        <p:spPr>
          <a:xfrm>
            <a:off x="1524000" y="1122363"/>
            <a:ext cx="9144000" cy="2387600"/>
          </a:xfrm>
        </p:spPr>
        <p:txBody>
          <a:bodyPr anchor="b">
            <a:normAutofit/>
          </a:bodyPr>
          <a:lstStyle>
            <a:lvl1pPr algn="ctr">
              <a:defRPr sz="4800">
                <a:latin typeface="Calibri" panose="020F0502020204030204" pitchFamily="34" charset="0"/>
                <a:cs typeface="Calibri" panose="020F0502020204030204" pitchFamily="34" charset="0"/>
              </a:defRPr>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8793CBE-9F0A-E8E4-882A-A40100D656DE}"/>
              </a:ext>
            </a:extLst>
          </p:cNvPr>
          <p:cNvSpPr>
            <a:spLocks noGrp="1"/>
          </p:cNvSpPr>
          <p:nvPr>
            <p:ph type="subTitle" idx="1"/>
          </p:nvPr>
        </p:nvSpPr>
        <p:spPr>
          <a:xfrm>
            <a:off x="1524000" y="3602038"/>
            <a:ext cx="9144000" cy="1655762"/>
          </a:xfrm>
        </p:spPr>
        <p:txBody>
          <a:bodyPr/>
          <a:lstStyle>
            <a:lvl1pPr marL="0" indent="0" algn="ctr">
              <a:buNone/>
              <a:defRPr sz="2400">
                <a:latin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Tree>
    <p:extLst>
      <p:ext uri="{BB962C8B-B14F-4D97-AF65-F5344CB8AC3E}">
        <p14:creationId xmlns:p14="http://schemas.microsoft.com/office/powerpoint/2010/main" val="971058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E3B2C6-2794-F355-E00B-B5E1C219EBE5}"/>
              </a:ext>
            </a:extLst>
          </p:cNvPr>
          <p:cNvSpPr>
            <a:spLocks noGrp="1"/>
          </p:cNvSpPr>
          <p:nvPr>
            <p:ph type="title"/>
          </p:nvPr>
        </p:nvSpPr>
        <p:spPr/>
        <p:txBody>
          <a:bodyPr/>
          <a:lstStyle>
            <a:lvl1pPr>
              <a:defRPr>
                <a:latin typeface="Calibri" panose="020F0502020204030204" pitchFamily="34" charset="0"/>
                <a:cs typeface="Calibri" panose="020F0502020204030204" pitchFamily="34" charset="0"/>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47B3163-8C3F-2210-0E9F-DFF0C2D3B285}"/>
              </a:ext>
            </a:extLst>
          </p:cNvPr>
          <p:cNvSpPr>
            <a:spLocks noGrp="1"/>
          </p:cNvSpPr>
          <p:nvPr>
            <p:ph idx="1"/>
          </p:nvPr>
        </p:nvSpPr>
        <p:spPr/>
        <p:txBody>
          <a:bodyPr/>
          <a:lstStyle>
            <a:lvl1pPr marL="288000" indent="-288000">
              <a:lnSpc>
                <a:spcPct val="100000"/>
              </a:lnSpc>
              <a:spcBef>
                <a:spcPts val="0"/>
              </a:spcBef>
              <a:spcAft>
                <a:spcPts val="200"/>
              </a:spcAft>
              <a:defRPr/>
            </a:lvl1pPr>
            <a:lvl2pPr indent="-288000">
              <a:lnSpc>
                <a:spcPct val="100000"/>
              </a:lnSpc>
              <a:spcBef>
                <a:spcPts val="0"/>
              </a:spcBef>
              <a:spcAft>
                <a:spcPts val="200"/>
              </a:spcAft>
              <a:defRPr/>
            </a:lvl2pPr>
            <a:lvl3pPr indent="-288000">
              <a:lnSpc>
                <a:spcPct val="100000"/>
              </a:lnSpc>
              <a:spcBef>
                <a:spcPts val="0"/>
              </a:spcBef>
              <a:spcAft>
                <a:spcPts val="200"/>
              </a:spcAft>
              <a:defRPr/>
            </a:lvl3pPr>
            <a:lvl4pPr indent="-288000">
              <a:lnSpc>
                <a:spcPct val="100000"/>
              </a:lnSpc>
              <a:spcBef>
                <a:spcPts val="0"/>
              </a:spcBef>
              <a:spcAft>
                <a:spcPts val="200"/>
              </a:spcAft>
              <a:defRPr/>
            </a:lvl4pPr>
            <a:lvl5pPr indent="-288000">
              <a:lnSpc>
                <a:spcPct val="100000"/>
              </a:lnSpc>
              <a:spcBef>
                <a:spcPts val="0"/>
              </a:spcBef>
              <a:spcAft>
                <a:spcPts val="200"/>
              </a:spcAft>
              <a:defRPr/>
            </a:lvl5p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Tree>
    <p:extLst>
      <p:ext uri="{BB962C8B-B14F-4D97-AF65-F5344CB8AC3E}">
        <p14:creationId xmlns:p14="http://schemas.microsoft.com/office/powerpoint/2010/main" val="256300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FC314-A284-6A7E-968A-A17B51D59E8B}"/>
              </a:ext>
            </a:extLst>
          </p:cNvPr>
          <p:cNvSpPr>
            <a:spLocks noGrp="1"/>
          </p:cNvSpPr>
          <p:nvPr>
            <p:ph type="title"/>
          </p:nvPr>
        </p:nvSpPr>
        <p:spPr>
          <a:xfrm>
            <a:off x="831850" y="1709738"/>
            <a:ext cx="10515600" cy="2852737"/>
          </a:xfrm>
        </p:spPr>
        <p:txBody>
          <a:bodyPr anchor="b">
            <a:normAutofit/>
          </a:bodyPr>
          <a:lstStyle>
            <a:lvl1pPr>
              <a:defRPr sz="3200">
                <a:latin typeface="Noto Sans JP" panose="020B0200000000000000" pitchFamily="34" charset="-128"/>
                <a:ea typeface="Noto Sans JP" panose="020B0200000000000000" pitchFamily="34" charset="-128"/>
                <a:cs typeface="Calibri" panose="020F0502020204030204" pitchFamily="34" charset="0"/>
              </a:defRPr>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2FB42AB-71B3-7AEA-D9B6-7225F46A0F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Calibri" panose="020F0502020204030204" pitchFamily="34" charset="0"/>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Tree>
    <p:extLst>
      <p:ext uri="{BB962C8B-B14F-4D97-AF65-F5344CB8AC3E}">
        <p14:creationId xmlns:p14="http://schemas.microsoft.com/office/powerpoint/2010/main" val="1856984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03122C-98EE-5E33-3274-052D218673B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5BAEBC0-84BA-6D53-2783-3B25B6F12808}"/>
              </a:ext>
            </a:extLst>
          </p:cNvPr>
          <p:cNvSpPr>
            <a:spLocks noGrp="1"/>
          </p:cNvSpPr>
          <p:nvPr>
            <p:ph sz="half" idx="1"/>
          </p:nvPr>
        </p:nvSpPr>
        <p:spPr>
          <a:xfrm>
            <a:off x="838200" y="1227602"/>
            <a:ext cx="5181600" cy="5265271"/>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AA4A09E-30C9-A84C-41A8-594B447685A4}"/>
              </a:ext>
            </a:extLst>
          </p:cNvPr>
          <p:cNvSpPr>
            <a:spLocks noGrp="1"/>
          </p:cNvSpPr>
          <p:nvPr>
            <p:ph sz="half" idx="2"/>
          </p:nvPr>
        </p:nvSpPr>
        <p:spPr>
          <a:xfrm>
            <a:off x="6172200" y="1227603"/>
            <a:ext cx="5181600" cy="526527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328064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較">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426C5243-9908-957C-272E-1CACEAACB3C1}"/>
              </a:ext>
            </a:extLst>
          </p:cNvPr>
          <p:cNvSpPr>
            <a:spLocks noGrp="1"/>
          </p:cNvSpPr>
          <p:nvPr>
            <p:ph type="body" idx="1"/>
          </p:nvPr>
        </p:nvSpPr>
        <p:spPr>
          <a:xfrm>
            <a:off x="836612" y="1227602"/>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BD8F1BE-F587-C5AD-CEFD-08124A5D9FE2}"/>
              </a:ext>
            </a:extLst>
          </p:cNvPr>
          <p:cNvSpPr>
            <a:spLocks noGrp="1"/>
          </p:cNvSpPr>
          <p:nvPr>
            <p:ph sz="half" idx="2"/>
          </p:nvPr>
        </p:nvSpPr>
        <p:spPr>
          <a:xfrm>
            <a:off x="839788" y="2187110"/>
            <a:ext cx="5157787" cy="4305763"/>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AA5E6AD-D24B-21D0-AA15-0BDEF42D59CE}"/>
              </a:ext>
            </a:extLst>
          </p:cNvPr>
          <p:cNvSpPr>
            <a:spLocks noGrp="1"/>
          </p:cNvSpPr>
          <p:nvPr>
            <p:ph type="body" sz="quarter" idx="3"/>
          </p:nvPr>
        </p:nvSpPr>
        <p:spPr>
          <a:xfrm>
            <a:off x="6172200" y="1205707"/>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C61124A-DCBC-E8EE-D22F-F3844F5AC6FE}"/>
              </a:ext>
            </a:extLst>
          </p:cNvPr>
          <p:cNvSpPr>
            <a:spLocks noGrp="1"/>
          </p:cNvSpPr>
          <p:nvPr>
            <p:ph sz="quarter" idx="4"/>
          </p:nvPr>
        </p:nvSpPr>
        <p:spPr>
          <a:xfrm>
            <a:off x="6172200" y="2187110"/>
            <a:ext cx="5183188" cy="4305763"/>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0" name="タイトル 1">
            <a:extLst>
              <a:ext uri="{FF2B5EF4-FFF2-40B4-BE49-F238E27FC236}">
                <a16:creationId xmlns:a16="http://schemas.microsoft.com/office/drawing/2014/main" id="{A5313B0B-D4F3-7917-8839-79443075C2CF}"/>
              </a:ext>
            </a:extLst>
          </p:cNvPr>
          <p:cNvSpPr txBox="1">
            <a:spLocks/>
          </p:cNvSpPr>
          <p:nvPr userDrawn="1"/>
        </p:nvSpPr>
        <p:spPr>
          <a:xfrm>
            <a:off x="838200" y="365126"/>
            <a:ext cx="10515600" cy="68309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a:t>マスター タイトルの書式設定</a:t>
            </a:r>
          </a:p>
        </p:txBody>
      </p:sp>
    </p:spTree>
    <p:extLst>
      <p:ext uri="{BB962C8B-B14F-4D97-AF65-F5344CB8AC3E}">
        <p14:creationId xmlns:p14="http://schemas.microsoft.com/office/powerpoint/2010/main" val="3703310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3EDDE0-1C2D-37D0-FD41-E6B1D5AA8968}"/>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3360401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1459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7EC8DF-579F-DAC2-7B7E-EA0BCD16B39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8364614-4713-4466-2E3B-5941849C36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88142A6-4F57-09A9-DDCC-567B08E151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3907423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264ABF-EF5F-E78A-24B1-F79081ABE08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2A33443-FE5E-B9B6-8D15-0D8E0501D0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C468DBC-7885-2B27-55AC-91B260C3BF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33850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72C68C-F41D-5CB1-85D8-D03E722B2C19}"/>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82FF0EA-005F-4BF9-D50C-67458878BB0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981934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1A88D21-F1C9-30BB-584E-54C3ACF3CD2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2E824FD-0922-2A56-C26B-DC3D5FBF373C}"/>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619790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816A7C1-1192-9FFD-14C3-AEAF38CA6C43}"/>
              </a:ext>
            </a:extLst>
          </p:cNvPr>
          <p:cNvSpPr>
            <a:spLocks noGrp="1"/>
          </p:cNvSpPr>
          <p:nvPr>
            <p:ph type="title"/>
          </p:nvPr>
        </p:nvSpPr>
        <p:spPr>
          <a:xfrm>
            <a:off x="838200" y="365126"/>
            <a:ext cx="10515600" cy="68309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BEE530A-2B56-2F03-C8BE-28411AA6AC7D}"/>
              </a:ext>
            </a:extLst>
          </p:cNvPr>
          <p:cNvSpPr>
            <a:spLocks noGrp="1"/>
          </p:cNvSpPr>
          <p:nvPr>
            <p:ph type="body" idx="1"/>
          </p:nvPr>
        </p:nvSpPr>
        <p:spPr>
          <a:xfrm>
            <a:off x="838200" y="1135116"/>
            <a:ext cx="10515600" cy="5357757"/>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5" name="Google Shape;226;p37">
            <a:extLst>
              <a:ext uri="{FF2B5EF4-FFF2-40B4-BE49-F238E27FC236}">
                <a16:creationId xmlns:a16="http://schemas.microsoft.com/office/drawing/2014/main" id="{8EC8FDF8-FA14-8141-7070-09A520BABD93}"/>
              </a:ext>
            </a:extLst>
          </p:cNvPr>
          <p:cNvSpPr txBox="1">
            <a:spLocks/>
          </p:cNvSpPr>
          <p:nvPr userDrawn="1"/>
        </p:nvSpPr>
        <p:spPr>
          <a:xfrm>
            <a:off x="10620216" y="365125"/>
            <a:ext cx="1258824" cy="529431"/>
          </a:xfrm>
          <a:prstGeom prst="rect">
            <a:avLst/>
          </a:prstGeom>
        </p:spPr>
        <p:txBody>
          <a:bodyPr spcFirstLastPara="1" vert="horz" wrap="square" lIns="121900" tIns="121900" rIns="121900" bIns="121900" rtlCol="0" anchor="ctr" anchorCtr="0">
            <a:noAutofit/>
          </a:bodyP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00000000-1234-1234-1234-123412341234}" type="slidenum">
              <a:rPr lang="en-US" altLang="ja" sz="5333" b="1" smtClean="0"/>
              <a:pPr/>
              <a:t>‹#›</a:t>
            </a:fld>
            <a:endParaRPr lang="en-US" sz="5333" b="1" dirty="0"/>
          </a:p>
        </p:txBody>
      </p:sp>
    </p:spTree>
    <p:extLst>
      <p:ext uri="{BB962C8B-B14F-4D97-AF65-F5344CB8AC3E}">
        <p14:creationId xmlns:p14="http://schemas.microsoft.com/office/powerpoint/2010/main" val="7311116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3200" b="1" kern="1200">
          <a:solidFill>
            <a:schemeClr val="accent1">
              <a:lumMod val="50000"/>
            </a:schemeClr>
          </a:solidFill>
          <a:latin typeface="Noto Sans JP" panose="020B0200000000000000" pitchFamily="34" charset="-128"/>
          <a:ea typeface="Noto Sans JP" panose="020B0200000000000000" pitchFamily="34" charset="-128"/>
          <a:cs typeface="Arial" panose="020B0604020202020204" pitchFamily="34" charset="0"/>
        </a:defRPr>
      </a:lvl1pPr>
    </p:titleStyle>
    <p:bodyStyle>
      <a:lvl1pPr marL="228600" indent="-228600" algn="l" defTabSz="914400" rtl="0" eaLnBrk="1" latinLnBrk="0" hangingPunct="1">
        <a:lnSpc>
          <a:spcPct val="100000"/>
        </a:lnSpc>
        <a:spcBef>
          <a:spcPts val="1000"/>
        </a:spcBef>
        <a:spcAft>
          <a:spcPts val="200"/>
        </a:spcAft>
        <a:buClr>
          <a:srgbClr val="FFC000"/>
        </a:buClr>
        <a:buFont typeface="Wingdings" pitchFamily="2" charset="2"/>
        <a:buChar char="n"/>
        <a:defRPr kumimoji="1" sz="1800" kern="1200">
          <a:solidFill>
            <a:schemeClr val="tx1"/>
          </a:solidFill>
          <a:latin typeface="Noto Sans JP" panose="020B0200000000000000" pitchFamily="34" charset="-128"/>
          <a:ea typeface="Noto Sans JP" panose="020B0200000000000000" pitchFamily="34" charset="-128"/>
          <a:cs typeface="Calibri" panose="020F0502020204030204" pitchFamily="34" charset="0"/>
        </a:defRPr>
      </a:lvl1pPr>
      <a:lvl2pPr marL="685800" indent="-228600" algn="l" defTabSz="914400" rtl="0" eaLnBrk="1" latinLnBrk="0" hangingPunct="1">
        <a:lnSpc>
          <a:spcPct val="100000"/>
        </a:lnSpc>
        <a:spcBef>
          <a:spcPts val="500"/>
        </a:spcBef>
        <a:spcAft>
          <a:spcPts val="200"/>
        </a:spcAft>
        <a:buFont typeface="Arial" panose="020B0604020202020204" pitchFamily="34" charset="0"/>
        <a:buChar char="•"/>
        <a:defRPr kumimoji="1" sz="1800" kern="1200">
          <a:solidFill>
            <a:schemeClr val="tx1"/>
          </a:solidFill>
          <a:latin typeface="Noto Sans JP" panose="020B0200000000000000" pitchFamily="34" charset="-128"/>
          <a:ea typeface="Noto Sans JP" panose="020B0200000000000000" pitchFamily="34" charset="-128"/>
          <a:cs typeface="Calibri" panose="020F0502020204030204" pitchFamily="34" charset="0"/>
        </a:defRPr>
      </a:lvl2pPr>
      <a:lvl3pPr marL="1143000" indent="-228600" algn="l" defTabSz="914400" rtl="0" eaLnBrk="1" latinLnBrk="0" hangingPunct="1">
        <a:lnSpc>
          <a:spcPct val="100000"/>
        </a:lnSpc>
        <a:spcBef>
          <a:spcPts val="500"/>
        </a:spcBef>
        <a:spcAft>
          <a:spcPts val="200"/>
        </a:spcAft>
        <a:buFont typeface="Arial" panose="020B0604020202020204" pitchFamily="34" charset="0"/>
        <a:buChar char="•"/>
        <a:defRPr kumimoji="1" sz="1800" kern="1200">
          <a:solidFill>
            <a:schemeClr val="tx1"/>
          </a:solidFill>
          <a:latin typeface="Noto Sans JP" panose="020B0200000000000000" pitchFamily="34" charset="-128"/>
          <a:ea typeface="Noto Sans JP" panose="020B0200000000000000" pitchFamily="34" charset="-128"/>
          <a:cs typeface="Calibri" panose="020F0502020204030204" pitchFamily="34" charset="0"/>
        </a:defRPr>
      </a:lvl3pPr>
      <a:lvl4pPr marL="1600200" indent="-228600" algn="l" defTabSz="914400" rtl="0" eaLnBrk="1" latinLnBrk="0" hangingPunct="1">
        <a:lnSpc>
          <a:spcPct val="100000"/>
        </a:lnSpc>
        <a:spcBef>
          <a:spcPts val="500"/>
        </a:spcBef>
        <a:spcAft>
          <a:spcPts val="200"/>
        </a:spcAft>
        <a:buFont typeface="Arial" panose="020B0604020202020204" pitchFamily="34" charset="0"/>
        <a:buChar char="•"/>
        <a:defRPr kumimoji="1" sz="1800" kern="1200">
          <a:solidFill>
            <a:schemeClr val="tx1"/>
          </a:solidFill>
          <a:latin typeface="Noto Sans JP" panose="020B0200000000000000" pitchFamily="34" charset="-128"/>
          <a:ea typeface="Noto Sans JP" panose="020B0200000000000000" pitchFamily="34" charset="-128"/>
          <a:cs typeface="Calibri" panose="020F0502020204030204" pitchFamily="34" charset="0"/>
        </a:defRPr>
      </a:lvl4pPr>
      <a:lvl5pPr marL="2057400" indent="-228600" algn="l" defTabSz="914400" rtl="0" eaLnBrk="1" latinLnBrk="0" hangingPunct="1">
        <a:lnSpc>
          <a:spcPct val="100000"/>
        </a:lnSpc>
        <a:spcBef>
          <a:spcPts val="500"/>
        </a:spcBef>
        <a:spcAft>
          <a:spcPts val="200"/>
        </a:spcAft>
        <a:buFont typeface="Arial" panose="020B0604020202020204" pitchFamily="34" charset="0"/>
        <a:buChar char="•"/>
        <a:defRPr kumimoji="1" sz="1800" kern="1200">
          <a:solidFill>
            <a:schemeClr val="tx1"/>
          </a:solidFill>
          <a:latin typeface="Noto Sans JP" panose="020B0200000000000000" pitchFamily="34" charset="-128"/>
          <a:ea typeface="Noto Sans JP" panose="020B0200000000000000" pitchFamily="34" charset="-128"/>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6082B-E28B-6DF3-E2E9-F1582EB41A1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B544FCF-191B-128E-AD55-EB02DD4998D8}"/>
              </a:ext>
            </a:extLst>
          </p:cNvPr>
          <p:cNvSpPr>
            <a:spLocks noGrp="1"/>
          </p:cNvSpPr>
          <p:nvPr>
            <p:ph type="ctrTitle"/>
          </p:nvPr>
        </p:nvSpPr>
        <p:spPr>
          <a:xfrm>
            <a:off x="798195" y="1139985"/>
            <a:ext cx="10595610" cy="2387600"/>
          </a:xfrm>
        </p:spPr>
        <p:txBody>
          <a:bodyPr>
            <a:normAutofit/>
          </a:bodyPr>
          <a:lstStyle/>
          <a:p>
            <a:r>
              <a:rPr lang="ja-JP" altLang="en-US" sz="3600"/>
              <a:t>「機械学習と因果推論」入門</a:t>
            </a:r>
            <a:br>
              <a:rPr kumimoji="1" lang="en-US" altLang="ja-JP" sz="3600" b="1" dirty="0">
                <a:solidFill>
                  <a:srgbClr val="002060"/>
                </a:solidFill>
                <a:latin typeface="Calibri" panose="020F0502020204030204" pitchFamily="34" charset="0"/>
                <a:cs typeface="Calibri" panose="020F0502020204030204" pitchFamily="34" charset="0"/>
              </a:rPr>
            </a:br>
            <a:br>
              <a:rPr kumimoji="1" lang="en-US" altLang="ja-JP" sz="1400" b="1" dirty="0">
                <a:solidFill>
                  <a:srgbClr val="002060"/>
                </a:solidFill>
                <a:latin typeface="Calibri" panose="020F0502020204030204" pitchFamily="34" charset="0"/>
                <a:cs typeface="Calibri" panose="020F0502020204030204" pitchFamily="34" charset="0"/>
              </a:rPr>
            </a:br>
            <a:r>
              <a:rPr kumimoji="1" lang="en-US" altLang="ja-JP" sz="3600" b="1" dirty="0">
                <a:solidFill>
                  <a:srgbClr val="002060"/>
                </a:solidFill>
                <a:latin typeface="Calibri" panose="020F0502020204030204" pitchFamily="34" charset="0"/>
                <a:cs typeface="Calibri" panose="020F0502020204030204" pitchFamily="34" charset="0"/>
              </a:rPr>
              <a:t>② </a:t>
            </a:r>
            <a:r>
              <a:rPr kumimoji="1" lang="ja-JP" altLang="en-US" sz="3600" b="1">
                <a:solidFill>
                  <a:srgbClr val="002060"/>
                </a:solidFill>
                <a:latin typeface="Calibri" panose="020F0502020204030204" pitchFamily="34" charset="0"/>
                <a:cs typeface="Calibri" panose="020F0502020204030204" pitchFamily="34" charset="0"/>
              </a:rPr>
              <a:t>回帰分析から因果分析へ</a:t>
            </a:r>
          </a:p>
        </p:txBody>
      </p:sp>
      <p:sp>
        <p:nvSpPr>
          <p:cNvPr id="3" name="字幕 2">
            <a:extLst>
              <a:ext uri="{FF2B5EF4-FFF2-40B4-BE49-F238E27FC236}">
                <a16:creationId xmlns:a16="http://schemas.microsoft.com/office/drawing/2014/main" id="{74716797-EF17-64DA-FA89-10FEA2F64C8A}"/>
              </a:ext>
            </a:extLst>
          </p:cNvPr>
          <p:cNvSpPr>
            <a:spLocks noGrp="1"/>
          </p:cNvSpPr>
          <p:nvPr>
            <p:ph type="subTitle" idx="1"/>
          </p:nvPr>
        </p:nvSpPr>
        <p:spPr>
          <a:xfrm>
            <a:off x="1524000" y="3657600"/>
            <a:ext cx="9144000" cy="1970570"/>
          </a:xfrm>
        </p:spPr>
        <p:txBody>
          <a:bodyPr>
            <a:normAutofit/>
          </a:bodyPr>
          <a:lstStyle/>
          <a:p>
            <a:pPr>
              <a:lnSpc>
                <a:spcPct val="120000"/>
              </a:lnSpc>
            </a:pPr>
            <a:r>
              <a:rPr lang="ja-JP" altLang="en-US"/>
              <a:t>加藤真大</a:t>
            </a:r>
            <a:endParaRPr lang="en-US" altLang="ja-JP" dirty="0"/>
          </a:p>
          <a:p>
            <a:pPr>
              <a:lnSpc>
                <a:spcPct val="120000"/>
              </a:lnSpc>
            </a:pPr>
            <a:r>
              <a:rPr lang="ja-JP" altLang="en-US"/>
              <a:t>大阪公立大学</a:t>
            </a:r>
            <a:br>
              <a:rPr lang="en-US" altLang="ja-JP" dirty="0"/>
            </a:br>
            <a:r>
              <a:rPr lang="ja-JP" altLang="en-US"/>
              <a:t>理研</a:t>
            </a:r>
            <a:r>
              <a:rPr lang="en-US" altLang="ja-JP" dirty="0"/>
              <a:t>AIP</a:t>
            </a:r>
          </a:p>
        </p:txBody>
      </p:sp>
    </p:spTree>
    <p:extLst>
      <p:ext uri="{BB962C8B-B14F-4D97-AF65-F5344CB8AC3E}">
        <p14:creationId xmlns:p14="http://schemas.microsoft.com/office/powerpoint/2010/main" val="371025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72347-624D-1343-1DE5-90E223E27AE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6C8775E-87B3-EC14-9289-4133D9D6B03C}"/>
              </a:ext>
            </a:extLst>
          </p:cNvPr>
          <p:cNvSpPr>
            <a:spLocks noGrp="1"/>
          </p:cNvSpPr>
          <p:nvPr>
            <p:ph type="title"/>
          </p:nvPr>
        </p:nvSpPr>
        <p:spPr/>
        <p:txBody>
          <a:bodyPr/>
          <a:lstStyle/>
          <a:p>
            <a:r>
              <a:rPr kumimoji="1" lang="ja-JP" altLang="en-US"/>
              <a:t>ポイント</a:t>
            </a:r>
          </a:p>
        </p:txBody>
      </p:sp>
      <p:sp>
        <p:nvSpPr>
          <p:cNvPr id="3" name="コンテンツ プレースホルダー 2">
            <a:extLst>
              <a:ext uri="{FF2B5EF4-FFF2-40B4-BE49-F238E27FC236}">
                <a16:creationId xmlns:a16="http://schemas.microsoft.com/office/drawing/2014/main" id="{048A5560-B1AE-7914-87EB-BD26CD607751}"/>
              </a:ext>
            </a:extLst>
          </p:cNvPr>
          <p:cNvSpPr>
            <a:spLocks noGrp="1"/>
          </p:cNvSpPr>
          <p:nvPr>
            <p:ph idx="1"/>
          </p:nvPr>
        </p:nvSpPr>
        <p:spPr/>
        <p:txBody>
          <a:bodyPr>
            <a:normAutofit/>
          </a:bodyPr>
          <a:lstStyle/>
          <a:p>
            <a:r>
              <a:rPr lang="ja-JP" altLang="en-US" sz="2000">
                <a:latin typeface="Noto Sans JP" panose="020B0200000000000000" pitchFamily="34" charset="-128"/>
                <a:ea typeface="Noto Sans JP" panose="020B0200000000000000" pitchFamily="34" charset="-128"/>
              </a:rPr>
              <a:t>復習</a:t>
            </a:r>
            <a:endParaRPr lang="en-US" altLang="ja-JP" sz="2000"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因果効果</a:t>
            </a:r>
            <a:endParaRPr lang="en-US" altLang="ja-JP" sz="2000" dirty="0">
              <a:latin typeface="Noto Sans JP" panose="020B0200000000000000" pitchFamily="34" charset="-128"/>
              <a:ea typeface="Noto Sans JP" panose="020B0200000000000000" pitchFamily="34" charset="-128"/>
            </a:endParaRPr>
          </a:p>
          <a:p>
            <a:pPr lvl="2"/>
            <a:r>
              <a:rPr lang="ja-JP" altLang="en-US" sz="2000">
                <a:latin typeface="Noto Sans JP" panose="020B0200000000000000" pitchFamily="34" charset="-128"/>
                <a:ea typeface="Noto Sans JP" panose="020B0200000000000000" pitchFamily="34" charset="-128"/>
              </a:rPr>
              <a:t>ある行動を起こした場合に得られるアウトカム</a:t>
            </a:r>
            <a:endParaRPr lang="en-US" altLang="ja-JP" sz="2000" dirty="0">
              <a:latin typeface="Noto Sans JP" panose="020B0200000000000000" pitchFamily="34" charset="-128"/>
              <a:ea typeface="Noto Sans JP" panose="020B0200000000000000" pitchFamily="34" charset="-128"/>
            </a:endParaRPr>
          </a:p>
          <a:p>
            <a:pPr lvl="3"/>
            <a:r>
              <a:rPr lang="ja-JP" altLang="en-US" sz="2000">
                <a:latin typeface="Noto Sans JP" panose="020B0200000000000000" pitchFamily="34" charset="-128"/>
                <a:ea typeface="Noto Sans JP" panose="020B0200000000000000" pitchFamily="34" charset="-128"/>
              </a:rPr>
              <a:t>「他の要因が等しい」状況での比較</a:t>
            </a:r>
            <a:endParaRPr lang="en-US" altLang="ja-JP" sz="2000"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様々な定義</a:t>
            </a:r>
            <a:endParaRPr lang="en-US" altLang="ja-JP" sz="2000" dirty="0">
              <a:latin typeface="Noto Sans JP" panose="020B0200000000000000" pitchFamily="34" charset="-128"/>
              <a:ea typeface="Noto Sans JP" panose="020B0200000000000000" pitchFamily="34" charset="-128"/>
            </a:endParaRPr>
          </a:p>
          <a:p>
            <a:pPr lvl="2"/>
            <a:r>
              <a:rPr lang="ja-JP" altLang="en-US" sz="2000">
                <a:latin typeface="Noto Sans JP" panose="020B0200000000000000" pitchFamily="34" charset="-128"/>
                <a:ea typeface="Noto Sans JP" panose="020B0200000000000000" pitchFamily="34" charset="-128"/>
              </a:rPr>
              <a:t>平均処置効果（</a:t>
            </a:r>
            <a:r>
              <a:rPr lang="en-US" altLang="ja-JP" sz="2000" dirty="0">
                <a:latin typeface="Noto Sans JP" panose="020B0200000000000000" pitchFamily="34" charset="-128"/>
                <a:ea typeface="Noto Sans JP" panose="020B0200000000000000" pitchFamily="34" charset="-128"/>
              </a:rPr>
              <a:t>ATE</a:t>
            </a:r>
            <a:r>
              <a:rPr lang="ja-JP" altLang="en-US" sz="2000">
                <a:latin typeface="Noto Sans JP" panose="020B0200000000000000" pitchFamily="34" charset="-128"/>
                <a:ea typeface="Noto Sans JP" panose="020B0200000000000000" pitchFamily="34" charset="-128"/>
              </a:rPr>
              <a:t>）・処置群上の</a:t>
            </a:r>
            <a:r>
              <a:rPr lang="en-US" altLang="ja-JP" sz="2000" dirty="0"/>
              <a:t>ATE</a:t>
            </a:r>
            <a:r>
              <a:rPr lang="ja-JP" altLang="en-US" sz="2000">
                <a:latin typeface="Noto Sans JP" panose="020B0200000000000000" pitchFamily="34" charset="-128"/>
                <a:ea typeface="Noto Sans JP" panose="020B0200000000000000" pitchFamily="34" charset="-128"/>
              </a:rPr>
              <a:t>（</a:t>
            </a:r>
            <a:r>
              <a:rPr lang="en-US" altLang="ja-JP" sz="2000" dirty="0">
                <a:latin typeface="Noto Sans JP" panose="020B0200000000000000" pitchFamily="34" charset="-128"/>
                <a:ea typeface="Noto Sans JP" panose="020B0200000000000000" pitchFamily="34" charset="-128"/>
              </a:rPr>
              <a:t>ATT</a:t>
            </a:r>
            <a:r>
              <a:rPr lang="ja-JP" altLang="en-US" sz="2000">
                <a:latin typeface="Noto Sans JP" panose="020B0200000000000000" pitchFamily="34" charset="-128"/>
                <a:ea typeface="Noto Sans JP" panose="020B0200000000000000" pitchFamily="34" charset="-128"/>
              </a:rPr>
              <a:t>）・限界効果（</a:t>
            </a:r>
            <a:r>
              <a:rPr lang="en-US" altLang="ja-JP" sz="2000" dirty="0">
                <a:latin typeface="Noto Sans JP" panose="020B0200000000000000" pitchFamily="34" charset="-128"/>
                <a:ea typeface="Noto Sans JP" panose="020B0200000000000000" pitchFamily="34" charset="-128"/>
              </a:rPr>
              <a:t>AME</a:t>
            </a:r>
            <a:r>
              <a:rPr lang="ja-JP" altLang="en-US" sz="2000">
                <a:latin typeface="Noto Sans JP" panose="020B0200000000000000" pitchFamily="34" charset="-128"/>
                <a:ea typeface="Noto Sans JP" panose="020B0200000000000000" pitchFamily="34" charset="-128"/>
              </a:rPr>
              <a:t>）など</a:t>
            </a:r>
            <a:endParaRPr lang="en-US" altLang="ja-JP" sz="2000" dirty="0">
              <a:latin typeface="Noto Sans JP" panose="020B0200000000000000" pitchFamily="34" charset="-128"/>
              <a:ea typeface="Noto Sans JP" panose="020B0200000000000000" pitchFamily="34" charset="-128"/>
            </a:endParaRPr>
          </a:p>
          <a:p>
            <a:endParaRPr kumimoji="1" lang="en-US" altLang="ja-JP" sz="2000" dirty="0">
              <a:latin typeface="Noto Sans JP" panose="020B0200000000000000" pitchFamily="34" charset="-128"/>
              <a:ea typeface="Noto Sans JP" panose="020B0200000000000000" pitchFamily="34" charset="-128"/>
            </a:endParaRPr>
          </a:p>
          <a:p>
            <a:r>
              <a:rPr lang="ja-JP" altLang="en-US" sz="2000"/>
              <a:t>このスライドで</a:t>
            </a:r>
            <a:r>
              <a:rPr lang="ja-JP" altLang="en-US" sz="2000">
                <a:latin typeface="Noto Sans JP" panose="020B0200000000000000" pitchFamily="34" charset="-128"/>
                <a:ea typeface="Noto Sans JP" panose="020B0200000000000000" pitchFamily="34" charset="-128"/>
              </a:rPr>
              <a:t>扱う内容</a:t>
            </a:r>
            <a:endParaRPr lang="en-US" altLang="ja-JP" sz="2000" dirty="0">
              <a:latin typeface="Noto Sans JP" panose="020B0200000000000000" pitchFamily="34" charset="-128"/>
              <a:ea typeface="Noto Sans JP" panose="020B0200000000000000" pitchFamily="34" charset="-128"/>
            </a:endParaRPr>
          </a:p>
          <a:p>
            <a:pPr lvl="1"/>
            <a:r>
              <a:rPr lang="ja-JP" altLang="en-US" sz="2000"/>
              <a:t>テーマ</a:t>
            </a:r>
            <a:r>
              <a:rPr lang="ja-JP" altLang="en-US" sz="2000">
                <a:latin typeface="Noto Sans JP" panose="020B0200000000000000" pitchFamily="34" charset="-128"/>
                <a:ea typeface="Noto Sans JP" panose="020B0200000000000000" pitchFamily="34" charset="-128"/>
              </a:rPr>
              <a:t>「回帰分析から因果分析へ」</a:t>
            </a:r>
            <a:endParaRPr lang="en-US" altLang="ja-JP" sz="2000" dirty="0">
              <a:latin typeface="Noto Sans JP" panose="020B0200000000000000" pitchFamily="34" charset="-128"/>
              <a:ea typeface="Noto Sans JP" panose="020B0200000000000000" pitchFamily="34" charset="-128"/>
            </a:endParaRPr>
          </a:p>
          <a:p>
            <a:pPr lvl="1"/>
            <a:r>
              <a:rPr kumimoji="1" lang="en-US" altLang="ja-JP" sz="2000" dirty="0">
                <a:latin typeface="Noto Sans JP" panose="020B0200000000000000" pitchFamily="34" charset="-128"/>
                <a:ea typeface="Noto Sans JP" panose="020B0200000000000000" pitchFamily="34" charset="-128"/>
              </a:rPr>
              <a:t>ATE </a:t>
            </a:r>
            <a:r>
              <a:rPr kumimoji="1" lang="ja-JP" altLang="en-US" sz="2000">
                <a:latin typeface="Noto Sans JP" panose="020B0200000000000000" pitchFamily="34" charset="-128"/>
                <a:ea typeface="Noto Sans JP" panose="020B0200000000000000" pitchFamily="34" charset="-128"/>
              </a:rPr>
              <a:t>の推定に焦点を当てて考える</a:t>
            </a:r>
            <a:endParaRPr kumimoji="1" lang="en-US" altLang="ja-JP" sz="2000" dirty="0">
              <a:latin typeface="Noto Sans JP" panose="020B0200000000000000" pitchFamily="34" charset="-128"/>
              <a:ea typeface="Noto Sans JP" panose="020B0200000000000000" pitchFamily="34" charset="-128"/>
            </a:endParaRPr>
          </a:p>
          <a:p>
            <a:pPr lvl="1"/>
            <a:r>
              <a:rPr kumimoji="1" lang="ja-JP" altLang="en-US" sz="2000">
                <a:latin typeface="Noto Sans JP" panose="020B0200000000000000" pitchFamily="34" charset="-128"/>
                <a:ea typeface="Noto Sans JP" panose="020B0200000000000000" pitchFamily="34" charset="-128"/>
              </a:rPr>
              <a:t>線形回帰分析（</a:t>
            </a:r>
            <a:r>
              <a:rPr kumimoji="1" lang="en-US" altLang="ja-JP" sz="2000" dirty="0">
                <a:latin typeface="Noto Sans JP" panose="020B0200000000000000" pitchFamily="34" charset="-128"/>
                <a:ea typeface="Noto Sans JP" panose="020B0200000000000000" pitchFamily="34" charset="-128"/>
              </a:rPr>
              <a:t>OLS</a:t>
            </a:r>
            <a:r>
              <a:rPr kumimoji="1" lang="ja-JP" altLang="en-US" sz="2000">
                <a:latin typeface="Noto Sans JP" panose="020B0200000000000000" pitchFamily="34" charset="-128"/>
                <a:ea typeface="Noto Sans JP" panose="020B0200000000000000" pitchFamily="34" charset="-128"/>
              </a:rPr>
              <a:t>）を用い</a:t>
            </a:r>
            <a:r>
              <a:rPr lang="ja-JP" altLang="en-US" sz="2000">
                <a:latin typeface="Noto Sans JP" panose="020B0200000000000000" pitchFamily="34" charset="-128"/>
                <a:ea typeface="Noto Sans JP" panose="020B0200000000000000" pitchFamily="34" charset="-128"/>
              </a:rPr>
              <a:t>て</a:t>
            </a:r>
            <a:r>
              <a:rPr lang="en-US" altLang="ja-JP" sz="2000" dirty="0">
                <a:latin typeface="Noto Sans JP" panose="020B0200000000000000" pitchFamily="34" charset="-128"/>
                <a:ea typeface="Noto Sans JP" panose="020B0200000000000000" pitchFamily="34" charset="-128"/>
              </a:rPr>
              <a:t> ATE </a:t>
            </a:r>
            <a:r>
              <a:rPr lang="ja-JP" altLang="en-US" sz="2000">
                <a:latin typeface="Noto Sans JP" panose="020B0200000000000000" pitchFamily="34" charset="-128"/>
                <a:ea typeface="Noto Sans JP" panose="020B0200000000000000" pitchFamily="34" charset="-128"/>
              </a:rPr>
              <a:t>を推定する</a:t>
            </a:r>
            <a:endParaRPr lang="en-US" altLang="ja-JP" sz="2000" dirty="0">
              <a:latin typeface="Noto Sans JP" panose="020B0200000000000000" pitchFamily="34" charset="-128"/>
              <a:ea typeface="Noto Sans JP" panose="020B0200000000000000" pitchFamily="34" charset="-128"/>
            </a:endParaRPr>
          </a:p>
          <a:p>
            <a:pPr lvl="1"/>
            <a:r>
              <a:rPr kumimoji="1" lang="ja-JP" altLang="en-US" sz="2000">
                <a:latin typeface="Noto Sans JP" panose="020B0200000000000000" pitchFamily="34" charset="-128"/>
                <a:ea typeface="Noto Sans JP" panose="020B0200000000000000" pitchFamily="34" charset="-128"/>
              </a:rPr>
              <a:t>線形回帰モデルを拡張してノンパラメトリック回帰で</a:t>
            </a:r>
            <a:r>
              <a:rPr kumimoji="1" lang="en-US" altLang="ja-JP" sz="2000" dirty="0">
                <a:latin typeface="Noto Sans JP" panose="020B0200000000000000" pitchFamily="34" charset="-128"/>
                <a:ea typeface="Noto Sans JP" panose="020B0200000000000000" pitchFamily="34" charset="-128"/>
              </a:rPr>
              <a:t> ATE </a:t>
            </a:r>
            <a:r>
              <a:rPr kumimoji="1" lang="ja-JP" altLang="en-US" sz="2000">
                <a:latin typeface="Noto Sans JP" panose="020B0200000000000000" pitchFamily="34" charset="-128"/>
                <a:ea typeface="Noto Sans JP" panose="020B0200000000000000" pitchFamily="34" charset="-128"/>
              </a:rPr>
              <a:t>を推定する</a:t>
            </a:r>
            <a:endParaRPr kumimoji="1" lang="en-US" altLang="ja-JP" sz="2000" dirty="0">
              <a:latin typeface="Noto Sans JP" panose="020B0200000000000000" pitchFamily="34" charset="-128"/>
              <a:ea typeface="Noto Sans JP" panose="020B0200000000000000" pitchFamily="34" charset="-128"/>
            </a:endParaRPr>
          </a:p>
          <a:p>
            <a:pPr lvl="1"/>
            <a:r>
              <a:rPr kumimoji="1" lang="en-US" altLang="ja-JP" sz="2000" dirty="0">
                <a:latin typeface="Noto Sans JP" panose="020B0200000000000000" pitchFamily="34" charset="-128"/>
                <a:ea typeface="Noto Sans JP" panose="020B0200000000000000" pitchFamily="34" charset="-128"/>
              </a:rPr>
              <a:t>ATE </a:t>
            </a:r>
            <a:r>
              <a:rPr kumimoji="1" lang="ja-JP" altLang="en-US" sz="2000">
                <a:latin typeface="Noto Sans JP" panose="020B0200000000000000" pitchFamily="34" charset="-128"/>
                <a:ea typeface="Noto Sans JP" panose="020B0200000000000000" pitchFamily="34" charset="-128"/>
              </a:rPr>
              <a:t>の異質性や外挿の問題を理解する</a:t>
            </a:r>
            <a:endParaRPr kumimoji="1" lang="en-US" altLang="ja-JP" sz="2000" dirty="0">
              <a:latin typeface="Noto Sans JP" panose="020B0200000000000000" pitchFamily="34" charset="-128"/>
              <a:ea typeface="Noto Sans JP" panose="020B0200000000000000" pitchFamily="34" charset="-128"/>
            </a:endParaRPr>
          </a:p>
        </p:txBody>
      </p:sp>
    </p:spTree>
    <p:extLst>
      <p:ext uri="{BB962C8B-B14F-4D97-AF65-F5344CB8AC3E}">
        <p14:creationId xmlns:p14="http://schemas.microsoft.com/office/powerpoint/2010/main" val="3605342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FD9E6-A454-4DE9-1494-9ADF79845F0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E7EC2D6-BD9E-774C-D9B0-C76C29AC1138}"/>
              </a:ext>
            </a:extLst>
          </p:cNvPr>
          <p:cNvSpPr>
            <a:spLocks noGrp="1"/>
          </p:cNvSpPr>
          <p:nvPr>
            <p:ph type="title"/>
          </p:nvPr>
        </p:nvSpPr>
        <p:spPr/>
        <p:txBody>
          <a:bodyPr/>
          <a:lstStyle/>
          <a:p>
            <a:r>
              <a:rPr lang="ja-JP" altLang="en-US"/>
              <a:t>回帰分析と因果分析</a:t>
            </a:r>
            <a:endParaRPr kumimoji="1" lang="ja-JP" altLang="en-US"/>
          </a:p>
        </p:txBody>
      </p:sp>
      <p:sp>
        <p:nvSpPr>
          <p:cNvPr id="3" name="テキスト プレースホルダー 2">
            <a:extLst>
              <a:ext uri="{FF2B5EF4-FFF2-40B4-BE49-F238E27FC236}">
                <a16:creationId xmlns:a16="http://schemas.microsoft.com/office/drawing/2014/main" id="{5B29FA17-9609-9090-93F4-6373A112B405}"/>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2514620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433AE-E387-A4C0-D9A2-EB6875C4641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4D9AC4B-FB86-880E-C347-6E9E2A3F5DBF}"/>
              </a:ext>
            </a:extLst>
          </p:cNvPr>
          <p:cNvSpPr>
            <a:spLocks noGrp="1"/>
          </p:cNvSpPr>
          <p:nvPr>
            <p:ph type="title"/>
          </p:nvPr>
        </p:nvSpPr>
        <p:spPr/>
        <p:txBody>
          <a:bodyPr/>
          <a:lstStyle/>
          <a:p>
            <a:r>
              <a:rPr kumimoji="1" lang="ja-JP" altLang="en-US"/>
              <a:t>回帰分析と因果分析</a:t>
            </a:r>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E895B8E0-1EAC-861B-B038-BB480868C837}"/>
                  </a:ext>
                </a:extLst>
              </p:cNvPr>
              <p:cNvSpPr>
                <a:spLocks noGrp="1"/>
              </p:cNvSpPr>
              <p:nvPr>
                <p:ph idx="1"/>
              </p:nvPr>
            </p:nvSpPr>
            <p:spPr/>
            <p:txBody>
              <a:bodyPr>
                <a:noAutofit/>
              </a:bodyPr>
              <a:lstStyle/>
              <a:p>
                <a:r>
                  <a:rPr kumimoji="1" lang="ja-JP" altLang="en-US" sz="2000"/>
                  <a:t>回帰分析：</a:t>
                </a:r>
                <a:r>
                  <a:rPr kumimoji="1" lang="en-US" altLang="ja-JP" sz="2000" dirty="0"/>
                  <a:t> </a:t>
                </a:r>
                <a:r>
                  <a:rPr kumimoji="1" lang="ja-JP" altLang="en-US" sz="2000"/>
                  <a:t>変数</a:t>
                </a:r>
                <a14:m>
                  <m:oMath xmlns:m="http://schemas.openxmlformats.org/officeDocument/2006/math">
                    <m:r>
                      <a:rPr kumimoji="1" lang="en-US" altLang="ja-JP" sz="2000" b="0" i="1" smtClean="0">
                        <a:latin typeface="Cambria Math" panose="02040503050406030204" pitchFamily="18" charset="0"/>
                      </a:rPr>
                      <m:t>𝑋</m:t>
                    </m:r>
                  </m:oMath>
                </a14:m>
                <a:r>
                  <a:rPr kumimoji="1" lang="ja-JP" altLang="en-US" sz="2000"/>
                  <a:t>と変数</a:t>
                </a:r>
                <a14:m>
                  <m:oMath xmlns:m="http://schemas.openxmlformats.org/officeDocument/2006/math">
                    <m:r>
                      <a:rPr kumimoji="1" lang="en-US" altLang="ja-JP" sz="2000" b="0" i="1" smtClean="0">
                        <a:latin typeface="Cambria Math" panose="02040503050406030204" pitchFamily="18" charset="0"/>
                      </a:rPr>
                      <m:t>𝑌</m:t>
                    </m:r>
                  </m:oMath>
                </a14:m>
                <a:r>
                  <a:rPr kumimoji="1" lang="ja-JP" altLang="en-US" sz="2000" dirty="0"/>
                  <a:t>の</a:t>
                </a:r>
                <a:r>
                  <a:rPr kumimoji="1" lang="ja-JP" altLang="en-US" sz="2000"/>
                  <a:t>間の関係をデータを用いて検証する枠組み</a:t>
                </a:r>
                <a:endParaRPr kumimoji="1" lang="en-US" altLang="ja-JP" sz="2000" dirty="0"/>
              </a:p>
              <a:p>
                <a:endParaRPr lang="en-US" altLang="ja-JP" sz="2000" dirty="0"/>
              </a:p>
              <a:p>
                <a:pPr marL="0" indent="0">
                  <a:buNone/>
                </a:pPr>
                <a:endParaRPr lang="en-US" altLang="ja-JP" sz="2000" dirty="0"/>
              </a:p>
              <a:p>
                <a:pPr marL="0" indent="0">
                  <a:buNone/>
                </a:pPr>
                <a:endParaRPr lang="en-US" altLang="ja-JP" sz="2000" dirty="0"/>
              </a:p>
              <a:p>
                <a:pPr lvl="1"/>
                <a:r>
                  <a:rPr kumimoji="1" lang="ja-JP" altLang="en-US" sz="2000"/>
                  <a:t>回帰分析と因果分析・因果推論・</a:t>
                </a:r>
                <a:r>
                  <a:rPr lang="ja-JP" altLang="en-US" sz="2000"/>
                  <a:t>因果効果</a:t>
                </a:r>
                <a:r>
                  <a:rPr kumimoji="1" lang="ja-JP" altLang="en-US" sz="2000"/>
                  <a:t>の推定を区別することは</a:t>
                </a:r>
                <a:r>
                  <a:rPr lang="ja-JP" altLang="en-US" sz="2000"/>
                  <a:t>できるのか</a:t>
                </a:r>
                <a:endParaRPr lang="en-US" altLang="ja-JP" sz="2000" dirty="0"/>
              </a:p>
              <a:p>
                <a:pPr lvl="1"/>
                <a:r>
                  <a:rPr kumimoji="1" lang="ja-JP" altLang="en-US" sz="2000"/>
                  <a:t>一部の回帰分析が、適当な仮定のもとで因果分析として解釈されうるのではないか</a:t>
                </a:r>
                <a:endParaRPr kumimoji="1" lang="en-US" altLang="ja-JP" sz="2000" dirty="0"/>
              </a:p>
              <a:p>
                <a:pPr lvl="2"/>
                <a:endParaRPr lang="en-US" altLang="ja-JP" sz="800" dirty="0"/>
              </a:p>
              <a:p>
                <a:r>
                  <a:rPr lang="ja-JP" altLang="en-US" sz="2000"/>
                  <a:t>一般的な回帰分析の分析対象は相関？</a:t>
                </a:r>
                <a:endParaRPr lang="en-US" altLang="ja-JP" sz="2000" dirty="0"/>
              </a:p>
              <a:p>
                <a:pPr lvl="1">
                  <a:buClr>
                    <a:srgbClr val="FFC000"/>
                  </a:buClr>
                  <a:buFont typeface="Wingdings" pitchFamily="2" charset="2"/>
                  <a:buChar char="Ø"/>
                </a:pPr>
                <a:r>
                  <a:rPr lang="ja-JP" altLang="en-US" sz="2000" b="1"/>
                  <a:t>相関</a:t>
                </a:r>
                <a:r>
                  <a:rPr lang="en-US" altLang="ja-JP" sz="2000" b="1" dirty="0"/>
                  <a:t> vs </a:t>
                </a:r>
                <a:r>
                  <a:rPr lang="ja-JP" altLang="en-US" sz="2000" b="1"/>
                  <a:t>因果</a:t>
                </a:r>
                <a:endParaRPr lang="en-US" altLang="ja-JP" sz="2000" b="1" dirty="0"/>
              </a:p>
              <a:p>
                <a:pPr lvl="2"/>
                <a:r>
                  <a:rPr lang="ja-JP" altLang="en-US" sz="2000"/>
                  <a:t>相関と因果は違う</a:t>
                </a:r>
                <a:endParaRPr lang="en-US" altLang="ja-JP" sz="2000" dirty="0"/>
              </a:p>
              <a:p>
                <a:pPr lvl="3"/>
                <a:r>
                  <a:rPr lang="ja-JP" altLang="en-US" sz="2000"/>
                  <a:t>相関は因果を含むと解釈できる</a:t>
                </a:r>
                <a:endParaRPr lang="en-US" altLang="ja-JP" sz="2000" dirty="0"/>
              </a:p>
              <a:p>
                <a:pPr lvl="3"/>
                <a:r>
                  <a:rPr lang="ja-JP" altLang="en-US" sz="2000"/>
                  <a:t>回帰分析は相関の分析も因果効果の分析も含む</a:t>
                </a:r>
                <a:endParaRPr lang="en-US" altLang="ja-JP" sz="2000" dirty="0"/>
              </a:p>
              <a:p>
                <a:pPr lvl="2"/>
                <a:r>
                  <a:rPr lang="ja-JP" altLang="en-US" sz="2000"/>
                  <a:t>ただし、数式や分析・実装レベルでは大きな違いは生じない</a:t>
                </a:r>
                <a:endParaRPr lang="en-US" altLang="ja-JP" sz="2000" dirty="0"/>
              </a:p>
              <a:p>
                <a:pPr lvl="3"/>
                <a:r>
                  <a:rPr lang="ja-JP" altLang="en-US" sz="2000"/>
                  <a:t>仮定の問題であるとも言える</a:t>
                </a:r>
                <a:endParaRPr lang="en-US" altLang="ja-JP" sz="2000" dirty="0"/>
              </a:p>
              <a:p>
                <a:pPr lvl="3"/>
                <a:endParaRPr lang="en-US" altLang="ja-JP" sz="800" dirty="0"/>
              </a:p>
              <a:p>
                <a:pPr lvl="1"/>
                <a:r>
                  <a:rPr lang="ja-JP" altLang="en-US" sz="2000"/>
                  <a:t>因果分析の手法を用いたからといって因果効果を推定できるわけではないし、</a:t>
                </a:r>
                <a:br>
                  <a:rPr lang="en-US" altLang="ja-JP" sz="2000" dirty="0"/>
                </a:br>
                <a:r>
                  <a:rPr lang="ja-JP" altLang="en-US" sz="2000"/>
                  <a:t>回帰分析が常に相関を分析しているわけでもない</a:t>
                </a:r>
                <a:endParaRPr lang="en-US" altLang="ja-JP" sz="2000" dirty="0"/>
              </a:p>
              <a:p>
                <a:pPr lvl="2"/>
                <a:endParaRPr lang="en-US" altLang="ja-JP" sz="2000" dirty="0"/>
              </a:p>
              <a:p>
                <a:endParaRPr lang="en-US" altLang="ja-JP" sz="2000" dirty="0"/>
              </a:p>
              <a:p>
                <a:endParaRPr kumimoji="1" lang="en-US" altLang="ja-JP" sz="2000" dirty="0"/>
              </a:p>
            </p:txBody>
          </p:sp>
        </mc:Choice>
        <mc:Fallback>
          <p:sp>
            <p:nvSpPr>
              <p:cNvPr id="3" name="コンテンツ プレースホルダー 2">
                <a:extLst>
                  <a:ext uri="{FF2B5EF4-FFF2-40B4-BE49-F238E27FC236}">
                    <a16:creationId xmlns:a16="http://schemas.microsoft.com/office/drawing/2014/main" id="{E895B8E0-1EAC-861B-B038-BB480868C837}"/>
                  </a:ext>
                </a:extLst>
              </p:cNvPr>
              <p:cNvSpPr>
                <a:spLocks noGrp="1" noRot="1" noChangeAspect="1" noMove="1" noResize="1" noEditPoints="1" noAdjustHandles="1" noChangeArrowheads="1" noChangeShapeType="1" noTextEdit="1"/>
              </p:cNvSpPr>
              <p:nvPr>
                <p:ph idx="1"/>
              </p:nvPr>
            </p:nvSpPr>
            <p:spPr>
              <a:blipFill>
                <a:blip r:embed="rId2"/>
                <a:stretch>
                  <a:fillRect l="-603" t="-709" b="-709"/>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 name="円/楕円 3">
                <a:extLst>
                  <a:ext uri="{FF2B5EF4-FFF2-40B4-BE49-F238E27FC236}">
                    <a16:creationId xmlns:a16="http://schemas.microsoft.com/office/drawing/2014/main" id="{718ECF39-0236-736B-ACE5-1C2584B11B58}"/>
                  </a:ext>
                </a:extLst>
              </p:cNvPr>
              <p:cNvSpPr/>
              <p:nvPr/>
            </p:nvSpPr>
            <p:spPr>
              <a:xfrm>
                <a:off x="4409502" y="1594625"/>
                <a:ext cx="799752" cy="796964"/>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kumimoji="1" lang="en-US" altLang="ja-JP" b="0" i="1" smtClean="0">
                          <a:ln>
                            <a:solidFill>
                              <a:schemeClr val="tx1"/>
                            </a:solidFill>
                          </a:ln>
                          <a:solidFill>
                            <a:schemeClr val="tx1"/>
                          </a:solidFill>
                          <a:latin typeface="Cambria Math" panose="02040503050406030204" pitchFamily="18" charset="0"/>
                        </a:rPr>
                        <m:t>𝑋</m:t>
                      </m:r>
                    </m:oMath>
                  </m:oMathPara>
                </a14:m>
                <a:endParaRPr kumimoji="1" lang="ja-JP" altLang="en-US">
                  <a:ln>
                    <a:solidFill>
                      <a:schemeClr val="tx1"/>
                    </a:solidFill>
                  </a:ln>
                  <a:noFill/>
                </a:endParaRPr>
              </a:p>
            </p:txBody>
          </p:sp>
        </mc:Choice>
        <mc:Fallback>
          <p:sp>
            <p:nvSpPr>
              <p:cNvPr id="4" name="円/楕円 3">
                <a:extLst>
                  <a:ext uri="{FF2B5EF4-FFF2-40B4-BE49-F238E27FC236}">
                    <a16:creationId xmlns:a16="http://schemas.microsoft.com/office/drawing/2014/main" id="{718ECF39-0236-736B-ACE5-1C2584B11B58}"/>
                  </a:ext>
                </a:extLst>
              </p:cNvPr>
              <p:cNvSpPr>
                <a:spLocks noRot="1" noChangeAspect="1" noMove="1" noResize="1" noEditPoints="1" noAdjustHandles="1" noChangeArrowheads="1" noChangeShapeType="1" noTextEdit="1"/>
              </p:cNvSpPr>
              <p:nvPr/>
            </p:nvSpPr>
            <p:spPr>
              <a:xfrm>
                <a:off x="4409502" y="1594625"/>
                <a:ext cx="799752" cy="796964"/>
              </a:xfrm>
              <a:prstGeom prst="ellipse">
                <a:avLst/>
              </a:prstGeom>
              <a:blipFill>
                <a:blip r:embed="rId3"/>
                <a:stretch>
                  <a:fillRect/>
                </a:stretch>
              </a:blipFill>
              <a:ln w="38100">
                <a:solidFill>
                  <a:schemeClr val="tx1"/>
                </a:solidFill>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6" name="円/楕円 5">
                <a:extLst>
                  <a:ext uri="{FF2B5EF4-FFF2-40B4-BE49-F238E27FC236}">
                    <a16:creationId xmlns:a16="http://schemas.microsoft.com/office/drawing/2014/main" id="{139C9AD9-0CF2-F35C-C687-716A39497446}"/>
                  </a:ext>
                </a:extLst>
              </p:cNvPr>
              <p:cNvSpPr/>
              <p:nvPr/>
            </p:nvSpPr>
            <p:spPr>
              <a:xfrm>
                <a:off x="7005049" y="1594625"/>
                <a:ext cx="799752" cy="796964"/>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kumimoji="1" lang="en-US" altLang="ja-JP" b="0" i="1" smtClean="0">
                          <a:ln>
                            <a:solidFill>
                              <a:schemeClr val="tx1"/>
                            </a:solidFill>
                          </a:ln>
                          <a:solidFill>
                            <a:schemeClr val="tx1"/>
                          </a:solidFill>
                          <a:latin typeface="Cambria Math" panose="02040503050406030204" pitchFamily="18" charset="0"/>
                        </a:rPr>
                        <m:t>𝑌</m:t>
                      </m:r>
                    </m:oMath>
                  </m:oMathPara>
                </a14:m>
                <a:endParaRPr kumimoji="1" lang="ja-JP" altLang="en-US">
                  <a:ln>
                    <a:solidFill>
                      <a:schemeClr val="tx1"/>
                    </a:solidFill>
                  </a:ln>
                  <a:noFill/>
                </a:endParaRPr>
              </a:p>
            </p:txBody>
          </p:sp>
        </mc:Choice>
        <mc:Fallback>
          <p:sp>
            <p:nvSpPr>
              <p:cNvPr id="6" name="円/楕円 5">
                <a:extLst>
                  <a:ext uri="{FF2B5EF4-FFF2-40B4-BE49-F238E27FC236}">
                    <a16:creationId xmlns:a16="http://schemas.microsoft.com/office/drawing/2014/main" id="{139C9AD9-0CF2-F35C-C687-716A39497446}"/>
                  </a:ext>
                </a:extLst>
              </p:cNvPr>
              <p:cNvSpPr>
                <a:spLocks noRot="1" noChangeAspect="1" noMove="1" noResize="1" noEditPoints="1" noAdjustHandles="1" noChangeArrowheads="1" noChangeShapeType="1" noTextEdit="1"/>
              </p:cNvSpPr>
              <p:nvPr/>
            </p:nvSpPr>
            <p:spPr>
              <a:xfrm>
                <a:off x="7005049" y="1594625"/>
                <a:ext cx="799752" cy="796964"/>
              </a:xfrm>
              <a:prstGeom prst="ellipse">
                <a:avLst/>
              </a:prstGeom>
              <a:blipFill>
                <a:blip r:embed="rId4"/>
                <a:stretch>
                  <a:fillRect/>
                </a:stretch>
              </a:blipFill>
              <a:ln w="38100">
                <a:solidFill>
                  <a:schemeClr val="tx1"/>
                </a:solidFill>
              </a:ln>
            </p:spPr>
            <p:txBody>
              <a:bodyPr/>
              <a:lstStyle/>
              <a:p>
                <a:r>
                  <a:rPr lang="ja-JP" altLang="en-US">
                    <a:noFill/>
                  </a:rPr>
                  <a:t> </a:t>
                </a:r>
              </a:p>
            </p:txBody>
          </p:sp>
        </mc:Fallback>
      </mc:AlternateContent>
      <p:cxnSp>
        <p:nvCxnSpPr>
          <p:cNvPr id="8" name="直線矢印コネクタ 7">
            <a:extLst>
              <a:ext uri="{FF2B5EF4-FFF2-40B4-BE49-F238E27FC236}">
                <a16:creationId xmlns:a16="http://schemas.microsoft.com/office/drawing/2014/main" id="{ACAAA00D-D176-4C88-7792-F2D0D76E7CE4}"/>
              </a:ext>
            </a:extLst>
          </p:cNvPr>
          <p:cNvCxnSpPr>
            <a:cxnSpLocks/>
          </p:cNvCxnSpPr>
          <p:nvPr/>
        </p:nvCxnSpPr>
        <p:spPr>
          <a:xfrm>
            <a:off x="5409628" y="1970130"/>
            <a:ext cx="1395046" cy="0"/>
          </a:xfrm>
          <a:prstGeom prst="straightConnector1">
            <a:avLst/>
          </a:prstGeom>
          <a:ln w="63500">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8650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81F86-6B5B-9BC0-787D-10D086297DF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D2DEE42-4A4F-CE37-05D5-7B596CDAC261}"/>
              </a:ext>
            </a:extLst>
          </p:cNvPr>
          <p:cNvSpPr>
            <a:spLocks noGrp="1"/>
          </p:cNvSpPr>
          <p:nvPr>
            <p:ph type="title"/>
          </p:nvPr>
        </p:nvSpPr>
        <p:spPr/>
        <p:txBody>
          <a:bodyPr/>
          <a:lstStyle/>
          <a:p>
            <a:r>
              <a:rPr kumimoji="1" lang="ja-JP" altLang="en-US"/>
              <a:t>回帰分析</a:t>
            </a:r>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58837D63-6B8F-B1F3-1768-C9E906A0E39B}"/>
                  </a:ext>
                </a:extLst>
              </p:cNvPr>
              <p:cNvSpPr>
                <a:spLocks noGrp="1"/>
              </p:cNvSpPr>
              <p:nvPr>
                <p:ph idx="1"/>
              </p:nvPr>
            </p:nvSpPr>
            <p:spPr/>
            <p:txBody>
              <a:bodyPr>
                <a:noAutofit/>
              </a:bodyPr>
              <a:lstStyle/>
              <a:p>
                <a:r>
                  <a:rPr lang="ja-JP" altLang="en-US" sz="2000" b="1"/>
                  <a:t>回帰関数（</a:t>
                </a:r>
                <a:r>
                  <a:rPr lang="en-US" altLang="ja-JP" sz="2000" b="1" dirty="0"/>
                  <a:t>regression function</a:t>
                </a:r>
                <a:r>
                  <a:rPr lang="ja-JP" altLang="en-US" sz="2000" b="1"/>
                  <a:t>）</a:t>
                </a:r>
                <a:endParaRPr lang="en-US" altLang="ja-JP" sz="2000" b="1" dirty="0"/>
              </a:p>
              <a:p>
                <a:pPr lvl="1"/>
                <a:r>
                  <a:rPr lang="ja-JP" altLang="en-US" sz="2000"/>
                  <a:t>変数</a:t>
                </a:r>
                <a:r>
                  <a:rPr lang="en-US" altLang="ja-JP" sz="2000" dirty="0"/>
                  <a:t> </a:t>
                </a:r>
                <a14:m>
                  <m:oMath xmlns:m="http://schemas.openxmlformats.org/officeDocument/2006/math">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𝑋</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𝑌</m:t>
                    </m:r>
                    <m:r>
                      <a:rPr lang="en-US" altLang="ja-JP" sz="2000" b="0" i="1" smtClean="0">
                        <a:latin typeface="Cambria Math" panose="02040503050406030204" pitchFamily="18" charset="0"/>
                      </a:rPr>
                      <m:t>)</m:t>
                    </m:r>
                  </m:oMath>
                </a14:m>
                <a:r>
                  <a:rPr lang="ja-JP" altLang="en-US" sz="2000" dirty="0"/>
                  <a:t> </a:t>
                </a:r>
                <a:r>
                  <a:rPr lang="ja-JP" altLang="en-US" sz="2000"/>
                  <a:t>が従う分布を</a:t>
                </a:r>
                <a:r>
                  <a:rPr lang="en-US" altLang="ja-JP" sz="2000" dirty="0"/>
                  <a:t> </a:t>
                </a:r>
                <a14:m>
                  <m:oMath xmlns:m="http://schemas.openxmlformats.org/officeDocument/2006/math">
                    <m:r>
                      <a:rPr lang="en-US" altLang="ja-JP" sz="2000" b="0" i="1" smtClean="0">
                        <a:latin typeface="Cambria Math" panose="02040503050406030204" pitchFamily="18" charset="0"/>
                      </a:rPr>
                      <m:t>𝑃</m:t>
                    </m:r>
                  </m:oMath>
                </a14:m>
                <a:r>
                  <a:rPr lang="en-US" altLang="ja-JP" sz="2000" dirty="0"/>
                  <a:t> </a:t>
                </a:r>
                <a:r>
                  <a:rPr lang="ja-JP" altLang="en-US" sz="2000" dirty="0"/>
                  <a:t>とする</a:t>
                </a:r>
                <a:endParaRPr lang="en-US" altLang="ja-JP" sz="2000" dirty="0"/>
              </a:p>
              <a:p>
                <a:pPr lvl="1"/>
                <a:r>
                  <a:rPr lang="ja-JP" altLang="en-US" sz="2000"/>
                  <a:t>回帰関数</a:t>
                </a:r>
                <a:r>
                  <a:rPr lang="en-US" altLang="ja-JP" sz="2000" dirty="0"/>
                  <a:t> </a:t>
                </a:r>
                <a14:m>
                  <m:oMath xmlns:m="http://schemas.openxmlformats.org/officeDocument/2006/math">
                    <m:sSub>
                      <m:sSubPr>
                        <m:ctrlPr>
                          <a:rPr lang="en-US" altLang="ja-JP" sz="2000" b="0" i="1" dirty="0" smtClean="0">
                            <a:latin typeface="Cambria Math" panose="02040503050406030204" pitchFamily="18" charset="0"/>
                          </a:rPr>
                        </m:ctrlPr>
                      </m:sSubPr>
                      <m:e>
                        <m:r>
                          <a:rPr lang="en-US" altLang="ja-JP" sz="2000" i="1" dirty="0">
                            <a:latin typeface="Cambria Math" panose="02040503050406030204" pitchFamily="18" charset="0"/>
                          </a:rPr>
                          <m:t>𝑓</m:t>
                        </m:r>
                      </m:e>
                      <m:sub>
                        <m:r>
                          <a:rPr lang="en-US" altLang="ja-JP" sz="2000" b="0" i="1" dirty="0" smtClean="0">
                            <a:latin typeface="Cambria Math" panose="02040503050406030204" pitchFamily="18" charset="0"/>
                          </a:rPr>
                          <m:t>𝑃</m:t>
                        </m:r>
                      </m:sub>
                    </m:sSub>
                    <m:d>
                      <m:dPr>
                        <m:ctrlPr>
                          <a:rPr lang="en-US" altLang="ja-JP" sz="2000" i="1">
                            <a:latin typeface="Cambria Math" panose="02040503050406030204" pitchFamily="18" charset="0"/>
                          </a:rPr>
                        </m:ctrlPr>
                      </m:dPr>
                      <m:e>
                        <m:r>
                          <a:rPr lang="en-US" altLang="ja-JP" sz="2000" i="1">
                            <a:latin typeface="Cambria Math" panose="02040503050406030204" pitchFamily="18" charset="0"/>
                          </a:rPr>
                          <m:t>𝑥</m:t>
                        </m:r>
                      </m:e>
                    </m:d>
                    <m:r>
                      <a:rPr lang="en-US" altLang="ja-JP" sz="2000" i="1">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i="1">
                            <a:latin typeface="Cambria Math" panose="02040503050406030204" pitchFamily="18" charset="0"/>
                          </a:rPr>
                          <m:t>𝔼</m:t>
                        </m:r>
                      </m:e>
                      <m:sub>
                        <m:r>
                          <a:rPr lang="en-US" altLang="ja-JP" sz="2000" b="0" i="1" smtClean="0">
                            <a:latin typeface="Cambria Math" panose="02040503050406030204" pitchFamily="18" charset="0"/>
                          </a:rPr>
                          <m:t>𝑃</m:t>
                        </m:r>
                      </m:sub>
                    </m:sSub>
                    <m:r>
                      <a:rPr lang="en-US" altLang="ja-JP" sz="2000" i="1">
                        <a:latin typeface="Cambria Math" panose="02040503050406030204" pitchFamily="18" charset="0"/>
                      </a:rPr>
                      <m:t>[</m:t>
                    </m:r>
                    <m:r>
                      <a:rPr lang="en-US" altLang="ja-JP" sz="2000" i="1">
                        <a:latin typeface="Cambria Math" panose="02040503050406030204" pitchFamily="18" charset="0"/>
                      </a:rPr>
                      <m:t>𝑌</m:t>
                    </m:r>
                    <m:r>
                      <a:rPr lang="en-US" altLang="ja-JP" sz="2000" i="1">
                        <a:latin typeface="Cambria Math" panose="02040503050406030204" pitchFamily="18" charset="0"/>
                      </a:rPr>
                      <m:t>∣</m:t>
                    </m:r>
                    <m:r>
                      <a:rPr lang="en-US" altLang="ja-JP" sz="2000" i="1">
                        <a:latin typeface="Cambria Math" panose="02040503050406030204" pitchFamily="18" charset="0"/>
                      </a:rPr>
                      <m:t>𝑋</m:t>
                    </m:r>
                    <m:r>
                      <a:rPr lang="en-US" altLang="ja-JP" sz="2000" i="1">
                        <a:latin typeface="Cambria Math" panose="02040503050406030204" pitchFamily="18" charset="0"/>
                      </a:rPr>
                      <m:t>=</m:t>
                    </m:r>
                    <m:r>
                      <a:rPr lang="en-US" altLang="ja-JP" sz="2000" i="1">
                        <a:latin typeface="Cambria Math" panose="02040503050406030204" pitchFamily="18" charset="0"/>
                      </a:rPr>
                      <m:t>𝑥</m:t>
                    </m:r>
                    <m:r>
                      <a:rPr lang="en-US" altLang="ja-JP" sz="2000" i="1">
                        <a:latin typeface="Cambria Math" panose="02040503050406030204" pitchFamily="18" charset="0"/>
                      </a:rPr>
                      <m:t>]</m:t>
                    </m:r>
                  </m:oMath>
                </a14:m>
                <a:r>
                  <a:rPr lang="en-US" altLang="ja-JP" sz="2000" dirty="0"/>
                  <a:t> </a:t>
                </a:r>
                <a:r>
                  <a:rPr lang="ja-JP" altLang="en-US" sz="2000"/>
                  <a:t>は、共変量</a:t>
                </a:r>
                <a:r>
                  <a:rPr lang="en-US" altLang="ja-JP" sz="2000" dirty="0"/>
                  <a:t> </a:t>
                </a:r>
                <a14:m>
                  <m:oMath xmlns:m="http://schemas.openxmlformats.org/officeDocument/2006/math">
                    <m:r>
                      <a:rPr lang="en-US" altLang="ja-JP" sz="2000" b="0" i="1" smtClean="0">
                        <a:latin typeface="Cambria Math" panose="02040503050406030204" pitchFamily="18" charset="0"/>
                      </a:rPr>
                      <m:t>𝑋</m:t>
                    </m:r>
                    <m:r>
                      <a:rPr lang="en-US" altLang="ja-JP" sz="2000" b="0" i="1" smtClean="0">
                        <a:latin typeface="Cambria Math" panose="02040503050406030204" pitchFamily="18" charset="0"/>
                      </a:rPr>
                      <m:t>=</m:t>
                    </m:r>
                    <m:r>
                      <a:rPr lang="en-US" altLang="ja-JP" sz="2000" i="1">
                        <a:latin typeface="Cambria Math" panose="02040503050406030204" pitchFamily="18" charset="0"/>
                      </a:rPr>
                      <m:t>𝑥</m:t>
                    </m:r>
                  </m:oMath>
                </a14:m>
                <a:r>
                  <a:rPr lang="en-US" altLang="ja-JP" sz="2000" dirty="0"/>
                  <a:t> </a:t>
                </a:r>
                <a:r>
                  <a:rPr lang="ja-JP" altLang="en-US" sz="2000" dirty="0"/>
                  <a:t>を与えた場合</a:t>
                </a:r>
                <a:r>
                  <a:rPr lang="ja-JP" altLang="en-US" sz="2000"/>
                  <a:t>における</a:t>
                </a:r>
                <a:r>
                  <a:rPr lang="en-US" altLang="ja-JP" sz="2000" dirty="0"/>
                  <a:t> </a:t>
                </a:r>
                <a14:m>
                  <m:oMath xmlns:m="http://schemas.openxmlformats.org/officeDocument/2006/math">
                    <m:r>
                      <a:rPr lang="en-US" altLang="ja-JP" sz="2000" i="1">
                        <a:latin typeface="Cambria Math" panose="02040503050406030204" pitchFamily="18" charset="0"/>
                      </a:rPr>
                      <m:t>𝑌</m:t>
                    </m:r>
                  </m:oMath>
                </a14:m>
                <a:r>
                  <a:rPr lang="en-US" altLang="ja-JP" sz="2000" dirty="0"/>
                  <a:t> </a:t>
                </a:r>
                <a:r>
                  <a:rPr lang="ja-JP" altLang="en-US" sz="2000"/>
                  <a:t>の平均</a:t>
                </a:r>
                <a:endParaRPr lang="en-US" altLang="ja-JP" sz="2000" dirty="0"/>
              </a:p>
              <a:p>
                <a:pPr lvl="2"/>
                <a:r>
                  <a:rPr lang="ja-JP" altLang="en-US" sz="1600"/>
                  <a:t>分布</a:t>
                </a:r>
                <a:r>
                  <a:rPr lang="en-US" altLang="ja-JP" sz="1600" dirty="0"/>
                  <a:t> </a:t>
                </a:r>
                <a14:m>
                  <m:oMath xmlns:m="http://schemas.openxmlformats.org/officeDocument/2006/math">
                    <m:r>
                      <a:rPr lang="en-US" altLang="ja-JP" sz="1600" b="0" i="1" smtClean="0">
                        <a:latin typeface="Cambria Math" panose="02040503050406030204" pitchFamily="18" charset="0"/>
                      </a:rPr>
                      <m:t>𝑃</m:t>
                    </m:r>
                  </m:oMath>
                </a14:m>
                <a:r>
                  <a:rPr lang="en-US" altLang="ja-JP" sz="1600" dirty="0"/>
                  <a:t> </a:t>
                </a:r>
                <a:r>
                  <a:rPr lang="ja-JP" altLang="en-US" sz="1600"/>
                  <a:t>が変われば回帰関数</a:t>
                </a:r>
                <a:r>
                  <a:rPr lang="en-US" altLang="ja-JP" sz="1600" dirty="0"/>
                  <a:t> </a:t>
                </a:r>
                <a14:m>
                  <m:oMath xmlns:m="http://schemas.openxmlformats.org/officeDocument/2006/math">
                    <m:sSub>
                      <m:sSubPr>
                        <m:ctrlPr>
                          <a:rPr lang="en-US" altLang="ja-JP" sz="1600" b="0" i="1" smtClean="0">
                            <a:latin typeface="Cambria Math" panose="02040503050406030204" pitchFamily="18" charset="0"/>
                          </a:rPr>
                        </m:ctrlPr>
                      </m:sSubPr>
                      <m:e>
                        <m:r>
                          <a:rPr lang="en-US" altLang="ja-JP" sz="1600" b="0" i="1" smtClean="0">
                            <a:latin typeface="Cambria Math" panose="02040503050406030204" pitchFamily="18" charset="0"/>
                          </a:rPr>
                          <m:t>𝑓</m:t>
                        </m:r>
                      </m:e>
                      <m:sub>
                        <m:r>
                          <a:rPr lang="en-US" altLang="ja-JP" sz="1600" b="0" i="1" smtClean="0">
                            <a:latin typeface="Cambria Math" panose="02040503050406030204" pitchFamily="18" charset="0"/>
                          </a:rPr>
                          <m:t>𝑃</m:t>
                        </m:r>
                      </m:sub>
                    </m:sSub>
                    <m:d>
                      <m:dPr>
                        <m:ctrlPr>
                          <a:rPr lang="en-US" altLang="ja-JP" sz="1600" b="0" i="1" smtClean="0">
                            <a:latin typeface="Cambria Math" panose="02040503050406030204" pitchFamily="18" charset="0"/>
                          </a:rPr>
                        </m:ctrlPr>
                      </m:dPr>
                      <m:e>
                        <m:r>
                          <a:rPr lang="en-US" altLang="ja-JP" sz="1600" b="0" i="1" smtClean="0">
                            <a:latin typeface="Cambria Math" panose="02040503050406030204" pitchFamily="18" charset="0"/>
                          </a:rPr>
                          <m:t>𝑥</m:t>
                        </m:r>
                      </m:e>
                    </m:d>
                  </m:oMath>
                </a14:m>
                <a:r>
                  <a:rPr lang="en-US" altLang="ja-JP" sz="1600" dirty="0"/>
                  <a:t> </a:t>
                </a:r>
                <a:r>
                  <a:rPr lang="ja-JP" altLang="en-US" sz="1600" dirty="0"/>
                  <a:t>も</a:t>
                </a:r>
                <a:r>
                  <a:rPr lang="ja-JP" altLang="en-US" sz="1600"/>
                  <a:t>変化する</a:t>
                </a:r>
                <a:endParaRPr lang="en-US" altLang="ja-JP" sz="1600" dirty="0"/>
              </a:p>
              <a:p>
                <a:pPr lvl="2"/>
                <a:r>
                  <a:rPr lang="ja-JP" altLang="en-US" sz="1600"/>
                  <a:t>簡単化のため、以降では</a:t>
                </a:r>
                <a:r>
                  <a:rPr lang="en-US" altLang="ja-JP" sz="1600" dirty="0"/>
                  <a:t> </a:t>
                </a:r>
                <a14:m>
                  <m:oMath xmlns:m="http://schemas.openxmlformats.org/officeDocument/2006/math">
                    <m:r>
                      <a:rPr lang="en-US" altLang="ja-JP" sz="1600" b="0" i="1" smtClean="0">
                        <a:latin typeface="Cambria Math" panose="02040503050406030204" pitchFamily="18" charset="0"/>
                      </a:rPr>
                      <m:t>𝑃</m:t>
                    </m:r>
                  </m:oMath>
                </a14:m>
                <a:r>
                  <a:rPr lang="en-US" altLang="ja-JP" sz="1600" dirty="0"/>
                  <a:t> </a:t>
                </a:r>
                <a:r>
                  <a:rPr lang="ja-JP" altLang="en-US" sz="1600" dirty="0"/>
                  <a:t>を</a:t>
                </a:r>
                <a:r>
                  <a:rPr lang="ja-JP" altLang="en-US" sz="1600"/>
                  <a:t>省略して</a:t>
                </a:r>
                <a:r>
                  <a:rPr lang="en-US" altLang="ja-JP" sz="1600" dirty="0"/>
                  <a:t> </a:t>
                </a:r>
                <a14:m>
                  <m:oMath xmlns:m="http://schemas.openxmlformats.org/officeDocument/2006/math">
                    <m:r>
                      <a:rPr lang="en-US" altLang="ja-JP" sz="1600" b="0" i="1" smtClean="0">
                        <a:latin typeface="Cambria Math" panose="02040503050406030204" pitchFamily="18" charset="0"/>
                      </a:rPr>
                      <m:t>𝑓</m:t>
                    </m:r>
                    <m:r>
                      <a:rPr lang="en-US" altLang="ja-JP" sz="1600" b="0" i="1" smtClean="0">
                        <a:latin typeface="Cambria Math" panose="02040503050406030204" pitchFamily="18" charset="0"/>
                      </a:rPr>
                      <m:t>(</m:t>
                    </m:r>
                    <m:r>
                      <a:rPr lang="en-US" altLang="ja-JP" sz="1600" b="0" i="1" smtClean="0">
                        <a:latin typeface="Cambria Math" panose="02040503050406030204" pitchFamily="18" charset="0"/>
                      </a:rPr>
                      <m:t>𝑥</m:t>
                    </m:r>
                    <m:r>
                      <a:rPr lang="en-US" altLang="ja-JP" sz="1600" b="0" i="1" smtClean="0">
                        <a:latin typeface="Cambria Math" panose="02040503050406030204" pitchFamily="18" charset="0"/>
                      </a:rPr>
                      <m:t>)</m:t>
                    </m:r>
                  </m:oMath>
                </a14:m>
                <a:r>
                  <a:rPr lang="en-US" altLang="ja-JP" sz="1600" dirty="0"/>
                  <a:t> </a:t>
                </a:r>
                <a:r>
                  <a:rPr lang="ja-JP" altLang="en-US" sz="1600" dirty="0"/>
                  <a:t>と書くことに</a:t>
                </a:r>
                <a:r>
                  <a:rPr lang="ja-JP" altLang="en-US" sz="1600"/>
                  <a:t>する</a:t>
                </a:r>
                <a:r>
                  <a:rPr lang="en-US" altLang="ja-JP" sz="1600" dirty="0"/>
                  <a:t> </a:t>
                </a:r>
              </a:p>
              <a:p>
                <a:pPr lvl="1"/>
                <a:endParaRPr lang="en-US" altLang="ja-JP" sz="800" dirty="0"/>
              </a:p>
              <a:p>
                <a:r>
                  <a:rPr lang="ja-JP" altLang="en-US" sz="2000" b="1"/>
                  <a:t>データ生成過程（</a:t>
                </a:r>
                <a:r>
                  <a:rPr lang="en-US" altLang="ja-JP" sz="2000" b="1" dirty="0"/>
                  <a:t>data-generating process</a:t>
                </a:r>
                <a:r>
                  <a:rPr lang="ja-JP" altLang="en-US" sz="2000" b="1"/>
                  <a:t>）</a:t>
                </a:r>
                <a:endParaRPr lang="en-US" altLang="ja-JP" sz="2000" b="1" dirty="0"/>
              </a:p>
              <a:p>
                <a:pPr lvl="1"/>
                <a:r>
                  <a:rPr lang="ja-JP" altLang="en-US" sz="2000"/>
                  <a:t>観測値</a:t>
                </a:r>
                <a:r>
                  <a:rPr lang="en-US" altLang="ja-JP" sz="2000" dirty="0"/>
                  <a:t> </a:t>
                </a:r>
                <a14:m>
                  <m:oMath xmlns:m="http://schemas.openxmlformats.org/officeDocument/2006/math">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𝑋</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𝑌</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m:t>
                    </m:r>
                  </m:oMath>
                </a14:m>
                <a:r>
                  <a:rPr lang="en-US" altLang="ja-JP" sz="2000" dirty="0"/>
                  <a:t> </a:t>
                </a:r>
                <a:r>
                  <a:rPr lang="ja-JP" altLang="en-US" sz="2000"/>
                  <a:t>を生成する分布を</a:t>
                </a:r>
                <a:r>
                  <a:rPr lang="en-US" altLang="ja-JP" sz="2000" dirty="0"/>
                  <a:t> </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𝑃</m:t>
                        </m:r>
                      </m:e>
                      <m:sub>
                        <m:r>
                          <a:rPr lang="en-US" altLang="ja-JP" sz="2000" b="0" i="1" smtClean="0">
                            <a:latin typeface="Cambria Math" panose="02040503050406030204" pitchFamily="18" charset="0"/>
                          </a:rPr>
                          <m:t>0</m:t>
                        </m:r>
                      </m:sub>
                    </m:sSub>
                  </m:oMath>
                </a14:m>
                <a:r>
                  <a:rPr lang="en-US" altLang="ja-JP" sz="2000" dirty="0"/>
                  <a:t> </a:t>
                </a:r>
                <a:r>
                  <a:rPr lang="ja-JP" altLang="en-US" sz="2000"/>
                  <a:t>とする</a:t>
                </a:r>
                <a:endParaRPr lang="en-US" altLang="ja-JP" sz="2000" dirty="0"/>
              </a:p>
              <a:p>
                <a:pPr lvl="1"/>
                <a:r>
                  <a:rPr lang="ja-JP" altLang="en-US" sz="2000"/>
                  <a:t>この分布は（頻度論的な意味で）真の分布と呼ばれる</a:t>
                </a:r>
                <a:endParaRPr lang="en-US" altLang="ja-JP" sz="2000" dirty="0"/>
              </a:p>
              <a:p>
                <a:endParaRPr lang="en-US" altLang="ja-JP" sz="800" dirty="0"/>
              </a:p>
              <a:p>
                <a:r>
                  <a:rPr lang="ja-JP" altLang="en-US" sz="2000" b="1"/>
                  <a:t>回帰分析</a:t>
                </a:r>
                <a:endParaRPr lang="en-US" altLang="ja-JP" sz="2000" b="1" dirty="0"/>
              </a:p>
              <a:p>
                <a:pPr lvl="1"/>
                <a:r>
                  <a:rPr lang="ja-JP" altLang="en-US" sz="2000"/>
                  <a:t>典型的には（真の）回帰関数 </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𝑓</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𝑥</m:t>
                    </m:r>
                    <m:r>
                      <a:rPr lang="en-US" altLang="ja-JP" sz="2000" b="0" i="1" smtClean="0">
                        <a:latin typeface="Cambria Math" panose="02040503050406030204" pitchFamily="18" charset="0"/>
                      </a:rPr>
                      <m:t>)</m:t>
                    </m:r>
                  </m:oMath>
                </a14:m>
                <a:r>
                  <a:rPr lang="en-US" altLang="ja-JP" sz="2000" dirty="0"/>
                  <a:t> </a:t>
                </a:r>
                <a:r>
                  <a:rPr lang="ja-JP" altLang="en-US" sz="2000"/>
                  <a:t>の推定問題を指す：</a:t>
                </a:r>
                <a:endParaRPr lang="en-US" altLang="ja-JP" sz="2000" dirty="0"/>
              </a:p>
              <a:p>
                <a:pPr lvl="1"/>
                <a:endParaRPr lang="en-US" altLang="ja-JP" sz="800" dirty="0"/>
              </a:p>
              <a:p>
                <a:pPr marL="397800" lvl="1"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𝑓</m:t>
                          </m:r>
                        </m:e>
                        <m:sub>
                          <m:r>
                            <a:rPr lang="en-US" altLang="ja-JP" sz="2000" b="0" i="1" smtClean="0">
                              <a:latin typeface="Cambria Math" panose="02040503050406030204" pitchFamily="18" charset="0"/>
                            </a:rPr>
                            <m:t>0</m:t>
                          </m:r>
                        </m:sub>
                      </m:sSub>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𝑥</m:t>
                          </m:r>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𝔼</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𝑃</m:t>
                              </m:r>
                            </m:e>
                            <m:sub>
                              <m:r>
                                <a:rPr lang="en-US" altLang="ja-JP" sz="2000" b="0" i="1" smtClean="0">
                                  <a:latin typeface="Cambria Math" panose="02040503050406030204" pitchFamily="18" charset="0"/>
                                </a:rPr>
                                <m:t>0</m:t>
                              </m:r>
                            </m:sub>
                          </m:sSub>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𝑌</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𝑋</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𝑥</m:t>
                      </m:r>
                      <m:r>
                        <a:rPr lang="en-US" altLang="ja-JP" sz="2000" b="0" i="1" smtClean="0">
                          <a:latin typeface="Cambria Math" panose="02040503050406030204" pitchFamily="18" charset="0"/>
                        </a:rPr>
                        <m:t>]</m:t>
                      </m:r>
                    </m:oMath>
                  </m:oMathPara>
                </a14:m>
                <a:endParaRPr lang="en-US" altLang="ja-JP" sz="2000" dirty="0"/>
              </a:p>
              <a:p>
                <a:pPr marL="397800" lvl="1" indent="0">
                  <a:buNone/>
                </a:pPr>
                <a:endParaRPr lang="en-US" altLang="ja-JP" sz="800" dirty="0"/>
              </a:p>
              <a:p>
                <a:pPr lvl="2"/>
                <a:r>
                  <a:rPr lang="ja-JP" altLang="en-US" sz="2000"/>
                  <a:t>例外もある（分位点回帰や分布間回帰など）</a:t>
                </a:r>
                <a:endParaRPr lang="en-US" altLang="ja-JP" sz="2000" dirty="0"/>
              </a:p>
              <a:p>
                <a:pPr lvl="1"/>
                <a:endParaRPr lang="en-US" altLang="ja-JP" sz="2000" dirty="0"/>
              </a:p>
              <a:p>
                <a:pPr lvl="1"/>
                <a:endParaRPr lang="en-US" altLang="ja-JP" sz="2000" dirty="0"/>
              </a:p>
              <a:p>
                <a:endParaRPr lang="en-US" altLang="ja-JP" sz="2000" dirty="0"/>
              </a:p>
            </p:txBody>
          </p:sp>
        </mc:Choice>
        <mc:Fallback>
          <p:sp>
            <p:nvSpPr>
              <p:cNvPr id="3" name="コンテンツ プレースホルダー 2">
                <a:extLst>
                  <a:ext uri="{FF2B5EF4-FFF2-40B4-BE49-F238E27FC236}">
                    <a16:creationId xmlns:a16="http://schemas.microsoft.com/office/drawing/2014/main" id="{58837D63-6B8F-B1F3-1768-C9E906A0E39B}"/>
                  </a:ext>
                </a:extLst>
              </p:cNvPr>
              <p:cNvSpPr>
                <a:spLocks noGrp="1" noRot="1" noChangeAspect="1" noMove="1" noResize="1" noEditPoints="1" noAdjustHandles="1" noChangeArrowheads="1" noChangeShapeType="1" noTextEdit="1"/>
              </p:cNvSpPr>
              <p:nvPr>
                <p:ph idx="1"/>
              </p:nvPr>
            </p:nvSpPr>
            <p:spPr>
              <a:blipFill>
                <a:blip r:embed="rId2"/>
                <a:stretch>
                  <a:fillRect l="-603" t="-70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29571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904B7-0B81-3E44-0249-DBE2354AA2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98213B3-8477-A936-9589-A6A95244A4E0}"/>
              </a:ext>
            </a:extLst>
          </p:cNvPr>
          <p:cNvSpPr>
            <a:spLocks noGrp="1"/>
          </p:cNvSpPr>
          <p:nvPr>
            <p:ph type="title"/>
          </p:nvPr>
        </p:nvSpPr>
        <p:spPr/>
        <p:txBody>
          <a:bodyPr/>
          <a:lstStyle/>
          <a:p>
            <a:r>
              <a:rPr kumimoji="1" lang="ja-JP" altLang="en-US"/>
              <a:t>モデルから考える回帰分析と因果分析</a:t>
            </a:r>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758BFD7C-5B77-5DA3-9CCF-69E46D940DC5}"/>
                  </a:ext>
                </a:extLst>
              </p:cNvPr>
              <p:cNvSpPr>
                <a:spLocks noGrp="1"/>
              </p:cNvSpPr>
              <p:nvPr>
                <p:ph idx="1"/>
              </p:nvPr>
            </p:nvSpPr>
            <p:spPr/>
            <p:txBody>
              <a:bodyPr>
                <a:normAutofit/>
              </a:bodyPr>
              <a:lstStyle/>
              <a:p>
                <a:r>
                  <a:rPr lang="ja-JP" altLang="en-US" sz="2000"/>
                  <a:t>二つの処置と潜在アウトカム</a:t>
                </a:r>
                <a:endParaRPr lang="en-US" altLang="ja-JP" sz="2000" dirty="0"/>
              </a:p>
              <a:p>
                <a:pPr lvl="1"/>
                <a:r>
                  <a:rPr lang="ja-JP" altLang="en-US" sz="2000"/>
                  <a:t>二つの処置</a:t>
                </a:r>
                <a14:m>
                  <m:oMath xmlns:m="http://schemas.openxmlformats.org/officeDocument/2006/math">
                    <m:r>
                      <a:rPr lang="en-US" altLang="ja-JP" sz="2000" i="1">
                        <a:latin typeface="Cambria Math" panose="02040503050406030204" pitchFamily="18" charset="0"/>
                      </a:rPr>
                      <m:t>1</m:t>
                    </m:r>
                  </m:oMath>
                </a14:m>
                <a:r>
                  <a:rPr lang="ja-JP" altLang="en-US" sz="2000"/>
                  <a:t>と</a:t>
                </a:r>
                <a14:m>
                  <m:oMath xmlns:m="http://schemas.openxmlformats.org/officeDocument/2006/math">
                    <m:r>
                      <a:rPr lang="en-US" altLang="ja-JP" sz="2000" i="1">
                        <a:latin typeface="Cambria Math" panose="02040503050406030204" pitchFamily="18" charset="0"/>
                      </a:rPr>
                      <m:t>0</m:t>
                    </m:r>
                  </m:oMath>
                </a14:m>
                <a:r>
                  <a:rPr lang="ja-JP" altLang="en-US" sz="2000"/>
                  <a:t>を考える</a:t>
                </a:r>
                <a:endParaRPr lang="en-US" altLang="ja-JP" sz="2000" dirty="0"/>
              </a:p>
              <a:p>
                <a:pPr lvl="2"/>
                <a:r>
                  <a:rPr lang="ja-JP" altLang="en-US" sz="2000"/>
                  <a:t>処置</a:t>
                </a:r>
                <a14:m>
                  <m:oMath xmlns:m="http://schemas.openxmlformats.org/officeDocument/2006/math">
                    <m:r>
                      <a:rPr lang="en-US" altLang="ja-JP" sz="2000" i="1">
                        <a:latin typeface="Cambria Math" panose="02040503050406030204" pitchFamily="18" charset="0"/>
                      </a:rPr>
                      <m:t>1 </m:t>
                    </m:r>
                  </m:oMath>
                </a14:m>
                <a:r>
                  <a:rPr lang="ja-JP" altLang="en-US" sz="2000" dirty="0"/>
                  <a:t>：</a:t>
                </a:r>
                <a:r>
                  <a:rPr lang="en-US" altLang="ja-JP" sz="2000" dirty="0"/>
                  <a:t> </a:t>
                </a:r>
                <a:r>
                  <a:rPr lang="ja-JP" altLang="en-US" sz="2000"/>
                  <a:t>しばしば処置群と呼ばれる</a:t>
                </a:r>
                <a:endParaRPr lang="en-US" altLang="ja-JP" sz="2000" dirty="0"/>
              </a:p>
              <a:p>
                <a:pPr lvl="2"/>
                <a:r>
                  <a:rPr lang="ja-JP" altLang="en-US" sz="2000"/>
                  <a:t>処置</a:t>
                </a:r>
                <a14:m>
                  <m:oMath xmlns:m="http://schemas.openxmlformats.org/officeDocument/2006/math">
                    <m:r>
                      <a:rPr lang="en-US" altLang="ja-JP" sz="2000" i="1">
                        <a:latin typeface="Cambria Math" panose="02040503050406030204" pitchFamily="18" charset="0"/>
                      </a:rPr>
                      <m:t>0</m:t>
                    </m:r>
                  </m:oMath>
                </a14:m>
                <a:r>
                  <a:rPr lang="ja-JP" altLang="en-US" sz="2000"/>
                  <a:t> ：</a:t>
                </a:r>
                <a:r>
                  <a:rPr lang="en-US" altLang="ja-JP" sz="2000" dirty="0"/>
                  <a:t> </a:t>
                </a:r>
                <a:r>
                  <a:rPr lang="ja-JP" altLang="en-US" sz="2000"/>
                  <a:t>しばしば対照群と呼ばれる</a:t>
                </a:r>
                <a:endParaRPr lang="en-US" altLang="ja-JP" sz="2000" dirty="0"/>
              </a:p>
              <a:p>
                <a:pPr lvl="1"/>
                <a:r>
                  <a:rPr lang="ja-JP" altLang="en-US"/>
                  <a:t>潜在アウトカム：それぞれの処置に対応するアウトカム</a:t>
                </a:r>
                <a14:m>
                  <m:oMath xmlns:m="http://schemas.openxmlformats.org/officeDocument/2006/math">
                    <m:r>
                      <a:rPr lang="en-US" altLang="ja-JP" b="0" i="1" smtClean="0">
                        <a:latin typeface="Cambria Math" panose="02040503050406030204" pitchFamily="18" charset="0"/>
                      </a:rPr>
                      <m:t>𝑌</m:t>
                    </m:r>
                    <m:r>
                      <a:rPr lang="en-US" altLang="ja-JP" b="0" i="1" smtClean="0">
                        <a:latin typeface="Cambria Math" panose="02040503050406030204" pitchFamily="18" charset="0"/>
                      </a:rPr>
                      <m:t>(1)</m:t>
                    </m:r>
                  </m:oMath>
                </a14:m>
                <a:r>
                  <a:rPr lang="ja-JP" altLang="en-US"/>
                  <a:t>と</a:t>
                </a:r>
                <a14:m>
                  <m:oMath xmlns:m="http://schemas.openxmlformats.org/officeDocument/2006/math">
                    <m:r>
                      <a:rPr lang="en-US" altLang="ja-JP" b="0" i="1" smtClean="0">
                        <a:latin typeface="Cambria Math" panose="02040503050406030204" pitchFamily="18" charset="0"/>
                      </a:rPr>
                      <m:t>𝑌</m:t>
                    </m:r>
                    <m:r>
                      <a:rPr lang="en-US" altLang="ja-JP" b="0" i="1" smtClean="0">
                        <a:latin typeface="Cambria Math" panose="02040503050406030204" pitchFamily="18" charset="0"/>
                      </a:rPr>
                      <m:t>(0)</m:t>
                    </m:r>
                  </m:oMath>
                </a14:m>
                <a:r>
                  <a:rPr lang="ja-JP" altLang="en-US"/>
                  <a:t>が存在する</a:t>
                </a:r>
                <a:endParaRPr lang="en-US" altLang="ja-JP" dirty="0"/>
              </a:p>
              <a:p>
                <a:pPr lvl="1"/>
                <a:endParaRPr lang="en-US" altLang="ja-JP" sz="800" dirty="0"/>
              </a:p>
              <a:p>
                <a:r>
                  <a:rPr lang="ja-JP" altLang="en-US" sz="2000" b="1"/>
                  <a:t>平均処置効果（</a:t>
                </a:r>
                <a:r>
                  <a:rPr lang="en-US" altLang="ja-JP" sz="2000" b="1" dirty="0"/>
                  <a:t>Average Treatment Effect</a:t>
                </a:r>
                <a:r>
                  <a:rPr lang="ja-JP" altLang="en-US" sz="2000" b="1"/>
                  <a:t>；</a:t>
                </a:r>
                <a:r>
                  <a:rPr lang="en-US" altLang="ja-JP" sz="2000" b="1" dirty="0"/>
                  <a:t>ATE</a:t>
                </a:r>
                <a:r>
                  <a:rPr lang="ja-JP" altLang="en-US" sz="2000" b="1"/>
                  <a:t>）</a:t>
                </a:r>
                <a:endParaRPr lang="en-US" altLang="ja-JP" sz="2000" b="1" dirty="0"/>
              </a:p>
              <a:p>
                <a:endParaRPr lang="en-US" altLang="ja-JP" sz="8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𝜃</m:t>
                          </m:r>
                        </m:e>
                        <m:sub>
                          <m:r>
                            <a:rPr lang="en-US" altLang="ja-JP" sz="2000" i="1">
                              <a:latin typeface="Cambria Math" panose="02040503050406030204" pitchFamily="18" charset="0"/>
                            </a:rPr>
                            <m:t>0</m:t>
                          </m:r>
                        </m:sub>
                        <m:sup>
                          <m:r>
                            <m:rPr>
                              <m:sty m:val="p"/>
                            </m:rPr>
                            <a:rPr lang="en-US" altLang="ja-JP" sz="2000" i="0">
                              <a:latin typeface="Cambria Math" panose="02040503050406030204" pitchFamily="18" charset="0"/>
                            </a:rPr>
                            <m:t>ATE</m:t>
                          </m:r>
                        </m:sup>
                      </m:sSubSup>
                      <m:r>
                        <a:rPr lang="en-US" altLang="ja-JP" sz="2000" b="0" i="1" smtClean="0">
                          <a:latin typeface="Cambria Math" panose="02040503050406030204" pitchFamily="18" charset="0"/>
                        </a:rPr>
                        <m:t>≔ </m:t>
                      </m:r>
                      <m:r>
                        <a:rPr lang="en-US" altLang="ja-JP" sz="2000" b="0" i="1" smtClean="0">
                          <a:latin typeface="Cambria Math" panose="02040503050406030204" pitchFamily="18" charset="0"/>
                        </a:rPr>
                        <m:t>𝔼</m:t>
                      </m:r>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𝑌</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𝑌</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0</m:t>
                              </m:r>
                            </m:e>
                          </m:d>
                        </m:e>
                      </m:d>
                      <m:r>
                        <a:rPr lang="en-US" altLang="ja-JP" sz="2000" b="0" i="1" smtClean="0">
                          <a:latin typeface="Cambria Math" panose="02040503050406030204" pitchFamily="18" charset="0"/>
                        </a:rPr>
                        <m:t>.</m:t>
                      </m:r>
                    </m:oMath>
                  </m:oMathPara>
                </a14:m>
                <a:endParaRPr lang="en-US" altLang="ja-JP" sz="2000" dirty="0"/>
              </a:p>
              <a:p>
                <a:pPr lvl="2"/>
                <a:endParaRPr lang="en-US" altLang="ja-JP" sz="800" dirty="0"/>
              </a:p>
              <a:p>
                <a:pPr lvl="2"/>
                <a:r>
                  <a:rPr lang="en-US" altLang="ja-JP" sz="2000" dirty="0"/>
                  <a:t>ATE = </a:t>
                </a:r>
                <a:r>
                  <a:rPr lang="ja-JP" altLang="en-US" sz="2000"/>
                  <a:t>二つの処置のアウトカムの差分の期待値</a:t>
                </a:r>
                <a:endParaRPr lang="en-US" altLang="ja-JP" sz="2000" dirty="0"/>
              </a:p>
              <a:p>
                <a:pPr lvl="2"/>
                <a:endParaRPr lang="en-US" altLang="ja-JP" sz="2000" dirty="0"/>
              </a:p>
              <a:p>
                <a:pPr marL="0" indent="0">
                  <a:buNone/>
                </a:pPr>
                <a:endParaRPr kumimoji="1" lang="en-US" altLang="ja-JP" sz="2000" dirty="0"/>
              </a:p>
            </p:txBody>
          </p:sp>
        </mc:Choice>
        <mc:Fallback>
          <p:sp>
            <p:nvSpPr>
              <p:cNvPr id="3" name="コンテンツ プレースホルダー 2">
                <a:extLst>
                  <a:ext uri="{FF2B5EF4-FFF2-40B4-BE49-F238E27FC236}">
                    <a16:creationId xmlns:a16="http://schemas.microsoft.com/office/drawing/2014/main" id="{758BFD7C-5B77-5DA3-9CCF-69E46D940DC5}"/>
                  </a:ext>
                </a:extLst>
              </p:cNvPr>
              <p:cNvSpPr>
                <a:spLocks noGrp="1" noRot="1" noChangeAspect="1" noMove="1" noResize="1" noEditPoints="1" noAdjustHandles="1" noChangeArrowheads="1" noChangeShapeType="1" noTextEdit="1"/>
              </p:cNvSpPr>
              <p:nvPr>
                <p:ph idx="1"/>
              </p:nvPr>
            </p:nvSpPr>
            <p:spPr>
              <a:blipFill>
                <a:blip r:embed="rId2"/>
                <a:stretch>
                  <a:fillRect l="-603" t="-70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339700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42130-DD20-4382-7B70-D3F99700F60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5A69B1A-C0A7-CEB6-8807-5F737EB462F2}"/>
              </a:ext>
            </a:extLst>
          </p:cNvPr>
          <p:cNvSpPr>
            <a:spLocks noGrp="1"/>
          </p:cNvSpPr>
          <p:nvPr>
            <p:ph type="title"/>
          </p:nvPr>
        </p:nvSpPr>
        <p:spPr/>
        <p:txBody>
          <a:bodyPr/>
          <a:lstStyle/>
          <a:p>
            <a:r>
              <a:rPr kumimoji="1" lang="ja-JP" altLang="en-US"/>
              <a:t>モデルから考える回帰分析と因果分析</a:t>
            </a:r>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0D951B62-4155-1A91-1332-20911E56ED97}"/>
                  </a:ext>
                </a:extLst>
              </p:cNvPr>
              <p:cNvSpPr>
                <a:spLocks noGrp="1"/>
              </p:cNvSpPr>
              <p:nvPr>
                <p:ph idx="1"/>
              </p:nvPr>
            </p:nvSpPr>
            <p:spPr/>
            <p:txBody>
              <a:bodyPr>
                <a:normAutofit/>
              </a:bodyPr>
              <a:lstStyle/>
              <a:p>
                <a:r>
                  <a:rPr lang="ja-JP" altLang="en-US" sz="2000"/>
                  <a:t>観測データ</a:t>
                </a:r>
                <a:r>
                  <a:rPr lang="en-US" altLang="ja-JP" sz="2000" dirty="0"/>
                  <a:t> </a:t>
                </a:r>
                <a14:m>
                  <m:oMath xmlns:m="http://schemas.openxmlformats.org/officeDocument/2006/math">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𝑋</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𝐷</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𝑌</m:t>
                    </m:r>
                    <m:r>
                      <a:rPr lang="en-US" altLang="ja-JP" sz="2000" b="0" i="1" smtClean="0">
                        <a:latin typeface="Cambria Math" panose="02040503050406030204" pitchFamily="18" charset="0"/>
                      </a:rPr>
                      <m:t>)</m:t>
                    </m:r>
                  </m:oMath>
                </a14:m>
                <a:endParaRPr lang="en-US" altLang="ja-JP" sz="2000" dirty="0"/>
              </a:p>
              <a:p>
                <a:pPr lvl="1"/>
                <a14:m>
                  <m:oMath xmlns:m="http://schemas.openxmlformats.org/officeDocument/2006/math">
                    <m:r>
                      <a:rPr lang="en-US" altLang="ja-JP" sz="2000" b="0" i="1" smtClean="0">
                        <a:latin typeface="Cambria Math" panose="02040503050406030204" pitchFamily="18" charset="0"/>
                      </a:rPr>
                      <m:t>𝑋</m:t>
                    </m:r>
                  </m:oMath>
                </a14:m>
                <a:r>
                  <a:rPr lang="en-US" altLang="ja-JP" sz="2000" b="0" i="1" dirty="0">
                    <a:latin typeface="Cambria Math" panose="02040503050406030204" pitchFamily="18" charset="0"/>
                  </a:rPr>
                  <a:t> </a:t>
                </a:r>
                <a:r>
                  <a:rPr lang="ja-JP" altLang="en-US" sz="2000" b="0" dirty="0">
                    <a:latin typeface="Cambria Math" panose="02040503050406030204" pitchFamily="18" charset="0"/>
                  </a:rPr>
                  <a:t>は</a:t>
                </a:r>
                <a:r>
                  <a:rPr lang="ja-JP" altLang="en-US" sz="2000" b="0">
                    <a:latin typeface="Cambria Math" panose="02040503050406030204" pitchFamily="18" charset="0"/>
                  </a:rPr>
                  <a:t>共変量</a:t>
                </a:r>
                <a:endParaRPr lang="en-US" altLang="ja-JP" sz="2000" b="0" dirty="0">
                  <a:latin typeface="Cambria Math" panose="02040503050406030204" pitchFamily="18" charset="0"/>
                </a:endParaRPr>
              </a:p>
              <a:p>
                <a:pPr lvl="2"/>
                <a:r>
                  <a:rPr lang="ja-JP" altLang="en-US" sz="2000" b="0">
                    <a:latin typeface="Cambria Math" panose="02040503050406030204" pitchFamily="18" charset="0"/>
                  </a:rPr>
                  <a:t>処置が割り当てられる個人（ユニットなどとも呼ばれる）の特徴を表す</a:t>
                </a:r>
                <a:endParaRPr lang="en-US" altLang="ja-JP" sz="2000" b="0" dirty="0">
                  <a:latin typeface="Cambria Math" panose="02040503050406030204" pitchFamily="18" charset="0"/>
                </a:endParaRPr>
              </a:p>
              <a:p>
                <a:pPr lvl="1"/>
                <a14:m>
                  <m:oMath xmlns:m="http://schemas.openxmlformats.org/officeDocument/2006/math">
                    <m:r>
                      <a:rPr lang="en-US" altLang="ja-JP" sz="2000" b="0" i="1" smtClean="0">
                        <a:latin typeface="Cambria Math" panose="02040503050406030204" pitchFamily="18" charset="0"/>
                      </a:rPr>
                      <m:t>𝐷</m:t>
                    </m:r>
                    <m:r>
                      <a:rPr lang="en-US" altLang="ja-JP" sz="2000" b="0" i="1" smtClean="0">
                        <a:latin typeface="Cambria Math" panose="02040503050406030204" pitchFamily="18" charset="0"/>
                      </a:rPr>
                      <m:t>∈</m:t>
                    </m:r>
                    <m:r>
                      <m:rPr>
                        <m:lit/>
                      </m:rPr>
                      <a:rPr lang="en-US" altLang="ja-JP" sz="2000" b="0" i="1" smtClean="0">
                        <a:latin typeface="Cambria Math" panose="02040503050406030204" pitchFamily="18" charset="0"/>
                      </a:rPr>
                      <m:t>{</m:t>
                    </m:r>
                    <m:r>
                      <a:rPr lang="en-US" altLang="ja-JP" sz="2000" b="0" i="1" smtClean="0">
                        <a:latin typeface="Cambria Math" panose="02040503050406030204" pitchFamily="18" charset="0"/>
                      </a:rPr>
                      <m:t>1, 0}</m:t>
                    </m:r>
                  </m:oMath>
                </a14:m>
                <a:r>
                  <a:rPr lang="en-US" altLang="ja-JP" sz="2000" b="0" i="1" dirty="0">
                    <a:latin typeface="Cambria Math" panose="02040503050406030204" pitchFamily="18" charset="0"/>
                  </a:rPr>
                  <a:t> </a:t>
                </a:r>
                <a:r>
                  <a:rPr lang="ja-JP" altLang="en-US" sz="2000" b="0" dirty="0">
                    <a:latin typeface="Cambria Math" panose="02040503050406030204" pitchFamily="18" charset="0"/>
                  </a:rPr>
                  <a:t>は実際</a:t>
                </a:r>
                <a:r>
                  <a:rPr lang="ja-JP" altLang="en-US" sz="2000" b="0">
                    <a:latin typeface="Cambria Math" panose="02040503050406030204" pitchFamily="18" charset="0"/>
                  </a:rPr>
                  <a:t>に割り当てられた処置</a:t>
                </a:r>
                <a:endParaRPr lang="en-US" altLang="ja-JP" sz="2000" b="0" dirty="0">
                  <a:latin typeface="Cambria Math" panose="02040503050406030204" pitchFamily="18" charset="0"/>
                </a:endParaRPr>
              </a:p>
              <a:p>
                <a:pPr lvl="1"/>
                <a14:m>
                  <m:oMath xmlns:m="http://schemas.openxmlformats.org/officeDocument/2006/math">
                    <m:r>
                      <a:rPr lang="en-US" altLang="ja-JP" sz="2000" b="0" i="1" smtClean="0">
                        <a:latin typeface="Cambria Math" panose="02040503050406030204" pitchFamily="18" charset="0"/>
                      </a:rPr>
                      <m:t>𝑌</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ℝ</m:t>
                    </m:r>
                  </m:oMath>
                </a14:m>
                <a:r>
                  <a:rPr lang="en-US" altLang="ja-JP" sz="2000" dirty="0"/>
                  <a:t> </a:t>
                </a:r>
                <a:r>
                  <a:rPr lang="ja-JP" altLang="en-US" sz="2000" dirty="0"/>
                  <a:t>は</a:t>
                </a:r>
                <a:r>
                  <a:rPr lang="ja-JP" altLang="en-US" sz="2000"/>
                  <a:t>観測されるアウトカム</a:t>
                </a:r>
                <a:endParaRPr lang="en-US" altLang="ja-JP" sz="2000" dirty="0"/>
              </a:p>
              <a:p>
                <a:pPr lvl="2"/>
                <a:r>
                  <a:rPr lang="ja-JP" altLang="en-US" sz="2000"/>
                  <a:t>適当な仮定のもとで</a:t>
                </a:r>
                <a:r>
                  <a:rPr lang="en-US" altLang="ja-JP" sz="2000" dirty="0"/>
                  <a:t> </a:t>
                </a:r>
                <a14:m>
                  <m:oMath xmlns:m="http://schemas.openxmlformats.org/officeDocument/2006/math">
                    <m:r>
                      <a:rPr lang="en-US" altLang="ja-JP" sz="2000" b="0" i="1" smtClean="0">
                        <a:latin typeface="Cambria Math" panose="02040503050406030204" pitchFamily="18" charset="0"/>
                      </a:rPr>
                      <m:t>𝑌</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𝐷</m:t>
                    </m:r>
                    <m:r>
                      <a:rPr lang="en-US" altLang="ja-JP" sz="2000" b="0" i="1" smtClean="0">
                        <a:latin typeface="Cambria Math" panose="02040503050406030204" pitchFamily="18" charset="0"/>
                      </a:rPr>
                      <m:t> </m:t>
                    </m:r>
                    <m:r>
                      <a:rPr lang="en-US" altLang="ja-JP" sz="2000" b="0" i="1" smtClean="0">
                        <a:latin typeface="Cambria Math" panose="02040503050406030204" pitchFamily="18" charset="0"/>
                      </a:rPr>
                      <m:t>𝑌</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𝐷</m:t>
                        </m:r>
                      </m:e>
                    </m:d>
                    <m:r>
                      <a:rPr lang="en-US" altLang="ja-JP" sz="2000" b="0" i="1" smtClean="0">
                        <a:latin typeface="Cambria Math" panose="02040503050406030204" pitchFamily="18" charset="0"/>
                      </a:rPr>
                      <m:t>𝑌</m:t>
                    </m:r>
                    <m:r>
                      <a:rPr lang="en-US" altLang="ja-JP" sz="2000" b="0" i="1" smtClean="0">
                        <a:latin typeface="Cambria Math" panose="02040503050406030204" pitchFamily="18" charset="0"/>
                      </a:rPr>
                      <m:t>(0)</m:t>
                    </m:r>
                  </m:oMath>
                </a14:m>
                <a:r>
                  <a:rPr lang="en-US" altLang="ja-JP" sz="2000" dirty="0"/>
                  <a:t> </a:t>
                </a:r>
              </a:p>
              <a:p>
                <a:endParaRPr lang="en-US" altLang="ja-JP" sz="800" dirty="0"/>
              </a:p>
              <a:p>
                <a:r>
                  <a:rPr lang="ja-JP" altLang="en-US" sz="2000"/>
                  <a:t>共変量</a:t>
                </a:r>
                <a:r>
                  <a:rPr lang="en-US" altLang="ja-JP" sz="2000" dirty="0"/>
                  <a:t> </a:t>
                </a:r>
                <a14:m>
                  <m:oMath xmlns:m="http://schemas.openxmlformats.org/officeDocument/2006/math">
                    <m:r>
                      <a:rPr lang="en-US" altLang="ja-JP" sz="2000" b="0" i="1" smtClean="0">
                        <a:latin typeface="Cambria Math" panose="02040503050406030204" pitchFamily="18" charset="0"/>
                      </a:rPr>
                      <m:t>𝑋</m:t>
                    </m:r>
                  </m:oMath>
                </a14:m>
                <a:r>
                  <a:rPr lang="en-US" altLang="ja-JP" sz="2000" dirty="0"/>
                  <a:t> </a:t>
                </a:r>
                <a:r>
                  <a:rPr lang="ja-JP" altLang="en-US" sz="2000"/>
                  <a:t>処置</a:t>
                </a:r>
                <a:r>
                  <a:rPr lang="en-US" altLang="ja-JP" sz="2000" dirty="0"/>
                  <a:t> </a:t>
                </a:r>
                <a14:m>
                  <m:oMath xmlns:m="http://schemas.openxmlformats.org/officeDocument/2006/math">
                    <m:r>
                      <a:rPr lang="en-US" altLang="ja-JP" sz="2000" i="1">
                        <a:latin typeface="Cambria Math" panose="02040503050406030204" pitchFamily="18" charset="0"/>
                      </a:rPr>
                      <m:t>𝐷</m:t>
                    </m:r>
                  </m:oMath>
                </a14:m>
                <a:r>
                  <a:rPr lang="en-US" altLang="ja-JP" sz="2000" dirty="0"/>
                  <a:t> </a:t>
                </a:r>
                <a:r>
                  <a:rPr lang="ja-JP" altLang="en-US" sz="2000"/>
                  <a:t>を</a:t>
                </a:r>
                <a:r>
                  <a:rPr lang="en-US" altLang="ja-JP" sz="2000" dirty="0"/>
                  <a:t> regressor </a:t>
                </a:r>
                <a:r>
                  <a:rPr lang="ja-JP" altLang="en-US" sz="2000"/>
                  <a:t>として、回帰関数を以下のように表すことにする：</a:t>
                </a:r>
                <a:endParaRPr lang="en-US" altLang="ja-JP" sz="2000" dirty="0"/>
              </a:p>
              <a:p>
                <a:endParaRPr lang="en-US" altLang="ja-JP" sz="800" dirty="0"/>
              </a:p>
              <a:p>
                <a:pPr marL="0" indent="0">
                  <a:buNone/>
                </a:pPr>
                <a14:m>
                  <m:oMathPara xmlns:m="http://schemas.openxmlformats.org/officeDocument/2006/math">
                    <m:oMathParaPr>
                      <m:jc m:val="centerGroup"/>
                    </m:oMathParaPr>
                    <m:oMath xmlns:m="http://schemas.openxmlformats.org/officeDocument/2006/math">
                      <m:r>
                        <a:rPr lang="en-US" altLang="ja-JP" sz="2000" i="1">
                          <a:latin typeface="Cambria Math" panose="02040503050406030204" pitchFamily="18" charset="0"/>
                        </a:rPr>
                        <m:t>𝑓</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𝐷</m:t>
                          </m:r>
                          <m:r>
                            <a:rPr lang="en-US" altLang="ja-JP" sz="2000" i="1">
                              <a:latin typeface="Cambria Math" panose="02040503050406030204" pitchFamily="18" charset="0"/>
                            </a:rPr>
                            <m:t>, </m:t>
                          </m:r>
                          <m:r>
                            <a:rPr lang="en-US" altLang="ja-JP" sz="2000" i="1">
                              <a:latin typeface="Cambria Math" panose="02040503050406030204" pitchFamily="18" charset="0"/>
                            </a:rPr>
                            <m:t>𝑋</m:t>
                          </m:r>
                        </m:e>
                      </m:d>
                      <m:r>
                        <a:rPr lang="en-US" altLang="ja-JP" sz="2000" i="1">
                          <a:latin typeface="Cambria Math" panose="02040503050406030204" pitchFamily="18" charset="0"/>
                        </a:rPr>
                        <m:t>=</m:t>
                      </m:r>
                      <m:r>
                        <a:rPr lang="en-US" altLang="ja-JP" sz="2000" i="1">
                          <a:latin typeface="Cambria Math" panose="02040503050406030204" pitchFamily="18" charset="0"/>
                        </a:rPr>
                        <m:t>𝔼</m:t>
                      </m:r>
                      <m:d>
                        <m:dPr>
                          <m:begChr m:val="["/>
                          <m:endChr m:val="]"/>
                          <m:sepChr m:val="∣"/>
                          <m:ctrlPr>
                            <a:rPr lang="en-US" altLang="ja-JP" sz="2000" i="1">
                              <a:latin typeface="Cambria Math" panose="02040503050406030204" pitchFamily="18" charset="0"/>
                            </a:rPr>
                          </m:ctrlPr>
                        </m:dPr>
                        <m:e>
                          <m:r>
                            <a:rPr lang="en-US" altLang="ja-JP" sz="2000" i="1">
                              <a:latin typeface="Cambria Math" panose="02040503050406030204" pitchFamily="18" charset="0"/>
                            </a:rPr>
                            <m:t>𝑌</m:t>
                          </m:r>
                        </m:e>
                        <m:e>
                          <m:r>
                            <a:rPr lang="en-US" altLang="ja-JP" sz="2000" i="1">
                              <a:latin typeface="Cambria Math" panose="02040503050406030204" pitchFamily="18" charset="0"/>
                            </a:rPr>
                            <m:t>𝐷</m:t>
                          </m:r>
                          <m:r>
                            <a:rPr lang="en-US" altLang="ja-JP" sz="2000" i="1">
                              <a:latin typeface="Cambria Math" panose="02040503050406030204" pitchFamily="18" charset="0"/>
                            </a:rPr>
                            <m:t>, </m:t>
                          </m:r>
                          <m:r>
                            <a:rPr lang="en-US" altLang="ja-JP" sz="2000" i="1">
                              <a:latin typeface="Cambria Math" panose="02040503050406030204" pitchFamily="18" charset="0"/>
                            </a:rPr>
                            <m:t>𝑋</m:t>
                          </m:r>
                        </m:e>
                      </m:d>
                    </m:oMath>
                  </m:oMathPara>
                </a14:m>
                <a:endParaRPr lang="en-US" altLang="ja-JP" sz="2000" dirty="0"/>
              </a:p>
              <a:p>
                <a:pPr marL="0" indent="0">
                  <a:buNone/>
                </a:pPr>
                <a:endParaRPr lang="en-US" altLang="ja-JP" sz="800" dirty="0"/>
              </a:p>
              <a:p>
                <a:pPr lvl="1"/>
                <a:r>
                  <a:rPr lang="ja-JP" altLang="en-US" sz="2000"/>
                  <a:t>このとき、</a:t>
                </a:r>
                <a:r>
                  <a:rPr lang="en-US" altLang="ja-JP" sz="2000" dirty="0"/>
                  <a:t>ATE </a:t>
                </a:r>
                <a:r>
                  <a:rPr lang="ja-JP" altLang="en-US" sz="2000"/>
                  <a:t>は</a:t>
                </a:r>
                <a:r>
                  <a:rPr lang="en-US" altLang="ja-JP" sz="2000" dirty="0"/>
                  <a:t>SUTVA</a:t>
                </a:r>
                <a:r>
                  <a:rPr lang="ja-JP" altLang="en-US" sz="2000"/>
                  <a:t>と非交絡性の仮定のもとで以下のように書ける：</a:t>
                </a:r>
                <a:endParaRPr lang="en-US" altLang="ja-JP" sz="2000" dirty="0"/>
              </a:p>
              <a:p>
                <a:pPr lvl="1"/>
                <a:endParaRPr lang="en-US" altLang="ja-JP" sz="800" dirty="0"/>
              </a:p>
              <a:p>
                <a:pPr marL="397800" lvl="1" indent="0">
                  <a:buNone/>
                </a:pPr>
                <a14:m>
                  <m:oMathPara xmlns:m="http://schemas.openxmlformats.org/officeDocument/2006/math">
                    <m:oMathParaPr>
                      <m:jc m:val="centerGroup"/>
                    </m:oMathParaPr>
                    <m:oMath xmlns:m="http://schemas.openxmlformats.org/officeDocument/2006/math">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𝜃</m:t>
                          </m:r>
                        </m:e>
                        <m:sub>
                          <m:r>
                            <a:rPr lang="en-US" altLang="ja-JP" sz="2000" i="1">
                              <a:latin typeface="Cambria Math" panose="02040503050406030204" pitchFamily="18" charset="0"/>
                            </a:rPr>
                            <m:t>0</m:t>
                          </m:r>
                        </m:sub>
                        <m:sup>
                          <m:r>
                            <m:rPr>
                              <m:sty m:val="p"/>
                            </m:rPr>
                            <a:rPr lang="en-US" altLang="ja-JP" sz="2000">
                              <a:latin typeface="Cambria Math" panose="02040503050406030204" pitchFamily="18" charset="0"/>
                            </a:rPr>
                            <m:t>ATE</m:t>
                          </m:r>
                        </m:sup>
                      </m:sSubSup>
                      <m:r>
                        <a:rPr lang="en-US" altLang="ja-JP" sz="2000" i="1">
                          <a:latin typeface="Cambria Math" panose="02040503050406030204" pitchFamily="18" charset="0"/>
                        </a:rPr>
                        <m:t>=</m:t>
                      </m:r>
                      <m:r>
                        <a:rPr lang="en-US" altLang="ja-JP" sz="2000" i="1">
                          <a:latin typeface="Cambria Math" panose="02040503050406030204" pitchFamily="18" charset="0"/>
                        </a:rPr>
                        <m:t>𝔼</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𝑌</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e>
                          </m:d>
                          <m:r>
                            <a:rPr lang="en-US" altLang="ja-JP" sz="2000" i="1">
                              <a:latin typeface="Cambria Math" panose="02040503050406030204" pitchFamily="18" charset="0"/>
                            </a:rPr>
                            <m:t>−</m:t>
                          </m:r>
                          <m:r>
                            <a:rPr lang="en-US" altLang="ja-JP" sz="2000" i="1">
                              <a:latin typeface="Cambria Math" panose="02040503050406030204" pitchFamily="18" charset="0"/>
                            </a:rPr>
                            <m:t>𝑌</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0</m:t>
                              </m:r>
                            </m:e>
                          </m:d>
                        </m:e>
                      </m:d>
                      <m:r>
                        <a:rPr lang="en-US" altLang="ja-JP" sz="2000" b="0" i="1" smtClean="0">
                          <a:latin typeface="Cambria Math" panose="02040503050406030204" pitchFamily="18" charset="0"/>
                        </a:rPr>
                        <m:t>=</m:t>
                      </m:r>
                      <m:r>
                        <a:rPr lang="en-US" altLang="ja-JP" sz="2000" i="1">
                          <a:latin typeface="Cambria Math" panose="02040503050406030204" pitchFamily="18" charset="0"/>
                        </a:rPr>
                        <m:t>𝔼</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𝑓</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r>
                                <a:rPr lang="en-US" altLang="ja-JP" sz="2000" i="1">
                                  <a:latin typeface="Cambria Math" panose="02040503050406030204" pitchFamily="18" charset="0"/>
                                </a:rPr>
                                <m:t>𝑋</m:t>
                              </m:r>
                            </m:e>
                          </m:d>
                          <m:r>
                            <a:rPr lang="en-US" altLang="ja-JP" sz="2000" i="1">
                              <a:latin typeface="Cambria Math" panose="02040503050406030204" pitchFamily="18" charset="0"/>
                            </a:rPr>
                            <m:t>−</m:t>
                          </m:r>
                          <m:r>
                            <a:rPr lang="en-US" altLang="ja-JP" sz="2000" i="1">
                              <a:latin typeface="Cambria Math" panose="02040503050406030204" pitchFamily="18" charset="0"/>
                            </a:rPr>
                            <m:t>𝑓</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0,</m:t>
                              </m:r>
                              <m:r>
                                <a:rPr lang="en-US" altLang="ja-JP" sz="2000" i="1">
                                  <a:latin typeface="Cambria Math" panose="02040503050406030204" pitchFamily="18" charset="0"/>
                                </a:rPr>
                                <m:t>𝑋</m:t>
                              </m:r>
                            </m:e>
                          </m:d>
                        </m:e>
                      </m:d>
                    </m:oMath>
                  </m:oMathPara>
                </a14:m>
                <a:endParaRPr lang="en-US" altLang="ja-JP" sz="800" dirty="0"/>
              </a:p>
              <a:p>
                <a:pPr lvl="1"/>
                <a:endParaRPr lang="en-US" altLang="ja-JP" sz="800" dirty="0"/>
              </a:p>
              <a:p>
                <a:pPr lvl="1"/>
                <a14:m>
                  <m:oMath xmlns:m="http://schemas.openxmlformats.org/officeDocument/2006/math">
                    <m:r>
                      <a:rPr lang="en-US" altLang="ja-JP" sz="2000" i="1">
                        <a:latin typeface="Cambria Math" panose="02040503050406030204" pitchFamily="18" charset="0"/>
                      </a:rPr>
                      <m:t>𝔼</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𝑓</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r>
                              <a:rPr lang="en-US" altLang="ja-JP" sz="2000" i="1">
                                <a:latin typeface="Cambria Math" panose="02040503050406030204" pitchFamily="18" charset="0"/>
                              </a:rPr>
                              <m:t>𝑋</m:t>
                            </m:r>
                          </m:e>
                        </m:d>
                        <m:r>
                          <a:rPr lang="en-US" altLang="ja-JP" sz="2000" i="1">
                            <a:latin typeface="Cambria Math" panose="02040503050406030204" pitchFamily="18" charset="0"/>
                          </a:rPr>
                          <m:t>−</m:t>
                        </m:r>
                        <m:r>
                          <a:rPr lang="en-US" altLang="ja-JP" sz="2000" i="1">
                            <a:latin typeface="Cambria Math" panose="02040503050406030204" pitchFamily="18" charset="0"/>
                          </a:rPr>
                          <m:t>𝑓</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0,</m:t>
                            </m:r>
                            <m:r>
                              <a:rPr lang="en-US" altLang="ja-JP" sz="2000" i="1">
                                <a:latin typeface="Cambria Math" panose="02040503050406030204" pitchFamily="18" charset="0"/>
                              </a:rPr>
                              <m:t>𝑋</m:t>
                            </m:r>
                          </m:e>
                        </m:d>
                      </m:e>
                    </m:d>
                  </m:oMath>
                </a14:m>
                <a:r>
                  <a:rPr lang="en-US" altLang="ja-JP" sz="2000" dirty="0"/>
                  <a:t> </a:t>
                </a:r>
                <a:r>
                  <a:rPr lang="ja-JP" altLang="en-US" sz="2000" dirty="0"/>
                  <a:t>の</a:t>
                </a:r>
                <a:r>
                  <a:rPr lang="ja-JP" altLang="en-US" sz="2000"/>
                  <a:t>期待値は</a:t>
                </a:r>
                <a:r>
                  <a:rPr lang="en-US" altLang="ja-JP" sz="2000" dirty="0"/>
                  <a:t> </a:t>
                </a:r>
                <a14:m>
                  <m:oMath xmlns:m="http://schemas.openxmlformats.org/officeDocument/2006/math">
                    <m:r>
                      <a:rPr lang="en-US" altLang="ja-JP" sz="2000" b="0" i="1" smtClean="0">
                        <a:latin typeface="Cambria Math" panose="02040503050406030204" pitchFamily="18" charset="0"/>
                      </a:rPr>
                      <m:t>𝑋</m:t>
                    </m:r>
                  </m:oMath>
                </a14:m>
                <a:r>
                  <a:rPr lang="en-US" altLang="ja-JP" sz="2000" dirty="0"/>
                  <a:t> </a:t>
                </a:r>
                <a:r>
                  <a:rPr lang="ja-JP" altLang="en-US" sz="2000"/>
                  <a:t>に対して取られている</a:t>
                </a:r>
                <a:endParaRPr lang="en-US" altLang="ja-JP" sz="2000" dirty="0"/>
              </a:p>
              <a:p>
                <a:pPr lvl="1">
                  <a:buFont typeface="Wingdings" pitchFamily="2" charset="2"/>
                  <a:buChar char="ü"/>
                </a:pPr>
                <a:r>
                  <a:rPr lang="en-US" altLang="ja-JP" sz="2000" dirty="0"/>
                  <a:t>ATE = </a:t>
                </a:r>
                <a:r>
                  <a:rPr lang="ja-JP" altLang="en-US" sz="2000"/>
                  <a:t>二つの処置のアウトカムの差分の期待値</a:t>
                </a:r>
                <a:r>
                  <a:rPr lang="en-US" altLang="ja-JP" sz="2000" dirty="0"/>
                  <a:t> = </a:t>
                </a:r>
                <a:r>
                  <a:rPr lang="ja-JP" altLang="en-US" sz="2000"/>
                  <a:t>回帰関数の差分の期待値</a:t>
                </a:r>
                <a:endParaRPr lang="en-US" altLang="ja-JP" sz="2000" dirty="0"/>
              </a:p>
              <a:p>
                <a:pPr marL="397800" lvl="1" indent="0">
                  <a:buNone/>
                </a:pPr>
                <a:endParaRPr kumimoji="1" lang="en-US" altLang="ja-JP" sz="2000" dirty="0"/>
              </a:p>
            </p:txBody>
          </p:sp>
        </mc:Choice>
        <mc:Fallback>
          <p:sp>
            <p:nvSpPr>
              <p:cNvPr id="3" name="コンテンツ プレースホルダー 2">
                <a:extLst>
                  <a:ext uri="{FF2B5EF4-FFF2-40B4-BE49-F238E27FC236}">
                    <a16:creationId xmlns:a16="http://schemas.microsoft.com/office/drawing/2014/main" id="{0D951B62-4155-1A91-1332-20911E56ED97}"/>
                  </a:ext>
                </a:extLst>
              </p:cNvPr>
              <p:cNvSpPr>
                <a:spLocks noGrp="1" noRot="1" noChangeAspect="1" noMove="1" noResize="1" noEditPoints="1" noAdjustHandles="1" noChangeArrowheads="1" noChangeShapeType="1" noTextEdit="1"/>
              </p:cNvSpPr>
              <p:nvPr>
                <p:ph idx="1"/>
              </p:nvPr>
            </p:nvSpPr>
            <p:spPr>
              <a:blipFill>
                <a:blip r:embed="rId2"/>
                <a:stretch>
                  <a:fillRect l="-603" t="-70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061875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2F3AF-CC25-442F-410D-61079150FD7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70EE868-53B9-E454-6BD3-24BB392B64B0}"/>
              </a:ext>
            </a:extLst>
          </p:cNvPr>
          <p:cNvSpPr>
            <a:spLocks noGrp="1"/>
          </p:cNvSpPr>
          <p:nvPr>
            <p:ph type="title"/>
          </p:nvPr>
        </p:nvSpPr>
        <p:spPr/>
        <p:txBody>
          <a:bodyPr/>
          <a:lstStyle/>
          <a:p>
            <a:r>
              <a:rPr kumimoji="1" lang="ja-JP" altLang="en-US"/>
              <a:t>モデルから考える回帰分析と因果分析</a:t>
            </a:r>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9528657E-56FC-E6C9-3DC0-8F8341021AFA}"/>
                  </a:ext>
                </a:extLst>
              </p:cNvPr>
              <p:cNvSpPr>
                <a:spLocks noGrp="1"/>
              </p:cNvSpPr>
              <p:nvPr>
                <p:ph idx="1"/>
              </p:nvPr>
            </p:nvSpPr>
            <p:spPr/>
            <p:txBody>
              <a:bodyPr>
                <a:noAutofit/>
              </a:bodyPr>
              <a:lstStyle/>
              <a:p>
                <a:r>
                  <a:rPr lang="ja-JP" altLang="en-US" sz="2000"/>
                  <a:t>線形モデルなどの強い仮定を置けばより簡略化できる</a:t>
                </a:r>
                <a:endParaRPr lang="en-US" altLang="ja-JP" sz="2000" dirty="0"/>
              </a:p>
              <a:p>
                <a:pPr lvl="1"/>
                <a:r>
                  <a:rPr lang="ja-JP" altLang="en-US" sz="2000"/>
                  <a:t>例：線形回帰モデル</a:t>
                </a:r>
                <a:r>
                  <a:rPr lang="en-US" altLang="ja-JP" sz="2000" dirty="0"/>
                  <a:t> </a:t>
                </a:r>
              </a:p>
              <a:p>
                <a:pPr lvl="1"/>
                <a:endParaRPr lang="en-US" altLang="ja-JP" sz="800" dirty="0"/>
              </a:p>
              <a:p>
                <a:pPr marL="397800" lvl="1"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r>
                        <a:rPr lang="en-US" altLang="ja-JP" sz="2000" i="1">
                          <a:latin typeface="Cambria Math" panose="02040503050406030204" pitchFamily="18" charset="0"/>
                        </a:rPr>
                        <m:t>𝛼</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𝛽</m:t>
                          </m:r>
                        </m:e>
                        <m:sup>
                          <m:r>
                            <a:rPr lang="en-US" altLang="ja-JP" sz="2000" i="1">
                              <a:latin typeface="Cambria Math" panose="02040503050406030204" pitchFamily="18" charset="0"/>
                            </a:rPr>
                            <m:t>⊤</m:t>
                          </m:r>
                        </m:sup>
                      </m:sSup>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𝜖</m:t>
                          </m:r>
                        </m:e>
                        <m:sub>
                          <m:r>
                            <a:rPr lang="en-US" altLang="ja-JP" sz="2000" i="1">
                              <a:latin typeface="Cambria Math" panose="02040503050406030204" pitchFamily="18" charset="0"/>
                            </a:rPr>
                            <m:t>𝑖</m:t>
                          </m:r>
                        </m:sub>
                      </m:sSub>
                    </m:oMath>
                  </m:oMathPara>
                </a14:m>
                <a:endParaRPr lang="en-US" altLang="ja-JP" sz="2000" dirty="0"/>
              </a:p>
              <a:p>
                <a:pPr marL="397800" lvl="1" indent="0">
                  <a:buNone/>
                </a:pPr>
                <a:endParaRPr lang="en-US" altLang="ja-JP" sz="800" dirty="0"/>
              </a:p>
              <a:p>
                <a:pPr lvl="2"/>
                <a:r>
                  <a:rPr lang="ja-JP" altLang="en-US" sz="2000"/>
                  <a:t>回帰関数</a:t>
                </a:r>
                <a:r>
                  <a:rPr lang="en-US" altLang="ja-JP" sz="2000" dirty="0"/>
                  <a:t> </a:t>
                </a:r>
                <a14:m>
                  <m:oMath xmlns:m="http://schemas.openxmlformats.org/officeDocument/2006/math">
                    <m:r>
                      <a:rPr lang="en-US" altLang="ja-JP" sz="2000" i="1">
                        <a:latin typeface="Cambria Math" panose="02040503050406030204" pitchFamily="18" charset="0"/>
                      </a:rPr>
                      <m:t>𝑓</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𝐷</m:t>
                        </m:r>
                        <m:r>
                          <a:rPr lang="en-US" altLang="ja-JP" sz="2000" i="1">
                            <a:latin typeface="Cambria Math" panose="02040503050406030204" pitchFamily="18" charset="0"/>
                          </a:rPr>
                          <m:t>, </m:t>
                        </m:r>
                        <m:r>
                          <a:rPr lang="en-US" altLang="ja-JP" sz="2000" i="1">
                            <a:latin typeface="Cambria Math" panose="02040503050406030204" pitchFamily="18" charset="0"/>
                          </a:rPr>
                          <m:t>𝑋</m:t>
                        </m:r>
                      </m:e>
                    </m:d>
                  </m:oMath>
                </a14:m>
                <a:r>
                  <a:rPr lang="en-US" altLang="ja-JP" sz="2000" dirty="0"/>
                  <a:t> </a:t>
                </a:r>
                <a:r>
                  <a:rPr lang="ja-JP" altLang="en-US" sz="2000" dirty="0"/>
                  <a:t>に</a:t>
                </a:r>
                <a:r>
                  <a:rPr lang="ja-JP" altLang="en-US" sz="2000"/>
                  <a:t>以下の線形モデルを仮定：</a:t>
                </a:r>
                <a:endParaRPr lang="en-US" altLang="ja-JP" sz="2000" dirty="0"/>
              </a:p>
              <a:p>
                <a:pPr lvl="2"/>
                <a:endParaRPr lang="en-US" altLang="ja-JP" sz="800" dirty="0"/>
              </a:p>
              <a:p>
                <a:pPr marL="855000" lvl="2"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𝑓</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𝐷</m:t>
                          </m:r>
                          <m:r>
                            <a:rPr lang="en-US" altLang="ja-JP" sz="2000" b="0" i="1" smtClean="0">
                              <a:latin typeface="Cambria Math" panose="02040503050406030204" pitchFamily="18" charset="0"/>
                            </a:rPr>
                            <m:t>, </m:t>
                          </m:r>
                          <m:r>
                            <a:rPr lang="en-US" altLang="ja-JP" sz="2000" b="0" i="1" smtClean="0">
                              <a:latin typeface="Cambria Math" panose="02040503050406030204" pitchFamily="18" charset="0"/>
                            </a:rPr>
                            <m:t>𝑋</m:t>
                          </m:r>
                        </m:e>
                      </m:d>
                      <m:r>
                        <a:rPr lang="en-US" altLang="ja-JP" sz="2000" b="0" i="1" smtClean="0">
                          <a:latin typeface="Cambria Math" panose="02040503050406030204" pitchFamily="18" charset="0"/>
                        </a:rPr>
                        <m:t>=</m:t>
                      </m:r>
                      <m:r>
                        <a:rPr lang="en-US" altLang="ja-JP" sz="2000" i="1">
                          <a:latin typeface="Cambria Math" panose="02040503050406030204" pitchFamily="18" charset="0"/>
                        </a:rPr>
                        <m:t>𝛼</m:t>
                      </m:r>
                      <m:r>
                        <a:rPr lang="en-US" altLang="ja-JP" sz="2000" b="0" i="1" smtClean="0">
                          <a:latin typeface="Cambria Math" panose="02040503050406030204" pitchFamily="18" charset="0"/>
                        </a:rPr>
                        <m:t>𝐷</m:t>
                      </m:r>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𝛽</m:t>
                          </m:r>
                        </m:e>
                        <m:sup>
                          <m:r>
                            <a:rPr lang="en-US" altLang="ja-JP" sz="2000" i="1">
                              <a:latin typeface="Cambria Math" panose="02040503050406030204" pitchFamily="18" charset="0"/>
                            </a:rPr>
                            <m:t>⊤</m:t>
                          </m:r>
                        </m:sup>
                      </m:sSup>
                      <m:r>
                        <a:rPr lang="en-US" altLang="ja-JP" sz="2000" b="0" i="1" smtClean="0">
                          <a:latin typeface="Cambria Math" panose="02040503050406030204" pitchFamily="18" charset="0"/>
                        </a:rPr>
                        <m:t>𝑋</m:t>
                      </m:r>
                    </m:oMath>
                  </m:oMathPara>
                </a14:m>
                <a:endParaRPr lang="en-US" altLang="ja-JP" sz="2000" dirty="0"/>
              </a:p>
              <a:p>
                <a:pPr marL="855000" lvl="2" indent="0">
                  <a:buNone/>
                </a:pPr>
                <a:endParaRPr lang="en-US" altLang="ja-JP" sz="800" dirty="0"/>
              </a:p>
              <a:p>
                <a:pPr lvl="2"/>
                <a:r>
                  <a:rPr lang="en-US" altLang="ja-JP" sz="2000" dirty="0"/>
                  <a:t>ATE </a:t>
                </a:r>
                <a:r>
                  <a:rPr lang="ja-JP" altLang="en-US" sz="2000"/>
                  <a:t>を</a:t>
                </a:r>
                <a:r>
                  <a:rPr lang="en-US" altLang="ja-JP" sz="2000" dirty="0"/>
                  <a:t> </a:t>
                </a:r>
                <a14:m>
                  <m:oMath xmlns:m="http://schemas.openxmlformats.org/officeDocument/2006/math">
                    <m:r>
                      <a:rPr lang="en-US" altLang="ja-JP" sz="2000" b="0" i="1" smtClean="0">
                        <a:latin typeface="Cambria Math" panose="02040503050406030204" pitchFamily="18" charset="0"/>
                      </a:rPr>
                      <m:t>𝛼</m:t>
                    </m:r>
                  </m:oMath>
                </a14:m>
                <a:r>
                  <a:rPr lang="en-US" altLang="ja-JP" sz="2000" dirty="0"/>
                  <a:t> </a:t>
                </a:r>
                <a:r>
                  <a:rPr lang="ja-JP" altLang="en-US" sz="2000" dirty="0"/>
                  <a:t>と</a:t>
                </a:r>
                <a:r>
                  <a:rPr lang="ja-JP" altLang="en-US" sz="2000"/>
                  <a:t>表している：</a:t>
                </a:r>
                <a:endParaRPr lang="en-US" altLang="ja-JP" sz="2000" dirty="0"/>
              </a:p>
              <a:p>
                <a:pPr lvl="2"/>
                <a:endParaRPr lang="en-US" altLang="ja-JP" sz="800" dirty="0"/>
              </a:p>
              <a:p>
                <a:pPr marL="855000" lvl="2" indent="0">
                  <a:buNone/>
                </a:pPr>
                <a14:m>
                  <m:oMathPara xmlns:m="http://schemas.openxmlformats.org/officeDocument/2006/math">
                    <m:oMathParaPr>
                      <m:jc m:val="centerGroup"/>
                    </m:oMathParaPr>
                    <m:oMath xmlns:m="http://schemas.openxmlformats.org/officeDocument/2006/math">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𝜃</m:t>
                          </m:r>
                        </m:e>
                        <m:sub>
                          <m:r>
                            <a:rPr lang="en-US" altLang="ja-JP" sz="2000" i="1">
                              <a:latin typeface="Cambria Math" panose="02040503050406030204" pitchFamily="18" charset="0"/>
                            </a:rPr>
                            <m:t>0</m:t>
                          </m:r>
                        </m:sub>
                        <m:sup>
                          <m:r>
                            <m:rPr>
                              <m:sty m:val="p"/>
                            </m:rPr>
                            <a:rPr lang="en-US" altLang="ja-JP" sz="2000">
                              <a:latin typeface="Cambria Math" panose="02040503050406030204" pitchFamily="18" charset="0"/>
                            </a:rPr>
                            <m:t>ATE</m:t>
                          </m:r>
                        </m:sup>
                      </m:sSubSup>
                      <m:r>
                        <a:rPr lang="en-US" altLang="ja-JP" sz="2000" i="1">
                          <a:latin typeface="Cambria Math" panose="02040503050406030204" pitchFamily="18" charset="0"/>
                        </a:rPr>
                        <m:t>=</m:t>
                      </m:r>
                      <m:r>
                        <a:rPr lang="en-US" altLang="ja-JP" sz="2000" i="1">
                          <a:latin typeface="Cambria Math" panose="02040503050406030204" pitchFamily="18" charset="0"/>
                        </a:rPr>
                        <m:t>𝔼</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𝑌</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e>
                          </m:d>
                          <m:r>
                            <a:rPr lang="en-US" altLang="ja-JP" sz="2000" i="1">
                              <a:latin typeface="Cambria Math" panose="02040503050406030204" pitchFamily="18" charset="0"/>
                            </a:rPr>
                            <m:t>−</m:t>
                          </m:r>
                          <m:r>
                            <a:rPr lang="en-US" altLang="ja-JP" sz="2000" i="1">
                              <a:latin typeface="Cambria Math" panose="02040503050406030204" pitchFamily="18" charset="0"/>
                            </a:rPr>
                            <m:t>𝑌</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0</m:t>
                              </m:r>
                            </m:e>
                          </m:d>
                        </m:e>
                      </m:d>
                      <m:r>
                        <a:rPr lang="en-US" altLang="ja-JP" sz="2000" i="1">
                          <a:latin typeface="Cambria Math" panose="02040503050406030204" pitchFamily="18" charset="0"/>
                        </a:rPr>
                        <m:t>=</m:t>
                      </m:r>
                      <m:r>
                        <a:rPr lang="en-US" altLang="ja-JP" sz="2000" i="1">
                          <a:latin typeface="Cambria Math" panose="02040503050406030204" pitchFamily="18" charset="0"/>
                        </a:rPr>
                        <m:t>𝔼</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𝑓</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r>
                                <a:rPr lang="en-US" altLang="ja-JP" sz="2000" i="1">
                                  <a:latin typeface="Cambria Math" panose="02040503050406030204" pitchFamily="18" charset="0"/>
                                </a:rPr>
                                <m:t>𝑋</m:t>
                              </m:r>
                            </m:e>
                          </m:d>
                          <m:r>
                            <a:rPr lang="en-US" altLang="ja-JP" sz="2000" i="1">
                              <a:latin typeface="Cambria Math" panose="02040503050406030204" pitchFamily="18" charset="0"/>
                            </a:rPr>
                            <m:t>−</m:t>
                          </m:r>
                          <m:r>
                            <a:rPr lang="en-US" altLang="ja-JP" sz="2000" i="1">
                              <a:latin typeface="Cambria Math" panose="02040503050406030204" pitchFamily="18" charset="0"/>
                            </a:rPr>
                            <m:t>𝑓</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0,</m:t>
                              </m:r>
                              <m:r>
                                <a:rPr lang="en-US" altLang="ja-JP" sz="2000" i="1">
                                  <a:latin typeface="Cambria Math" panose="02040503050406030204" pitchFamily="18" charset="0"/>
                                </a:rPr>
                                <m:t>𝑋</m:t>
                              </m:r>
                            </m:e>
                          </m:d>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𝛼</m:t>
                      </m:r>
                    </m:oMath>
                  </m:oMathPara>
                </a14:m>
                <a:endParaRPr lang="en-US" altLang="ja-JP" sz="2000" dirty="0"/>
              </a:p>
              <a:p>
                <a:pPr marL="1312200" lvl="3" indent="0">
                  <a:buNone/>
                </a:pPr>
                <a:endParaRPr lang="en-US" altLang="ja-JP" sz="800" dirty="0"/>
              </a:p>
              <a:p>
                <a:pPr marL="1312200" lvl="3" indent="0">
                  <a:buNone/>
                </a:pPr>
                <a:r>
                  <a:rPr lang="ja-JP" altLang="en-US" sz="2000"/>
                  <a:t>＝</a:t>
                </a:r>
                <a:r>
                  <a:rPr lang="en-US" altLang="ja-JP" sz="2000" dirty="0"/>
                  <a:t> </a:t>
                </a:r>
                <a:r>
                  <a:rPr lang="ja-JP" altLang="en-US" sz="2000"/>
                  <a:t>均質な</a:t>
                </a:r>
                <a:r>
                  <a:rPr lang="en-US" altLang="ja-JP" sz="2000" dirty="0"/>
                  <a:t>ATE </a:t>
                </a:r>
                <a:r>
                  <a:rPr lang="ja-JP" altLang="en-US" sz="2000"/>
                  <a:t>を仮定</a:t>
                </a:r>
                <a:endParaRPr lang="en-US" altLang="ja-JP" sz="2000" dirty="0"/>
              </a:p>
              <a:p>
                <a:pPr lvl="4"/>
                <a:r>
                  <a:rPr lang="ja-JP" altLang="en-US" sz="2000"/>
                  <a:t>個人ごと（共変量</a:t>
                </a:r>
                <a:r>
                  <a:rPr lang="en-US" altLang="ja-JP" sz="2000" dirty="0"/>
                  <a:t> = </a:t>
                </a:r>
                <a:r>
                  <a:rPr lang="ja-JP" altLang="en-US" sz="2000"/>
                  <a:t>個人属性</a:t>
                </a:r>
                <a:r>
                  <a:rPr lang="en-US" altLang="ja-JP" sz="2000" dirty="0"/>
                  <a:t> </a:t>
                </a:r>
                <a14:m>
                  <m:oMath xmlns:m="http://schemas.openxmlformats.org/officeDocument/2006/math">
                    <m:r>
                      <a:rPr lang="en-US" altLang="ja-JP" sz="2000" i="1">
                        <a:latin typeface="Cambria Math" panose="02040503050406030204" pitchFamily="18" charset="0"/>
                      </a:rPr>
                      <m:t>𝑋</m:t>
                    </m:r>
                  </m:oMath>
                </a14:m>
                <a:r>
                  <a:rPr lang="en-US" altLang="ja-JP" sz="2000" dirty="0"/>
                  <a:t> </a:t>
                </a:r>
                <a:r>
                  <a:rPr lang="ja-JP" altLang="en-US" sz="2000"/>
                  <a:t>ごと）に処置効果が変わらない</a:t>
                </a:r>
                <a:endParaRPr lang="en-US" altLang="ja-JP" sz="2000" dirty="0"/>
              </a:p>
              <a:p>
                <a:pPr lvl="2"/>
                <a:r>
                  <a:rPr lang="en-US" altLang="ja-JP" sz="2000" dirty="0"/>
                  <a:t>OLS</a:t>
                </a:r>
                <a:r>
                  <a:rPr lang="ja-JP" altLang="en-US" sz="2000"/>
                  <a:t>で推定可能</a:t>
                </a:r>
                <a:endParaRPr lang="en-US" altLang="ja-JP" sz="2000" dirty="0"/>
              </a:p>
              <a:p>
                <a:pPr lvl="1"/>
                <a:endParaRPr lang="en-US" altLang="ja-JP" sz="800" dirty="0"/>
              </a:p>
              <a:p>
                <a:r>
                  <a:rPr lang="ja-JP" altLang="en-US" sz="2000"/>
                  <a:t>回帰分析と因果分析</a:t>
                </a:r>
                <a:endParaRPr lang="en-US" altLang="ja-JP" sz="2000" dirty="0"/>
              </a:p>
              <a:p>
                <a:pPr lvl="1"/>
                <a:r>
                  <a:rPr lang="ja-JP" altLang="en-US" sz="2000"/>
                  <a:t>因果推論は、「仮定の少ない回帰分析」を指すことが多い</a:t>
                </a:r>
                <a:endParaRPr lang="en-US" altLang="ja-JP" sz="2000" dirty="0"/>
              </a:p>
              <a:p>
                <a:pPr lvl="1"/>
                <a:r>
                  <a:rPr lang="ja-JP" altLang="en-US" sz="2000"/>
                  <a:t>因果推論では、因果の観点で回帰分析で使われる仮定が吟味される</a:t>
                </a:r>
                <a:endParaRPr lang="en-US" altLang="ja-JP" sz="2000" dirty="0"/>
              </a:p>
              <a:p>
                <a:pPr lvl="1"/>
                <a:endParaRPr lang="en-US" altLang="ja-JP" sz="2000" dirty="0"/>
              </a:p>
              <a:p>
                <a:endParaRPr kumimoji="1" lang="en-US" altLang="ja-JP" sz="2000" dirty="0"/>
              </a:p>
            </p:txBody>
          </p:sp>
        </mc:Choice>
        <mc:Fallback>
          <p:sp>
            <p:nvSpPr>
              <p:cNvPr id="3" name="コンテンツ プレースホルダー 2">
                <a:extLst>
                  <a:ext uri="{FF2B5EF4-FFF2-40B4-BE49-F238E27FC236}">
                    <a16:creationId xmlns:a16="http://schemas.microsoft.com/office/drawing/2014/main" id="{9528657E-56FC-E6C9-3DC0-8F8341021AFA}"/>
                  </a:ext>
                </a:extLst>
              </p:cNvPr>
              <p:cNvSpPr>
                <a:spLocks noGrp="1" noRot="1" noChangeAspect="1" noMove="1" noResize="1" noEditPoints="1" noAdjustHandles="1" noChangeArrowheads="1" noChangeShapeType="1" noTextEdit="1"/>
              </p:cNvSpPr>
              <p:nvPr>
                <p:ph idx="1"/>
              </p:nvPr>
            </p:nvSpPr>
            <p:spPr>
              <a:blipFill>
                <a:blip r:embed="rId2"/>
                <a:stretch>
                  <a:fillRect l="-603" t="-709" b="-307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001863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868B5-C002-3023-63DD-BD1FA5245F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BC2131-7C0F-D8C5-B7C2-B634D06E95F0}"/>
              </a:ext>
            </a:extLst>
          </p:cNvPr>
          <p:cNvSpPr>
            <a:spLocks noGrp="1"/>
          </p:cNvSpPr>
          <p:nvPr>
            <p:ph type="title"/>
          </p:nvPr>
        </p:nvSpPr>
        <p:spPr/>
        <p:txBody>
          <a:bodyPr/>
          <a:lstStyle/>
          <a:p>
            <a:r>
              <a:rPr kumimoji="1" lang="ja-JP" altLang="en-US"/>
              <a:t>線形回帰分析とその拡張</a:t>
            </a:r>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F78B6EAD-1123-8904-20D3-8C535E25E821}"/>
                  </a:ext>
                </a:extLst>
              </p:cNvPr>
              <p:cNvSpPr>
                <a:spLocks noGrp="1"/>
              </p:cNvSpPr>
              <p:nvPr>
                <p:ph idx="1"/>
              </p:nvPr>
            </p:nvSpPr>
            <p:spPr/>
            <p:txBody>
              <a:bodyPr>
                <a:normAutofit/>
              </a:bodyPr>
              <a:lstStyle/>
              <a:p>
                <a:r>
                  <a:rPr lang="ja-JP" altLang="en-US" sz="2000"/>
                  <a:t>線形回帰モデル</a:t>
                </a:r>
                <a:r>
                  <a:rPr lang="en-US" altLang="ja-JP" sz="2000" dirty="0"/>
                  <a:t> ①</a:t>
                </a:r>
                <a:r>
                  <a:rPr lang="ja-JP" altLang="en-US" sz="2000"/>
                  <a:t>：</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𝑌</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m:t>
                      </m:r>
                      <m:r>
                        <a:rPr lang="en-US" altLang="ja-JP" sz="2000" i="1">
                          <a:latin typeface="Cambria Math" panose="02040503050406030204" pitchFamily="18" charset="0"/>
                        </a:rPr>
                        <m:t>𝛼</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𝐷</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𝛽</m:t>
                          </m:r>
                        </m:e>
                        <m:sup>
                          <m:r>
                            <a:rPr lang="en-US" altLang="ja-JP" sz="2000" b="0" i="1" smtClean="0">
                              <a:latin typeface="Cambria Math" panose="02040503050406030204" pitchFamily="18" charset="0"/>
                            </a:rPr>
                            <m:t>⊤</m:t>
                          </m:r>
                        </m:sup>
                      </m:sSup>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𝑋</m:t>
                          </m:r>
                        </m:e>
                        <m:sub>
                          <m:r>
                            <a:rPr lang="en-US" altLang="ja-JP" sz="2000" b="0" i="1" smtClean="0">
                              <a:latin typeface="Cambria Math" panose="02040503050406030204" pitchFamily="18" charset="0"/>
                            </a:rPr>
                            <m:t>𝑖</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𝜖</m:t>
                          </m:r>
                        </m:e>
                        <m:sub>
                          <m:r>
                            <a:rPr lang="en-US" altLang="ja-JP" sz="2000" i="1">
                              <a:latin typeface="Cambria Math" panose="02040503050406030204" pitchFamily="18" charset="0"/>
                            </a:rPr>
                            <m:t>𝑖</m:t>
                          </m:r>
                        </m:sub>
                      </m:sSub>
                    </m:oMath>
                  </m:oMathPara>
                </a14:m>
                <a:endParaRPr lang="en-US" altLang="ja-JP" sz="2000" dirty="0"/>
              </a:p>
              <a:p>
                <a:endParaRPr lang="en-US" altLang="ja-JP" sz="800" dirty="0"/>
              </a:p>
              <a:p>
                <a:pPr>
                  <a:buClr>
                    <a:srgbClr val="00B050"/>
                  </a:buClr>
                  <a:buFont typeface="Wingdings" pitchFamily="2" charset="2"/>
                  <a:buChar char="p"/>
                </a:pPr>
                <a:r>
                  <a:rPr lang="ja-JP" altLang="en-US" sz="2000"/>
                  <a:t>例：</a:t>
                </a:r>
                <a:endParaRPr lang="en-US" altLang="ja-JP" sz="2000" dirty="0"/>
              </a:p>
              <a:p>
                <a:pPr lvl="1"/>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𝑌</m:t>
                        </m:r>
                      </m:e>
                      <m:sub>
                        <m:r>
                          <a:rPr lang="en-US" altLang="ja-JP" sz="2000" b="0" i="1" smtClean="0">
                            <a:latin typeface="Cambria Math" panose="02040503050406030204" pitchFamily="18" charset="0"/>
                          </a:rPr>
                          <m:t>𝑖</m:t>
                        </m:r>
                      </m:sub>
                    </m:sSub>
                  </m:oMath>
                </a14:m>
                <a:r>
                  <a:rPr lang="ja-JP" altLang="en-US" sz="2000" b="0">
                    <a:latin typeface="Cambria Math" panose="02040503050406030204" pitchFamily="18" charset="0"/>
                  </a:rPr>
                  <a:t>：　一回の来店で使う金銭</a:t>
                </a:r>
                <a:endParaRPr lang="en-US" altLang="ja-JP" sz="2000" b="0" dirty="0">
                  <a:latin typeface="Cambria Math" panose="02040503050406030204" pitchFamily="18" charset="0"/>
                </a:endParaRPr>
              </a:p>
              <a:p>
                <a:pPr lvl="1"/>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𝐷</m:t>
                        </m:r>
                      </m:e>
                      <m:sub>
                        <m:r>
                          <a:rPr lang="en-US" altLang="ja-JP" sz="2000" b="0" i="1" smtClean="0">
                            <a:latin typeface="Cambria Math" panose="02040503050406030204" pitchFamily="18" charset="0"/>
                          </a:rPr>
                          <m:t>𝑖</m:t>
                        </m:r>
                      </m:sub>
                    </m:sSub>
                  </m:oMath>
                </a14:m>
                <a:r>
                  <a:rPr lang="ja-JP" altLang="en-US" sz="2000"/>
                  <a:t>：　クーポンを配布する（</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𝐷</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=1</m:t>
                    </m:r>
                  </m:oMath>
                </a14:m>
                <a:r>
                  <a:rPr lang="ja-JP" altLang="en-US" sz="2000"/>
                  <a:t>）、もしくはクーポンを配布しない（</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𝐷</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=0</m:t>
                    </m:r>
                  </m:oMath>
                </a14:m>
                <a:r>
                  <a:rPr lang="ja-JP" altLang="en-US" sz="2000"/>
                  <a:t>）。</a:t>
                </a:r>
                <a:endParaRPr lang="en-US" altLang="ja-JP" sz="2000" dirty="0"/>
              </a:p>
              <a:p>
                <a:pPr lvl="1"/>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𝑋</m:t>
                        </m:r>
                      </m:e>
                      <m:sub>
                        <m:r>
                          <a:rPr lang="en-US" altLang="ja-JP" sz="2000" b="0" i="1" smtClean="0">
                            <a:latin typeface="Cambria Math" panose="02040503050406030204" pitchFamily="18" charset="0"/>
                          </a:rPr>
                          <m:t>𝑖</m:t>
                        </m:r>
                      </m:sub>
                    </m:sSub>
                  </m:oMath>
                </a14:m>
                <a:r>
                  <a:rPr lang="ja-JP" altLang="en-US" sz="2000"/>
                  <a:t>：　個人を表す属性（年齢・性別・過去の購入履歴など）</a:t>
                </a:r>
                <a:endParaRPr lang="en-US" altLang="ja-JP" sz="2000" b="0" i="1" dirty="0">
                  <a:latin typeface="Cambria Math" panose="02040503050406030204" pitchFamily="18" charset="0"/>
                </a:endParaRPr>
              </a:p>
              <a:p>
                <a:pPr lvl="1"/>
                <a:r>
                  <a:rPr lang="ja-JP" altLang="en-US" sz="2000" b="0">
                    <a:latin typeface="Cambria Math" panose="02040503050406030204" pitchFamily="18" charset="0"/>
                  </a:rPr>
                  <a:t>クーポンを配布する場合：</a:t>
                </a:r>
                <a:endParaRPr lang="en-US" altLang="ja-JP" sz="2000" dirty="0">
                  <a:latin typeface="Cambria Math" panose="02040503050406030204" pitchFamily="18" charset="0"/>
                </a:endParaRPr>
              </a:p>
              <a:p>
                <a:pPr marL="397800" lvl="1"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𝑌</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𝛼</m:t>
                      </m:r>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𝛽</m:t>
                          </m:r>
                        </m:e>
                        <m:sup>
                          <m:r>
                            <a:rPr lang="en-US" altLang="ja-JP" sz="2000" b="0" i="1" smtClean="0">
                              <a:latin typeface="Cambria Math" panose="02040503050406030204" pitchFamily="18" charset="0"/>
                            </a:rPr>
                            <m:t>⊤</m:t>
                          </m:r>
                        </m:sup>
                      </m:sSup>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𝑋</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 </m:t>
                      </m:r>
                    </m:oMath>
                  </m:oMathPara>
                </a14:m>
                <a:endParaRPr lang="en-US" altLang="ja-JP" sz="2000" dirty="0"/>
              </a:p>
              <a:p>
                <a:pPr lvl="1"/>
                <a:r>
                  <a:rPr lang="ja-JP" altLang="en-US" sz="2000"/>
                  <a:t>クーポンを配布しない場合：</a:t>
                </a:r>
                <a:endParaRPr lang="en-US" altLang="ja-JP" sz="2000" dirty="0"/>
              </a:p>
              <a:p>
                <a:pPr marL="397800" lvl="1"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𝛽</m:t>
                          </m:r>
                        </m:e>
                        <m:sup>
                          <m:r>
                            <a:rPr lang="en-US" altLang="ja-JP" sz="2000" i="1">
                              <a:latin typeface="Cambria Math" panose="02040503050406030204" pitchFamily="18" charset="0"/>
                            </a:rPr>
                            <m:t>⊤</m:t>
                          </m:r>
                        </m:sup>
                      </m:sSup>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 </m:t>
                      </m:r>
                    </m:oMath>
                  </m:oMathPara>
                </a14:m>
                <a:endParaRPr lang="en-US" altLang="ja-JP" sz="2000" dirty="0"/>
              </a:p>
              <a:p>
                <a:pPr lvl="1"/>
                <a:r>
                  <a:rPr lang="en-US" altLang="ja-JP" sz="2000" dirty="0"/>
                  <a:t>ATE</a:t>
                </a:r>
                <a:r>
                  <a:rPr lang="ja-JP" altLang="en-US" sz="2000"/>
                  <a:t>：</a:t>
                </a:r>
                <a14:m>
                  <m:oMath xmlns:m="http://schemas.openxmlformats.org/officeDocument/2006/math">
                    <m:r>
                      <a:rPr lang="en-US" altLang="ja-JP" sz="2000" i="1">
                        <a:latin typeface="Cambria Math" panose="02040503050406030204" pitchFamily="18" charset="0"/>
                      </a:rPr>
                      <m:t>𝛼</m:t>
                    </m:r>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𝛽</m:t>
                        </m:r>
                      </m:e>
                      <m:sup>
                        <m:r>
                          <a:rPr lang="en-US" altLang="ja-JP" sz="2000" i="1">
                            <a:latin typeface="Cambria Math" panose="02040503050406030204" pitchFamily="18" charset="0"/>
                          </a:rPr>
                          <m:t>⊤</m:t>
                        </m:r>
                      </m:sup>
                    </m:sSup>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r>
                      <a:rPr lang="en-US" altLang="ja-JP" sz="2000" b="0" i="1" smtClean="0">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𝛽</m:t>
                        </m:r>
                      </m:e>
                      <m:sup>
                        <m:r>
                          <a:rPr lang="en-US" altLang="ja-JP" sz="2000" i="1">
                            <a:latin typeface="Cambria Math" panose="02040503050406030204" pitchFamily="18" charset="0"/>
                          </a:rPr>
                          <m:t>⊤</m:t>
                        </m:r>
                      </m:sup>
                    </m:sSup>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r>
                      <a:rPr lang="en-US" altLang="ja-JP" sz="2000" b="0" i="1" smtClean="0">
                        <a:latin typeface="Cambria Math" panose="02040503050406030204" pitchFamily="18" charset="0"/>
                      </a:rPr>
                      <m:t>=</m:t>
                    </m:r>
                    <m:r>
                      <a:rPr lang="en-US" altLang="ja-JP" sz="2000" i="1">
                        <a:latin typeface="Cambria Math" panose="02040503050406030204" pitchFamily="18" charset="0"/>
                      </a:rPr>
                      <m:t>𝛼</m:t>
                    </m:r>
                  </m:oMath>
                </a14:m>
                <a:endParaRPr lang="en-US" altLang="ja-JP" sz="2000" dirty="0"/>
              </a:p>
              <a:p>
                <a:pPr lvl="2"/>
                <a14:m>
                  <m:oMath xmlns:m="http://schemas.openxmlformats.org/officeDocument/2006/math">
                    <m:r>
                      <a:rPr lang="en-US" altLang="ja-JP" sz="2000" b="0" i="1" smtClean="0">
                        <a:latin typeface="Cambria Math" panose="02040503050406030204" pitchFamily="18" charset="0"/>
                      </a:rPr>
                      <m:t>𝛼</m:t>
                    </m:r>
                  </m:oMath>
                </a14:m>
                <a:r>
                  <a:rPr lang="en-US" altLang="ja-JP" sz="2000" dirty="0"/>
                  <a:t> </a:t>
                </a:r>
                <a:r>
                  <a:rPr lang="ja-JP" altLang="en-US" sz="2000" dirty="0"/>
                  <a:t>がクーポン</a:t>
                </a:r>
                <a:r>
                  <a:rPr lang="ja-JP" altLang="en-US" sz="2000"/>
                  <a:t>配布の効果</a:t>
                </a:r>
                <a:endParaRPr lang="en-US" altLang="ja-JP" sz="2000" dirty="0"/>
              </a:p>
              <a:p>
                <a:pPr marL="0" indent="0">
                  <a:buNone/>
                </a:pPr>
                <a:endParaRPr lang="en-US" altLang="ja-JP" sz="2000" dirty="0"/>
              </a:p>
              <a:p>
                <a:pPr marL="0" indent="0">
                  <a:buNone/>
                </a:pPr>
                <a:endParaRPr lang="en-US" altLang="ja-JP" sz="2000" dirty="0"/>
              </a:p>
              <a:p>
                <a:endParaRPr kumimoji="1" lang="en-US" altLang="ja-JP" sz="2000" dirty="0"/>
              </a:p>
              <a:p>
                <a:pPr marL="0" indent="0">
                  <a:buNone/>
                </a:pPr>
                <a:endParaRPr kumimoji="1" lang="en-US" altLang="ja-JP" sz="2000" dirty="0"/>
              </a:p>
            </p:txBody>
          </p:sp>
        </mc:Choice>
        <mc:Fallback>
          <p:sp>
            <p:nvSpPr>
              <p:cNvPr id="3" name="コンテンツ プレースホルダー 2">
                <a:extLst>
                  <a:ext uri="{FF2B5EF4-FFF2-40B4-BE49-F238E27FC236}">
                    <a16:creationId xmlns:a16="http://schemas.microsoft.com/office/drawing/2014/main" id="{F78B6EAD-1123-8904-20D3-8C535E25E821}"/>
                  </a:ext>
                </a:extLst>
              </p:cNvPr>
              <p:cNvSpPr>
                <a:spLocks noGrp="1" noRot="1" noChangeAspect="1" noMove="1" noResize="1" noEditPoints="1" noAdjustHandles="1" noChangeArrowheads="1" noChangeShapeType="1" noTextEdit="1"/>
              </p:cNvSpPr>
              <p:nvPr>
                <p:ph idx="1"/>
              </p:nvPr>
            </p:nvSpPr>
            <p:spPr>
              <a:blipFill>
                <a:blip r:embed="rId2"/>
                <a:stretch>
                  <a:fillRect l="-603" t="-70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966039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DDD50-CC72-90C6-34B9-60781686B73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7D6416C-55B0-5354-DC79-4BE41E9B2139}"/>
              </a:ext>
            </a:extLst>
          </p:cNvPr>
          <p:cNvSpPr>
            <a:spLocks noGrp="1"/>
          </p:cNvSpPr>
          <p:nvPr>
            <p:ph type="title"/>
          </p:nvPr>
        </p:nvSpPr>
        <p:spPr/>
        <p:txBody>
          <a:bodyPr/>
          <a:lstStyle/>
          <a:p>
            <a:r>
              <a:rPr lang="ja-JP" altLang="en-US"/>
              <a:t>線形回帰分析とその拡張</a:t>
            </a:r>
            <a:endParaRPr kumimoji="1" lang="ja-JP" altLang="en-US"/>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D321C1FE-D975-59D4-1784-424F101C0780}"/>
                  </a:ext>
                </a:extLst>
              </p:cNvPr>
              <p:cNvSpPr>
                <a:spLocks noGrp="1"/>
              </p:cNvSpPr>
              <p:nvPr>
                <p:ph idx="1"/>
              </p:nvPr>
            </p:nvSpPr>
            <p:spPr/>
            <p:txBody>
              <a:bodyPr>
                <a:noAutofit/>
              </a:bodyPr>
              <a:lstStyle/>
              <a:p>
                <a:r>
                  <a:rPr lang="ja-JP" altLang="en-US" sz="2000"/>
                  <a:t>線形回帰モデル</a:t>
                </a:r>
                <a:r>
                  <a:rPr lang="en-US" altLang="ja-JP" sz="2000" dirty="0"/>
                  <a:t> ②</a:t>
                </a:r>
                <a:r>
                  <a:rPr lang="ja-JP" altLang="en-US" sz="2000"/>
                  <a:t>：</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𝑌</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𝐷</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𝛽</m:t>
                          </m:r>
                        </m:e>
                        <m:sub>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𝑋</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r>
                            <a:rPr lang="en-US" altLang="ja-JP" sz="2000" i="1">
                              <a:latin typeface="Cambria Math" panose="02040503050406030204" pitchFamily="18" charset="0"/>
                            </a:rPr>
                            <m:t>𝐷</m:t>
                          </m:r>
                        </m:e>
                      </m:d>
                      <m:r>
                        <a:rPr lang="en-US" altLang="ja-JP" sz="2000" b="0" i="1" smtClean="0">
                          <a:latin typeface="Cambria Math" panose="02040503050406030204" pitchFamily="18" charset="0"/>
                        </a:rPr>
                        <m:t> </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𝛽</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sup>
                      </m:sSubSup>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𝜖</m:t>
                          </m:r>
                        </m:e>
                        <m:sub>
                          <m:r>
                            <a:rPr lang="en-US" altLang="ja-JP" sz="2000" i="1">
                              <a:latin typeface="Cambria Math" panose="02040503050406030204" pitchFamily="18" charset="0"/>
                            </a:rPr>
                            <m:t>𝑖</m:t>
                          </m:r>
                        </m:sub>
                      </m:sSub>
                    </m:oMath>
                  </m:oMathPara>
                </a14:m>
                <a:endParaRPr lang="en-US" altLang="ja-JP" sz="2000" dirty="0"/>
              </a:p>
              <a:p>
                <a:pPr lvl="1"/>
                <a:endParaRPr lang="en-US" altLang="ja-JP" sz="800" dirty="0"/>
              </a:p>
              <a:p>
                <a:pPr lvl="1"/>
                <a:r>
                  <a:rPr lang="ja-JP" altLang="en-US" sz="2000"/>
                  <a:t>前述の線形回帰モデルの拡張</a:t>
                </a:r>
                <a:endParaRPr lang="en-US" altLang="ja-JP" sz="2000" dirty="0"/>
              </a:p>
              <a:p>
                <a:pPr lvl="1"/>
                <a:r>
                  <a:rPr lang="ja-JP" altLang="en-US" sz="2000"/>
                  <a:t>処置</a:t>
                </a:r>
                <a:r>
                  <a:rPr lang="en-US" altLang="ja-JP" sz="2000" dirty="0"/>
                  <a:t> </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𝐷</m:t>
                        </m:r>
                      </m:e>
                      <m:sub>
                        <m:r>
                          <a:rPr lang="en-US" altLang="ja-JP" sz="2000" b="0" i="1" smtClean="0">
                            <a:latin typeface="Cambria Math" panose="02040503050406030204" pitchFamily="18" charset="0"/>
                          </a:rPr>
                          <m:t>𝑖</m:t>
                        </m:r>
                      </m:sub>
                    </m:sSub>
                  </m:oMath>
                </a14:m>
                <a:r>
                  <a:rPr lang="en-US" altLang="ja-JP" sz="2000" dirty="0"/>
                  <a:t> </a:t>
                </a:r>
                <a:r>
                  <a:rPr lang="ja-JP" altLang="en-US" sz="2000" dirty="0"/>
                  <a:t>と</a:t>
                </a:r>
                <a:r>
                  <a:rPr lang="ja-JP" altLang="en-US" sz="2000"/>
                  <a:t>共変量</a:t>
                </a:r>
                <a:r>
                  <a:rPr lang="en-US" altLang="ja-JP" sz="2000" dirty="0"/>
                  <a:t> </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𝑋</m:t>
                        </m:r>
                      </m:e>
                      <m:sub>
                        <m:r>
                          <a:rPr lang="en-US" altLang="ja-JP" sz="2000" b="0" i="1" smtClean="0">
                            <a:latin typeface="Cambria Math" panose="02040503050406030204" pitchFamily="18" charset="0"/>
                          </a:rPr>
                          <m:t>𝑖</m:t>
                        </m:r>
                      </m:sub>
                    </m:sSub>
                  </m:oMath>
                </a14:m>
                <a:r>
                  <a:rPr lang="en-US" altLang="ja-JP" sz="2000" dirty="0"/>
                  <a:t> </a:t>
                </a:r>
                <a:r>
                  <a:rPr lang="ja-JP" altLang="en-US" sz="2000" dirty="0"/>
                  <a:t>の交差</a:t>
                </a:r>
                <a:r>
                  <a:rPr lang="ja-JP" altLang="en-US" sz="2000"/>
                  <a:t>項を許容</a:t>
                </a:r>
                <a:endParaRPr lang="en-US" altLang="ja-JP" sz="2000" dirty="0"/>
              </a:p>
              <a:p>
                <a:pPr marL="397800" lvl="1" indent="0">
                  <a:buNone/>
                </a:pPr>
                <a:endParaRPr lang="en-US" altLang="ja-JP" sz="800" dirty="0"/>
              </a:p>
              <a:p>
                <a:pPr>
                  <a:buClr>
                    <a:srgbClr val="00B050"/>
                  </a:buClr>
                  <a:buFont typeface="Wingdings" pitchFamily="2" charset="2"/>
                  <a:buChar char="p"/>
                </a:pPr>
                <a:r>
                  <a:rPr lang="ja-JP" altLang="en-US" sz="2000"/>
                  <a:t>例：</a:t>
                </a:r>
                <a:endParaRPr lang="en-US" altLang="ja-JP" sz="2000" dirty="0"/>
              </a:p>
              <a:p>
                <a:pPr lvl="1"/>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𝑖</m:t>
                        </m:r>
                      </m:sub>
                    </m:sSub>
                  </m:oMath>
                </a14:m>
                <a:r>
                  <a:rPr lang="ja-JP" altLang="en-US" sz="2000">
                    <a:latin typeface="Cambria Math" panose="02040503050406030204" pitchFamily="18" charset="0"/>
                  </a:rPr>
                  <a:t>：　一回の来店で使う金銭</a:t>
                </a:r>
                <a:endParaRPr lang="en-US" altLang="ja-JP" sz="2000" dirty="0">
                  <a:latin typeface="Cambria Math" panose="02040503050406030204" pitchFamily="18" charset="0"/>
                </a:endParaRPr>
              </a:p>
              <a:p>
                <a:pPr lvl="1"/>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oMath>
                </a14:m>
                <a:r>
                  <a:rPr lang="ja-JP" altLang="en-US" sz="2000"/>
                  <a:t>：　クーポンを配布する（</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=1</m:t>
                    </m:r>
                  </m:oMath>
                </a14:m>
                <a:r>
                  <a:rPr lang="ja-JP" altLang="en-US" sz="2000"/>
                  <a:t>）、もしくはクーポンを配布しない（</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=0</m:t>
                    </m:r>
                  </m:oMath>
                </a14:m>
                <a:r>
                  <a:rPr lang="ja-JP" altLang="en-US" sz="2000"/>
                  <a:t>）。</a:t>
                </a:r>
                <a:endParaRPr lang="en-US" altLang="ja-JP" sz="2000" dirty="0"/>
              </a:p>
              <a:p>
                <a:pPr lvl="1"/>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oMath>
                </a14:m>
                <a:r>
                  <a:rPr lang="ja-JP" altLang="en-US" sz="2000"/>
                  <a:t>：　個人を表す属性（年齢・性別・過去の購入履歴など）</a:t>
                </a:r>
                <a:endParaRPr lang="en-US" altLang="ja-JP" sz="2000" i="1" dirty="0">
                  <a:latin typeface="Cambria Math" panose="02040503050406030204" pitchFamily="18" charset="0"/>
                </a:endParaRPr>
              </a:p>
              <a:p>
                <a:pPr lvl="1"/>
                <a:r>
                  <a:rPr lang="ja-JP" altLang="en-US" sz="2000">
                    <a:latin typeface="Cambria Math" panose="02040503050406030204" pitchFamily="18" charset="0"/>
                  </a:rPr>
                  <a:t>クーポンを配布する場合：</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𝛽</m:t>
                        </m:r>
                      </m:e>
                      <m:sub>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oMath>
                </a14:m>
                <a:endParaRPr lang="en-US" altLang="ja-JP" sz="2000" dirty="0"/>
              </a:p>
              <a:p>
                <a:pPr lvl="1"/>
                <a:r>
                  <a:rPr lang="ja-JP" altLang="en-US" sz="2000"/>
                  <a:t>クーポンを配布しない場合：</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𝛽</m:t>
                        </m:r>
                      </m:e>
                      <m:sub>
                        <m:r>
                          <a:rPr lang="en-US" altLang="ja-JP" sz="2000" i="1">
                            <a:latin typeface="Cambria Math" panose="02040503050406030204" pitchFamily="18" charset="0"/>
                          </a:rPr>
                          <m:t>0</m:t>
                        </m:r>
                      </m:sub>
                      <m:sup>
                        <m:r>
                          <a:rPr lang="en-US" altLang="ja-JP" sz="2000" i="1">
                            <a:latin typeface="Cambria Math" panose="02040503050406030204" pitchFamily="18" charset="0"/>
                          </a:rPr>
                          <m:t>⊤</m:t>
                        </m:r>
                      </m:sup>
                    </m:sSubSup>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oMath>
                </a14:m>
                <a:endParaRPr lang="en-US" altLang="ja-JP" sz="2000" dirty="0"/>
              </a:p>
              <a:p>
                <a:pPr lvl="1"/>
                <a:r>
                  <a:rPr lang="en-US" altLang="ja-JP" sz="2000" dirty="0"/>
                  <a:t>ATE </a:t>
                </a:r>
                <a14:m>
                  <m:oMath xmlns:m="http://schemas.openxmlformats.org/officeDocument/2006/math">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𝜃</m:t>
                        </m:r>
                      </m:e>
                      <m:sub>
                        <m:r>
                          <a:rPr lang="en-US" altLang="ja-JP" sz="2000" b="0" i="1" smtClean="0">
                            <a:latin typeface="Cambria Math" panose="02040503050406030204" pitchFamily="18" charset="0"/>
                          </a:rPr>
                          <m:t>0</m:t>
                        </m:r>
                      </m:sub>
                      <m:sup>
                        <m:r>
                          <m:rPr>
                            <m:sty m:val="p"/>
                          </m:rPr>
                          <a:rPr lang="en-US" altLang="ja-JP" sz="2000" b="0" i="0" smtClean="0">
                            <a:latin typeface="Cambria Math" panose="02040503050406030204" pitchFamily="18" charset="0"/>
                          </a:rPr>
                          <m:t>ATE</m:t>
                        </m:r>
                      </m:sup>
                    </m:sSubSup>
                    <m:r>
                      <a:rPr lang="en-US" altLang="ja-JP" sz="2000" b="0" i="1" smtClean="0">
                        <a:latin typeface="Cambria Math" panose="02040503050406030204" pitchFamily="18" charset="0"/>
                      </a:rPr>
                      <m:t>=</m:t>
                    </m:r>
                    <m:r>
                      <a:rPr lang="en-US" altLang="ja-JP" sz="2000" i="1">
                        <a:latin typeface="Cambria Math" panose="02040503050406030204" pitchFamily="18" charset="0"/>
                      </a:rPr>
                      <m:t>𝔼</m:t>
                    </m:r>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𝛽</m:t>
                                    </m:r>
                                  </m:e>
                                  <m:sub>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𝛽</m:t>
                                    </m:r>
                                  </m:e>
                                  <m:sub>
                                    <m:r>
                                      <a:rPr lang="en-US" altLang="ja-JP" sz="2000" i="1">
                                        <a:latin typeface="Cambria Math" panose="02040503050406030204" pitchFamily="18" charset="0"/>
                                      </a:rPr>
                                      <m:t>0</m:t>
                                    </m:r>
                                  </m:sub>
                                </m:sSub>
                              </m:e>
                            </m:d>
                          </m:e>
                          <m:sup>
                            <m:r>
                              <a:rPr lang="en-US" altLang="ja-JP" sz="2000" i="1">
                                <a:latin typeface="Cambria Math" panose="02040503050406030204" pitchFamily="18" charset="0"/>
                              </a:rPr>
                              <m:t>⊤</m:t>
                            </m:r>
                          </m:sup>
                        </m:sSup>
                        <m:r>
                          <a:rPr lang="en-US" altLang="ja-JP" sz="2000" i="1">
                            <a:latin typeface="Cambria Math" panose="02040503050406030204" pitchFamily="18" charset="0"/>
                          </a:rPr>
                          <m:t>𝑋</m:t>
                        </m:r>
                        <m:r>
                          <a:rPr lang="en-US" altLang="ja-JP" sz="2000" i="1">
                            <a:latin typeface="Cambria Math" panose="02040503050406030204" pitchFamily="18" charset="0"/>
                          </a:rPr>
                          <m:t> </m:t>
                        </m:r>
                      </m:e>
                    </m:d>
                  </m:oMath>
                </a14:m>
                <a:endParaRPr lang="en-US" altLang="ja-JP" sz="2000" dirty="0"/>
              </a:p>
              <a:p>
                <a:pPr lvl="2"/>
                <a:r>
                  <a:rPr lang="ja-JP" altLang="en-US" sz="2000"/>
                  <a:t>差分：</a:t>
                </a:r>
                <a14:m>
                  <m:oMath xmlns:m="http://schemas.openxmlformats.org/officeDocument/2006/math">
                    <m:r>
                      <a:rPr lang="en-US" altLang="ja-JP" sz="2000" i="1">
                        <a:latin typeface="Cambria Math" panose="02040503050406030204" pitchFamily="18" charset="0"/>
                      </a:rPr>
                      <m:t>𝔼</m:t>
                    </m:r>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𝛽</m:t>
                                    </m:r>
                                  </m:e>
                                  <m:sub>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𝛽</m:t>
                                    </m:r>
                                  </m:e>
                                  <m:sub>
                                    <m:r>
                                      <a:rPr lang="en-US" altLang="ja-JP" sz="2000" i="1">
                                        <a:latin typeface="Cambria Math" panose="02040503050406030204" pitchFamily="18" charset="0"/>
                                      </a:rPr>
                                      <m:t>0</m:t>
                                    </m:r>
                                  </m:sub>
                                </m:sSub>
                              </m:e>
                            </m:d>
                          </m:e>
                          <m:sup>
                            <m:r>
                              <a:rPr lang="en-US" altLang="ja-JP" sz="2000" i="1">
                                <a:latin typeface="Cambria Math" panose="02040503050406030204" pitchFamily="18" charset="0"/>
                              </a:rPr>
                              <m:t>⊤</m:t>
                            </m:r>
                          </m:sup>
                        </m:sSup>
                        <m:r>
                          <a:rPr lang="en-US" altLang="ja-JP" sz="2000" i="1">
                            <a:latin typeface="Cambria Math" panose="02040503050406030204" pitchFamily="18" charset="0"/>
                          </a:rPr>
                          <m:t>𝑋</m:t>
                        </m:r>
                        <m:r>
                          <a:rPr lang="en-US" altLang="ja-JP" sz="2000" i="1">
                            <a:latin typeface="Cambria Math" panose="02040503050406030204" pitchFamily="18" charset="0"/>
                          </a:rPr>
                          <m:t> </m:t>
                        </m:r>
                      </m:e>
                    </m:d>
                  </m:oMath>
                </a14:m>
                <a:endParaRPr lang="en-US" altLang="ja-JP" sz="2000" dirty="0"/>
              </a:p>
              <a:p>
                <a:pPr lvl="2"/>
                <a14:m>
                  <m:oMath xmlns:m="http://schemas.openxmlformats.org/officeDocument/2006/math">
                    <m:r>
                      <a:rPr lang="en-US" altLang="ja-JP" sz="2000" i="1">
                        <a:latin typeface="Cambria Math" panose="02040503050406030204" pitchFamily="18" charset="0"/>
                      </a:rPr>
                      <m:t>𝛽</m:t>
                    </m:r>
                    <m:r>
                      <a:rPr lang="en-US" altLang="ja-JP" sz="2000" i="1">
                        <a:latin typeface="Cambria Math" panose="02040503050406030204" pitchFamily="18" charset="0"/>
                      </a:rPr>
                      <m:t> </m:t>
                    </m:r>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e>
                        </m:d>
                      </m:e>
                      <m:sup>
                        <m:r>
                          <a:rPr lang="en-US" altLang="ja-JP" sz="2000" i="1">
                            <a:latin typeface="Cambria Math" panose="02040503050406030204" pitchFamily="18" charset="0"/>
                          </a:rPr>
                          <m:t>⊤</m:t>
                        </m:r>
                      </m:sup>
                    </m:sSup>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 −</m:t>
                    </m:r>
                    <m:r>
                      <a:rPr lang="en-US" altLang="ja-JP" sz="2000" i="1">
                        <a:latin typeface="Cambria Math" panose="02040503050406030204" pitchFamily="18" charset="0"/>
                      </a:rPr>
                      <m:t>𝛽</m:t>
                    </m:r>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0</m:t>
                            </m:r>
                          </m:e>
                        </m:d>
                      </m:e>
                      <m:sup>
                        <m:r>
                          <a:rPr lang="en-US" altLang="ja-JP" sz="2000" i="1">
                            <a:latin typeface="Cambria Math" panose="02040503050406030204" pitchFamily="18" charset="0"/>
                          </a:rPr>
                          <m:t>⊤</m:t>
                        </m:r>
                      </m:sup>
                    </m:sSup>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oMath>
                </a14:m>
                <a:r>
                  <a:rPr lang="en-US" altLang="ja-JP" sz="2000" dirty="0"/>
                  <a:t> </a:t>
                </a:r>
                <a:r>
                  <a:rPr lang="ja-JP" altLang="en-US" sz="2000" dirty="0"/>
                  <a:t>がクーポン</a:t>
                </a:r>
                <a:r>
                  <a:rPr lang="ja-JP" altLang="en-US" sz="2000"/>
                  <a:t>配布の効果</a:t>
                </a:r>
                <a:endParaRPr lang="en-US" altLang="ja-JP" sz="2000" dirty="0"/>
              </a:p>
              <a:p>
                <a:pPr lvl="3"/>
                <a:r>
                  <a:rPr lang="ja-JP" altLang="en-US" sz="2000"/>
                  <a:t>異質性の存在</a:t>
                </a:r>
                <a:endParaRPr lang="en-US" altLang="ja-JP" sz="2000" dirty="0"/>
              </a:p>
              <a:p>
                <a:pPr lvl="4"/>
                <a14:m>
                  <m:oMath xmlns:m="http://schemas.openxmlformats.org/officeDocument/2006/math">
                    <m:r>
                      <a:rPr lang="en-US" altLang="ja-JP" sz="2000" b="0" i="1" smtClean="0">
                        <a:latin typeface="Cambria Math" panose="02040503050406030204" pitchFamily="18" charset="0"/>
                      </a:rPr>
                      <m:t>𝑋</m:t>
                    </m:r>
                  </m:oMath>
                </a14:m>
                <a:r>
                  <a:rPr lang="en-US" altLang="ja-JP" sz="2000" dirty="0"/>
                  <a:t> </a:t>
                </a:r>
                <a:r>
                  <a:rPr lang="ja-JP" altLang="en-US" sz="2000" dirty="0"/>
                  <a:t>ごとに処置効果</a:t>
                </a:r>
                <a:r>
                  <a:rPr lang="ja-JP" altLang="en-US" sz="2000"/>
                  <a:t>が異なる</a:t>
                </a:r>
                <a:r>
                  <a:rPr lang="en-US" altLang="ja-JP" sz="2000" dirty="0"/>
                  <a:t> = </a:t>
                </a:r>
                <a:r>
                  <a:rPr lang="ja-JP" altLang="en-US" sz="2000"/>
                  <a:t>個人属性ごとに処置効果が異なる</a:t>
                </a:r>
                <a:endParaRPr lang="en-US" altLang="ja-JP" sz="2000" dirty="0"/>
              </a:p>
            </p:txBody>
          </p:sp>
        </mc:Choice>
        <mc:Fallback>
          <p:sp>
            <p:nvSpPr>
              <p:cNvPr id="3" name="コンテンツ プレースホルダー 2">
                <a:extLst>
                  <a:ext uri="{FF2B5EF4-FFF2-40B4-BE49-F238E27FC236}">
                    <a16:creationId xmlns:a16="http://schemas.microsoft.com/office/drawing/2014/main" id="{D321C1FE-D975-59D4-1784-424F101C0780}"/>
                  </a:ext>
                </a:extLst>
              </p:cNvPr>
              <p:cNvSpPr>
                <a:spLocks noGrp="1" noRot="1" noChangeAspect="1" noMove="1" noResize="1" noEditPoints="1" noAdjustHandles="1" noChangeArrowheads="1" noChangeShapeType="1" noTextEdit="1"/>
              </p:cNvSpPr>
              <p:nvPr>
                <p:ph idx="1"/>
              </p:nvPr>
            </p:nvSpPr>
            <p:spPr>
              <a:blipFill>
                <a:blip r:embed="rId2"/>
                <a:stretch>
                  <a:fillRect l="-603" t="-709" b="-189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816969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E5B66-887A-2F10-0948-D4703A30E8D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48137AE-B5C4-0F6B-260B-9EE909907F7E}"/>
              </a:ext>
            </a:extLst>
          </p:cNvPr>
          <p:cNvSpPr>
            <a:spLocks noGrp="1"/>
          </p:cNvSpPr>
          <p:nvPr>
            <p:ph type="title"/>
          </p:nvPr>
        </p:nvSpPr>
        <p:spPr/>
        <p:txBody>
          <a:bodyPr/>
          <a:lstStyle/>
          <a:p>
            <a:r>
              <a:rPr lang="ja-JP" altLang="en-US"/>
              <a:t>線形回帰分析とその拡張</a:t>
            </a:r>
            <a:endParaRPr kumimoji="1" lang="ja-JP" altLang="en-US"/>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0878F084-7D7B-9199-FD01-9DC54BD39BF4}"/>
                  </a:ext>
                </a:extLst>
              </p:cNvPr>
              <p:cNvSpPr>
                <a:spLocks noGrp="1"/>
              </p:cNvSpPr>
              <p:nvPr>
                <p:ph idx="1"/>
              </p:nvPr>
            </p:nvSpPr>
            <p:spPr/>
            <p:txBody>
              <a:bodyPr>
                <a:noAutofit/>
              </a:bodyPr>
              <a:lstStyle/>
              <a:p>
                <a:r>
                  <a:rPr lang="ja-JP" altLang="en-US" sz="2000"/>
                  <a:t>部分線形モデル</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r>
                        <a:rPr lang="en-US" altLang="ja-JP" sz="2000" i="1">
                          <a:latin typeface="Cambria Math" panose="02040503050406030204" pitchFamily="18" charset="0"/>
                        </a:rPr>
                        <m:t>𝛼</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r>
                        <a:rPr lang="en-US" altLang="ja-JP" sz="2000" b="0" i="1" smtClean="0">
                          <a:latin typeface="Cambria Math" panose="02040503050406030204" pitchFamily="18" charset="0"/>
                        </a:rPr>
                        <m:t>𝑔</m:t>
                      </m:r>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𝑋</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m:t>
                      </m:r>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𝜖</m:t>
                          </m:r>
                        </m:e>
                        <m:sub>
                          <m:r>
                            <a:rPr lang="en-US" altLang="ja-JP" sz="2000" i="1">
                              <a:latin typeface="Cambria Math" panose="02040503050406030204" pitchFamily="18" charset="0"/>
                            </a:rPr>
                            <m:t>𝑖</m:t>
                          </m:r>
                        </m:sub>
                      </m:sSub>
                    </m:oMath>
                  </m:oMathPara>
                </a14:m>
                <a:endParaRPr lang="en-US" altLang="ja-JP" sz="2000" dirty="0"/>
              </a:p>
              <a:p>
                <a:pPr marL="0" indent="0">
                  <a:buNone/>
                </a:pPr>
                <a:endParaRPr lang="en-US" altLang="ja-JP" sz="800" dirty="0"/>
              </a:p>
              <a:p>
                <a:pPr lvl="1"/>
                <a14:m>
                  <m:oMath xmlns:m="http://schemas.openxmlformats.org/officeDocument/2006/math">
                    <m:r>
                      <a:rPr lang="en-US" altLang="ja-JP" sz="2000" i="1">
                        <a:latin typeface="Cambria Math" panose="02040503050406030204" pitchFamily="18" charset="0"/>
                      </a:rPr>
                      <m:t>𝑔</m:t>
                    </m:r>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oMath>
                </a14:m>
                <a:r>
                  <a:rPr lang="en-US" altLang="ja-JP" sz="2000" dirty="0"/>
                  <a:t> </a:t>
                </a:r>
                <a:r>
                  <a:rPr lang="ja-JP" altLang="en-US" sz="2000"/>
                  <a:t>には線形性などの特定の関数形を仮定しない</a:t>
                </a:r>
                <a:endParaRPr lang="en-US" altLang="ja-JP" sz="2000" dirty="0"/>
              </a:p>
              <a:p>
                <a:pPr lvl="1"/>
                <a:r>
                  <a:rPr lang="ja-JP" altLang="en-US" sz="2000"/>
                  <a:t>線形回帰モデル</a:t>
                </a:r>
                <a:r>
                  <a:rPr lang="en-US" altLang="ja-JP" sz="2000" dirty="0"/>
                  <a:t> ① </a:t>
                </a:r>
                <a:r>
                  <a:rPr lang="ja-JP" altLang="en-US" sz="2000"/>
                  <a:t>（</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r>
                      <a:rPr lang="en-US" altLang="ja-JP" sz="2000" i="1">
                        <a:latin typeface="Cambria Math" panose="02040503050406030204" pitchFamily="18" charset="0"/>
                      </a:rPr>
                      <m:t>𝛼</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𝛽</m:t>
                        </m:r>
                      </m:e>
                      <m:sup>
                        <m:r>
                          <a:rPr lang="en-US" altLang="ja-JP" sz="2000" i="1">
                            <a:latin typeface="Cambria Math" panose="02040503050406030204" pitchFamily="18" charset="0"/>
                          </a:rPr>
                          <m:t>⊤</m:t>
                        </m:r>
                      </m:sup>
                    </m:sSup>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𝜖</m:t>
                        </m:r>
                      </m:e>
                      <m:sub>
                        <m:r>
                          <a:rPr lang="en-US" altLang="ja-JP" sz="2000" i="1">
                            <a:latin typeface="Cambria Math" panose="02040503050406030204" pitchFamily="18" charset="0"/>
                          </a:rPr>
                          <m:t>𝑖</m:t>
                        </m:r>
                      </m:sub>
                    </m:sSub>
                  </m:oMath>
                </a14:m>
                <a:r>
                  <a:rPr lang="ja-JP" altLang="en-US" sz="2000"/>
                  <a:t>）</a:t>
                </a:r>
                <a:r>
                  <a:rPr lang="en-US" altLang="ja-JP" sz="2000" dirty="0"/>
                  <a:t> </a:t>
                </a:r>
                <a:r>
                  <a:rPr lang="ja-JP" altLang="en-US" sz="2000"/>
                  <a:t>の拡張</a:t>
                </a:r>
                <a:endParaRPr lang="en-US" altLang="ja-JP" sz="2000" dirty="0"/>
              </a:p>
              <a:p>
                <a:pPr lvl="2"/>
                <a14:m>
                  <m:oMath xmlns:m="http://schemas.openxmlformats.org/officeDocument/2006/math">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𝛽</m:t>
                        </m:r>
                      </m:e>
                      <m:sup>
                        <m:r>
                          <a:rPr lang="en-US" altLang="ja-JP" sz="2000" i="1">
                            <a:latin typeface="Cambria Math" panose="02040503050406030204" pitchFamily="18" charset="0"/>
                          </a:rPr>
                          <m:t>⊤</m:t>
                        </m:r>
                      </m:sup>
                    </m:sSup>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oMath>
                </a14:m>
                <a:r>
                  <a:rPr lang="en-US" altLang="ja-JP" sz="2000" dirty="0"/>
                  <a:t> </a:t>
                </a:r>
                <a:r>
                  <a:rPr lang="ja-JP" altLang="en-US" sz="2000"/>
                  <a:t>を</a:t>
                </a:r>
                <a:r>
                  <a:rPr lang="en-US" altLang="ja-JP" sz="2000" dirty="0"/>
                  <a:t> </a:t>
                </a:r>
                <a:r>
                  <a:rPr lang="ja-JP" altLang="en-US" sz="2000"/>
                  <a:t>未知の関数</a:t>
                </a:r>
                <a:r>
                  <a:rPr lang="en-US" altLang="ja-JP" sz="2000" dirty="0"/>
                  <a:t> </a:t>
                </a:r>
                <a14:m>
                  <m:oMath xmlns:m="http://schemas.openxmlformats.org/officeDocument/2006/math">
                    <m:r>
                      <a:rPr lang="en-US" altLang="ja-JP" sz="2000" i="1">
                        <a:latin typeface="Cambria Math" panose="02040503050406030204" pitchFamily="18" charset="0"/>
                      </a:rPr>
                      <m:t>𝑔</m:t>
                    </m:r>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oMath>
                </a14:m>
                <a:r>
                  <a:rPr lang="en-US" altLang="ja-JP" sz="2000" dirty="0"/>
                  <a:t> </a:t>
                </a:r>
                <a:r>
                  <a:rPr lang="ja-JP" altLang="en-US" sz="2000" dirty="0"/>
                  <a:t>に</a:t>
                </a:r>
                <a:endParaRPr lang="en-US" altLang="ja-JP" sz="2000" dirty="0"/>
              </a:p>
              <a:p>
                <a:pPr lvl="2"/>
                <a:r>
                  <a:rPr lang="ja-JP" altLang="en-US" sz="2000"/>
                  <a:t>処置</a:t>
                </a:r>
                <a:r>
                  <a:rPr lang="en-US" altLang="ja-JP" sz="2000" dirty="0"/>
                  <a:t> </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oMath>
                </a14:m>
                <a:r>
                  <a:rPr lang="en-US" altLang="ja-JP" sz="2000" dirty="0"/>
                  <a:t> </a:t>
                </a:r>
                <a:r>
                  <a:rPr lang="ja-JP" altLang="en-US" sz="2000" dirty="0"/>
                  <a:t>と</a:t>
                </a:r>
                <a:r>
                  <a:rPr lang="ja-JP" altLang="en-US" sz="2000"/>
                  <a:t>共変量</a:t>
                </a:r>
                <a:r>
                  <a:rPr lang="en-US" altLang="ja-JP" sz="2000" dirty="0"/>
                  <a:t> </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oMath>
                </a14:m>
                <a:r>
                  <a:rPr lang="en-US" altLang="ja-JP" sz="2000" dirty="0"/>
                  <a:t> </a:t>
                </a:r>
                <a:r>
                  <a:rPr lang="ja-JP" altLang="en-US" sz="2000" dirty="0"/>
                  <a:t>の</a:t>
                </a:r>
                <a:r>
                  <a:rPr lang="ja-JP" altLang="en-US" sz="2000"/>
                  <a:t>交差項は許容しない</a:t>
                </a:r>
                <a:endParaRPr lang="en-US" altLang="ja-JP" sz="2000" dirty="0"/>
              </a:p>
              <a:p>
                <a:pPr lvl="1"/>
                <a:endParaRPr lang="en-US" altLang="ja-JP" sz="800" dirty="0"/>
              </a:p>
              <a:p>
                <a:pPr>
                  <a:buClr>
                    <a:srgbClr val="00B050"/>
                  </a:buClr>
                  <a:buFont typeface="Wingdings" pitchFamily="2" charset="2"/>
                  <a:buChar char="p"/>
                </a:pPr>
                <a:r>
                  <a:rPr lang="ja-JP" altLang="en-US" sz="2000"/>
                  <a:t>例：</a:t>
                </a:r>
                <a:r>
                  <a:rPr lang="en-US" altLang="ja-JP" sz="2000" dirty="0"/>
                  <a:t> </a:t>
                </a:r>
              </a:p>
              <a:p>
                <a:pPr lvl="1"/>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𝑖</m:t>
                        </m:r>
                      </m:sub>
                    </m:sSub>
                  </m:oMath>
                </a14:m>
                <a:r>
                  <a:rPr lang="ja-JP" altLang="en-US" sz="2000">
                    <a:latin typeface="Cambria Math" panose="02040503050406030204" pitchFamily="18" charset="0"/>
                  </a:rPr>
                  <a:t>：　一回の来店で使う金銭</a:t>
                </a:r>
                <a:endParaRPr lang="en-US" altLang="ja-JP" sz="2000" dirty="0">
                  <a:latin typeface="Cambria Math" panose="02040503050406030204" pitchFamily="18" charset="0"/>
                </a:endParaRPr>
              </a:p>
              <a:p>
                <a:pPr lvl="1"/>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oMath>
                </a14:m>
                <a:r>
                  <a:rPr lang="ja-JP" altLang="en-US" sz="2000"/>
                  <a:t>：　クーポンを配布する（</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=1</m:t>
                    </m:r>
                  </m:oMath>
                </a14:m>
                <a:r>
                  <a:rPr lang="ja-JP" altLang="en-US" sz="2000"/>
                  <a:t>）、もしくはクーポンを配布しない（</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=0</m:t>
                    </m:r>
                  </m:oMath>
                </a14:m>
                <a:r>
                  <a:rPr lang="ja-JP" altLang="en-US" sz="2000"/>
                  <a:t>）。</a:t>
                </a:r>
                <a:endParaRPr lang="en-US" altLang="ja-JP" sz="2000" dirty="0"/>
              </a:p>
              <a:p>
                <a:pPr lvl="1"/>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oMath>
                </a14:m>
                <a:r>
                  <a:rPr lang="ja-JP" altLang="en-US" sz="2000"/>
                  <a:t>：　個人を表す属性（年齢・性別・過去の購入履歴など）</a:t>
                </a:r>
                <a:endParaRPr lang="en-US" altLang="ja-JP" sz="2000" i="1" dirty="0">
                  <a:latin typeface="Cambria Math" panose="02040503050406030204" pitchFamily="18" charset="0"/>
                </a:endParaRPr>
              </a:p>
              <a:p>
                <a:pPr lvl="1"/>
                <a:r>
                  <a:rPr lang="ja-JP" altLang="en-US" sz="2000">
                    <a:latin typeface="Cambria Math" panose="02040503050406030204" pitchFamily="18" charset="0"/>
                  </a:rPr>
                  <a:t>クーポンを配布する場合：</a:t>
                </a:r>
                <a:endParaRPr lang="en-US" altLang="ja-JP" sz="2000" dirty="0">
                  <a:latin typeface="Cambria Math" panose="02040503050406030204" pitchFamily="18" charset="0"/>
                </a:endParaRPr>
              </a:p>
              <a:p>
                <a:pPr marL="397800" lvl="1" indent="0">
                  <a:buNone/>
                </a:pPr>
                <a14:m>
                  <m:oMathPara xmlns:m="http://schemas.openxmlformats.org/officeDocument/2006/math">
                    <m:oMathParaPr>
                      <m:jc m:val="centerGroup"/>
                    </m:oMathParaPr>
                    <m:oMath xmlns:m="http://schemas.openxmlformats.org/officeDocument/2006/math">
                      <m:sSub>
                        <m:sSubPr>
                          <m:ctrlPr>
                            <a:rPr lang="en-US" altLang="ja-JP" sz="2000" i="1" smtClean="0">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r>
                        <a:rPr lang="en-US" altLang="ja-JP" sz="2000" i="1">
                          <a:latin typeface="Cambria Math" panose="02040503050406030204" pitchFamily="18" charset="0"/>
                        </a:rPr>
                        <m:t>𝛼</m:t>
                      </m:r>
                      <m:r>
                        <a:rPr lang="en-US" altLang="ja-JP" sz="2000" i="1">
                          <a:latin typeface="Cambria Math" panose="02040503050406030204" pitchFamily="18" charset="0"/>
                        </a:rPr>
                        <m:t>+</m:t>
                      </m:r>
                      <m:r>
                        <a:rPr lang="en-US" altLang="ja-JP" sz="2000" i="1">
                          <a:latin typeface="Cambria Math" panose="02040503050406030204" pitchFamily="18" charset="0"/>
                        </a:rPr>
                        <m:t>𝑔</m:t>
                      </m:r>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oMath>
                  </m:oMathPara>
                </a14:m>
                <a:endParaRPr lang="en-US" altLang="ja-JP" sz="2000" dirty="0"/>
              </a:p>
              <a:p>
                <a:pPr lvl="1"/>
                <a:r>
                  <a:rPr lang="ja-JP" altLang="en-US" sz="2000"/>
                  <a:t>クーポンを配布しない場合：</a:t>
                </a:r>
                <a:endParaRPr lang="en-US" altLang="ja-JP" sz="2000" dirty="0"/>
              </a:p>
              <a:p>
                <a:pPr marL="397800" lvl="1"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r>
                        <a:rPr lang="en-US" altLang="ja-JP" sz="2000" i="1">
                          <a:latin typeface="Cambria Math" panose="02040503050406030204" pitchFamily="18" charset="0"/>
                        </a:rPr>
                        <m:t>𝑔</m:t>
                      </m:r>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oMath>
                  </m:oMathPara>
                </a14:m>
                <a:endParaRPr lang="en-US" altLang="ja-JP" sz="2000" dirty="0"/>
              </a:p>
              <a:p>
                <a:pPr lvl="1"/>
                <a:r>
                  <a:rPr lang="en-US" altLang="ja-JP" sz="2000" dirty="0"/>
                  <a:t>ATE</a:t>
                </a:r>
                <a:r>
                  <a:rPr lang="ja-JP" altLang="en-US" sz="2000"/>
                  <a:t>：</a:t>
                </a:r>
                <a:r>
                  <a:rPr lang="en-US" altLang="ja-JP" sz="2000" dirty="0"/>
                  <a:t> </a:t>
                </a:r>
                <a14:m>
                  <m:oMath xmlns:m="http://schemas.openxmlformats.org/officeDocument/2006/math">
                    <m:r>
                      <a:rPr lang="en-US" altLang="ja-JP" sz="2000" i="1">
                        <a:latin typeface="Cambria Math" panose="02040503050406030204" pitchFamily="18" charset="0"/>
                      </a:rPr>
                      <m:t>𝛼</m:t>
                    </m:r>
                    <m:r>
                      <a:rPr lang="en-US" altLang="ja-JP" sz="2000" i="1">
                        <a:latin typeface="Cambria Math" panose="02040503050406030204" pitchFamily="18" charset="0"/>
                      </a:rPr>
                      <m:t>+</m:t>
                    </m:r>
                    <m:r>
                      <a:rPr lang="en-US" altLang="ja-JP" sz="2000" i="1">
                        <a:latin typeface="Cambria Math" panose="02040503050406030204" pitchFamily="18" charset="0"/>
                      </a:rPr>
                      <m:t>𝑔</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e>
                    </m:d>
                    <m:r>
                      <a:rPr lang="en-US" altLang="ja-JP" sz="2000" b="0" i="1" smtClean="0">
                        <a:latin typeface="Cambria Math" panose="02040503050406030204" pitchFamily="18" charset="0"/>
                      </a:rPr>
                      <m:t>−</m:t>
                    </m:r>
                    <m:r>
                      <a:rPr lang="en-US" altLang="ja-JP" sz="2000" i="1">
                        <a:latin typeface="Cambria Math" panose="02040503050406030204" pitchFamily="18" charset="0"/>
                      </a:rPr>
                      <m:t>𝑔</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𝛼</m:t>
                    </m:r>
                  </m:oMath>
                </a14:m>
                <a:endParaRPr lang="en-US" altLang="ja-JP" sz="2000" dirty="0"/>
              </a:p>
              <a:p>
                <a:pPr lvl="2"/>
                <a14:m>
                  <m:oMath xmlns:m="http://schemas.openxmlformats.org/officeDocument/2006/math">
                    <m:r>
                      <a:rPr lang="en-US" altLang="ja-JP" sz="2000" i="1">
                        <a:latin typeface="Cambria Math" panose="02040503050406030204" pitchFamily="18" charset="0"/>
                      </a:rPr>
                      <m:t>𝛼</m:t>
                    </m:r>
                  </m:oMath>
                </a14:m>
                <a:r>
                  <a:rPr lang="en-US" altLang="ja-JP" sz="2000" dirty="0"/>
                  <a:t> </a:t>
                </a:r>
                <a:r>
                  <a:rPr lang="ja-JP" altLang="en-US" sz="2000" dirty="0"/>
                  <a:t>がクーポン</a:t>
                </a:r>
                <a:r>
                  <a:rPr lang="ja-JP" altLang="en-US" sz="2000"/>
                  <a:t>配布の効果</a:t>
                </a:r>
                <a:endParaRPr kumimoji="1" lang="en-US" altLang="ja-JP" sz="2000" dirty="0"/>
              </a:p>
              <a:p>
                <a:pPr marL="0" indent="0">
                  <a:buNone/>
                </a:pPr>
                <a:endParaRPr kumimoji="1" lang="en-US" altLang="ja-JP" sz="2000" dirty="0"/>
              </a:p>
            </p:txBody>
          </p:sp>
        </mc:Choice>
        <mc:Fallback>
          <p:sp>
            <p:nvSpPr>
              <p:cNvPr id="3" name="コンテンツ プレースホルダー 2">
                <a:extLst>
                  <a:ext uri="{FF2B5EF4-FFF2-40B4-BE49-F238E27FC236}">
                    <a16:creationId xmlns:a16="http://schemas.microsoft.com/office/drawing/2014/main" id="{0878F084-7D7B-9199-FD01-9DC54BD39BF4}"/>
                  </a:ext>
                </a:extLst>
              </p:cNvPr>
              <p:cNvSpPr>
                <a:spLocks noGrp="1" noRot="1" noChangeAspect="1" noMove="1" noResize="1" noEditPoints="1" noAdjustHandles="1" noChangeArrowheads="1" noChangeShapeType="1" noTextEdit="1"/>
              </p:cNvSpPr>
              <p:nvPr>
                <p:ph idx="1"/>
              </p:nvPr>
            </p:nvSpPr>
            <p:spPr>
              <a:blipFill>
                <a:blip r:embed="rId2"/>
                <a:stretch>
                  <a:fillRect l="-603" t="-709" b="-732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850223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D0310-90CD-EC70-6E49-B6A307160F5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0544897-1547-1DA4-08E5-5A5B296A1748}"/>
              </a:ext>
            </a:extLst>
          </p:cNvPr>
          <p:cNvSpPr>
            <a:spLocks noGrp="1"/>
          </p:cNvSpPr>
          <p:nvPr>
            <p:ph type="title"/>
          </p:nvPr>
        </p:nvSpPr>
        <p:spPr/>
        <p:txBody>
          <a:bodyPr/>
          <a:lstStyle/>
          <a:p>
            <a:r>
              <a:rPr lang="ja-JP" altLang="en-US"/>
              <a:t>線形回帰分析とその拡張</a:t>
            </a:r>
            <a:endParaRPr kumimoji="1" lang="ja-JP" altLang="en-US"/>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E8033021-67F4-5123-8931-191FADBB99B1}"/>
                  </a:ext>
                </a:extLst>
              </p:cNvPr>
              <p:cNvSpPr>
                <a:spLocks noGrp="1"/>
              </p:cNvSpPr>
              <p:nvPr>
                <p:ph idx="1"/>
              </p:nvPr>
            </p:nvSpPr>
            <p:spPr/>
            <p:txBody>
              <a:bodyPr>
                <a:normAutofit/>
              </a:bodyPr>
              <a:lstStyle/>
              <a:p>
                <a:r>
                  <a:rPr lang="ja-JP" altLang="en-US"/>
                  <a:t>ノンパラメトリックモデル</a:t>
                </a:r>
                <a:endParaRPr lang="en-US" altLang="ja-JP" dirty="0"/>
              </a:p>
              <a:p>
                <a:pPr marL="0" indent="0">
                  <a:buNone/>
                </a:pPr>
                <a14:m>
                  <m:oMathPara xmlns:m="http://schemas.openxmlformats.org/officeDocument/2006/math">
                    <m:oMathParaPr>
                      <m:jc m:val="centerGroup"/>
                    </m:oMathParaPr>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𝑌</m:t>
                          </m:r>
                        </m:e>
                        <m:sub>
                          <m:r>
                            <a:rPr lang="en-US" altLang="ja-JP" i="1">
                              <a:latin typeface="Cambria Math" panose="02040503050406030204" pitchFamily="18" charset="0"/>
                            </a:rPr>
                            <m:t>𝑖</m:t>
                          </m:r>
                        </m:sub>
                      </m:sSub>
                      <m:r>
                        <a:rPr lang="en-US" altLang="ja-JP" i="1">
                          <a:latin typeface="Cambria Math" panose="02040503050406030204" pitchFamily="18" charset="0"/>
                        </a:rPr>
                        <m:t>=</m:t>
                      </m:r>
                      <m:r>
                        <a:rPr lang="en-US" altLang="ja-JP" b="0" i="1" smtClean="0">
                          <a:latin typeface="Cambria Math" panose="02040503050406030204" pitchFamily="18" charset="0"/>
                        </a:rPr>
                        <m:t>𝑓</m:t>
                      </m:r>
                      <m:r>
                        <a:rPr lang="en-US" altLang="ja-JP" i="1" smtClean="0">
                          <a:latin typeface="Cambria Math" panose="02040503050406030204" pitchFamily="18" charset="0"/>
                        </a:rPr>
                        <m:t> </m:t>
                      </m:r>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𝐷</m:t>
                              </m:r>
                            </m:e>
                            <m:sub>
                              <m:r>
                                <a:rPr lang="en-US" altLang="ja-JP" b="0" i="1" smtClean="0">
                                  <a:latin typeface="Cambria Math" panose="02040503050406030204" pitchFamily="18" charset="0"/>
                                </a:rPr>
                                <m:t>𝑖</m:t>
                              </m:r>
                            </m:sub>
                          </m:sSub>
                          <m:r>
                            <a:rPr lang="en-US" altLang="ja-JP" b="0" i="1" smtClean="0">
                              <a:latin typeface="Cambria Math" panose="02040503050406030204" pitchFamily="18" charset="0"/>
                            </a:rPr>
                            <m:t>, </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𝑖</m:t>
                              </m:r>
                            </m:sub>
                          </m:sSub>
                        </m:e>
                      </m:d>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𝜖</m:t>
                          </m:r>
                        </m:e>
                        <m:sub>
                          <m:r>
                            <a:rPr lang="en-US" altLang="ja-JP" b="0" i="1" smtClean="0">
                              <a:latin typeface="Cambria Math" panose="02040503050406030204" pitchFamily="18" charset="0"/>
                            </a:rPr>
                            <m:t>𝑖</m:t>
                          </m:r>
                        </m:sub>
                      </m:sSub>
                    </m:oMath>
                  </m:oMathPara>
                </a14:m>
                <a:endParaRPr lang="en-US" altLang="ja-JP" dirty="0"/>
              </a:p>
              <a:p>
                <a:pPr marL="0" indent="0">
                  <a:buNone/>
                </a:pPr>
                <a:endParaRPr lang="en-US" altLang="ja-JP" dirty="0"/>
              </a:p>
              <a:p>
                <a:pPr lvl="1"/>
                <a14:m>
                  <m:oMath xmlns:m="http://schemas.openxmlformats.org/officeDocument/2006/math">
                    <m:r>
                      <a:rPr lang="en-US" altLang="ja-JP" i="1">
                        <a:latin typeface="Cambria Math" panose="02040503050406030204" pitchFamily="18" charset="0"/>
                      </a:rPr>
                      <m:t>𝑓</m:t>
                    </m:r>
                    <m:r>
                      <a:rPr lang="en-US" altLang="ja-JP" i="1">
                        <a:latin typeface="Cambria Math" panose="02040503050406030204" pitchFamily="18" charset="0"/>
                      </a:rPr>
                      <m:t> </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𝐷</m:t>
                            </m:r>
                          </m:e>
                          <m:sub>
                            <m:r>
                              <a:rPr lang="en-US" altLang="ja-JP" i="1">
                                <a:latin typeface="Cambria Math" panose="02040503050406030204" pitchFamily="18" charset="0"/>
                              </a:rPr>
                              <m:t>𝑖</m:t>
                            </m:r>
                          </m:sub>
                        </m:sSub>
                        <m:r>
                          <a:rPr lang="en-US" altLang="ja-JP" i="1">
                            <a:latin typeface="Cambria Math" panose="02040503050406030204" pitchFamily="18" charset="0"/>
                          </a:rPr>
                          <m:t>, </m:t>
                        </m:r>
                        <m:sSub>
                          <m:sSubPr>
                            <m:ctrlPr>
                              <a:rPr lang="en-US" altLang="ja-JP" i="1">
                                <a:latin typeface="Cambria Math" panose="02040503050406030204" pitchFamily="18" charset="0"/>
                              </a:rPr>
                            </m:ctrlPr>
                          </m:sSubPr>
                          <m:e>
                            <m:r>
                              <a:rPr lang="en-US" altLang="ja-JP" i="1">
                                <a:latin typeface="Cambria Math" panose="02040503050406030204" pitchFamily="18" charset="0"/>
                              </a:rPr>
                              <m:t>𝑋</m:t>
                            </m:r>
                          </m:e>
                          <m:sub>
                            <m:r>
                              <a:rPr lang="en-US" altLang="ja-JP" i="1">
                                <a:latin typeface="Cambria Math" panose="02040503050406030204" pitchFamily="18" charset="0"/>
                              </a:rPr>
                              <m:t>𝑖</m:t>
                            </m:r>
                          </m:sub>
                        </m:sSub>
                      </m:e>
                    </m:d>
                  </m:oMath>
                </a14:m>
                <a:r>
                  <a:rPr kumimoji="1" lang="en-US" altLang="ja-JP" dirty="0"/>
                  <a:t> </a:t>
                </a:r>
                <a:r>
                  <a:rPr kumimoji="1" lang="ja-JP" altLang="en-US" dirty="0"/>
                  <a:t>には</a:t>
                </a:r>
                <a:r>
                  <a:rPr kumimoji="1" lang="ja-JP" altLang="en-US"/>
                  <a:t>線形性などの特定の関数形を仮定しない</a:t>
                </a:r>
                <a:endParaRPr kumimoji="1" lang="en-US" altLang="ja-JP" dirty="0"/>
              </a:p>
              <a:p>
                <a:pPr lvl="1"/>
                <a:endParaRPr kumimoji="1" lang="en-US" altLang="ja-JP" dirty="0"/>
              </a:p>
              <a:p>
                <a:pPr>
                  <a:buClr>
                    <a:srgbClr val="00B050"/>
                  </a:buClr>
                  <a:buFont typeface="Wingdings" pitchFamily="2" charset="2"/>
                  <a:buChar char="p"/>
                </a:pPr>
                <a:r>
                  <a:rPr lang="ja-JP" altLang="en-US"/>
                  <a:t>例：</a:t>
                </a:r>
                <a:endParaRPr kumimoji="1" lang="en-US" altLang="ja-JP" dirty="0"/>
              </a:p>
              <a:p>
                <a:pPr lvl="1"/>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𝑌</m:t>
                        </m:r>
                      </m:e>
                      <m:sub>
                        <m:r>
                          <a:rPr lang="en-US" altLang="ja-JP" i="1">
                            <a:latin typeface="Cambria Math" panose="02040503050406030204" pitchFamily="18" charset="0"/>
                          </a:rPr>
                          <m:t>𝑖</m:t>
                        </m:r>
                      </m:sub>
                    </m:sSub>
                  </m:oMath>
                </a14:m>
                <a:r>
                  <a:rPr lang="ja-JP" altLang="en-US">
                    <a:latin typeface="Cambria Math" panose="02040503050406030204" pitchFamily="18" charset="0"/>
                  </a:rPr>
                  <a:t>：　一回の来店で使う金銭</a:t>
                </a:r>
                <a:endParaRPr lang="en-US" altLang="ja-JP" dirty="0">
                  <a:latin typeface="Cambria Math" panose="02040503050406030204" pitchFamily="18" charset="0"/>
                </a:endParaRPr>
              </a:p>
              <a:p>
                <a:pPr lvl="1"/>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𝐷</m:t>
                        </m:r>
                      </m:e>
                      <m:sub>
                        <m:r>
                          <a:rPr lang="en-US" altLang="ja-JP" i="1">
                            <a:latin typeface="Cambria Math" panose="02040503050406030204" pitchFamily="18" charset="0"/>
                          </a:rPr>
                          <m:t>𝑖</m:t>
                        </m:r>
                      </m:sub>
                    </m:sSub>
                  </m:oMath>
                </a14:m>
                <a:r>
                  <a:rPr lang="ja-JP" altLang="en-US"/>
                  <a:t>：　クーポンを配布する（</a:t>
                </a:r>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𝐷</m:t>
                        </m:r>
                      </m:e>
                      <m:sub>
                        <m:r>
                          <a:rPr lang="en-US" altLang="ja-JP" i="1">
                            <a:latin typeface="Cambria Math" panose="02040503050406030204" pitchFamily="18" charset="0"/>
                          </a:rPr>
                          <m:t>𝑖</m:t>
                        </m:r>
                      </m:sub>
                    </m:sSub>
                    <m:r>
                      <a:rPr lang="en-US" altLang="ja-JP" i="1">
                        <a:latin typeface="Cambria Math" panose="02040503050406030204" pitchFamily="18" charset="0"/>
                      </a:rPr>
                      <m:t>=1</m:t>
                    </m:r>
                  </m:oMath>
                </a14:m>
                <a:r>
                  <a:rPr lang="ja-JP" altLang="en-US"/>
                  <a:t>）、もしくはクーポンを配布しない（</a:t>
                </a:r>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𝐷</m:t>
                        </m:r>
                      </m:e>
                      <m:sub>
                        <m:r>
                          <a:rPr lang="en-US" altLang="ja-JP" i="1">
                            <a:latin typeface="Cambria Math" panose="02040503050406030204" pitchFamily="18" charset="0"/>
                          </a:rPr>
                          <m:t>𝑖</m:t>
                        </m:r>
                      </m:sub>
                    </m:sSub>
                    <m:r>
                      <a:rPr lang="en-US" altLang="ja-JP" i="1">
                        <a:latin typeface="Cambria Math" panose="02040503050406030204" pitchFamily="18" charset="0"/>
                      </a:rPr>
                      <m:t>=0</m:t>
                    </m:r>
                  </m:oMath>
                </a14:m>
                <a:r>
                  <a:rPr lang="ja-JP" altLang="en-US"/>
                  <a:t>）。</a:t>
                </a:r>
                <a:endParaRPr lang="en-US" altLang="ja-JP" dirty="0"/>
              </a:p>
              <a:p>
                <a:pPr lvl="1"/>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𝑋</m:t>
                        </m:r>
                      </m:e>
                      <m:sub>
                        <m:r>
                          <a:rPr lang="en-US" altLang="ja-JP" i="1">
                            <a:latin typeface="Cambria Math" panose="02040503050406030204" pitchFamily="18" charset="0"/>
                          </a:rPr>
                          <m:t>𝑖</m:t>
                        </m:r>
                      </m:sub>
                    </m:sSub>
                  </m:oMath>
                </a14:m>
                <a:r>
                  <a:rPr lang="ja-JP" altLang="en-US"/>
                  <a:t>：　個人を表す属性（年齢・性別・過去の購入履歴など）</a:t>
                </a:r>
                <a:endParaRPr lang="en-US" altLang="ja-JP" i="1" dirty="0">
                  <a:latin typeface="Cambria Math" panose="02040503050406030204" pitchFamily="18" charset="0"/>
                </a:endParaRPr>
              </a:p>
              <a:p>
                <a:pPr lvl="1"/>
                <a:r>
                  <a:rPr lang="ja-JP" altLang="en-US">
                    <a:latin typeface="Cambria Math" panose="02040503050406030204" pitchFamily="18" charset="0"/>
                  </a:rPr>
                  <a:t>クーポンを配布する場合：</a:t>
                </a:r>
                <a:endParaRPr lang="en-US" altLang="ja-JP" dirty="0">
                  <a:latin typeface="Cambria Math" panose="02040503050406030204" pitchFamily="18" charset="0"/>
                </a:endParaRPr>
              </a:p>
              <a:p>
                <a:pPr marL="397800" lvl="1" indent="0">
                  <a:buNone/>
                </a:pPr>
                <a14:m>
                  <m:oMathPara xmlns:m="http://schemas.openxmlformats.org/officeDocument/2006/math">
                    <m:oMathParaPr>
                      <m:jc m:val="centerGroup"/>
                    </m:oMathParaPr>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𝑌</m:t>
                          </m:r>
                        </m:e>
                        <m:sub>
                          <m:r>
                            <a:rPr lang="en-US" altLang="ja-JP" i="1">
                              <a:latin typeface="Cambria Math" panose="02040503050406030204" pitchFamily="18" charset="0"/>
                            </a:rPr>
                            <m:t>𝑖</m:t>
                          </m:r>
                        </m:sub>
                      </m:sSub>
                      <m:r>
                        <a:rPr lang="en-US" altLang="ja-JP" i="1">
                          <a:latin typeface="Cambria Math" panose="02040503050406030204" pitchFamily="18" charset="0"/>
                        </a:rPr>
                        <m:t>=</m:t>
                      </m:r>
                      <m:r>
                        <a:rPr lang="en-US" altLang="ja-JP" i="1">
                          <a:latin typeface="Cambria Math" panose="02040503050406030204" pitchFamily="18" charset="0"/>
                        </a:rPr>
                        <m:t>𝑓</m:t>
                      </m:r>
                      <m:r>
                        <a:rPr lang="en-US" altLang="ja-JP" i="1">
                          <a:latin typeface="Cambria Math" panose="02040503050406030204" pitchFamily="18" charset="0"/>
                        </a:rPr>
                        <m:t> (1 ,</m:t>
                      </m:r>
                      <m:sSub>
                        <m:sSubPr>
                          <m:ctrlPr>
                            <a:rPr lang="en-US" altLang="ja-JP" i="1">
                              <a:latin typeface="Cambria Math" panose="02040503050406030204" pitchFamily="18" charset="0"/>
                            </a:rPr>
                          </m:ctrlPr>
                        </m:sSubPr>
                        <m:e>
                          <m:r>
                            <a:rPr lang="en-US" altLang="ja-JP" i="1">
                              <a:latin typeface="Cambria Math" panose="02040503050406030204" pitchFamily="18" charset="0"/>
                            </a:rPr>
                            <m:t>𝑋</m:t>
                          </m:r>
                        </m:e>
                        <m:sub>
                          <m:r>
                            <a:rPr lang="en-US" altLang="ja-JP" i="1">
                              <a:latin typeface="Cambria Math" panose="02040503050406030204" pitchFamily="18" charset="0"/>
                            </a:rPr>
                            <m:t>𝑖</m:t>
                          </m:r>
                        </m:sub>
                      </m:sSub>
                      <m:r>
                        <a:rPr lang="en-US" altLang="ja-JP" i="1">
                          <a:latin typeface="Cambria Math" panose="02040503050406030204" pitchFamily="18" charset="0"/>
                        </a:rPr>
                        <m:t>)</m:t>
                      </m:r>
                    </m:oMath>
                  </m:oMathPara>
                </a14:m>
                <a:endParaRPr lang="en-US" altLang="ja-JP" dirty="0"/>
              </a:p>
              <a:p>
                <a:pPr lvl="1"/>
                <a:r>
                  <a:rPr lang="ja-JP" altLang="en-US"/>
                  <a:t>クーポンを配布しない場合：</a:t>
                </a:r>
                <a:endParaRPr lang="en-US" altLang="ja-JP" dirty="0"/>
              </a:p>
              <a:p>
                <a:pPr marL="397800" lvl="1" indent="0">
                  <a:buNone/>
                </a:pPr>
                <a14:m>
                  <m:oMathPara xmlns:m="http://schemas.openxmlformats.org/officeDocument/2006/math">
                    <m:oMathParaPr>
                      <m:jc m:val="centerGroup"/>
                    </m:oMathParaPr>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𝑌</m:t>
                          </m:r>
                        </m:e>
                        <m:sub>
                          <m:r>
                            <a:rPr lang="en-US" altLang="ja-JP" i="1">
                              <a:latin typeface="Cambria Math" panose="02040503050406030204" pitchFamily="18" charset="0"/>
                            </a:rPr>
                            <m:t>𝑖</m:t>
                          </m:r>
                        </m:sub>
                      </m:sSub>
                      <m:r>
                        <a:rPr lang="en-US" altLang="ja-JP" i="1">
                          <a:latin typeface="Cambria Math" panose="02040503050406030204" pitchFamily="18" charset="0"/>
                        </a:rPr>
                        <m:t>=</m:t>
                      </m:r>
                      <m:r>
                        <a:rPr lang="en-US" altLang="ja-JP" b="0" i="1" smtClean="0">
                          <a:latin typeface="Cambria Math" panose="02040503050406030204" pitchFamily="18" charset="0"/>
                        </a:rPr>
                        <m:t>𝑓</m:t>
                      </m:r>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b="0" i="1" smtClean="0">
                              <a:latin typeface="Cambria Math" panose="02040503050406030204" pitchFamily="18" charset="0"/>
                            </a:rPr>
                            <m:t>0, </m:t>
                          </m:r>
                          <m:r>
                            <a:rPr lang="en-US" altLang="ja-JP" i="1">
                              <a:latin typeface="Cambria Math" panose="02040503050406030204" pitchFamily="18" charset="0"/>
                            </a:rPr>
                            <m:t>𝑋</m:t>
                          </m:r>
                        </m:e>
                        <m:sub>
                          <m:r>
                            <a:rPr lang="en-US" altLang="ja-JP" i="1">
                              <a:latin typeface="Cambria Math" panose="02040503050406030204" pitchFamily="18" charset="0"/>
                            </a:rPr>
                            <m:t>𝑖</m:t>
                          </m:r>
                        </m:sub>
                      </m:sSub>
                      <m:r>
                        <a:rPr lang="en-US" altLang="ja-JP" i="1">
                          <a:latin typeface="Cambria Math" panose="02040503050406030204" pitchFamily="18" charset="0"/>
                        </a:rPr>
                        <m:t>)</m:t>
                      </m:r>
                    </m:oMath>
                  </m:oMathPara>
                </a14:m>
                <a:endParaRPr lang="en-US" altLang="ja-JP" dirty="0"/>
              </a:p>
              <a:p>
                <a:pPr lvl="1"/>
                <a:endParaRPr lang="en-US" altLang="ja-JP" dirty="0"/>
              </a:p>
              <a:p>
                <a:pPr lvl="1"/>
                <a:r>
                  <a:rPr lang="en-US" altLang="ja-JP" dirty="0"/>
                  <a:t>ATE </a:t>
                </a:r>
                <a14:m>
                  <m:oMath xmlns:m="http://schemas.openxmlformats.org/officeDocument/2006/math">
                    <m:sSubSup>
                      <m:sSubSupPr>
                        <m:ctrlPr>
                          <a:rPr lang="en-US" altLang="ja-JP" i="1">
                            <a:latin typeface="Cambria Math" panose="02040503050406030204" pitchFamily="18" charset="0"/>
                          </a:rPr>
                        </m:ctrlPr>
                      </m:sSubSupPr>
                      <m:e>
                        <m:r>
                          <a:rPr lang="en-US" altLang="ja-JP" i="1">
                            <a:latin typeface="Cambria Math" panose="02040503050406030204" pitchFamily="18" charset="0"/>
                          </a:rPr>
                          <m:t>𝜃</m:t>
                        </m:r>
                      </m:e>
                      <m:sub>
                        <m:r>
                          <a:rPr lang="en-US" altLang="ja-JP" i="1">
                            <a:latin typeface="Cambria Math" panose="02040503050406030204" pitchFamily="18" charset="0"/>
                          </a:rPr>
                          <m:t>0</m:t>
                        </m:r>
                      </m:sub>
                      <m:sup>
                        <m:r>
                          <m:rPr>
                            <m:sty m:val="p"/>
                          </m:rPr>
                          <a:rPr lang="en-US" altLang="ja-JP">
                            <a:latin typeface="Cambria Math" panose="02040503050406030204" pitchFamily="18" charset="0"/>
                          </a:rPr>
                          <m:t>ATE</m:t>
                        </m:r>
                      </m:sup>
                    </m:sSubSup>
                    <m:r>
                      <a:rPr lang="en-US" altLang="ja-JP" i="1">
                        <a:latin typeface="Cambria Math" panose="02040503050406030204" pitchFamily="18" charset="0"/>
                      </a:rPr>
                      <m:t>=</m:t>
                    </m:r>
                    <m:r>
                      <a:rPr lang="en-US" altLang="ja-JP" i="1">
                        <a:latin typeface="Cambria Math" panose="02040503050406030204" pitchFamily="18" charset="0"/>
                      </a:rPr>
                      <m:t>𝔼</m:t>
                    </m:r>
                    <m:d>
                      <m:dPr>
                        <m:begChr m:val="["/>
                        <m:endChr m:val="]"/>
                        <m:ctrlPr>
                          <a:rPr lang="en-US" altLang="ja-JP" i="1">
                            <a:latin typeface="Cambria Math" panose="02040503050406030204" pitchFamily="18" charset="0"/>
                          </a:rPr>
                        </m:ctrlPr>
                      </m:dPr>
                      <m:e>
                        <m:r>
                          <a:rPr lang="en-US" altLang="ja-JP" i="1">
                            <a:latin typeface="Cambria Math" panose="02040503050406030204" pitchFamily="18" charset="0"/>
                          </a:rPr>
                          <m:t>𝑓</m:t>
                        </m:r>
                        <m:r>
                          <a:rPr lang="en-US" altLang="ja-JP" i="1">
                            <a:latin typeface="Cambria Math" panose="02040503050406030204" pitchFamily="18" charset="0"/>
                          </a:rPr>
                          <m:t> (1 ,</m:t>
                        </m:r>
                        <m:sSub>
                          <m:sSubPr>
                            <m:ctrlPr>
                              <a:rPr lang="en-US" altLang="ja-JP" i="1">
                                <a:latin typeface="Cambria Math" panose="02040503050406030204" pitchFamily="18" charset="0"/>
                              </a:rPr>
                            </m:ctrlPr>
                          </m:sSubPr>
                          <m:e>
                            <m:r>
                              <a:rPr lang="en-US" altLang="ja-JP" i="1">
                                <a:latin typeface="Cambria Math" panose="02040503050406030204" pitchFamily="18" charset="0"/>
                              </a:rPr>
                              <m:t>𝑋</m:t>
                            </m:r>
                          </m:e>
                          <m:sub>
                            <m:r>
                              <a:rPr lang="en-US" altLang="ja-JP" i="1">
                                <a:latin typeface="Cambria Math" panose="02040503050406030204" pitchFamily="18" charset="0"/>
                              </a:rPr>
                              <m:t>𝑖</m:t>
                            </m:r>
                          </m:sub>
                        </m:sSub>
                        <m:r>
                          <a:rPr lang="en-US" altLang="ja-JP" i="1">
                            <a:latin typeface="Cambria Math" panose="02040503050406030204" pitchFamily="18" charset="0"/>
                          </a:rPr>
                          <m:t>) −</m:t>
                        </m:r>
                        <m:r>
                          <a:rPr lang="en-US" altLang="ja-JP" i="1">
                            <a:latin typeface="Cambria Math" panose="02040503050406030204" pitchFamily="18" charset="0"/>
                          </a:rPr>
                          <m:t>𝑓</m:t>
                        </m:r>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0, </m:t>
                            </m:r>
                            <m:r>
                              <a:rPr lang="en-US" altLang="ja-JP" i="1">
                                <a:latin typeface="Cambria Math" panose="02040503050406030204" pitchFamily="18" charset="0"/>
                              </a:rPr>
                              <m:t>𝑋</m:t>
                            </m:r>
                          </m:e>
                          <m:sub>
                            <m:r>
                              <a:rPr lang="en-US" altLang="ja-JP" i="1">
                                <a:latin typeface="Cambria Math" panose="02040503050406030204" pitchFamily="18" charset="0"/>
                              </a:rPr>
                              <m:t>𝑖</m:t>
                            </m:r>
                          </m:sub>
                        </m:sSub>
                        <m:r>
                          <a:rPr lang="en-US" altLang="ja-JP" i="1">
                            <a:latin typeface="Cambria Math" panose="02040503050406030204" pitchFamily="18" charset="0"/>
                          </a:rPr>
                          <m:t>)</m:t>
                        </m:r>
                      </m:e>
                    </m:d>
                  </m:oMath>
                </a14:m>
                <a:endParaRPr lang="en-US" altLang="ja-JP" dirty="0"/>
              </a:p>
            </p:txBody>
          </p:sp>
        </mc:Choice>
        <mc:Fallback>
          <p:sp>
            <p:nvSpPr>
              <p:cNvPr id="3" name="コンテンツ プレースホルダー 2">
                <a:extLst>
                  <a:ext uri="{FF2B5EF4-FFF2-40B4-BE49-F238E27FC236}">
                    <a16:creationId xmlns:a16="http://schemas.microsoft.com/office/drawing/2014/main" id="{E8033021-67F4-5123-8931-191FADBB99B1}"/>
                  </a:ext>
                </a:extLst>
              </p:cNvPr>
              <p:cNvSpPr>
                <a:spLocks noGrp="1" noRot="1" noChangeAspect="1" noMove="1" noResize="1" noEditPoints="1" noAdjustHandles="1" noChangeArrowheads="1" noChangeShapeType="1" noTextEdit="1"/>
              </p:cNvSpPr>
              <p:nvPr>
                <p:ph idx="1"/>
              </p:nvPr>
            </p:nvSpPr>
            <p:spPr>
              <a:blipFill>
                <a:blip r:embed="rId2"/>
                <a:stretch>
                  <a:fillRect l="-483" t="-47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831187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E3E63-BC34-F148-1570-6A0E1AFD4B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CB2E6A6-1068-6BB4-75D6-A918B729EBF9}"/>
              </a:ext>
            </a:extLst>
          </p:cNvPr>
          <p:cNvSpPr>
            <a:spLocks noGrp="1"/>
          </p:cNvSpPr>
          <p:nvPr>
            <p:ph type="title"/>
          </p:nvPr>
        </p:nvSpPr>
        <p:spPr/>
        <p:txBody>
          <a:bodyPr/>
          <a:lstStyle/>
          <a:p>
            <a:r>
              <a:rPr lang="ja-JP" altLang="en-US"/>
              <a:t>回帰分析から因果分析へ</a:t>
            </a:r>
            <a:endParaRPr kumimoji="1" lang="ja-JP" altLang="en-US"/>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396A97A8-224D-171D-FAF7-0A6CA81F087B}"/>
                  </a:ext>
                </a:extLst>
              </p:cNvPr>
              <p:cNvSpPr>
                <a:spLocks noGrp="1"/>
              </p:cNvSpPr>
              <p:nvPr>
                <p:ph idx="1"/>
              </p:nvPr>
            </p:nvSpPr>
            <p:spPr/>
            <p:txBody>
              <a:bodyPr>
                <a:noAutofit/>
              </a:bodyPr>
              <a:lstStyle/>
              <a:p>
                <a:r>
                  <a:rPr lang="ja-JP" altLang="en-US" sz="2000"/>
                  <a:t>回帰関数</a:t>
                </a:r>
                <a:r>
                  <a:rPr lang="ja-JP" altLang="en-US" sz="2000" dirty="0"/>
                  <a:t>：</a:t>
                </a:r>
                <a14:m>
                  <m:oMath xmlns:m="http://schemas.openxmlformats.org/officeDocument/2006/math">
                    <m:r>
                      <a:rPr lang="en-US" altLang="ja-JP" sz="2000" b="0" i="1" smtClean="0">
                        <a:latin typeface="Cambria Math" panose="02040503050406030204" pitchFamily="18" charset="0"/>
                      </a:rPr>
                      <m:t>𝑓</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𝑑</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𝑥</m:t>
                        </m:r>
                      </m:e>
                    </m:d>
                    <m:r>
                      <a:rPr lang="en-US" altLang="ja-JP" sz="2000" b="0" i="1" smtClean="0">
                        <a:latin typeface="Cambria Math" panose="02040503050406030204" pitchFamily="18" charset="0"/>
                      </a:rPr>
                      <m:t>≔</m:t>
                    </m:r>
                    <m:r>
                      <a:rPr lang="en-US" altLang="ja-JP" sz="2000" i="1">
                        <a:latin typeface="Cambria Math" panose="02040503050406030204" pitchFamily="18" charset="0"/>
                      </a:rPr>
                      <m:t>𝔼</m:t>
                    </m:r>
                    <m:d>
                      <m:dPr>
                        <m:begChr m:val="["/>
                        <m:endChr m:val="]"/>
                        <m:sepChr m:val="∣"/>
                        <m:ctrlPr>
                          <a:rPr lang="en-US" altLang="ja-JP" sz="2000" i="1">
                            <a:latin typeface="Cambria Math" panose="02040503050406030204" pitchFamily="18" charset="0"/>
                          </a:rPr>
                        </m:ctrlPr>
                      </m:dPr>
                      <m:e>
                        <m:r>
                          <a:rPr lang="en-US" altLang="ja-JP" sz="2000" i="1">
                            <a:latin typeface="Cambria Math" panose="02040503050406030204" pitchFamily="18" charset="0"/>
                          </a:rPr>
                          <m:t>𝑌</m:t>
                        </m:r>
                      </m:e>
                      <m:e>
                        <m:r>
                          <a:rPr lang="en-US" altLang="ja-JP" sz="2000" i="1">
                            <a:latin typeface="Cambria Math" panose="02040503050406030204" pitchFamily="18" charset="0"/>
                          </a:rPr>
                          <m:t>𝐷</m:t>
                        </m:r>
                        <m:r>
                          <a:rPr lang="en-US" altLang="ja-JP" sz="2000" i="1">
                            <a:latin typeface="Cambria Math" panose="02040503050406030204" pitchFamily="18" charset="0"/>
                          </a:rPr>
                          <m:t>=</m:t>
                        </m:r>
                        <m:r>
                          <a:rPr lang="en-US" altLang="ja-JP" sz="2000" b="0" i="1" smtClean="0">
                            <a:latin typeface="Cambria Math" panose="02040503050406030204" pitchFamily="18" charset="0"/>
                          </a:rPr>
                          <m:t>𝑑</m:t>
                        </m:r>
                        <m:r>
                          <a:rPr lang="en-US" altLang="ja-JP" sz="2000" i="1">
                            <a:latin typeface="Cambria Math" panose="02040503050406030204" pitchFamily="18" charset="0"/>
                          </a:rPr>
                          <m:t>, </m:t>
                        </m:r>
                        <m:r>
                          <a:rPr lang="en-US" altLang="ja-JP" sz="2000" i="1">
                            <a:latin typeface="Cambria Math" panose="02040503050406030204" pitchFamily="18" charset="0"/>
                          </a:rPr>
                          <m:t>𝑋</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𝑥</m:t>
                        </m:r>
                      </m:e>
                    </m:d>
                  </m:oMath>
                </a14:m>
                <a:endParaRPr lang="en-US" altLang="ja-JP" sz="2000" dirty="0"/>
              </a:p>
              <a:p>
                <a:pPr lvl="1"/>
                <a:endParaRPr lang="en-US" altLang="ja-JP" sz="800" dirty="0"/>
              </a:p>
              <a:p>
                <a:r>
                  <a:rPr lang="ja-JP" altLang="en-US" sz="2000"/>
                  <a:t>回帰関数の差分の期待値</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0" smtClean="0">
                          <a:latin typeface="Cambria Math" panose="02040503050406030204" pitchFamily="18" charset="0"/>
                        </a:rPr>
                        <m:t> </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𝜃</m:t>
                          </m:r>
                        </m:e>
                        <m:sub>
                          <m:r>
                            <a:rPr lang="en-US" altLang="ja-JP" sz="2000" i="1">
                              <a:latin typeface="Cambria Math" panose="02040503050406030204" pitchFamily="18" charset="0"/>
                            </a:rPr>
                            <m:t>0</m:t>
                          </m:r>
                        </m:sub>
                        <m:sup>
                          <m:r>
                            <m:rPr>
                              <m:sty m:val="p"/>
                            </m:rPr>
                            <a:rPr lang="en-US" altLang="ja-JP" sz="2000">
                              <a:latin typeface="Cambria Math" panose="02040503050406030204" pitchFamily="18" charset="0"/>
                            </a:rPr>
                            <m:t>ATE</m:t>
                          </m:r>
                        </m:sup>
                      </m:sSubSup>
                      <m:r>
                        <a:rPr lang="en-US" altLang="ja-JP" sz="2000" i="1">
                          <a:latin typeface="Cambria Math" panose="02040503050406030204" pitchFamily="18" charset="0"/>
                        </a:rPr>
                        <m:t>=</m:t>
                      </m:r>
                      <m:r>
                        <a:rPr lang="en-US" altLang="ja-JP" sz="2000" i="1">
                          <a:latin typeface="Cambria Math" panose="02040503050406030204" pitchFamily="18" charset="0"/>
                        </a:rPr>
                        <m:t>𝔼</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𝑓</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1, </m:t>
                              </m:r>
                              <m:r>
                                <a:rPr lang="en-US" altLang="ja-JP" sz="2000" i="1">
                                  <a:latin typeface="Cambria Math" panose="02040503050406030204" pitchFamily="18" charset="0"/>
                                </a:rPr>
                                <m:t>𝑋</m:t>
                              </m:r>
                            </m:e>
                          </m:d>
                          <m:r>
                            <a:rPr lang="en-US" altLang="ja-JP" sz="2000" i="1">
                              <a:latin typeface="Cambria Math" panose="02040503050406030204" pitchFamily="18" charset="0"/>
                            </a:rPr>
                            <m:t>−</m:t>
                          </m:r>
                          <m:r>
                            <a:rPr lang="en-US" altLang="ja-JP" sz="2000" i="1">
                              <a:latin typeface="Cambria Math" panose="02040503050406030204" pitchFamily="18" charset="0"/>
                            </a:rPr>
                            <m:t>𝑓</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0,</m:t>
                              </m:r>
                              <m:r>
                                <a:rPr lang="en-US" altLang="ja-JP" sz="2000" i="1">
                                  <a:latin typeface="Cambria Math" panose="02040503050406030204" pitchFamily="18" charset="0"/>
                                </a:rPr>
                                <m:t>𝑋</m:t>
                              </m:r>
                            </m:e>
                          </m:d>
                        </m:e>
                      </m:d>
                    </m:oMath>
                  </m:oMathPara>
                </a14:m>
                <a:endParaRPr lang="en-US" altLang="ja-JP" sz="2000" dirty="0"/>
              </a:p>
              <a:p>
                <a:pPr lvl="1"/>
                <a:endParaRPr lang="en-US" altLang="ja-JP" sz="800" dirty="0"/>
              </a:p>
              <a:p>
                <a:pPr lvl="1"/>
                <a:r>
                  <a:rPr lang="en-US" altLang="ja-JP" sz="2000" dirty="0"/>
                  <a:t>SUTVA + </a:t>
                </a:r>
                <a:r>
                  <a:rPr lang="ja-JP" altLang="en-US" sz="2000"/>
                  <a:t>無交絡性のもとで、</a:t>
                </a:r>
                <a:r>
                  <a:rPr lang="en-US" altLang="ja-JP" sz="2000" dirty="0"/>
                  <a:t> </a:t>
                </a:r>
                <a14:m>
                  <m:oMath xmlns:m="http://schemas.openxmlformats.org/officeDocument/2006/math">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𝜃</m:t>
                        </m:r>
                      </m:e>
                      <m:sub>
                        <m:r>
                          <a:rPr lang="en-US" altLang="ja-JP" sz="2000" i="1">
                            <a:latin typeface="Cambria Math" panose="02040503050406030204" pitchFamily="18" charset="0"/>
                          </a:rPr>
                          <m:t>0</m:t>
                        </m:r>
                      </m:sub>
                      <m:sup>
                        <m:r>
                          <m:rPr>
                            <m:sty m:val="p"/>
                          </m:rPr>
                          <a:rPr lang="en-US" altLang="ja-JP" sz="2000">
                            <a:latin typeface="Cambria Math" panose="02040503050406030204" pitchFamily="18" charset="0"/>
                          </a:rPr>
                          <m:t>ATE</m:t>
                        </m:r>
                      </m:sup>
                    </m:sSubSup>
                    <m:r>
                      <a:rPr lang="en-US" altLang="ja-JP" sz="2000" i="1">
                        <a:latin typeface="Cambria Math" panose="02040503050406030204" pitchFamily="18" charset="0"/>
                      </a:rPr>
                      <m:t>=</m:t>
                    </m:r>
                    <m:r>
                      <a:rPr lang="en-US" altLang="ja-JP" sz="2000" i="1">
                        <a:latin typeface="Cambria Math" panose="02040503050406030204" pitchFamily="18" charset="0"/>
                      </a:rPr>
                      <m:t>𝔼</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𝑓</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1, </m:t>
                            </m:r>
                            <m:r>
                              <a:rPr lang="en-US" altLang="ja-JP" sz="2000" i="1">
                                <a:latin typeface="Cambria Math" panose="02040503050406030204" pitchFamily="18" charset="0"/>
                              </a:rPr>
                              <m:t>𝑋</m:t>
                            </m:r>
                          </m:e>
                        </m:d>
                        <m:r>
                          <a:rPr lang="en-US" altLang="ja-JP" sz="2000" i="1">
                            <a:latin typeface="Cambria Math" panose="02040503050406030204" pitchFamily="18" charset="0"/>
                          </a:rPr>
                          <m:t>−</m:t>
                        </m:r>
                        <m:r>
                          <a:rPr lang="en-US" altLang="ja-JP" sz="2000" i="1">
                            <a:latin typeface="Cambria Math" panose="02040503050406030204" pitchFamily="18" charset="0"/>
                          </a:rPr>
                          <m:t>𝑓</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0,</m:t>
                            </m:r>
                            <m:r>
                              <a:rPr lang="en-US" altLang="ja-JP" sz="2000" i="1">
                                <a:latin typeface="Cambria Math" panose="02040503050406030204" pitchFamily="18" charset="0"/>
                              </a:rPr>
                              <m:t>𝑋</m:t>
                            </m:r>
                          </m:e>
                        </m:d>
                      </m:e>
                    </m:d>
                  </m:oMath>
                </a14:m>
                <a:endParaRPr lang="en-US" altLang="ja-JP" sz="2000" dirty="0"/>
              </a:p>
              <a:p>
                <a:pPr lvl="1"/>
                <a:endParaRPr lang="en-US" altLang="ja-JP" sz="800" dirty="0"/>
              </a:p>
              <a:p>
                <a:pPr>
                  <a:buClr>
                    <a:srgbClr val="00B050"/>
                  </a:buClr>
                  <a:buFont typeface="Wingdings" pitchFamily="2" charset="2"/>
                  <a:buChar char="p"/>
                </a:pPr>
                <a:r>
                  <a:rPr lang="ja-JP" altLang="en-US" sz="2000"/>
                  <a:t>例</a:t>
                </a:r>
                <a:endParaRPr lang="en-US" altLang="ja-JP" sz="2000" dirty="0"/>
              </a:p>
              <a:p>
                <a:pPr lvl="1"/>
                <a:r>
                  <a:rPr lang="ja-JP" altLang="en-US" sz="2000"/>
                  <a:t>線形回帰モデル</a:t>
                </a:r>
                <a:r>
                  <a:rPr lang="en-US" altLang="ja-JP" sz="2000" dirty="0"/>
                  <a:t>①</a:t>
                </a:r>
                <a:r>
                  <a:rPr lang="ja-JP" altLang="en-US" sz="2000"/>
                  <a:t>　</a:t>
                </a:r>
                <a14:m>
                  <m:oMath xmlns:m="http://schemas.openxmlformats.org/officeDocument/2006/math">
                    <m:r>
                      <a:rPr lang="en-US" altLang="ja-JP" sz="2000" b="0" i="1" smtClean="0">
                        <a:latin typeface="Cambria Math" panose="02040503050406030204" pitchFamily="18" charset="0"/>
                      </a:rPr>
                      <m:t>𝑓</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𝐷</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𝑋</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𝛼</m:t>
                    </m:r>
                    <m:r>
                      <a:rPr lang="en-US" altLang="ja-JP" sz="2000" b="0" i="1" smtClean="0">
                        <a:latin typeface="Cambria Math" panose="02040503050406030204" pitchFamily="18" charset="0"/>
                      </a:rPr>
                      <m:t>𝐷</m:t>
                    </m:r>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𝛽</m:t>
                        </m:r>
                      </m:e>
                      <m:sup>
                        <m:r>
                          <a:rPr lang="en-US" altLang="ja-JP" sz="2000" b="0" i="1" smtClean="0">
                            <a:latin typeface="Cambria Math" panose="02040503050406030204" pitchFamily="18" charset="0"/>
                          </a:rPr>
                          <m:t>⊤</m:t>
                        </m:r>
                      </m:sup>
                    </m:sSup>
                    <m:r>
                      <a:rPr lang="en-US" altLang="ja-JP" sz="2000" b="0" i="1" smtClean="0">
                        <a:latin typeface="Cambria Math" panose="02040503050406030204" pitchFamily="18" charset="0"/>
                      </a:rPr>
                      <m:t>𝑋</m:t>
                    </m:r>
                  </m:oMath>
                </a14:m>
                <a:endParaRPr lang="en-US" altLang="ja-JP" sz="2000" dirty="0"/>
              </a:p>
              <a:p>
                <a:pPr lvl="2"/>
                <a:r>
                  <a:rPr lang="en-US" altLang="ja-JP" sz="2000" dirty="0"/>
                  <a:t>ATE </a:t>
                </a:r>
                <a14:m>
                  <m:oMath xmlns:m="http://schemas.openxmlformats.org/officeDocument/2006/math">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𝜃</m:t>
                        </m:r>
                      </m:e>
                      <m:sub>
                        <m:r>
                          <a:rPr lang="en-US" altLang="ja-JP" sz="2000" b="0" i="1" smtClean="0">
                            <a:latin typeface="Cambria Math" panose="02040503050406030204" pitchFamily="18" charset="0"/>
                          </a:rPr>
                          <m:t>0</m:t>
                        </m:r>
                      </m:sub>
                      <m:sup>
                        <m:r>
                          <m:rPr>
                            <m:sty m:val="p"/>
                          </m:rPr>
                          <a:rPr lang="en-US" altLang="ja-JP" sz="2000" b="0" i="0" smtClean="0">
                            <a:latin typeface="Cambria Math" panose="02040503050406030204" pitchFamily="18" charset="0"/>
                          </a:rPr>
                          <m:t>ATE</m:t>
                        </m:r>
                      </m:sup>
                    </m:sSub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𝛼</m:t>
                    </m:r>
                  </m:oMath>
                </a14:m>
                <a:endParaRPr lang="en-US" altLang="ja-JP" sz="2000" dirty="0"/>
              </a:p>
              <a:p>
                <a:pPr lvl="2"/>
                <a:endParaRPr lang="en-US" altLang="ja-JP" sz="800" dirty="0"/>
              </a:p>
              <a:p>
                <a:pPr lvl="1"/>
                <a:r>
                  <a:rPr lang="ja-JP" altLang="en-US" sz="2000"/>
                  <a:t>線形回帰モデル</a:t>
                </a:r>
                <a:r>
                  <a:rPr lang="en-US" altLang="ja-JP" sz="2000" dirty="0"/>
                  <a:t>②</a:t>
                </a:r>
                <a:r>
                  <a:rPr lang="ja-JP" altLang="en-US" sz="2000" dirty="0"/>
                  <a:t>　</a:t>
                </a:r>
                <a:r>
                  <a:rPr lang="en-US" altLang="ja-JP" sz="2000" dirty="0"/>
                  <a:t> </a:t>
                </a:r>
                <a14:m>
                  <m:oMath xmlns:m="http://schemas.openxmlformats.org/officeDocument/2006/math">
                    <m:r>
                      <a:rPr lang="en-US" altLang="ja-JP" sz="2000" i="1">
                        <a:latin typeface="Cambria Math" panose="02040503050406030204" pitchFamily="18" charset="0"/>
                      </a:rPr>
                      <m:t>𝑓</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𝐷</m:t>
                        </m:r>
                        <m:r>
                          <a:rPr lang="en-US" altLang="ja-JP" sz="2000" i="1">
                            <a:latin typeface="Cambria Math" panose="02040503050406030204" pitchFamily="18" charset="0"/>
                          </a:rPr>
                          <m:t>,</m:t>
                        </m:r>
                        <m:r>
                          <a:rPr lang="en-US" altLang="ja-JP" sz="2000" i="1">
                            <a:latin typeface="Cambria Math" panose="02040503050406030204" pitchFamily="18" charset="0"/>
                          </a:rPr>
                          <m:t>𝑋</m:t>
                        </m:r>
                      </m:e>
                    </m:d>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𝛽</m:t>
                        </m:r>
                      </m:e>
                      <m:sub>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r>
                      <a:rPr lang="en-US" altLang="ja-JP" sz="2000" b="0" i="1" smtClean="0">
                        <a:latin typeface="Cambria Math" panose="02040503050406030204" pitchFamily="18" charset="0"/>
                      </a:rPr>
                      <m:t>𝐷𝑋</m:t>
                    </m:r>
                    <m:r>
                      <a:rPr lang="en-US" altLang="ja-JP" sz="2000" i="1">
                        <a:latin typeface="Cambria Math" panose="02040503050406030204" pitchFamily="18" charset="0"/>
                      </a:rPr>
                      <m:t>+ </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𝛽</m:t>
                        </m:r>
                      </m:e>
                      <m:sub>
                        <m:r>
                          <a:rPr lang="en-US" altLang="ja-JP" sz="2000" i="1">
                            <a:latin typeface="Cambria Math" panose="02040503050406030204" pitchFamily="18" charset="0"/>
                          </a:rPr>
                          <m:t>0</m:t>
                        </m:r>
                      </m:sub>
                      <m:sup>
                        <m:r>
                          <a:rPr lang="en-US" altLang="ja-JP" sz="2000" i="1">
                            <a:latin typeface="Cambria Math" panose="02040503050406030204" pitchFamily="18" charset="0"/>
                          </a:rPr>
                          <m:t>⊤</m:t>
                        </m:r>
                      </m:sup>
                    </m:sSubSup>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r>
                          <a:rPr lang="en-US" altLang="ja-JP" sz="2000" i="1">
                            <a:latin typeface="Cambria Math" panose="02040503050406030204" pitchFamily="18" charset="0"/>
                          </a:rPr>
                          <m:t>𝐷</m:t>
                        </m:r>
                      </m:e>
                    </m:d>
                    <m:r>
                      <a:rPr lang="en-US" altLang="ja-JP" sz="2000" b="0" i="1" smtClean="0">
                        <a:latin typeface="Cambria Math" panose="02040503050406030204" pitchFamily="18" charset="0"/>
                      </a:rPr>
                      <m:t>𝑋</m:t>
                    </m:r>
                  </m:oMath>
                </a14:m>
                <a:endParaRPr lang="en-US" altLang="ja-JP" sz="2000" dirty="0"/>
              </a:p>
              <a:p>
                <a:pPr lvl="2"/>
                <a:r>
                  <a:rPr lang="en-US" altLang="ja-JP" sz="2000" dirty="0"/>
                  <a:t>ATE </a:t>
                </a:r>
                <a14:m>
                  <m:oMath xmlns:m="http://schemas.openxmlformats.org/officeDocument/2006/math">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𝜃</m:t>
                        </m:r>
                      </m:e>
                      <m:sub>
                        <m:r>
                          <a:rPr lang="en-US" altLang="ja-JP" sz="2000" i="1">
                            <a:latin typeface="Cambria Math" panose="02040503050406030204" pitchFamily="18" charset="0"/>
                          </a:rPr>
                          <m:t>0</m:t>
                        </m:r>
                      </m:sub>
                      <m:sup>
                        <m:r>
                          <m:rPr>
                            <m:sty m:val="p"/>
                          </m:rPr>
                          <a:rPr lang="en-US" altLang="ja-JP" sz="2000" i="0">
                            <a:latin typeface="Cambria Math" panose="02040503050406030204" pitchFamily="18" charset="0"/>
                          </a:rPr>
                          <m:t>ATE</m:t>
                        </m:r>
                      </m:sup>
                    </m:sSubSup>
                    <m:r>
                      <a:rPr lang="en-US" altLang="ja-JP" sz="2000" i="1">
                        <a:latin typeface="Cambria Math" panose="02040503050406030204" pitchFamily="18" charset="0"/>
                      </a:rPr>
                      <m:t>=</m:t>
                    </m:r>
                    <m:r>
                      <a:rPr lang="en-US" altLang="ja-JP" sz="2000" b="0" i="1" smtClean="0">
                        <a:latin typeface="Cambria Math" panose="02040503050406030204" pitchFamily="18" charset="0"/>
                      </a:rPr>
                      <m:t>𝔼</m:t>
                    </m:r>
                    <m:d>
                      <m:dPr>
                        <m:begChr m:val="["/>
                        <m:endChr m:val="]"/>
                        <m:ctrlPr>
                          <a:rPr lang="en-US" altLang="ja-JP" sz="2000" b="0" i="1" smtClean="0">
                            <a:latin typeface="Cambria Math" panose="02040503050406030204" pitchFamily="18" charset="0"/>
                          </a:rPr>
                        </m:ctrlPr>
                      </m:dPr>
                      <m:e>
                        <m:sSup>
                          <m:sSupPr>
                            <m:ctrlPr>
                              <a:rPr lang="en-US" altLang="ja-JP" sz="2000" b="0" i="1" smtClean="0">
                                <a:latin typeface="Cambria Math" panose="02040503050406030204" pitchFamily="18" charset="0"/>
                              </a:rPr>
                            </m:ctrlPr>
                          </m:sSupPr>
                          <m:e>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𝛽</m:t>
                                    </m:r>
                                  </m:e>
                                  <m:sub>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𝛽</m:t>
                                    </m:r>
                                  </m:e>
                                  <m:sub>
                                    <m:r>
                                      <a:rPr lang="en-US" altLang="ja-JP" sz="2000" b="0" i="1" smtClean="0">
                                        <a:latin typeface="Cambria Math" panose="02040503050406030204" pitchFamily="18" charset="0"/>
                                      </a:rPr>
                                      <m:t>0</m:t>
                                    </m:r>
                                  </m:sub>
                                </m:sSub>
                              </m:e>
                            </m:d>
                          </m:e>
                          <m:sup>
                            <m:r>
                              <a:rPr lang="en-US" altLang="ja-JP" sz="2000" b="0" i="1" smtClean="0">
                                <a:latin typeface="Cambria Math" panose="02040503050406030204" pitchFamily="18" charset="0"/>
                              </a:rPr>
                              <m:t>⊤</m:t>
                            </m:r>
                          </m:sup>
                        </m:sSup>
                        <m:r>
                          <a:rPr lang="en-US" altLang="ja-JP" sz="2000" b="0" i="1" smtClean="0">
                            <a:latin typeface="Cambria Math" panose="02040503050406030204" pitchFamily="18" charset="0"/>
                          </a:rPr>
                          <m:t>𝑋</m:t>
                        </m:r>
                        <m:r>
                          <a:rPr lang="en-US" altLang="ja-JP" sz="2000" b="0" i="1" smtClean="0">
                            <a:latin typeface="Cambria Math" panose="02040503050406030204" pitchFamily="18" charset="0"/>
                          </a:rPr>
                          <m:t> </m:t>
                        </m:r>
                      </m:e>
                    </m:d>
                  </m:oMath>
                </a14:m>
                <a:endParaRPr lang="en-US" altLang="ja-JP" sz="2000" dirty="0"/>
              </a:p>
              <a:p>
                <a:pPr lvl="2"/>
                <a:endParaRPr lang="en-US" altLang="ja-JP" sz="800" dirty="0"/>
              </a:p>
              <a:p>
                <a:pPr lvl="1"/>
                <a:r>
                  <a:rPr lang="ja-JP" altLang="en-US" sz="2000"/>
                  <a:t>部分線形回帰モデル</a:t>
                </a:r>
                <a:r>
                  <a:rPr lang="ja-JP" altLang="en-US" sz="2000" dirty="0"/>
                  <a:t>　</a:t>
                </a:r>
                <a14:m>
                  <m:oMath xmlns:m="http://schemas.openxmlformats.org/officeDocument/2006/math">
                    <m:r>
                      <a:rPr lang="en-US" altLang="ja-JP" sz="2000" b="0" i="1" smtClean="0">
                        <a:latin typeface="Cambria Math" panose="02040503050406030204" pitchFamily="18" charset="0"/>
                      </a:rPr>
                      <m:t>𝑓</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𝐷</m:t>
                        </m:r>
                        <m:r>
                          <a:rPr lang="en-US" altLang="ja-JP" sz="2000" b="0" i="1" smtClean="0">
                            <a:latin typeface="Cambria Math" panose="02040503050406030204" pitchFamily="18" charset="0"/>
                          </a:rPr>
                          <m:t>, </m:t>
                        </m:r>
                        <m:r>
                          <a:rPr lang="en-US" altLang="ja-JP" sz="2000" b="0" i="1" smtClean="0">
                            <a:latin typeface="Cambria Math" panose="02040503050406030204" pitchFamily="18" charset="0"/>
                          </a:rPr>
                          <m:t>𝑋</m:t>
                        </m:r>
                      </m:e>
                    </m:d>
                    <m:r>
                      <a:rPr lang="en-US" altLang="ja-JP" sz="2000" b="0" i="1" smtClean="0">
                        <a:latin typeface="Cambria Math" panose="02040503050406030204" pitchFamily="18" charset="0"/>
                      </a:rPr>
                      <m:t>=</m:t>
                    </m:r>
                    <m:r>
                      <a:rPr lang="en-US" altLang="ja-JP" sz="2000" i="1">
                        <a:latin typeface="Cambria Math" panose="02040503050406030204" pitchFamily="18" charset="0"/>
                      </a:rPr>
                      <m:t>𝛼</m:t>
                    </m:r>
                    <m:r>
                      <a:rPr lang="en-US" altLang="ja-JP" sz="2000" b="0" i="1" smtClean="0">
                        <a:latin typeface="Cambria Math" panose="02040503050406030204" pitchFamily="18" charset="0"/>
                      </a:rPr>
                      <m:t>𝐷</m:t>
                    </m:r>
                    <m:r>
                      <a:rPr lang="en-US" altLang="ja-JP" sz="2000" i="1">
                        <a:latin typeface="Cambria Math" panose="02040503050406030204" pitchFamily="18" charset="0"/>
                      </a:rPr>
                      <m:t>+</m:t>
                    </m:r>
                    <m:r>
                      <a:rPr lang="en-US" altLang="ja-JP" sz="2000" i="1">
                        <a:latin typeface="Cambria Math" panose="02040503050406030204" pitchFamily="18" charset="0"/>
                      </a:rPr>
                      <m:t>𝑔</m:t>
                    </m:r>
                    <m:r>
                      <a:rPr lang="en-US" altLang="ja-JP" sz="2000" i="1">
                        <a:latin typeface="Cambria Math" panose="02040503050406030204" pitchFamily="18" charset="0"/>
                      </a:rPr>
                      <m:t>(</m:t>
                    </m:r>
                    <m:r>
                      <a:rPr lang="en-US" altLang="ja-JP" sz="2000" b="0" i="1" smtClean="0">
                        <a:latin typeface="Cambria Math" panose="02040503050406030204" pitchFamily="18" charset="0"/>
                      </a:rPr>
                      <m:t>𝑋</m:t>
                    </m:r>
                    <m:r>
                      <a:rPr lang="en-US" altLang="ja-JP" sz="2000" i="1">
                        <a:latin typeface="Cambria Math" panose="02040503050406030204" pitchFamily="18" charset="0"/>
                      </a:rPr>
                      <m:t>)</m:t>
                    </m:r>
                  </m:oMath>
                </a14:m>
                <a:endParaRPr lang="en-US" altLang="ja-JP" sz="2000" dirty="0"/>
              </a:p>
              <a:p>
                <a:pPr lvl="2"/>
                <a:r>
                  <a:rPr lang="en-US" altLang="ja-JP" sz="2000" dirty="0"/>
                  <a:t>ATE</a:t>
                </a:r>
                <a14:m>
                  <m:oMath xmlns:m="http://schemas.openxmlformats.org/officeDocument/2006/math">
                    <m:r>
                      <a:rPr lang="en-US" altLang="ja-JP" sz="2000" dirty="0">
                        <a:latin typeface="Cambria Math" panose="02040503050406030204" pitchFamily="18" charset="0"/>
                      </a:rPr>
                      <m:t> </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𝜃</m:t>
                        </m:r>
                      </m:e>
                      <m:sub>
                        <m:r>
                          <a:rPr lang="en-US" altLang="ja-JP" sz="2000" i="1">
                            <a:latin typeface="Cambria Math" panose="02040503050406030204" pitchFamily="18" charset="0"/>
                          </a:rPr>
                          <m:t>0</m:t>
                        </m:r>
                      </m:sub>
                      <m:sup>
                        <m:r>
                          <m:rPr>
                            <m:sty m:val="p"/>
                          </m:rPr>
                          <a:rPr lang="en-US" altLang="ja-JP" sz="2000" i="0">
                            <a:latin typeface="Cambria Math" panose="02040503050406030204" pitchFamily="18" charset="0"/>
                          </a:rPr>
                          <m:t>ATE</m:t>
                        </m:r>
                      </m:sup>
                    </m:sSubSup>
                    <m:r>
                      <a:rPr lang="en-US" altLang="ja-JP" sz="2000" i="1">
                        <a:latin typeface="Cambria Math" panose="02040503050406030204" pitchFamily="18" charset="0"/>
                      </a:rPr>
                      <m:t>=</m:t>
                    </m:r>
                    <m:r>
                      <a:rPr lang="en-US" altLang="ja-JP" sz="2000" i="1">
                        <a:latin typeface="Cambria Math" panose="02040503050406030204" pitchFamily="18" charset="0"/>
                      </a:rPr>
                      <m:t>𝛼</m:t>
                    </m:r>
                  </m:oMath>
                </a14:m>
                <a:endParaRPr lang="en-US" altLang="ja-JP" sz="2000" dirty="0"/>
              </a:p>
              <a:p>
                <a:pPr lvl="2"/>
                <a:endParaRPr lang="en-US" altLang="ja-JP" sz="800" dirty="0"/>
              </a:p>
              <a:p>
                <a:pPr lvl="1"/>
                <a:r>
                  <a:rPr lang="ja-JP" altLang="en-US" sz="2000"/>
                  <a:t>ノンパラメトリックモデル</a:t>
                </a:r>
                <a:endParaRPr lang="en-US" altLang="ja-JP" sz="2000" dirty="0"/>
              </a:p>
              <a:p>
                <a:pPr lvl="2"/>
                <a:r>
                  <a:rPr lang="en-US" altLang="ja-JP" sz="2000" dirty="0"/>
                  <a:t>ATE </a:t>
                </a:r>
                <a14:m>
                  <m:oMath xmlns:m="http://schemas.openxmlformats.org/officeDocument/2006/math">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𝜃</m:t>
                        </m:r>
                      </m:e>
                      <m:sub>
                        <m:r>
                          <a:rPr lang="en-US" altLang="ja-JP" sz="2000" i="1">
                            <a:latin typeface="Cambria Math" panose="02040503050406030204" pitchFamily="18" charset="0"/>
                          </a:rPr>
                          <m:t>0</m:t>
                        </m:r>
                      </m:sub>
                      <m:sup>
                        <m:r>
                          <m:rPr>
                            <m:sty m:val="p"/>
                          </m:rPr>
                          <a:rPr lang="en-US" altLang="ja-JP" sz="2000" i="0">
                            <a:latin typeface="Cambria Math" panose="02040503050406030204" pitchFamily="18" charset="0"/>
                          </a:rPr>
                          <m:t>ATE</m:t>
                        </m:r>
                      </m:sup>
                    </m:sSubSup>
                    <m:r>
                      <a:rPr lang="en-US" altLang="ja-JP" sz="2000" i="1">
                        <a:latin typeface="Cambria Math" panose="02040503050406030204" pitchFamily="18" charset="0"/>
                      </a:rPr>
                      <m:t>=</m:t>
                    </m:r>
                    <m:r>
                      <a:rPr lang="en-US" altLang="ja-JP" sz="2000" i="1">
                        <a:latin typeface="Cambria Math" panose="02040503050406030204" pitchFamily="18" charset="0"/>
                      </a:rPr>
                      <m:t>𝔼</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𝑓</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1, </m:t>
                            </m:r>
                            <m:r>
                              <a:rPr lang="en-US" altLang="ja-JP" sz="2000" i="1">
                                <a:latin typeface="Cambria Math" panose="02040503050406030204" pitchFamily="18" charset="0"/>
                              </a:rPr>
                              <m:t>𝑋</m:t>
                            </m:r>
                          </m:e>
                        </m:d>
                        <m:r>
                          <a:rPr lang="en-US" altLang="ja-JP" sz="2000" i="1">
                            <a:latin typeface="Cambria Math" panose="02040503050406030204" pitchFamily="18" charset="0"/>
                          </a:rPr>
                          <m:t>−</m:t>
                        </m:r>
                        <m:r>
                          <a:rPr lang="en-US" altLang="ja-JP" sz="2000" i="1">
                            <a:latin typeface="Cambria Math" panose="02040503050406030204" pitchFamily="18" charset="0"/>
                          </a:rPr>
                          <m:t>𝑓</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0,</m:t>
                            </m:r>
                            <m:r>
                              <a:rPr lang="en-US" altLang="ja-JP" sz="2000" i="1">
                                <a:latin typeface="Cambria Math" panose="02040503050406030204" pitchFamily="18" charset="0"/>
                              </a:rPr>
                              <m:t>𝑋</m:t>
                            </m:r>
                          </m:e>
                        </m:d>
                      </m:e>
                    </m:d>
                  </m:oMath>
                </a14:m>
                <a:endParaRPr kumimoji="1" lang="en-US" altLang="ja-JP" sz="2000" dirty="0"/>
              </a:p>
              <a:p>
                <a:pPr marL="0" indent="0">
                  <a:buNone/>
                </a:pPr>
                <a:endParaRPr kumimoji="1" lang="en-US" altLang="ja-JP" sz="2000" dirty="0"/>
              </a:p>
            </p:txBody>
          </p:sp>
        </mc:Choice>
        <mc:Fallback>
          <p:sp>
            <p:nvSpPr>
              <p:cNvPr id="3" name="コンテンツ プレースホルダー 2">
                <a:extLst>
                  <a:ext uri="{FF2B5EF4-FFF2-40B4-BE49-F238E27FC236}">
                    <a16:creationId xmlns:a16="http://schemas.microsoft.com/office/drawing/2014/main" id="{396A97A8-224D-171D-FAF7-0A6CA81F087B}"/>
                  </a:ext>
                </a:extLst>
              </p:cNvPr>
              <p:cNvSpPr>
                <a:spLocks noGrp="1" noRot="1" noChangeAspect="1" noMove="1" noResize="1" noEditPoints="1" noAdjustHandles="1" noChangeArrowheads="1" noChangeShapeType="1" noTextEdit="1"/>
              </p:cNvSpPr>
              <p:nvPr>
                <p:ph idx="1"/>
              </p:nvPr>
            </p:nvSpPr>
            <p:spPr>
              <a:blipFill>
                <a:blip r:embed="rId2"/>
                <a:stretch>
                  <a:fillRect l="-603" t="-709" b="-165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424295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7C44F-FAB6-0BB8-8353-4A7C5628185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7AC611B-CA65-9479-60E3-A66B88516DD5}"/>
              </a:ext>
            </a:extLst>
          </p:cNvPr>
          <p:cNvSpPr>
            <a:spLocks noGrp="1"/>
          </p:cNvSpPr>
          <p:nvPr>
            <p:ph type="title"/>
          </p:nvPr>
        </p:nvSpPr>
        <p:spPr/>
        <p:txBody>
          <a:bodyPr/>
          <a:lstStyle/>
          <a:p>
            <a:r>
              <a:rPr lang="ja-JP" altLang="en-US"/>
              <a:t>仮定の違いと効率性</a:t>
            </a:r>
            <a:endParaRPr kumimoji="1" lang="ja-JP" altLang="en-US"/>
          </a:p>
        </p:txBody>
      </p:sp>
      <p:sp>
        <p:nvSpPr>
          <p:cNvPr id="3" name="コンテンツ プレースホルダー 2">
            <a:extLst>
              <a:ext uri="{FF2B5EF4-FFF2-40B4-BE49-F238E27FC236}">
                <a16:creationId xmlns:a16="http://schemas.microsoft.com/office/drawing/2014/main" id="{7D6B9F26-192E-A85D-0743-487DE4333A30}"/>
              </a:ext>
            </a:extLst>
          </p:cNvPr>
          <p:cNvSpPr>
            <a:spLocks noGrp="1"/>
          </p:cNvSpPr>
          <p:nvPr>
            <p:ph idx="1"/>
          </p:nvPr>
        </p:nvSpPr>
        <p:spPr/>
        <p:txBody>
          <a:bodyPr>
            <a:normAutofit/>
          </a:bodyPr>
          <a:lstStyle/>
          <a:p>
            <a:r>
              <a:rPr lang="ja-JP" altLang="en-US" sz="2000"/>
              <a:t>モデルを細かく特定できている方が推定精度は向上しやすい</a:t>
            </a:r>
            <a:endParaRPr lang="en-US" altLang="ja-JP" sz="2000" dirty="0"/>
          </a:p>
          <a:p>
            <a:pPr lvl="1"/>
            <a:r>
              <a:rPr kumimoji="1" lang="ja-JP" altLang="en-US" sz="2000"/>
              <a:t>線形回帰モデル</a:t>
            </a:r>
            <a:r>
              <a:rPr lang="ja-JP" altLang="en-US" sz="2000"/>
              <a:t>を仮定し、それが正しいのであれば、</a:t>
            </a:r>
            <a:r>
              <a:rPr lang="en-US" altLang="ja-JP" sz="2000" dirty="0"/>
              <a:t>OLS</a:t>
            </a:r>
            <a:r>
              <a:rPr lang="ja-JP" altLang="en-US" sz="2000"/>
              <a:t>が一番良い</a:t>
            </a:r>
            <a:endParaRPr lang="en-US" altLang="ja-JP" sz="2000" dirty="0"/>
          </a:p>
          <a:p>
            <a:pPr lvl="1"/>
            <a:r>
              <a:rPr lang="ja-JP" altLang="en-US" sz="2000"/>
              <a:t>ただし、仮定が外れることに対して脆弱</a:t>
            </a:r>
            <a:endParaRPr lang="en-US" altLang="ja-JP" sz="2000" dirty="0"/>
          </a:p>
          <a:p>
            <a:pPr lvl="2"/>
            <a:r>
              <a:rPr lang="ja-JP" altLang="en-US" sz="2000"/>
              <a:t>線形回帰モデルはかなり「単純なモデル」を仮定している</a:t>
            </a:r>
            <a:endParaRPr lang="en-US" altLang="ja-JP" sz="2000" dirty="0"/>
          </a:p>
          <a:p>
            <a:pPr lvl="1"/>
            <a:endParaRPr kumimoji="1" lang="en-US" altLang="ja-JP" sz="800" dirty="0"/>
          </a:p>
          <a:p>
            <a:r>
              <a:rPr lang="ja-JP" altLang="en-US" sz="2000"/>
              <a:t>モデルの仮定が少なくなるほど</a:t>
            </a:r>
            <a:endParaRPr lang="en-US" altLang="ja-JP" sz="2000" dirty="0"/>
          </a:p>
          <a:p>
            <a:pPr lvl="1"/>
            <a:r>
              <a:rPr lang="ja-JP" altLang="en-US" sz="2000"/>
              <a:t>長所：</a:t>
            </a:r>
            <a:r>
              <a:rPr lang="en-US" altLang="ja-JP" sz="2000" dirty="0"/>
              <a:t> </a:t>
            </a:r>
            <a:r>
              <a:rPr lang="ja-JP" altLang="en-US" sz="2000"/>
              <a:t>回帰関数の推定を誤ることが少なくなる</a:t>
            </a:r>
            <a:endParaRPr lang="en-US" altLang="ja-JP" sz="2000" dirty="0"/>
          </a:p>
          <a:p>
            <a:pPr lvl="1"/>
            <a:r>
              <a:rPr lang="ja-JP" altLang="en-US" sz="2000"/>
              <a:t>短所：</a:t>
            </a:r>
            <a:r>
              <a:rPr lang="en-US" altLang="ja-JP" sz="2000" dirty="0"/>
              <a:t> </a:t>
            </a:r>
            <a:r>
              <a:rPr lang="ja-JP" altLang="en-US" sz="2000"/>
              <a:t>推定が難しくなる（より多くのデータを必要とするようになる）</a:t>
            </a:r>
            <a:endParaRPr lang="en-US" altLang="ja-JP" sz="2000" dirty="0"/>
          </a:p>
          <a:p>
            <a:pPr lvl="1"/>
            <a:endParaRPr kumimoji="1" lang="en-US" altLang="ja-JP" sz="800" dirty="0"/>
          </a:p>
          <a:p>
            <a:r>
              <a:rPr lang="ja-JP" altLang="en-US" sz="2000"/>
              <a:t>加えて、推定する回帰関数やそのモデルの複雑さが増すほど、因果パラメータの推定に関する理想的な性質の保証が難しくなる</a:t>
            </a:r>
            <a:endParaRPr lang="en-US" altLang="ja-JP" sz="2000" dirty="0"/>
          </a:p>
          <a:p>
            <a:pPr lvl="1"/>
            <a:r>
              <a:rPr kumimoji="1" lang="en-US" altLang="ja-JP" sz="2000" dirty="0"/>
              <a:t>Donsker</a:t>
            </a:r>
            <a:r>
              <a:rPr kumimoji="1" lang="ja-JP" altLang="en-US" sz="2000"/>
              <a:t>条件</a:t>
            </a:r>
            <a:r>
              <a:rPr lang="ja-JP" altLang="en-US" sz="2000"/>
              <a:t>と呼ばれる性質と収束レートに関する条件が必要とされる</a:t>
            </a:r>
            <a:endParaRPr lang="en-US" altLang="ja-JP" sz="2000" dirty="0"/>
          </a:p>
          <a:p>
            <a:pPr lvl="2"/>
            <a:r>
              <a:rPr lang="en-US" altLang="ja-JP" sz="2000" dirty="0"/>
              <a:t>Donsker</a:t>
            </a:r>
            <a:r>
              <a:rPr lang="ja-JP" altLang="en-US" sz="2000"/>
              <a:t>条件の代わりにサンプル分割（交差適合）を用いても良い</a:t>
            </a:r>
            <a:endParaRPr lang="en-US" altLang="ja-JP" sz="2000" dirty="0"/>
          </a:p>
          <a:p>
            <a:pPr lvl="1"/>
            <a:endParaRPr kumimoji="1" lang="en-US" altLang="ja-JP" sz="2000" dirty="0"/>
          </a:p>
        </p:txBody>
      </p:sp>
    </p:spTree>
    <p:extLst>
      <p:ext uri="{BB962C8B-B14F-4D97-AF65-F5344CB8AC3E}">
        <p14:creationId xmlns:p14="http://schemas.microsoft.com/office/powerpoint/2010/main" val="10612016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53354</TotalTime>
  <Words>1611</Words>
  <Application>Microsoft Macintosh PowerPoint</Application>
  <PresentationFormat>ワイド画面</PresentationFormat>
  <Paragraphs>209</Paragraphs>
  <Slides>14</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14</vt:i4>
      </vt:variant>
    </vt:vector>
  </HeadingPairs>
  <TitlesOfParts>
    <vt:vector size="21" baseType="lpstr">
      <vt:lpstr>Noto Sans JP</vt:lpstr>
      <vt:lpstr>游ゴシック</vt:lpstr>
      <vt:lpstr>Arial</vt:lpstr>
      <vt:lpstr>Calibri</vt:lpstr>
      <vt:lpstr>Cambria Math</vt:lpstr>
      <vt:lpstr>Wingdings</vt:lpstr>
      <vt:lpstr>Office テーマ</vt:lpstr>
      <vt:lpstr>「機械学習と因果推論」入門  ② 回帰分析から因果分析へ</vt:lpstr>
      <vt:lpstr>ポイント</vt:lpstr>
      <vt:lpstr>回帰分析と因果分析</vt:lpstr>
      <vt:lpstr>回帰分析と因果分析</vt:lpstr>
      <vt:lpstr>回帰分析</vt:lpstr>
      <vt:lpstr>モデルから考える回帰分析と因果分析</vt:lpstr>
      <vt:lpstr>モデルから考える回帰分析と因果分析</vt:lpstr>
      <vt:lpstr>モデルから考える回帰分析と因果分析</vt:lpstr>
      <vt:lpstr>線形回帰分析とその拡張</vt:lpstr>
      <vt:lpstr>線形回帰分析とその拡張</vt:lpstr>
      <vt:lpstr>線形回帰分析とその拡張</vt:lpstr>
      <vt:lpstr>線形回帰分析とその拡張</vt:lpstr>
      <vt:lpstr>回帰分析から因果分析へ</vt:lpstr>
      <vt:lpstr>仮定の違いと効率性</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加藤真大</dc:creator>
  <cp:lastModifiedBy>加藤　真大</cp:lastModifiedBy>
  <cp:revision>576</cp:revision>
  <cp:lastPrinted>2025-05-18T19:28:46Z</cp:lastPrinted>
  <dcterms:created xsi:type="dcterms:W3CDTF">2023-04-02T16:55:48Z</dcterms:created>
  <dcterms:modified xsi:type="dcterms:W3CDTF">2026-04-10T18:05:56Z</dcterms:modified>
</cp:coreProperties>
</file>